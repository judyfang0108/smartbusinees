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344" r:id="rId2"/>
    <p:sldId id="356" r:id="rId3"/>
    <p:sldId id="345" r:id="rId4"/>
    <p:sldId id="346" r:id="rId5"/>
    <p:sldId id="347" r:id="rId6"/>
    <p:sldId id="348" r:id="rId7"/>
    <p:sldId id="352" r:id="rId8"/>
    <p:sldId id="350" r:id="rId9"/>
    <p:sldId id="354" r:id="rId10"/>
    <p:sldId id="355" r:id="rId11"/>
    <p:sldId id="349" r:id="rId12"/>
    <p:sldId id="351" r:id="rId13"/>
    <p:sldId id="394" r:id="rId14"/>
    <p:sldId id="395" r:id="rId15"/>
    <p:sldId id="376" r:id="rId16"/>
    <p:sldId id="256" r:id="rId17"/>
    <p:sldId id="390" r:id="rId18"/>
    <p:sldId id="338" r:id="rId19"/>
    <p:sldId id="339" r:id="rId20"/>
    <p:sldId id="340" r:id="rId21"/>
    <p:sldId id="341" r:id="rId22"/>
    <p:sldId id="342" r:id="rId23"/>
    <p:sldId id="391" r:id="rId24"/>
    <p:sldId id="358" r:id="rId25"/>
    <p:sldId id="359" r:id="rId26"/>
    <p:sldId id="360" r:id="rId27"/>
    <p:sldId id="361" r:id="rId28"/>
    <p:sldId id="362" r:id="rId29"/>
    <p:sldId id="392" r:id="rId30"/>
    <p:sldId id="370" r:id="rId31"/>
    <p:sldId id="371" r:id="rId32"/>
    <p:sldId id="372" r:id="rId33"/>
    <p:sldId id="373" r:id="rId34"/>
    <p:sldId id="374" r:id="rId35"/>
    <p:sldId id="375" r:id="rId36"/>
    <p:sldId id="393" r:id="rId37"/>
    <p:sldId id="384" r:id="rId38"/>
    <p:sldId id="385" r:id="rId39"/>
    <p:sldId id="396" r:id="rId40"/>
    <p:sldId id="386" r:id="rId41"/>
    <p:sldId id="388" r:id="rId42"/>
    <p:sldId id="389" r:id="rId43"/>
    <p:sldId id="343" r:id="rId44"/>
    <p:sldId id="353" r:id="rId45"/>
    <p:sldId id="397" r:id="rId46"/>
    <p:sldId id="377" r:id="rId47"/>
    <p:sldId id="398" r:id="rId4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/>
    <p:restoredTop sz="80269"/>
  </p:normalViewPr>
  <p:slideViewPr>
    <p:cSldViewPr snapToGrid="0" snapToObjects="1">
      <p:cViewPr>
        <p:scale>
          <a:sx n="66" d="100"/>
          <a:sy n="66" d="100"/>
        </p:scale>
        <p:origin x="2336" y="616"/>
      </p:cViewPr>
      <p:guideLst/>
    </p:cSldViewPr>
  </p:slideViewPr>
  <p:outlineViewPr>
    <p:cViewPr>
      <p:scale>
        <a:sx n="33" d="100"/>
        <a:sy n="33" d="100"/>
      </p:scale>
      <p:origin x="0" y="-4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EF2E4-1087-6D4C-AF5C-3ACB7144A5CE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D929E-67D6-A641-B672-01D2BA3BCF6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2980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5430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67784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0896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7127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2778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81281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6133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5301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9E-67D6-A641-B672-01D2BA3BCF63}" type="slidenum">
              <a:rPr kumimoji="1" lang="zh-TW" altLang="en-US" smtClean="0"/>
              <a:t>47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6623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94C432-2075-A848-9231-CDC032503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E42750-B3A6-5B46-B821-7B07F187D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145551-F10A-EB45-85FC-99BB793C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FFFF97-8E66-A140-AFAF-0A42D2706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964512-7F75-6046-98D6-684790C7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911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377377-7735-EE4C-B67E-20C85ADC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E207B6-086E-D144-A010-43D5191BF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E02B95-6264-2F46-B8D8-739C7B8E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AF594F-DF69-DE4C-80CE-2B9DD5BB9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4F4BE1-2599-694A-84C4-847F5023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0947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9D4331-1982-6C4B-8112-45D497E3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B6DD8A-255D-0541-9CEE-2B9E321B8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F65939-AAE8-5A4D-B442-A65E29A5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A82EC3-ED07-464F-882E-1AB8CFDE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62A67F-A5BF-DB46-A69E-7115A500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217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1F7B6E-BF83-3242-8990-063B2AA0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44D1E-D6D1-8B4E-94C8-04304E73E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1C6233-1CB4-D542-8BDF-B59FC5F85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0F2BA7-5079-1D48-969F-1194A94E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62BA0E-1208-B549-BE5A-3138C8DD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CF279D-050A-3940-A576-9D1FDAFB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700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164D5A-8F77-F14A-8DF9-FC80C84F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8D1959-06D5-7B41-83C2-4C95FE939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89D1C54-149D-4149-A685-30E082B6C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8723D14-1F3D-1E42-B69F-7314A825A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D7CB820-065C-024B-AF11-B48ADE8F8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38CA127-A9FB-7741-9D84-F9753FDE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5F50BA-E567-5D4A-9C39-FE8079A3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6D39C08-61DB-FD44-9D91-D639730D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3927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55C157-9835-F14E-B1FF-B3F5585E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C8D0B95-FA6A-7D4D-8481-3E8AAC29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F7CC20C-BD20-464E-89C0-9F95CB78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3EB468A-48EB-D54A-9A52-FAC82683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717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588BE9A-BDEA-EB47-A918-285750B0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8B27021-FD2F-0D4C-9706-9AFDD8B4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55430E-6B65-1145-840E-94A0A78D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433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D9DFF-A89C-C24D-B759-09071AF0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B72AE4-2352-0B43-856A-D90596B44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959825D-0429-164B-8D58-B6DE65DE7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2E4FB78-A5E0-3741-AB23-EF84C06E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AAA3E3-884D-5542-8EA0-1C95D9EC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1386A0-02E5-2544-819D-7958BF4D3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981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2C4CF2-271E-C842-838E-E6A94E85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36374A1-1155-8748-80F4-209B7759E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70285B3-49D6-FD4B-8084-E953EE6F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E594D1-C54D-C64F-A4EE-7AE67AF1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A1C6AE-244A-DD43-B77C-1D301063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77FF34-B463-724D-9B24-8E5C5B54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098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86B95-EF0B-8942-AC97-6864D840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342E44-DB01-A344-A4A9-A843C02AB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1B01A4-21DD-994E-AD31-52641BB58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BD6361-2A23-A14E-B66A-79F68BD9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FF2A6B-6AA9-A543-84A1-A0BB5B20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563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DDB16B0-E5D1-324F-96C8-8170B6BB8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E0D8C60-57FD-B54B-B1F3-A0230D204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99C989-2FD4-A54D-B212-5475FC6A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880E0-4F4C-D245-A312-95D55A95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45077C-A1FC-6B43-A6EF-4DD74293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078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37BDEE-34D3-7A4D-A212-B9E5ED21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97F755-E32F-C548-84FD-B0C0BF5DA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FF8FA6-1982-AF45-AFE1-42A2BD3D0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FA5B8-29CA-0248-B06F-ED39C2F64FEA}" type="datetimeFigureOut">
              <a:rPr kumimoji="1" lang="zh-TW" altLang="en-US" smtClean="0"/>
              <a:t>2021/6/21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214922-7B80-1245-A1F2-262F54B23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D192C9-F43D-8E40-B6F1-3BA21DE5B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71B33-4B73-2449-A41F-357DE63861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66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68CF016A-2A45-5848-A985-73177D56E573}"/>
              </a:ext>
            </a:extLst>
          </p:cNvPr>
          <p:cNvSpPr txBox="1"/>
          <p:nvPr/>
        </p:nvSpPr>
        <p:spPr>
          <a:xfrm>
            <a:off x="1420080" y="728656"/>
            <a:ext cx="55215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900" b="1" dirty="0">
                <a:ea typeface="Microsoft JhengHei" panose="020B0604030504040204" pitchFamily="34" charset="-120"/>
              </a:rPr>
              <a:t>智能企業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0EAEE2C-1E1C-9042-99C6-48231784A199}"/>
              </a:ext>
            </a:extLst>
          </p:cNvPr>
          <p:cNvSpPr txBox="1"/>
          <p:nvPr/>
        </p:nvSpPr>
        <p:spPr>
          <a:xfrm>
            <a:off x="1420080" y="2056213"/>
            <a:ext cx="7060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b="1" dirty="0">
                <a:ea typeface="Microsoft JhengHei" panose="020B0604030504040204" pitchFamily="34" charset="-120"/>
              </a:rPr>
              <a:t>題目：</a:t>
            </a:r>
            <a:r>
              <a:rPr kumimoji="1" lang="en-US" altLang="zh-TW" sz="4000" b="1" dirty="0">
                <a:ea typeface="Microsoft JhengHei" panose="020B0604030504040204" pitchFamily="34" charset="-120"/>
              </a:rPr>
              <a:t>Sales</a:t>
            </a:r>
            <a:r>
              <a:rPr kumimoji="1" lang="zh-TW" altLang="en-US" sz="4000" b="1" dirty="0">
                <a:ea typeface="Microsoft JhengHei" panose="020B0604030504040204" pitchFamily="34" charset="-120"/>
              </a:rPr>
              <a:t> 銷售</a:t>
            </a:r>
            <a:r>
              <a:rPr kumimoji="1" lang="en-US" altLang="zh-TW" sz="4000" b="1" dirty="0">
                <a:ea typeface="Microsoft JhengHei" panose="020B0604030504040204" pitchFamily="34" charset="-120"/>
              </a:rPr>
              <a:t>_</a:t>
            </a:r>
            <a:r>
              <a:rPr kumimoji="1" lang="zh-TW" altLang="en-US" sz="4000" b="1" dirty="0">
                <a:ea typeface="Microsoft JhengHei" panose="020B0604030504040204" pitchFamily="34" charset="-120"/>
              </a:rPr>
              <a:t>智慧商店</a:t>
            </a:r>
            <a:endParaRPr kumimoji="1" lang="en-US" altLang="zh-TW" sz="4000" b="1" dirty="0">
              <a:ea typeface="Microsoft JhengHei" panose="020B0604030504040204" pitchFamily="34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15EB7DC-E5DF-054B-AE5F-AB82ED6F48FE}"/>
              </a:ext>
            </a:extLst>
          </p:cNvPr>
          <p:cNvSpPr/>
          <p:nvPr/>
        </p:nvSpPr>
        <p:spPr>
          <a:xfrm>
            <a:off x="1420080" y="4403565"/>
            <a:ext cx="3615092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sz="2200" b="1" dirty="0">
                <a:ea typeface="Microsoft JhengHei" panose="020B0604030504040204" pitchFamily="34" charset="-120"/>
              </a:rPr>
              <a:t>P96091107</a:t>
            </a:r>
            <a:r>
              <a:rPr kumimoji="1" lang="zh-TW" altLang="en-US" sz="2200" b="1" dirty="0">
                <a:ea typeface="Microsoft JhengHei" panose="020B0604030504040204" pitchFamily="34" charset="-120"/>
              </a:rPr>
              <a:t> 徐浩翔 製造所</a:t>
            </a:r>
            <a:endParaRPr kumimoji="1" lang="en-US" altLang="zh-TW" sz="2200" b="1" dirty="0">
              <a:ea typeface="Microsoft JhengHei" panose="020B0604030504040204" pitchFamily="34" charset="-120"/>
            </a:endParaRPr>
          </a:p>
          <a:p>
            <a:r>
              <a:rPr kumimoji="1" lang="en-US" altLang="zh-TW" sz="2200" b="1" dirty="0">
                <a:ea typeface="Microsoft JhengHei" panose="020B0604030504040204" pitchFamily="34" charset="-120"/>
              </a:rPr>
              <a:t>P96094155 </a:t>
            </a:r>
            <a:r>
              <a:rPr kumimoji="1" lang="zh-TW" altLang="en-US" sz="2200" b="1" dirty="0">
                <a:ea typeface="Microsoft JhengHei" panose="020B0604030504040204" pitchFamily="34" charset="-120"/>
              </a:rPr>
              <a:t>李安豐 製造所</a:t>
            </a:r>
            <a:endParaRPr kumimoji="1" lang="en-US" altLang="zh-TW" sz="2200" b="1" dirty="0">
              <a:ea typeface="Microsoft JhengHei" panose="020B0604030504040204" pitchFamily="34" charset="-120"/>
            </a:endParaRPr>
          </a:p>
          <a:p>
            <a:r>
              <a:rPr kumimoji="1" lang="en-US" altLang="zh-TW" sz="2200" b="1" dirty="0">
                <a:ea typeface="Microsoft JhengHei" panose="020B0604030504040204" pitchFamily="34" charset="-120"/>
              </a:rPr>
              <a:t>N07091339</a:t>
            </a:r>
            <a:r>
              <a:rPr kumimoji="1" lang="zh-TW" altLang="en-US" sz="2200" b="1" dirty="0">
                <a:ea typeface="Microsoft JhengHei" panose="020B0604030504040204" pitchFamily="34" charset="-120"/>
              </a:rPr>
              <a:t> 吳虹誼 工程管理</a:t>
            </a:r>
            <a:endParaRPr kumimoji="1" lang="en-US" altLang="zh-TW" sz="2200" b="1" dirty="0">
              <a:ea typeface="Microsoft JhengHei" panose="020B0604030504040204" pitchFamily="34" charset="-120"/>
            </a:endParaRPr>
          </a:p>
          <a:p>
            <a:r>
              <a:rPr kumimoji="1" lang="en-US" altLang="zh-TW" sz="2200" b="1" dirty="0">
                <a:ea typeface="Microsoft JhengHei" panose="020B0604030504040204" pitchFamily="34" charset="-120"/>
              </a:rPr>
              <a:t>E84071257</a:t>
            </a:r>
            <a:r>
              <a:rPr kumimoji="1" lang="zh-TW" altLang="en-US" sz="2200" b="1" dirty="0">
                <a:ea typeface="Microsoft JhengHei" panose="020B0604030504040204" pitchFamily="34" charset="-120"/>
              </a:rPr>
              <a:t> 方稚榕 資訊系</a:t>
            </a:r>
            <a:endParaRPr kumimoji="1" lang="en-US" altLang="zh-TW" sz="2200" b="1" dirty="0">
              <a:ea typeface="Microsoft JhengHei" panose="020B0604030504040204" pitchFamily="34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202DE0E-758F-3B4F-995F-7C4F7754E8B1}"/>
              </a:ext>
            </a:extLst>
          </p:cNvPr>
          <p:cNvSpPr txBox="1"/>
          <p:nvPr/>
        </p:nvSpPr>
        <p:spPr>
          <a:xfrm>
            <a:off x="1420080" y="3849567"/>
            <a:ext cx="55215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300" b="1" dirty="0">
                <a:ea typeface="Microsoft JhengHei" panose="020B0604030504040204" pitchFamily="34" charset="-120"/>
              </a:rPr>
              <a:t>第二組</a:t>
            </a:r>
            <a:endParaRPr kumimoji="1" lang="en-US" altLang="zh-TW" sz="3300" b="1" dirty="0">
              <a:ea typeface="Microsoft JhengHei" panose="020B0604030504040204" pitchFamily="34" charset="-120"/>
            </a:endParaRPr>
          </a:p>
        </p:txBody>
      </p:sp>
      <p:pic>
        <p:nvPicPr>
          <p:cNvPr id="54" name="圖形 53">
            <a:extLst>
              <a:ext uri="{FF2B5EF4-FFF2-40B4-BE49-F238E27FC236}">
                <a16:creationId xmlns:a16="http://schemas.microsoft.com/office/drawing/2014/main" id="{C84B3DAA-58AA-7A49-BBD7-C770D502A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6558" y="1630691"/>
            <a:ext cx="2980555" cy="3496149"/>
          </a:xfrm>
          <a:prstGeom prst="rect">
            <a:avLst/>
          </a:prstGeom>
        </p:spPr>
      </p:pic>
      <p:sp>
        <p:nvSpPr>
          <p:cNvPr id="55" name="文字方塊 54">
            <a:extLst>
              <a:ext uri="{FF2B5EF4-FFF2-40B4-BE49-F238E27FC236}">
                <a16:creationId xmlns:a16="http://schemas.microsoft.com/office/drawing/2014/main" id="{81027F10-D005-C84A-A69F-18AACC112035}"/>
              </a:ext>
            </a:extLst>
          </p:cNvPr>
          <p:cNvSpPr txBox="1"/>
          <p:nvPr/>
        </p:nvSpPr>
        <p:spPr>
          <a:xfrm>
            <a:off x="1408357" y="2800490"/>
            <a:ext cx="7060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700" b="1" dirty="0">
                <a:ea typeface="Microsoft JhengHei" panose="020B0604030504040204" pitchFamily="34" charset="-120"/>
              </a:rPr>
              <a:t>指導老師：陳裕民 教授</a:t>
            </a:r>
            <a:endParaRPr kumimoji="1" lang="en-US" altLang="zh-TW" sz="2700" b="1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612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uadroTexto 664">
            <a:extLst>
              <a:ext uri="{FF2B5EF4-FFF2-40B4-BE49-F238E27FC236}">
                <a16:creationId xmlns:a16="http://schemas.microsoft.com/office/drawing/2014/main" id="{B737D8F6-633D-4546-AC94-F0A674ABD731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tx2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Sales</a:t>
            </a:r>
            <a:r>
              <a:rPr lang="zh-TW" altLang="en-US" sz="4400" b="1" dirty="0">
                <a:solidFill>
                  <a:schemeClr val="tx2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銷售</a:t>
            </a:r>
            <a:endParaRPr lang="en-US" sz="4400" b="1" dirty="0">
              <a:solidFill>
                <a:schemeClr val="tx2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6" name="Freeform 1">
            <a:extLst>
              <a:ext uri="{FF2B5EF4-FFF2-40B4-BE49-F238E27FC236}">
                <a16:creationId xmlns:a16="http://schemas.microsoft.com/office/drawing/2014/main" id="{D68D0832-AD8F-1D4E-9967-C368C8BD5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2486" y="3308437"/>
            <a:ext cx="293011" cy="212669"/>
          </a:xfrm>
          <a:custGeom>
            <a:avLst/>
            <a:gdLst>
              <a:gd name="T0" fmla="*/ 548 w 549"/>
              <a:gd name="T1" fmla="*/ 355 h 398"/>
              <a:gd name="T2" fmla="*/ 33 w 549"/>
              <a:gd name="T3" fmla="*/ 397 h 398"/>
              <a:gd name="T4" fmla="*/ 0 w 549"/>
              <a:gd name="T5" fmla="*/ 51 h 398"/>
              <a:gd name="T6" fmla="*/ 515 w 549"/>
              <a:gd name="T7" fmla="*/ 0 h 398"/>
              <a:gd name="T8" fmla="*/ 548 w 549"/>
              <a:gd name="T9" fmla="*/ 355 h 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9" h="398">
                <a:moveTo>
                  <a:pt x="548" y="355"/>
                </a:moveTo>
                <a:lnTo>
                  <a:pt x="33" y="397"/>
                </a:lnTo>
                <a:lnTo>
                  <a:pt x="0" y="51"/>
                </a:lnTo>
                <a:lnTo>
                  <a:pt x="515" y="0"/>
                </a:lnTo>
                <a:lnTo>
                  <a:pt x="548" y="355"/>
                </a:lnTo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7" name="Freeform 2">
            <a:extLst>
              <a:ext uri="{FF2B5EF4-FFF2-40B4-BE49-F238E27FC236}">
                <a16:creationId xmlns:a16="http://schemas.microsoft.com/office/drawing/2014/main" id="{E9DD7DB8-4328-B74B-A1F2-8A81BACF4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87" y="2738957"/>
            <a:ext cx="633282" cy="628556"/>
          </a:xfrm>
          <a:custGeom>
            <a:avLst/>
            <a:gdLst>
              <a:gd name="T0" fmla="*/ 1182 w 1183"/>
              <a:gd name="T1" fmla="*/ 1097 h 1174"/>
              <a:gd name="T2" fmla="*/ 1182 w 1183"/>
              <a:gd name="T3" fmla="*/ 1097 h 1174"/>
              <a:gd name="T4" fmla="*/ 346 w 1183"/>
              <a:gd name="T5" fmla="*/ 1164 h 1174"/>
              <a:gd name="T6" fmla="*/ 67 w 1183"/>
              <a:gd name="T7" fmla="*/ 928 h 1174"/>
              <a:gd name="T8" fmla="*/ 17 w 1183"/>
              <a:gd name="T9" fmla="*/ 355 h 1174"/>
              <a:gd name="T10" fmla="*/ 253 w 1183"/>
              <a:gd name="T11" fmla="*/ 68 h 1174"/>
              <a:gd name="T12" fmla="*/ 1089 w 1183"/>
              <a:gd name="T13" fmla="*/ 0 h 1174"/>
              <a:gd name="T14" fmla="*/ 1182 w 1183"/>
              <a:gd name="T15" fmla="*/ 1097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83" h="1174">
                <a:moveTo>
                  <a:pt x="1182" y="1097"/>
                </a:moveTo>
                <a:lnTo>
                  <a:pt x="1182" y="1097"/>
                </a:lnTo>
                <a:cubicBezTo>
                  <a:pt x="346" y="1164"/>
                  <a:pt x="346" y="1164"/>
                  <a:pt x="346" y="1164"/>
                </a:cubicBezTo>
                <a:cubicBezTo>
                  <a:pt x="202" y="1173"/>
                  <a:pt x="76" y="1071"/>
                  <a:pt x="67" y="928"/>
                </a:cubicBezTo>
                <a:cubicBezTo>
                  <a:pt x="17" y="355"/>
                  <a:pt x="17" y="355"/>
                  <a:pt x="17" y="355"/>
                </a:cubicBezTo>
                <a:cubicBezTo>
                  <a:pt x="0" y="211"/>
                  <a:pt x="109" y="84"/>
                  <a:pt x="253" y="68"/>
                </a:cubicBezTo>
                <a:cubicBezTo>
                  <a:pt x="1089" y="0"/>
                  <a:pt x="1089" y="0"/>
                  <a:pt x="1089" y="0"/>
                </a:cubicBezTo>
                <a:lnTo>
                  <a:pt x="1182" y="1097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8" name="Freeform 3">
            <a:extLst>
              <a:ext uri="{FF2B5EF4-FFF2-40B4-BE49-F238E27FC236}">
                <a16:creationId xmlns:a16="http://schemas.microsoft.com/office/drawing/2014/main" id="{75E12C46-266E-5641-B0AE-75B6BCC8B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383" y="2299441"/>
            <a:ext cx="1216940" cy="1290193"/>
          </a:xfrm>
          <a:custGeom>
            <a:avLst/>
            <a:gdLst>
              <a:gd name="T0" fmla="*/ 1984 w 2272"/>
              <a:gd name="T1" fmla="*/ 2372 h 2406"/>
              <a:gd name="T2" fmla="*/ 1984 w 2272"/>
              <a:gd name="T3" fmla="*/ 2372 h 2406"/>
              <a:gd name="T4" fmla="*/ 93 w 2272"/>
              <a:gd name="T5" fmla="*/ 1916 h 2406"/>
              <a:gd name="T6" fmla="*/ 0 w 2272"/>
              <a:gd name="T7" fmla="*/ 819 h 2406"/>
              <a:gd name="T8" fmla="*/ 1790 w 2272"/>
              <a:gd name="T9" fmla="*/ 59 h 2406"/>
              <a:gd name="T10" fmla="*/ 2103 w 2272"/>
              <a:gd name="T11" fmla="*/ 245 h 2406"/>
              <a:gd name="T12" fmla="*/ 2263 w 2272"/>
              <a:gd name="T13" fmla="*/ 2135 h 2406"/>
              <a:gd name="T14" fmla="*/ 1984 w 2272"/>
              <a:gd name="T15" fmla="*/ 2372 h 2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72" h="2406">
                <a:moveTo>
                  <a:pt x="1984" y="2372"/>
                </a:moveTo>
                <a:lnTo>
                  <a:pt x="1984" y="2372"/>
                </a:lnTo>
                <a:cubicBezTo>
                  <a:pt x="93" y="1916"/>
                  <a:pt x="93" y="1916"/>
                  <a:pt x="93" y="1916"/>
                </a:cubicBezTo>
                <a:cubicBezTo>
                  <a:pt x="0" y="819"/>
                  <a:pt x="0" y="819"/>
                  <a:pt x="0" y="819"/>
                </a:cubicBezTo>
                <a:cubicBezTo>
                  <a:pt x="1790" y="59"/>
                  <a:pt x="1790" y="59"/>
                  <a:pt x="1790" y="59"/>
                </a:cubicBezTo>
                <a:cubicBezTo>
                  <a:pt x="1934" y="0"/>
                  <a:pt x="2094" y="93"/>
                  <a:pt x="2103" y="245"/>
                </a:cubicBezTo>
                <a:cubicBezTo>
                  <a:pt x="2263" y="2135"/>
                  <a:pt x="2263" y="2135"/>
                  <a:pt x="2263" y="2135"/>
                </a:cubicBezTo>
                <a:cubicBezTo>
                  <a:pt x="2271" y="2287"/>
                  <a:pt x="2136" y="2405"/>
                  <a:pt x="1984" y="2372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9" name="Freeform 4">
            <a:extLst>
              <a:ext uri="{FF2B5EF4-FFF2-40B4-BE49-F238E27FC236}">
                <a16:creationId xmlns:a16="http://schemas.microsoft.com/office/drawing/2014/main" id="{D22C265F-9404-3643-9916-8A4181680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070" y="2738957"/>
            <a:ext cx="276469" cy="1148414"/>
          </a:xfrm>
          <a:custGeom>
            <a:avLst/>
            <a:gdLst>
              <a:gd name="T0" fmla="*/ 262 w 516"/>
              <a:gd name="T1" fmla="*/ 2144 h 2145"/>
              <a:gd name="T2" fmla="*/ 262 w 516"/>
              <a:gd name="T3" fmla="*/ 2144 h 2145"/>
              <a:gd name="T4" fmla="*/ 439 w 516"/>
              <a:gd name="T5" fmla="*/ 2127 h 2145"/>
              <a:gd name="T6" fmla="*/ 515 w 516"/>
              <a:gd name="T7" fmla="*/ 2042 h 2145"/>
              <a:gd name="T8" fmla="*/ 346 w 516"/>
              <a:gd name="T9" fmla="*/ 0 h 2145"/>
              <a:gd name="T10" fmla="*/ 0 w 516"/>
              <a:gd name="T11" fmla="*/ 34 h 2145"/>
              <a:gd name="T12" fmla="*/ 169 w 516"/>
              <a:gd name="T13" fmla="*/ 2068 h 2145"/>
              <a:gd name="T14" fmla="*/ 262 w 516"/>
              <a:gd name="T15" fmla="*/ 2144 h 2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16" h="2145">
                <a:moveTo>
                  <a:pt x="262" y="2144"/>
                </a:moveTo>
                <a:lnTo>
                  <a:pt x="262" y="2144"/>
                </a:lnTo>
                <a:cubicBezTo>
                  <a:pt x="439" y="2127"/>
                  <a:pt x="439" y="2127"/>
                  <a:pt x="439" y="2127"/>
                </a:cubicBezTo>
                <a:cubicBezTo>
                  <a:pt x="481" y="2127"/>
                  <a:pt x="515" y="2084"/>
                  <a:pt x="515" y="2042"/>
                </a:cubicBezTo>
                <a:cubicBezTo>
                  <a:pt x="346" y="0"/>
                  <a:pt x="346" y="0"/>
                  <a:pt x="346" y="0"/>
                </a:cubicBezTo>
                <a:cubicBezTo>
                  <a:pt x="0" y="34"/>
                  <a:pt x="0" y="34"/>
                  <a:pt x="0" y="34"/>
                </a:cubicBezTo>
                <a:cubicBezTo>
                  <a:pt x="169" y="2068"/>
                  <a:pt x="169" y="2068"/>
                  <a:pt x="169" y="2068"/>
                </a:cubicBezTo>
                <a:cubicBezTo>
                  <a:pt x="169" y="2110"/>
                  <a:pt x="211" y="2144"/>
                  <a:pt x="262" y="2144"/>
                </a:cubicBezTo>
              </a:path>
            </a:pathLst>
          </a:custGeom>
          <a:solidFill>
            <a:srgbClr val="EB645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7503CF38-CAB6-C142-B3EC-D3D35312A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817" y="3511655"/>
            <a:ext cx="1309097" cy="1240571"/>
          </a:xfrm>
          <a:custGeom>
            <a:avLst/>
            <a:gdLst>
              <a:gd name="T0" fmla="*/ 0 w 2442"/>
              <a:gd name="T1" fmla="*/ 481 h 2314"/>
              <a:gd name="T2" fmla="*/ 0 w 2442"/>
              <a:gd name="T3" fmla="*/ 481 h 2314"/>
              <a:gd name="T4" fmla="*/ 566 w 2442"/>
              <a:gd name="T5" fmla="*/ 481 h 2314"/>
              <a:gd name="T6" fmla="*/ 1672 w 2442"/>
              <a:gd name="T7" fmla="*/ 540 h 2314"/>
              <a:gd name="T8" fmla="*/ 1672 w 2442"/>
              <a:gd name="T9" fmla="*/ 540 h 2314"/>
              <a:gd name="T10" fmla="*/ 2441 w 2442"/>
              <a:gd name="T11" fmla="*/ 1317 h 2314"/>
              <a:gd name="T12" fmla="*/ 2441 w 2442"/>
              <a:gd name="T13" fmla="*/ 1317 h 2314"/>
              <a:gd name="T14" fmla="*/ 2078 w 2442"/>
              <a:gd name="T15" fmla="*/ 1916 h 2314"/>
              <a:gd name="T16" fmla="*/ 110 w 2442"/>
              <a:gd name="T17" fmla="*/ 1672 h 2314"/>
              <a:gd name="T18" fmla="*/ 0 w 2442"/>
              <a:gd name="T19" fmla="*/ 1629 h 2314"/>
              <a:gd name="T20" fmla="*/ 0 w 2442"/>
              <a:gd name="T21" fmla="*/ 481 h 2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2" h="2314">
                <a:moveTo>
                  <a:pt x="0" y="481"/>
                </a:moveTo>
                <a:lnTo>
                  <a:pt x="0" y="481"/>
                </a:lnTo>
                <a:cubicBezTo>
                  <a:pt x="566" y="481"/>
                  <a:pt x="566" y="481"/>
                  <a:pt x="566" y="481"/>
                </a:cubicBezTo>
                <a:cubicBezTo>
                  <a:pt x="566" y="481"/>
                  <a:pt x="1259" y="0"/>
                  <a:pt x="1672" y="540"/>
                </a:cubicBezTo>
                <a:lnTo>
                  <a:pt x="1672" y="540"/>
                </a:lnTo>
                <a:cubicBezTo>
                  <a:pt x="2094" y="540"/>
                  <a:pt x="2441" y="886"/>
                  <a:pt x="2441" y="1317"/>
                </a:cubicBezTo>
                <a:lnTo>
                  <a:pt x="2441" y="1317"/>
                </a:lnTo>
                <a:cubicBezTo>
                  <a:pt x="2441" y="1562"/>
                  <a:pt x="2306" y="1798"/>
                  <a:pt x="2078" y="1916"/>
                </a:cubicBezTo>
                <a:cubicBezTo>
                  <a:pt x="1655" y="2127"/>
                  <a:pt x="912" y="2313"/>
                  <a:pt x="110" y="1672"/>
                </a:cubicBezTo>
                <a:cubicBezTo>
                  <a:pt x="0" y="1629"/>
                  <a:pt x="0" y="1629"/>
                  <a:pt x="0" y="1629"/>
                </a:cubicBezTo>
                <a:lnTo>
                  <a:pt x="0" y="481"/>
                </a:lnTo>
              </a:path>
            </a:pathLst>
          </a:custGeom>
          <a:solidFill>
            <a:srgbClr val="FFDBB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41" name="Freeform 176">
            <a:extLst>
              <a:ext uri="{FF2B5EF4-FFF2-40B4-BE49-F238E27FC236}">
                <a16:creationId xmlns:a16="http://schemas.microsoft.com/office/drawing/2014/main" id="{CE88439F-BE32-9C4D-84BB-01CBB412E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76" y="1956807"/>
            <a:ext cx="340271" cy="3308187"/>
          </a:xfrm>
          <a:custGeom>
            <a:avLst/>
            <a:gdLst>
              <a:gd name="T0" fmla="*/ 633 w 634"/>
              <a:gd name="T1" fmla="*/ 6171 h 6172"/>
              <a:gd name="T2" fmla="*/ 633 w 634"/>
              <a:gd name="T3" fmla="*/ 6171 h 6172"/>
              <a:gd name="T4" fmla="*/ 0 w 634"/>
              <a:gd name="T5" fmla="*/ 6171 h 6172"/>
              <a:gd name="T6" fmla="*/ 0 w 634"/>
              <a:gd name="T7" fmla="*/ 321 h 6172"/>
              <a:gd name="T8" fmla="*/ 321 w 634"/>
              <a:gd name="T9" fmla="*/ 0 h 6172"/>
              <a:gd name="T10" fmla="*/ 321 w 634"/>
              <a:gd name="T11" fmla="*/ 0 h 6172"/>
              <a:gd name="T12" fmla="*/ 633 w 634"/>
              <a:gd name="T13" fmla="*/ 321 h 6172"/>
              <a:gd name="T14" fmla="*/ 633 w 634"/>
              <a:gd name="T15" fmla="*/ 6171 h 6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34" h="6172">
                <a:moveTo>
                  <a:pt x="633" y="6171"/>
                </a:moveTo>
                <a:lnTo>
                  <a:pt x="633" y="6171"/>
                </a:lnTo>
                <a:cubicBezTo>
                  <a:pt x="0" y="6171"/>
                  <a:pt x="0" y="6171"/>
                  <a:pt x="0" y="6171"/>
                </a:cubicBezTo>
                <a:cubicBezTo>
                  <a:pt x="0" y="321"/>
                  <a:pt x="0" y="321"/>
                  <a:pt x="0" y="321"/>
                </a:cubicBezTo>
                <a:cubicBezTo>
                  <a:pt x="0" y="144"/>
                  <a:pt x="143" y="0"/>
                  <a:pt x="321" y="0"/>
                </a:cubicBezTo>
                <a:lnTo>
                  <a:pt x="321" y="0"/>
                </a:lnTo>
                <a:cubicBezTo>
                  <a:pt x="490" y="0"/>
                  <a:pt x="633" y="144"/>
                  <a:pt x="633" y="321"/>
                </a:cubicBezTo>
                <a:lnTo>
                  <a:pt x="633" y="6171"/>
                </a:lnTo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42" name="Freeform 177">
            <a:extLst>
              <a:ext uri="{FF2B5EF4-FFF2-40B4-BE49-F238E27FC236}">
                <a16:creationId xmlns:a16="http://schemas.microsoft.com/office/drawing/2014/main" id="{CAD021CE-8A4C-8146-A394-23E87407E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76" y="5262632"/>
            <a:ext cx="3575206" cy="404071"/>
          </a:xfrm>
          <a:custGeom>
            <a:avLst/>
            <a:gdLst>
              <a:gd name="T0" fmla="*/ 6358 w 6672"/>
              <a:gd name="T1" fmla="*/ 752 h 753"/>
              <a:gd name="T2" fmla="*/ 6358 w 6672"/>
              <a:gd name="T3" fmla="*/ 752 h 753"/>
              <a:gd name="T4" fmla="*/ 0 w 6672"/>
              <a:gd name="T5" fmla="*/ 752 h 753"/>
              <a:gd name="T6" fmla="*/ 0 w 6672"/>
              <a:gd name="T7" fmla="*/ 0 h 753"/>
              <a:gd name="T8" fmla="*/ 6358 w 6672"/>
              <a:gd name="T9" fmla="*/ 0 h 753"/>
              <a:gd name="T10" fmla="*/ 6671 w 6672"/>
              <a:gd name="T11" fmla="*/ 321 h 753"/>
              <a:gd name="T12" fmla="*/ 6671 w 6672"/>
              <a:gd name="T13" fmla="*/ 431 h 753"/>
              <a:gd name="T14" fmla="*/ 6358 w 6672"/>
              <a:gd name="T15" fmla="*/ 752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72" h="753">
                <a:moveTo>
                  <a:pt x="6358" y="752"/>
                </a:moveTo>
                <a:lnTo>
                  <a:pt x="6358" y="752"/>
                </a:lnTo>
                <a:cubicBezTo>
                  <a:pt x="0" y="752"/>
                  <a:pt x="0" y="752"/>
                  <a:pt x="0" y="752"/>
                </a:cubicBezTo>
                <a:cubicBezTo>
                  <a:pt x="0" y="0"/>
                  <a:pt x="0" y="0"/>
                  <a:pt x="0" y="0"/>
                </a:cubicBezTo>
                <a:cubicBezTo>
                  <a:pt x="6358" y="0"/>
                  <a:pt x="6358" y="0"/>
                  <a:pt x="6358" y="0"/>
                </a:cubicBezTo>
                <a:cubicBezTo>
                  <a:pt x="6527" y="0"/>
                  <a:pt x="6671" y="144"/>
                  <a:pt x="6671" y="321"/>
                </a:cubicBezTo>
                <a:cubicBezTo>
                  <a:pt x="6671" y="431"/>
                  <a:pt x="6671" y="431"/>
                  <a:pt x="6671" y="431"/>
                </a:cubicBezTo>
                <a:cubicBezTo>
                  <a:pt x="6671" y="608"/>
                  <a:pt x="6527" y="752"/>
                  <a:pt x="6358" y="752"/>
                </a:cubicBezTo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43" name="Freeform 178">
            <a:extLst>
              <a:ext uri="{FF2B5EF4-FFF2-40B4-BE49-F238E27FC236}">
                <a16:creationId xmlns:a16="http://schemas.microsoft.com/office/drawing/2014/main" id="{BD872BDB-A27E-5748-BF11-853385FE3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84" y="3684154"/>
            <a:ext cx="997182" cy="945197"/>
          </a:xfrm>
          <a:custGeom>
            <a:avLst/>
            <a:gdLst>
              <a:gd name="T0" fmla="*/ 1588 w 1859"/>
              <a:gd name="T1" fmla="*/ 1764 h 1765"/>
              <a:gd name="T2" fmla="*/ 1588 w 1859"/>
              <a:gd name="T3" fmla="*/ 1764 h 1765"/>
              <a:gd name="T4" fmla="*/ 0 w 1859"/>
              <a:gd name="T5" fmla="*/ 1764 h 1765"/>
              <a:gd name="T6" fmla="*/ 0 w 1859"/>
              <a:gd name="T7" fmla="*/ 0 h 1765"/>
              <a:gd name="T8" fmla="*/ 1588 w 1859"/>
              <a:gd name="T9" fmla="*/ 0 h 1765"/>
              <a:gd name="T10" fmla="*/ 1858 w 1859"/>
              <a:gd name="T11" fmla="*/ 270 h 1765"/>
              <a:gd name="T12" fmla="*/ 1858 w 1859"/>
              <a:gd name="T13" fmla="*/ 1494 h 1765"/>
              <a:gd name="T14" fmla="*/ 1588 w 1859"/>
              <a:gd name="T15" fmla="*/ 1764 h 1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59" h="1765">
                <a:moveTo>
                  <a:pt x="1588" y="1764"/>
                </a:moveTo>
                <a:lnTo>
                  <a:pt x="1588" y="1764"/>
                </a:lnTo>
                <a:cubicBezTo>
                  <a:pt x="0" y="1764"/>
                  <a:pt x="0" y="1764"/>
                  <a:pt x="0" y="1764"/>
                </a:cubicBezTo>
                <a:cubicBezTo>
                  <a:pt x="0" y="0"/>
                  <a:pt x="0" y="0"/>
                  <a:pt x="0" y="0"/>
                </a:cubicBezTo>
                <a:cubicBezTo>
                  <a:pt x="1588" y="0"/>
                  <a:pt x="1588" y="0"/>
                  <a:pt x="1588" y="0"/>
                </a:cubicBezTo>
                <a:cubicBezTo>
                  <a:pt x="1740" y="0"/>
                  <a:pt x="1858" y="118"/>
                  <a:pt x="1858" y="270"/>
                </a:cubicBezTo>
                <a:cubicBezTo>
                  <a:pt x="1858" y="1494"/>
                  <a:pt x="1858" y="1494"/>
                  <a:pt x="1858" y="1494"/>
                </a:cubicBezTo>
                <a:cubicBezTo>
                  <a:pt x="1858" y="1646"/>
                  <a:pt x="1740" y="1764"/>
                  <a:pt x="1588" y="1764"/>
                </a:cubicBezTo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44" name="Line 179">
            <a:extLst>
              <a:ext uri="{FF2B5EF4-FFF2-40B4-BE49-F238E27FC236}">
                <a16:creationId xmlns:a16="http://schemas.microsoft.com/office/drawing/2014/main" id="{33A62AB9-D69A-F94F-B5AD-EFA7EB759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8124" y="2927997"/>
            <a:ext cx="623830" cy="2362"/>
          </a:xfrm>
          <a:prstGeom prst="line">
            <a:avLst/>
          </a:prstGeom>
          <a:noFill/>
          <a:ln w="635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 sz="90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5" name="Line 180">
            <a:extLst>
              <a:ext uri="{FF2B5EF4-FFF2-40B4-BE49-F238E27FC236}">
                <a16:creationId xmlns:a16="http://schemas.microsoft.com/office/drawing/2014/main" id="{39939FA3-1970-014F-8933-9914F3B885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7576" y="2464850"/>
            <a:ext cx="609652" cy="153594"/>
          </a:xfrm>
          <a:prstGeom prst="line">
            <a:avLst/>
          </a:prstGeom>
          <a:noFill/>
          <a:ln w="635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 sz="90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6" name="Line 181">
            <a:extLst>
              <a:ext uri="{FF2B5EF4-FFF2-40B4-BE49-F238E27FC236}">
                <a16:creationId xmlns:a16="http://schemas.microsoft.com/office/drawing/2014/main" id="{F05506FA-75DD-544F-9908-2C4297628D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850" y="3268267"/>
            <a:ext cx="614378" cy="113424"/>
          </a:xfrm>
          <a:prstGeom prst="line">
            <a:avLst/>
          </a:prstGeom>
          <a:noFill/>
          <a:ln w="635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 sz="90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7" name="CuadroTexto 395">
            <a:extLst>
              <a:ext uri="{FF2B5EF4-FFF2-40B4-BE49-F238E27FC236}">
                <a16:creationId xmlns:a16="http://schemas.microsoft.com/office/drawing/2014/main" id="{E951BCE4-A502-0148-99A7-DCF96A006E05}"/>
              </a:ext>
            </a:extLst>
          </p:cNvPr>
          <p:cNvSpPr txBox="1"/>
          <p:nvPr/>
        </p:nvSpPr>
        <p:spPr>
          <a:xfrm>
            <a:off x="4568202" y="2022442"/>
            <a:ext cx="549178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75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了解</a:t>
            </a:r>
            <a:r>
              <a:rPr lang="zh-TW" altLang="en-US" sz="33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客戶的需求，</a:t>
            </a:r>
            <a:endParaRPr lang="en-US" altLang="zh-TW" sz="33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33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從而</a:t>
            </a:r>
            <a:r>
              <a:rPr lang="zh-TW" altLang="en-US" sz="575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滿足</a:t>
            </a:r>
            <a:r>
              <a:rPr lang="zh-TW" altLang="en-US" sz="33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客戶的需求</a:t>
            </a:r>
          </a:p>
        </p:txBody>
      </p:sp>
      <p:sp>
        <p:nvSpPr>
          <p:cNvPr id="48" name="CuadroTexto 395">
            <a:extLst>
              <a:ext uri="{FF2B5EF4-FFF2-40B4-BE49-F238E27FC236}">
                <a16:creationId xmlns:a16="http://schemas.microsoft.com/office/drawing/2014/main" id="{5DD7DE61-42D0-D840-8E1C-04F33A7BE343}"/>
              </a:ext>
            </a:extLst>
          </p:cNvPr>
          <p:cNvSpPr txBox="1"/>
          <p:nvPr/>
        </p:nvSpPr>
        <p:spPr>
          <a:xfrm>
            <a:off x="4624497" y="4131940"/>
            <a:ext cx="7244923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latin typeface="Lato" charset="0"/>
                <a:ea typeface="Lato" charset="0"/>
                <a:cs typeface="Lato" charset="0"/>
              </a:defRPr>
            </a:lvl1pPr>
          </a:lstStyle>
          <a:p>
            <a:pPr algn="l"/>
            <a:r>
              <a:rPr lang="zh-TW" altLang="en-US" sz="33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銷售是以</a:t>
            </a:r>
            <a:r>
              <a:rPr lang="zh-TW" altLang="en-US" sz="575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客戶</a:t>
            </a:r>
            <a:r>
              <a:rPr lang="zh-TW" altLang="en-US" sz="33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為中心</a:t>
            </a:r>
          </a:p>
        </p:txBody>
      </p:sp>
      <p:sp>
        <p:nvSpPr>
          <p:cNvPr id="49" name="CuadroTexto 395">
            <a:extLst>
              <a:ext uri="{FF2B5EF4-FFF2-40B4-BE49-F238E27FC236}">
                <a16:creationId xmlns:a16="http://schemas.microsoft.com/office/drawing/2014/main" id="{F4423D53-BF11-C448-B64D-26CD1A67AB32}"/>
              </a:ext>
            </a:extLst>
          </p:cNvPr>
          <p:cNvSpPr txBox="1"/>
          <p:nvPr/>
        </p:nvSpPr>
        <p:spPr>
          <a:xfrm>
            <a:off x="3807576" y="5356581"/>
            <a:ext cx="805280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latin typeface="Lato" charset="0"/>
                <a:ea typeface="Lato" charset="0"/>
                <a:cs typeface="Lato" charset="0"/>
              </a:defRPr>
            </a:lvl1pPr>
          </a:lstStyle>
          <a:p>
            <a:pPr algn="l"/>
            <a:r>
              <a:rPr lang="zh-TW" altLang="en-US" sz="33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銷售是以</a:t>
            </a:r>
            <a:r>
              <a:rPr lang="zh-TW" altLang="en-US" sz="575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賺錢</a:t>
            </a:r>
            <a:r>
              <a:rPr lang="en-US" altLang="zh-TW" sz="575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</a:t>
            </a:r>
            <a:r>
              <a:rPr lang="zh-TW" altLang="en-US" sz="575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提高獲利</a:t>
            </a:r>
            <a:r>
              <a:rPr lang="zh-TW" altLang="en-US" sz="33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為目的</a:t>
            </a:r>
          </a:p>
        </p:txBody>
      </p:sp>
    </p:spTree>
    <p:extLst>
      <p:ext uri="{BB962C8B-B14F-4D97-AF65-F5344CB8AC3E}">
        <p14:creationId xmlns:p14="http://schemas.microsoft.com/office/powerpoint/2010/main" val="77577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664">
            <a:extLst>
              <a:ext uri="{FF2B5EF4-FFF2-40B4-BE49-F238E27FC236}">
                <a16:creationId xmlns:a16="http://schemas.microsoft.com/office/drawing/2014/main" id="{D05278D6-3706-D44B-A649-A73079872F86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Questions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 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to Ask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10" name="CuadroTexto 395">
            <a:extLst>
              <a:ext uri="{FF2B5EF4-FFF2-40B4-BE49-F238E27FC236}">
                <a16:creationId xmlns:a16="http://schemas.microsoft.com/office/drawing/2014/main" id="{D4A8A3C1-900A-5C4A-B7E4-C51D74AAD268}"/>
              </a:ext>
            </a:extLst>
          </p:cNvPr>
          <p:cNvSpPr txBox="1"/>
          <p:nvPr/>
        </p:nvSpPr>
        <p:spPr>
          <a:xfrm>
            <a:off x="2664875" y="1305722"/>
            <a:ext cx="95553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b="1" dirty="0" err="1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Lato" charset="0"/>
              </a:rPr>
              <a:t>如何提升銷售額</a:t>
            </a:r>
            <a:r>
              <a:rPr lang="en-US" sz="3300" b="1" dirty="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Lato" charset="0"/>
              </a:rPr>
              <a:t>？</a:t>
            </a:r>
          </a:p>
        </p:txBody>
      </p:sp>
      <p:sp>
        <p:nvSpPr>
          <p:cNvPr id="11" name="CuadroTexto 395">
            <a:extLst>
              <a:ext uri="{FF2B5EF4-FFF2-40B4-BE49-F238E27FC236}">
                <a16:creationId xmlns:a16="http://schemas.microsoft.com/office/drawing/2014/main" id="{81475658-3C55-CA4A-99C9-BAB6A34B5204}"/>
              </a:ext>
            </a:extLst>
          </p:cNvPr>
          <p:cNvSpPr txBox="1"/>
          <p:nvPr/>
        </p:nvSpPr>
        <p:spPr>
          <a:xfrm>
            <a:off x="2636574" y="2694869"/>
            <a:ext cx="74166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b="1" dirty="0" err="1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Lato" charset="0"/>
              </a:rPr>
              <a:t>如何降低庫存，有效預測需求</a:t>
            </a:r>
            <a:r>
              <a:rPr lang="en-US" sz="3300" b="1" dirty="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Lato" charset="0"/>
              </a:rPr>
              <a:t>？</a:t>
            </a:r>
          </a:p>
        </p:txBody>
      </p:sp>
      <p:sp>
        <p:nvSpPr>
          <p:cNvPr id="14" name="CuadroTexto 395">
            <a:extLst>
              <a:ext uri="{FF2B5EF4-FFF2-40B4-BE49-F238E27FC236}">
                <a16:creationId xmlns:a16="http://schemas.microsoft.com/office/drawing/2014/main" id="{8398A7D0-75BC-4947-97DF-4A89351DD0B3}"/>
              </a:ext>
            </a:extLst>
          </p:cNvPr>
          <p:cNvSpPr txBox="1"/>
          <p:nvPr/>
        </p:nvSpPr>
        <p:spPr>
          <a:xfrm>
            <a:off x="2636573" y="4084017"/>
            <a:ext cx="78032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300" b="1" dirty="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Lato" charset="0"/>
              </a:rPr>
              <a:t>如何讓消費者滿意，常來消費？</a:t>
            </a:r>
            <a:endParaRPr lang="en-US" sz="3300" b="1" dirty="0">
              <a:solidFill>
                <a:schemeClr val="tx2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Lato" charset="0"/>
            </a:endParaRPr>
          </a:p>
        </p:txBody>
      </p:sp>
      <p:sp>
        <p:nvSpPr>
          <p:cNvPr id="16" name="CuadroTexto 395">
            <a:extLst>
              <a:ext uri="{FF2B5EF4-FFF2-40B4-BE49-F238E27FC236}">
                <a16:creationId xmlns:a16="http://schemas.microsoft.com/office/drawing/2014/main" id="{7B905D69-E503-D84B-B89F-5EB736943F2F}"/>
              </a:ext>
            </a:extLst>
          </p:cNvPr>
          <p:cNvSpPr txBox="1"/>
          <p:nvPr/>
        </p:nvSpPr>
        <p:spPr>
          <a:xfrm>
            <a:off x="2664788" y="5473165"/>
            <a:ext cx="78032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300" b="1" dirty="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Lato" charset="0"/>
              </a:rPr>
              <a:t>如何讓員工工作壓力減輕，減少人力消耗</a:t>
            </a:r>
            <a:endParaRPr lang="en-US" sz="3300" b="1" dirty="0">
              <a:solidFill>
                <a:schemeClr val="tx2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Lato" charset="0"/>
            </a:endParaRPr>
          </a:p>
        </p:txBody>
      </p:sp>
      <p:sp>
        <p:nvSpPr>
          <p:cNvPr id="18" name="Freeform 428">
            <a:extLst>
              <a:ext uri="{FF2B5EF4-FFF2-40B4-BE49-F238E27FC236}">
                <a16:creationId xmlns:a16="http://schemas.microsoft.com/office/drawing/2014/main" id="{47D46F08-4AAE-744F-99E8-56DA9E050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908" y="1153474"/>
            <a:ext cx="1363064" cy="1135493"/>
          </a:xfrm>
          <a:custGeom>
            <a:avLst/>
            <a:gdLst>
              <a:gd name="T0" fmla="*/ 2536 w 2537"/>
              <a:gd name="T1" fmla="*/ 0 h 2114"/>
              <a:gd name="T2" fmla="*/ 2536 w 2537"/>
              <a:gd name="T3" fmla="*/ 1843 h 2114"/>
              <a:gd name="T4" fmla="*/ 2383 w 2537"/>
              <a:gd name="T5" fmla="*/ 2113 h 2114"/>
              <a:gd name="T6" fmla="*/ 2231 w 2537"/>
              <a:gd name="T7" fmla="*/ 1843 h 2114"/>
              <a:gd name="T8" fmla="*/ 0 w 2537"/>
              <a:gd name="T9" fmla="*/ 1843 h 2114"/>
              <a:gd name="T10" fmla="*/ 0 w 2537"/>
              <a:gd name="T11" fmla="*/ 0 h 2114"/>
              <a:gd name="T12" fmla="*/ 2536 w 2537"/>
              <a:gd name="T13" fmla="*/ 0 h 2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37" h="2114">
                <a:moveTo>
                  <a:pt x="2536" y="0"/>
                </a:moveTo>
                <a:lnTo>
                  <a:pt x="2536" y="1843"/>
                </a:lnTo>
                <a:lnTo>
                  <a:pt x="2383" y="2113"/>
                </a:lnTo>
                <a:lnTo>
                  <a:pt x="2231" y="1843"/>
                </a:lnTo>
                <a:lnTo>
                  <a:pt x="0" y="1843"/>
                </a:lnTo>
                <a:lnTo>
                  <a:pt x="0" y="0"/>
                </a:lnTo>
                <a:lnTo>
                  <a:pt x="2536" y="0"/>
                </a:lnTo>
              </a:path>
            </a:pathLst>
          </a:custGeom>
          <a:solidFill>
            <a:srgbClr val="00B0F0"/>
          </a:solidFill>
          <a:ln w="9525" cap="flat">
            <a:solidFill>
              <a:schemeClr val="bg2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19" name="Freeform 431">
            <a:extLst>
              <a:ext uri="{FF2B5EF4-FFF2-40B4-BE49-F238E27FC236}">
                <a16:creationId xmlns:a16="http://schemas.microsoft.com/office/drawing/2014/main" id="{E44A2780-3963-D646-BE0F-D42E6ADDA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3914" y="1656030"/>
            <a:ext cx="165939" cy="232314"/>
          </a:xfrm>
          <a:custGeom>
            <a:avLst/>
            <a:gdLst>
              <a:gd name="T0" fmla="*/ 306 w 307"/>
              <a:gd name="T1" fmla="*/ 431 h 432"/>
              <a:gd name="T2" fmla="*/ 306 w 307"/>
              <a:gd name="T3" fmla="*/ 431 h 432"/>
              <a:gd name="T4" fmla="*/ 0 w 307"/>
              <a:gd name="T5" fmla="*/ 431 h 432"/>
              <a:gd name="T6" fmla="*/ 0 w 307"/>
              <a:gd name="T7" fmla="*/ 63 h 432"/>
              <a:gd name="T8" fmla="*/ 63 w 307"/>
              <a:gd name="T9" fmla="*/ 0 h 432"/>
              <a:gd name="T10" fmla="*/ 243 w 307"/>
              <a:gd name="T11" fmla="*/ 0 h 432"/>
              <a:gd name="T12" fmla="*/ 306 w 307"/>
              <a:gd name="T13" fmla="*/ 63 h 432"/>
              <a:gd name="T14" fmla="*/ 306 w 307"/>
              <a:gd name="T15" fmla="*/ 431 h 432"/>
              <a:gd name="T16" fmla="*/ 63 w 307"/>
              <a:gd name="T17" fmla="*/ 369 h 432"/>
              <a:gd name="T18" fmla="*/ 63 w 307"/>
              <a:gd name="T19" fmla="*/ 369 h 432"/>
              <a:gd name="T20" fmla="*/ 243 w 307"/>
              <a:gd name="T21" fmla="*/ 369 h 432"/>
              <a:gd name="T22" fmla="*/ 243 w 307"/>
              <a:gd name="T23" fmla="*/ 63 h 432"/>
              <a:gd name="T24" fmla="*/ 243 w 307"/>
              <a:gd name="T25" fmla="*/ 63 h 432"/>
              <a:gd name="T26" fmla="*/ 63 w 307"/>
              <a:gd name="T27" fmla="*/ 63 h 432"/>
              <a:gd name="T28" fmla="*/ 63 w 307"/>
              <a:gd name="T29" fmla="*/ 63 h 432"/>
              <a:gd name="T30" fmla="*/ 63 w 307"/>
              <a:gd name="T31" fmla="*/ 369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07" h="432">
                <a:moveTo>
                  <a:pt x="306" y="431"/>
                </a:moveTo>
                <a:lnTo>
                  <a:pt x="306" y="431"/>
                </a:lnTo>
                <a:cubicBezTo>
                  <a:pt x="0" y="431"/>
                  <a:pt x="0" y="431"/>
                  <a:pt x="0" y="431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27"/>
                  <a:pt x="27" y="0"/>
                  <a:pt x="63" y="0"/>
                </a:cubicBezTo>
                <a:cubicBezTo>
                  <a:pt x="243" y="0"/>
                  <a:pt x="243" y="0"/>
                  <a:pt x="243" y="0"/>
                </a:cubicBezTo>
                <a:cubicBezTo>
                  <a:pt x="279" y="0"/>
                  <a:pt x="306" y="27"/>
                  <a:pt x="306" y="63"/>
                </a:cubicBezTo>
                <a:lnTo>
                  <a:pt x="306" y="431"/>
                </a:lnTo>
                <a:close/>
                <a:moveTo>
                  <a:pt x="63" y="369"/>
                </a:moveTo>
                <a:lnTo>
                  <a:pt x="63" y="369"/>
                </a:lnTo>
                <a:cubicBezTo>
                  <a:pt x="243" y="369"/>
                  <a:pt x="243" y="369"/>
                  <a:pt x="243" y="369"/>
                </a:cubicBezTo>
                <a:cubicBezTo>
                  <a:pt x="243" y="63"/>
                  <a:pt x="243" y="63"/>
                  <a:pt x="243" y="63"/>
                </a:cubicBezTo>
                <a:lnTo>
                  <a:pt x="243" y="63"/>
                </a:lnTo>
                <a:cubicBezTo>
                  <a:pt x="63" y="63"/>
                  <a:pt x="63" y="63"/>
                  <a:pt x="63" y="63"/>
                </a:cubicBezTo>
                <a:lnTo>
                  <a:pt x="63" y="63"/>
                </a:lnTo>
                <a:lnTo>
                  <a:pt x="63" y="36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0" name="Freeform 432">
            <a:extLst>
              <a:ext uri="{FF2B5EF4-FFF2-40B4-BE49-F238E27FC236}">
                <a16:creationId xmlns:a16="http://schemas.microsoft.com/office/drawing/2014/main" id="{FE157908-62BC-0647-9E69-3C452EA8E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312" y="1592026"/>
            <a:ext cx="474110" cy="301059"/>
          </a:xfrm>
          <a:custGeom>
            <a:avLst/>
            <a:gdLst>
              <a:gd name="T0" fmla="*/ 792 w 883"/>
              <a:gd name="T1" fmla="*/ 558 h 559"/>
              <a:gd name="T2" fmla="*/ 792 w 883"/>
              <a:gd name="T3" fmla="*/ 558 h 559"/>
              <a:gd name="T4" fmla="*/ 90 w 883"/>
              <a:gd name="T5" fmla="*/ 558 h 559"/>
              <a:gd name="T6" fmla="*/ 0 w 883"/>
              <a:gd name="T7" fmla="*/ 467 h 559"/>
              <a:gd name="T8" fmla="*/ 0 w 883"/>
              <a:gd name="T9" fmla="*/ 108 h 559"/>
              <a:gd name="T10" fmla="*/ 36 w 883"/>
              <a:gd name="T11" fmla="*/ 63 h 559"/>
              <a:gd name="T12" fmla="*/ 36 w 883"/>
              <a:gd name="T13" fmla="*/ 63 h 559"/>
              <a:gd name="T14" fmla="*/ 81 w 883"/>
              <a:gd name="T15" fmla="*/ 108 h 559"/>
              <a:gd name="T16" fmla="*/ 81 w 883"/>
              <a:gd name="T17" fmla="*/ 467 h 559"/>
              <a:gd name="T18" fmla="*/ 90 w 883"/>
              <a:gd name="T19" fmla="*/ 476 h 559"/>
              <a:gd name="T20" fmla="*/ 792 w 883"/>
              <a:gd name="T21" fmla="*/ 476 h 559"/>
              <a:gd name="T22" fmla="*/ 801 w 883"/>
              <a:gd name="T23" fmla="*/ 467 h 559"/>
              <a:gd name="T24" fmla="*/ 801 w 883"/>
              <a:gd name="T25" fmla="*/ 0 h 559"/>
              <a:gd name="T26" fmla="*/ 882 w 883"/>
              <a:gd name="T27" fmla="*/ 0 h 559"/>
              <a:gd name="T28" fmla="*/ 882 w 883"/>
              <a:gd name="T29" fmla="*/ 467 h 559"/>
              <a:gd name="T30" fmla="*/ 792 w 883"/>
              <a:gd name="T31" fmla="*/ 558 h 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83" h="559">
                <a:moveTo>
                  <a:pt x="792" y="558"/>
                </a:moveTo>
                <a:lnTo>
                  <a:pt x="792" y="558"/>
                </a:lnTo>
                <a:cubicBezTo>
                  <a:pt x="90" y="558"/>
                  <a:pt x="90" y="558"/>
                  <a:pt x="90" y="558"/>
                </a:cubicBezTo>
                <a:cubicBezTo>
                  <a:pt x="36" y="558"/>
                  <a:pt x="0" y="512"/>
                  <a:pt x="0" y="467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81"/>
                  <a:pt x="18" y="63"/>
                  <a:pt x="36" y="63"/>
                </a:cubicBezTo>
                <a:lnTo>
                  <a:pt x="36" y="63"/>
                </a:lnTo>
                <a:cubicBezTo>
                  <a:pt x="63" y="63"/>
                  <a:pt x="81" y="81"/>
                  <a:pt x="81" y="108"/>
                </a:cubicBezTo>
                <a:cubicBezTo>
                  <a:pt x="81" y="467"/>
                  <a:pt x="81" y="467"/>
                  <a:pt x="81" y="467"/>
                </a:cubicBezTo>
                <a:cubicBezTo>
                  <a:pt x="81" y="467"/>
                  <a:pt x="81" y="476"/>
                  <a:pt x="90" y="476"/>
                </a:cubicBezTo>
                <a:cubicBezTo>
                  <a:pt x="792" y="476"/>
                  <a:pt x="792" y="476"/>
                  <a:pt x="792" y="476"/>
                </a:cubicBezTo>
                <a:lnTo>
                  <a:pt x="801" y="467"/>
                </a:lnTo>
                <a:cubicBezTo>
                  <a:pt x="801" y="0"/>
                  <a:pt x="801" y="0"/>
                  <a:pt x="801" y="0"/>
                </a:cubicBezTo>
                <a:cubicBezTo>
                  <a:pt x="882" y="0"/>
                  <a:pt x="882" y="0"/>
                  <a:pt x="882" y="0"/>
                </a:cubicBezTo>
                <a:cubicBezTo>
                  <a:pt x="882" y="467"/>
                  <a:pt x="882" y="467"/>
                  <a:pt x="882" y="467"/>
                </a:cubicBezTo>
                <a:cubicBezTo>
                  <a:pt x="882" y="512"/>
                  <a:pt x="837" y="558"/>
                  <a:pt x="792" y="558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1" name="Freeform 433">
            <a:extLst>
              <a:ext uri="{FF2B5EF4-FFF2-40B4-BE49-F238E27FC236}">
                <a16:creationId xmlns:a16="http://schemas.microsoft.com/office/drawing/2014/main" id="{4814484A-DD94-E944-B6EA-57F15ED56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383" y="1392900"/>
            <a:ext cx="542855" cy="222832"/>
          </a:xfrm>
          <a:custGeom>
            <a:avLst/>
            <a:gdLst>
              <a:gd name="T0" fmla="*/ 855 w 1009"/>
              <a:gd name="T1" fmla="*/ 414 h 415"/>
              <a:gd name="T2" fmla="*/ 855 w 1009"/>
              <a:gd name="T3" fmla="*/ 414 h 415"/>
              <a:gd name="T4" fmla="*/ 738 w 1009"/>
              <a:gd name="T5" fmla="*/ 360 h 415"/>
              <a:gd name="T6" fmla="*/ 621 w 1009"/>
              <a:gd name="T7" fmla="*/ 414 h 415"/>
              <a:gd name="T8" fmla="*/ 504 w 1009"/>
              <a:gd name="T9" fmla="*/ 360 h 415"/>
              <a:gd name="T10" fmla="*/ 387 w 1009"/>
              <a:gd name="T11" fmla="*/ 414 h 415"/>
              <a:gd name="T12" fmla="*/ 270 w 1009"/>
              <a:gd name="T13" fmla="*/ 360 h 415"/>
              <a:gd name="T14" fmla="*/ 144 w 1009"/>
              <a:gd name="T15" fmla="*/ 414 h 415"/>
              <a:gd name="T16" fmla="*/ 0 w 1009"/>
              <a:gd name="T17" fmla="*/ 252 h 415"/>
              <a:gd name="T18" fmla="*/ 0 w 1009"/>
              <a:gd name="T19" fmla="*/ 234 h 415"/>
              <a:gd name="T20" fmla="*/ 135 w 1009"/>
              <a:gd name="T21" fmla="*/ 36 h 415"/>
              <a:gd name="T22" fmla="*/ 198 w 1009"/>
              <a:gd name="T23" fmla="*/ 0 h 415"/>
              <a:gd name="T24" fmla="*/ 801 w 1009"/>
              <a:gd name="T25" fmla="*/ 0 h 415"/>
              <a:gd name="T26" fmla="*/ 801 w 1009"/>
              <a:gd name="T27" fmla="*/ 0 h 415"/>
              <a:gd name="T28" fmla="*/ 873 w 1009"/>
              <a:gd name="T29" fmla="*/ 36 h 415"/>
              <a:gd name="T30" fmla="*/ 1008 w 1009"/>
              <a:gd name="T31" fmla="*/ 243 h 415"/>
              <a:gd name="T32" fmla="*/ 1008 w 1009"/>
              <a:gd name="T33" fmla="*/ 252 h 415"/>
              <a:gd name="T34" fmla="*/ 864 w 1009"/>
              <a:gd name="T35" fmla="*/ 414 h 415"/>
              <a:gd name="T36" fmla="*/ 855 w 1009"/>
              <a:gd name="T37" fmla="*/ 414 h 415"/>
              <a:gd name="T38" fmla="*/ 738 w 1009"/>
              <a:gd name="T39" fmla="*/ 261 h 415"/>
              <a:gd name="T40" fmla="*/ 738 w 1009"/>
              <a:gd name="T41" fmla="*/ 261 h 415"/>
              <a:gd name="T42" fmla="*/ 738 w 1009"/>
              <a:gd name="T43" fmla="*/ 261 h 415"/>
              <a:gd name="T44" fmla="*/ 783 w 1009"/>
              <a:gd name="T45" fmla="*/ 288 h 415"/>
              <a:gd name="T46" fmla="*/ 855 w 1009"/>
              <a:gd name="T47" fmla="*/ 333 h 415"/>
              <a:gd name="T48" fmla="*/ 927 w 1009"/>
              <a:gd name="T49" fmla="*/ 261 h 415"/>
              <a:gd name="T50" fmla="*/ 810 w 1009"/>
              <a:gd name="T51" fmla="*/ 81 h 415"/>
              <a:gd name="T52" fmla="*/ 198 w 1009"/>
              <a:gd name="T53" fmla="*/ 81 h 415"/>
              <a:gd name="T54" fmla="*/ 198 w 1009"/>
              <a:gd name="T55" fmla="*/ 81 h 415"/>
              <a:gd name="T56" fmla="*/ 81 w 1009"/>
              <a:gd name="T57" fmla="*/ 261 h 415"/>
              <a:gd name="T58" fmla="*/ 153 w 1009"/>
              <a:gd name="T59" fmla="*/ 333 h 415"/>
              <a:gd name="T60" fmla="*/ 225 w 1009"/>
              <a:gd name="T61" fmla="*/ 288 h 415"/>
              <a:gd name="T62" fmla="*/ 270 w 1009"/>
              <a:gd name="T63" fmla="*/ 261 h 415"/>
              <a:gd name="T64" fmla="*/ 270 w 1009"/>
              <a:gd name="T65" fmla="*/ 261 h 415"/>
              <a:gd name="T66" fmla="*/ 315 w 1009"/>
              <a:gd name="T67" fmla="*/ 288 h 415"/>
              <a:gd name="T68" fmla="*/ 387 w 1009"/>
              <a:gd name="T69" fmla="*/ 333 h 415"/>
              <a:gd name="T70" fmla="*/ 459 w 1009"/>
              <a:gd name="T71" fmla="*/ 288 h 415"/>
              <a:gd name="T72" fmla="*/ 504 w 1009"/>
              <a:gd name="T73" fmla="*/ 261 h 415"/>
              <a:gd name="T74" fmla="*/ 504 w 1009"/>
              <a:gd name="T75" fmla="*/ 261 h 415"/>
              <a:gd name="T76" fmla="*/ 549 w 1009"/>
              <a:gd name="T77" fmla="*/ 288 h 415"/>
              <a:gd name="T78" fmla="*/ 621 w 1009"/>
              <a:gd name="T79" fmla="*/ 333 h 415"/>
              <a:gd name="T80" fmla="*/ 684 w 1009"/>
              <a:gd name="T81" fmla="*/ 288 h 415"/>
              <a:gd name="T82" fmla="*/ 738 w 1009"/>
              <a:gd name="T83" fmla="*/ 261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09" h="415">
                <a:moveTo>
                  <a:pt x="855" y="414"/>
                </a:moveTo>
                <a:lnTo>
                  <a:pt x="855" y="414"/>
                </a:lnTo>
                <a:cubicBezTo>
                  <a:pt x="810" y="414"/>
                  <a:pt x="765" y="396"/>
                  <a:pt x="738" y="360"/>
                </a:cubicBezTo>
                <a:cubicBezTo>
                  <a:pt x="702" y="396"/>
                  <a:pt x="666" y="414"/>
                  <a:pt x="621" y="414"/>
                </a:cubicBezTo>
                <a:cubicBezTo>
                  <a:pt x="576" y="414"/>
                  <a:pt x="531" y="396"/>
                  <a:pt x="504" y="360"/>
                </a:cubicBezTo>
                <a:cubicBezTo>
                  <a:pt x="477" y="396"/>
                  <a:pt x="432" y="414"/>
                  <a:pt x="387" y="414"/>
                </a:cubicBezTo>
                <a:cubicBezTo>
                  <a:pt x="342" y="414"/>
                  <a:pt x="297" y="396"/>
                  <a:pt x="270" y="360"/>
                </a:cubicBezTo>
                <a:cubicBezTo>
                  <a:pt x="243" y="396"/>
                  <a:pt x="189" y="414"/>
                  <a:pt x="144" y="414"/>
                </a:cubicBezTo>
                <a:cubicBezTo>
                  <a:pt x="63" y="405"/>
                  <a:pt x="0" y="333"/>
                  <a:pt x="0" y="252"/>
                </a:cubicBezTo>
                <a:cubicBezTo>
                  <a:pt x="0" y="234"/>
                  <a:pt x="0" y="234"/>
                  <a:pt x="0" y="234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44" y="18"/>
                  <a:pt x="171" y="0"/>
                  <a:pt x="198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0"/>
                </a:lnTo>
                <a:cubicBezTo>
                  <a:pt x="837" y="0"/>
                  <a:pt x="855" y="9"/>
                  <a:pt x="873" y="36"/>
                </a:cubicBezTo>
                <a:cubicBezTo>
                  <a:pt x="1008" y="243"/>
                  <a:pt x="1008" y="243"/>
                  <a:pt x="1008" y="243"/>
                </a:cubicBezTo>
                <a:cubicBezTo>
                  <a:pt x="1008" y="252"/>
                  <a:pt x="1008" y="252"/>
                  <a:pt x="1008" y="252"/>
                </a:cubicBezTo>
                <a:cubicBezTo>
                  <a:pt x="1008" y="342"/>
                  <a:pt x="945" y="414"/>
                  <a:pt x="864" y="414"/>
                </a:cubicBezTo>
                <a:cubicBezTo>
                  <a:pt x="855" y="414"/>
                  <a:pt x="855" y="414"/>
                  <a:pt x="855" y="414"/>
                </a:cubicBezTo>
                <a:close/>
                <a:moveTo>
                  <a:pt x="738" y="261"/>
                </a:moveTo>
                <a:lnTo>
                  <a:pt x="738" y="261"/>
                </a:lnTo>
                <a:lnTo>
                  <a:pt x="738" y="261"/>
                </a:lnTo>
                <a:cubicBezTo>
                  <a:pt x="756" y="261"/>
                  <a:pt x="774" y="270"/>
                  <a:pt x="783" y="288"/>
                </a:cubicBezTo>
                <a:cubicBezTo>
                  <a:pt x="792" y="315"/>
                  <a:pt x="828" y="342"/>
                  <a:pt x="855" y="333"/>
                </a:cubicBezTo>
                <a:cubicBezTo>
                  <a:pt x="891" y="333"/>
                  <a:pt x="927" y="306"/>
                  <a:pt x="927" y="261"/>
                </a:cubicBezTo>
                <a:cubicBezTo>
                  <a:pt x="810" y="81"/>
                  <a:pt x="810" y="81"/>
                  <a:pt x="810" y="81"/>
                </a:cubicBezTo>
                <a:cubicBezTo>
                  <a:pt x="198" y="81"/>
                  <a:pt x="198" y="81"/>
                  <a:pt x="198" y="81"/>
                </a:cubicBezTo>
                <a:lnTo>
                  <a:pt x="198" y="81"/>
                </a:lnTo>
                <a:cubicBezTo>
                  <a:pt x="81" y="261"/>
                  <a:pt x="81" y="261"/>
                  <a:pt x="81" y="261"/>
                </a:cubicBezTo>
                <a:cubicBezTo>
                  <a:pt x="81" y="297"/>
                  <a:pt x="117" y="333"/>
                  <a:pt x="153" y="333"/>
                </a:cubicBezTo>
                <a:cubicBezTo>
                  <a:pt x="180" y="333"/>
                  <a:pt x="216" y="315"/>
                  <a:pt x="225" y="288"/>
                </a:cubicBezTo>
                <a:cubicBezTo>
                  <a:pt x="234" y="270"/>
                  <a:pt x="252" y="261"/>
                  <a:pt x="270" y="261"/>
                </a:cubicBezTo>
                <a:lnTo>
                  <a:pt x="270" y="261"/>
                </a:lnTo>
                <a:cubicBezTo>
                  <a:pt x="288" y="261"/>
                  <a:pt x="306" y="270"/>
                  <a:pt x="315" y="288"/>
                </a:cubicBezTo>
                <a:cubicBezTo>
                  <a:pt x="333" y="315"/>
                  <a:pt x="360" y="333"/>
                  <a:pt x="387" y="333"/>
                </a:cubicBezTo>
                <a:cubicBezTo>
                  <a:pt x="414" y="333"/>
                  <a:pt x="441" y="315"/>
                  <a:pt x="459" y="288"/>
                </a:cubicBezTo>
                <a:cubicBezTo>
                  <a:pt x="468" y="270"/>
                  <a:pt x="486" y="261"/>
                  <a:pt x="504" y="261"/>
                </a:cubicBezTo>
                <a:lnTo>
                  <a:pt x="504" y="261"/>
                </a:lnTo>
                <a:cubicBezTo>
                  <a:pt x="522" y="261"/>
                  <a:pt x="540" y="270"/>
                  <a:pt x="549" y="288"/>
                </a:cubicBezTo>
                <a:cubicBezTo>
                  <a:pt x="558" y="315"/>
                  <a:pt x="585" y="333"/>
                  <a:pt x="621" y="333"/>
                </a:cubicBezTo>
                <a:cubicBezTo>
                  <a:pt x="648" y="333"/>
                  <a:pt x="675" y="315"/>
                  <a:pt x="684" y="288"/>
                </a:cubicBezTo>
                <a:cubicBezTo>
                  <a:pt x="693" y="270"/>
                  <a:pt x="711" y="261"/>
                  <a:pt x="738" y="26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2" name="Freeform 428">
            <a:extLst>
              <a:ext uri="{FF2B5EF4-FFF2-40B4-BE49-F238E27FC236}">
                <a16:creationId xmlns:a16="http://schemas.microsoft.com/office/drawing/2014/main" id="{0F1D95F8-24BC-0148-AE05-1E128993F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908" y="2465658"/>
            <a:ext cx="1363064" cy="1135493"/>
          </a:xfrm>
          <a:custGeom>
            <a:avLst/>
            <a:gdLst>
              <a:gd name="T0" fmla="*/ 2536 w 2537"/>
              <a:gd name="T1" fmla="*/ 0 h 2114"/>
              <a:gd name="T2" fmla="*/ 2536 w 2537"/>
              <a:gd name="T3" fmla="*/ 1843 h 2114"/>
              <a:gd name="T4" fmla="*/ 2383 w 2537"/>
              <a:gd name="T5" fmla="*/ 2113 h 2114"/>
              <a:gd name="T6" fmla="*/ 2231 w 2537"/>
              <a:gd name="T7" fmla="*/ 1843 h 2114"/>
              <a:gd name="T8" fmla="*/ 0 w 2537"/>
              <a:gd name="T9" fmla="*/ 1843 h 2114"/>
              <a:gd name="T10" fmla="*/ 0 w 2537"/>
              <a:gd name="T11" fmla="*/ 0 h 2114"/>
              <a:gd name="T12" fmla="*/ 2536 w 2537"/>
              <a:gd name="T13" fmla="*/ 0 h 2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37" h="2114">
                <a:moveTo>
                  <a:pt x="2536" y="0"/>
                </a:moveTo>
                <a:lnTo>
                  <a:pt x="2536" y="1843"/>
                </a:lnTo>
                <a:lnTo>
                  <a:pt x="2383" y="2113"/>
                </a:lnTo>
                <a:lnTo>
                  <a:pt x="2231" y="1843"/>
                </a:lnTo>
                <a:lnTo>
                  <a:pt x="0" y="1843"/>
                </a:lnTo>
                <a:lnTo>
                  <a:pt x="0" y="0"/>
                </a:lnTo>
                <a:lnTo>
                  <a:pt x="2536" y="0"/>
                </a:lnTo>
              </a:path>
            </a:pathLst>
          </a:custGeom>
          <a:solidFill>
            <a:srgbClr val="FFC000"/>
          </a:solidFill>
          <a:ln w="9525" cap="flat">
            <a:solidFill>
              <a:schemeClr val="bg2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3" name="Freeform 431">
            <a:extLst>
              <a:ext uri="{FF2B5EF4-FFF2-40B4-BE49-F238E27FC236}">
                <a16:creationId xmlns:a16="http://schemas.microsoft.com/office/drawing/2014/main" id="{5BF129FB-BCFA-F746-98BA-016963E1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3914" y="2968214"/>
            <a:ext cx="165939" cy="232314"/>
          </a:xfrm>
          <a:custGeom>
            <a:avLst/>
            <a:gdLst>
              <a:gd name="T0" fmla="*/ 306 w 307"/>
              <a:gd name="T1" fmla="*/ 431 h 432"/>
              <a:gd name="T2" fmla="*/ 306 w 307"/>
              <a:gd name="T3" fmla="*/ 431 h 432"/>
              <a:gd name="T4" fmla="*/ 0 w 307"/>
              <a:gd name="T5" fmla="*/ 431 h 432"/>
              <a:gd name="T6" fmla="*/ 0 w 307"/>
              <a:gd name="T7" fmla="*/ 63 h 432"/>
              <a:gd name="T8" fmla="*/ 63 w 307"/>
              <a:gd name="T9" fmla="*/ 0 h 432"/>
              <a:gd name="T10" fmla="*/ 243 w 307"/>
              <a:gd name="T11" fmla="*/ 0 h 432"/>
              <a:gd name="T12" fmla="*/ 306 w 307"/>
              <a:gd name="T13" fmla="*/ 63 h 432"/>
              <a:gd name="T14" fmla="*/ 306 w 307"/>
              <a:gd name="T15" fmla="*/ 431 h 432"/>
              <a:gd name="T16" fmla="*/ 63 w 307"/>
              <a:gd name="T17" fmla="*/ 369 h 432"/>
              <a:gd name="T18" fmla="*/ 63 w 307"/>
              <a:gd name="T19" fmla="*/ 369 h 432"/>
              <a:gd name="T20" fmla="*/ 243 w 307"/>
              <a:gd name="T21" fmla="*/ 369 h 432"/>
              <a:gd name="T22" fmla="*/ 243 w 307"/>
              <a:gd name="T23" fmla="*/ 63 h 432"/>
              <a:gd name="T24" fmla="*/ 243 w 307"/>
              <a:gd name="T25" fmla="*/ 63 h 432"/>
              <a:gd name="T26" fmla="*/ 63 w 307"/>
              <a:gd name="T27" fmla="*/ 63 h 432"/>
              <a:gd name="T28" fmla="*/ 63 w 307"/>
              <a:gd name="T29" fmla="*/ 63 h 432"/>
              <a:gd name="T30" fmla="*/ 63 w 307"/>
              <a:gd name="T31" fmla="*/ 369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07" h="432">
                <a:moveTo>
                  <a:pt x="306" y="431"/>
                </a:moveTo>
                <a:lnTo>
                  <a:pt x="306" y="431"/>
                </a:lnTo>
                <a:cubicBezTo>
                  <a:pt x="0" y="431"/>
                  <a:pt x="0" y="431"/>
                  <a:pt x="0" y="431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27"/>
                  <a:pt x="27" y="0"/>
                  <a:pt x="63" y="0"/>
                </a:cubicBezTo>
                <a:cubicBezTo>
                  <a:pt x="243" y="0"/>
                  <a:pt x="243" y="0"/>
                  <a:pt x="243" y="0"/>
                </a:cubicBezTo>
                <a:cubicBezTo>
                  <a:pt x="279" y="0"/>
                  <a:pt x="306" y="27"/>
                  <a:pt x="306" y="63"/>
                </a:cubicBezTo>
                <a:lnTo>
                  <a:pt x="306" y="431"/>
                </a:lnTo>
                <a:close/>
                <a:moveTo>
                  <a:pt x="63" y="369"/>
                </a:moveTo>
                <a:lnTo>
                  <a:pt x="63" y="369"/>
                </a:lnTo>
                <a:cubicBezTo>
                  <a:pt x="243" y="369"/>
                  <a:pt x="243" y="369"/>
                  <a:pt x="243" y="369"/>
                </a:cubicBezTo>
                <a:cubicBezTo>
                  <a:pt x="243" y="63"/>
                  <a:pt x="243" y="63"/>
                  <a:pt x="243" y="63"/>
                </a:cubicBezTo>
                <a:lnTo>
                  <a:pt x="243" y="63"/>
                </a:lnTo>
                <a:cubicBezTo>
                  <a:pt x="63" y="63"/>
                  <a:pt x="63" y="63"/>
                  <a:pt x="63" y="63"/>
                </a:cubicBezTo>
                <a:lnTo>
                  <a:pt x="63" y="63"/>
                </a:lnTo>
                <a:lnTo>
                  <a:pt x="63" y="36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4" name="Freeform 432">
            <a:extLst>
              <a:ext uri="{FF2B5EF4-FFF2-40B4-BE49-F238E27FC236}">
                <a16:creationId xmlns:a16="http://schemas.microsoft.com/office/drawing/2014/main" id="{A802F843-D0A9-F849-B769-A527389F7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312" y="2904210"/>
            <a:ext cx="474110" cy="301059"/>
          </a:xfrm>
          <a:custGeom>
            <a:avLst/>
            <a:gdLst>
              <a:gd name="T0" fmla="*/ 792 w 883"/>
              <a:gd name="T1" fmla="*/ 558 h 559"/>
              <a:gd name="T2" fmla="*/ 792 w 883"/>
              <a:gd name="T3" fmla="*/ 558 h 559"/>
              <a:gd name="T4" fmla="*/ 90 w 883"/>
              <a:gd name="T5" fmla="*/ 558 h 559"/>
              <a:gd name="T6" fmla="*/ 0 w 883"/>
              <a:gd name="T7" fmla="*/ 467 h 559"/>
              <a:gd name="T8" fmla="*/ 0 w 883"/>
              <a:gd name="T9" fmla="*/ 108 h 559"/>
              <a:gd name="T10" fmla="*/ 36 w 883"/>
              <a:gd name="T11" fmla="*/ 63 h 559"/>
              <a:gd name="T12" fmla="*/ 36 w 883"/>
              <a:gd name="T13" fmla="*/ 63 h 559"/>
              <a:gd name="T14" fmla="*/ 81 w 883"/>
              <a:gd name="T15" fmla="*/ 108 h 559"/>
              <a:gd name="T16" fmla="*/ 81 w 883"/>
              <a:gd name="T17" fmla="*/ 467 h 559"/>
              <a:gd name="T18" fmla="*/ 90 w 883"/>
              <a:gd name="T19" fmla="*/ 476 h 559"/>
              <a:gd name="T20" fmla="*/ 792 w 883"/>
              <a:gd name="T21" fmla="*/ 476 h 559"/>
              <a:gd name="T22" fmla="*/ 801 w 883"/>
              <a:gd name="T23" fmla="*/ 467 h 559"/>
              <a:gd name="T24" fmla="*/ 801 w 883"/>
              <a:gd name="T25" fmla="*/ 0 h 559"/>
              <a:gd name="T26" fmla="*/ 882 w 883"/>
              <a:gd name="T27" fmla="*/ 0 h 559"/>
              <a:gd name="T28" fmla="*/ 882 w 883"/>
              <a:gd name="T29" fmla="*/ 467 h 559"/>
              <a:gd name="T30" fmla="*/ 792 w 883"/>
              <a:gd name="T31" fmla="*/ 558 h 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83" h="559">
                <a:moveTo>
                  <a:pt x="792" y="558"/>
                </a:moveTo>
                <a:lnTo>
                  <a:pt x="792" y="558"/>
                </a:lnTo>
                <a:cubicBezTo>
                  <a:pt x="90" y="558"/>
                  <a:pt x="90" y="558"/>
                  <a:pt x="90" y="558"/>
                </a:cubicBezTo>
                <a:cubicBezTo>
                  <a:pt x="36" y="558"/>
                  <a:pt x="0" y="512"/>
                  <a:pt x="0" y="467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81"/>
                  <a:pt x="18" y="63"/>
                  <a:pt x="36" y="63"/>
                </a:cubicBezTo>
                <a:lnTo>
                  <a:pt x="36" y="63"/>
                </a:lnTo>
                <a:cubicBezTo>
                  <a:pt x="63" y="63"/>
                  <a:pt x="81" y="81"/>
                  <a:pt x="81" y="108"/>
                </a:cubicBezTo>
                <a:cubicBezTo>
                  <a:pt x="81" y="467"/>
                  <a:pt x="81" y="467"/>
                  <a:pt x="81" y="467"/>
                </a:cubicBezTo>
                <a:cubicBezTo>
                  <a:pt x="81" y="467"/>
                  <a:pt x="81" y="476"/>
                  <a:pt x="90" y="476"/>
                </a:cubicBezTo>
                <a:cubicBezTo>
                  <a:pt x="792" y="476"/>
                  <a:pt x="792" y="476"/>
                  <a:pt x="792" y="476"/>
                </a:cubicBezTo>
                <a:lnTo>
                  <a:pt x="801" y="467"/>
                </a:lnTo>
                <a:cubicBezTo>
                  <a:pt x="801" y="0"/>
                  <a:pt x="801" y="0"/>
                  <a:pt x="801" y="0"/>
                </a:cubicBezTo>
                <a:cubicBezTo>
                  <a:pt x="882" y="0"/>
                  <a:pt x="882" y="0"/>
                  <a:pt x="882" y="0"/>
                </a:cubicBezTo>
                <a:cubicBezTo>
                  <a:pt x="882" y="467"/>
                  <a:pt x="882" y="467"/>
                  <a:pt x="882" y="467"/>
                </a:cubicBezTo>
                <a:cubicBezTo>
                  <a:pt x="882" y="512"/>
                  <a:pt x="837" y="558"/>
                  <a:pt x="792" y="558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5" name="Freeform 433">
            <a:extLst>
              <a:ext uri="{FF2B5EF4-FFF2-40B4-BE49-F238E27FC236}">
                <a16:creationId xmlns:a16="http://schemas.microsoft.com/office/drawing/2014/main" id="{F86D63E6-363B-BB46-B12F-6408954C0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383" y="2705084"/>
            <a:ext cx="542855" cy="222832"/>
          </a:xfrm>
          <a:custGeom>
            <a:avLst/>
            <a:gdLst>
              <a:gd name="T0" fmla="*/ 855 w 1009"/>
              <a:gd name="T1" fmla="*/ 414 h 415"/>
              <a:gd name="T2" fmla="*/ 855 w 1009"/>
              <a:gd name="T3" fmla="*/ 414 h 415"/>
              <a:gd name="T4" fmla="*/ 738 w 1009"/>
              <a:gd name="T5" fmla="*/ 360 h 415"/>
              <a:gd name="T6" fmla="*/ 621 w 1009"/>
              <a:gd name="T7" fmla="*/ 414 h 415"/>
              <a:gd name="T8" fmla="*/ 504 w 1009"/>
              <a:gd name="T9" fmla="*/ 360 h 415"/>
              <a:gd name="T10" fmla="*/ 387 w 1009"/>
              <a:gd name="T11" fmla="*/ 414 h 415"/>
              <a:gd name="T12" fmla="*/ 270 w 1009"/>
              <a:gd name="T13" fmla="*/ 360 h 415"/>
              <a:gd name="T14" fmla="*/ 144 w 1009"/>
              <a:gd name="T15" fmla="*/ 414 h 415"/>
              <a:gd name="T16" fmla="*/ 0 w 1009"/>
              <a:gd name="T17" fmla="*/ 252 h 415"/>
              <a:gd name="T18" fmla="*/ 0 w 1009"/>
              <a:gd name="T19" fmla="*/ 234 h 415"/>
              <a:gd name="T20" fmla="*/ 135 w 1009"/>
              <a:gd name="T21" fmla="*/ 36 h 415"/>
              <a:gd name="T22" fmla="*/ 198 w 1009"/>
              <a:gd name="T23" fmla="*/ 0 h 415"/>
              <a:gd name="T24" fmla="*/ 801 w 1009"/>
              <a:gd name="T25" fmla="*/ 0 h 415"/>
              <a:gd name="T26" fmla="*/ 801 w 1009"/>
              <a:gd name="T27" fmla="*/ 0 h 415"/>
              <a:gd name="T28" fmla="*/ 873 w 1009"/>
              <a:gd name="T29" fmla="*/ 36 h 415"/>
              <a:gd name="T30" fmla="*/ 1008 w 1009"/>
              <a:gd name="T31" fmla="*/ 243 h 415"/>
              <a:gd name="T32" fmla="*/ 1008 w 1009"/>
              <a:gd name="T33" fmla="*/ 252 h 415"/>
              <a:gd name="T34" fmla="*/ 864 w 1009"/>
              <a:gd name="T35" fmla="*/ 414 h 415"/>
              <a:gd name="T36" fmla="*/ 855 w 1009"/>
              <a:gd name="T37" fmla="*/ 414 h 415"/>
              <a:gd name="T38" fmla="*/ 738 w 1009"/>
              <a:gd name="T39" fmla="*/ 261 h 415"/>
              <a:gd name="T40" fmla="*/ 738 w 1009"/>
              <a:gd name="T41" fmla="*/ 261 h 415"/>
              <a:gd name="T42" fmla="*/ 738 w 1009"/>
              <a:gd name="T43" fmla="*/ 261 h 415"/>
              <a:gd name="T44" fmla="*/ 783 w 1009"/>
              <a:gd name="T45" fmla="*/ 288 h 415"/>
              <a:gd name="T46" fmla="*/ 855 w 1009"/>
              <a:gd name="T47" fmla="*/ 333 h 415"/>
              <a:gd name="T48" fmla="*/ 927 w 1009"/>
              <a:gd name="T49" fmla="*/ 261 h 415"/>
              <a:gd name="T50" fmla="*/ 810 w 1009"/>
              <a:gd name="T51" fmla="*/ 81 h 415"/>
              <a:gd name="T52" fmla="*/ 198 w 1009"/>
              <a:gd name="T53" fmla="*/ 81 h 415"/>
              <a:gd name="T54" fmla="*/ 198 w 1009"/>
              <a:gd name="T55" fmla="*/ 81 h 415"/>
              <a:gd name="T56" fmla="*/ 81 w 1009"/>
              <a:gd name="T57" fmla="*/ 261 h 415"/>
              <a:gd name="T58" fmla="*/ 153 w 1009"/>
              <a:gd name="T59" fmla="*/ 333 h 415"/>
              <a:gd name="T60" fmla="*/ 225 w 1009"/>
              <a:gd name="T61" fmla="*/ 288 h 415"/>
              <a:gd name="T62" fmla="*/ 270 w 1009"/>
              <a:gd name="T63" fmla="*/ 261 h 415"/>
              <a:gd name="T64" fmla="*/ 270 w 1009"/>
              <a:gd name="T65" fmla="*/ 261 h 415"/>
              <a:gd name="T66" fmla="*/ 315 w 1009"/>
              <a:gd name="T67" fmla="*/ 288 h 415"/>
              <a:gd name="T68" fmla="*/ 387 w 1009"/>
              <a:gd name="T69" fmla="*/ 333 h 415"/>
              <a:gd name="T70" fmla="*/ 459 w 1009"/>
              <a:gd name="T71" fmla="*/ 288 h 415"/>
              <a:gd name="T72" fmla="*/ 504 w 1009"/>
              <a:gd name="T73" fmla="*/ 261 h 415"/>
              <a:gd name="T74" fmla="*/ 504 w 1009"/>
              <a:gd name="T75" fmla="*/ 261 h 415"/>
              <a:gd name="T76" fmla="*/ 549 w 1009"/>
              <a:gd name="T77" fmla="*/ 288 h 415"/>
              <a:gd name="T78" fmla="*/ 621 w 1009"/>
              <a:gd name="T79" fmla="*/ 333 h 415"/>
              <a:gd name="T80" fmla="*/ 684 w 1009"/>
              <a:gd name="T81" fmla="*/ 288 h 415"/>
              <a:gd name="T82" fmla="*/ 738 w 1009"/>
              <a:gd name="T83" fmla="*/ 261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09" h="415">
                <a:moveTo>
                  <a:pt x="855" y="414"/>
                </a:moveTo>
                <a:lnTo>
                  <a:pt x="855" y="414"/>
                </a:lnTo>
                <a:cubicBezTo>
                  <a:pt x="810" y="414"/>
                  <a:pt x="765" y="396"/>
                  <a:pt x="738" y="360"/>
                </a:cubicBezTo>
                <a:cubicBezTo>
                  <a:pt x="702" y="396"/>
                  <a:pt x="666" y="414"/>
                  <a:pt x="621" y="414"/>
                </a:cubicBezTo>
                <a:cubicBezTo>
                  <a:pt x="576" y="414"/>
                  <a:pt x="531" y="396"/>
                  <a:pt x="504" y="360"/>
                </a:cubicBezTo>
                <a:cubicBezTo>
                  <a:pt x="477" y="396"/>
                  <a:pt x="432" y="414"/>
                  <a:pt x="387" y="414"/>
                </a:cubicBezTo>
                <a:cubicBezTo>
                  <a:pt x="342" y="414"/>
                  <a:pt x="297" y="396"/>
                  <a:pt x="270" y="360"/>
                </a:cubicBezTo>
                <a:cubicBezTo>
                  <a:pt x="243" y="396"/>
                  <a:pt x="189" y="414"/>
                  <a:pt x="144" y="414"/>
                </a:cubicBezTo>
                <a:cubicBezTo>
                  <a:pt x="63" y="405"/>
                  <a:pt x="0" y="333"/>
                  <a:pt x="0" y="252"/>
                </a:cubicBezTo>
                <a:cubicBezTo>
                  <a:pt x="0" y="234"/>
                  <a:pt x="0" y="234"/>
                  <a:pt x="0" y="234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44" y="18"/>
                  <a:pt x="171" y="0"/>
                  <a:pt x="198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0"/>
                </a:lnTo>
                <a:cubicBezTo>
                  <a:pt x="837" y="0"/>
                  <a:pt x="855" y="9"/>
                  <a:pt x="873" y="36"/>
                </a:cubicBezTo>
                <a:cubicBezTo>
                  <a:pt x="1008" y="243"/>
                  <a:pt x="1008" y="243"/>
                  <a:pt x="1008" y="243"/>
                </a:cubicBezTo>
                <a:cubicBezTo>
                  <a:pt x="1008" y="252"/>
                  <a:pt x="1008" y="252"/>
                  <a:pt x="1008" y="252"/>
                </a:cubicBezTo>
                <a:cubicBezTo>
                  <a:pt x="1008" y="342"/>
                  <a:pt x="945" y="414"/>
                  <a:pt x="864" y="414"/>
                </a:cubicBezTo>
                <a:cubicBezTo>
                  <a:pt x="855" y="414"/>
                  <a:pt x="855" y="414"/>
                  <a:pt x="855" y="414"/>
                </a:cubicBezTo>
                <a:close/>
                <a:moveTo>
                  <a:pt x="738" y="261"/>
                </a:moveTo>
                <a:lnTo>
                  <a:pt x="738" y="261"/>
                </a:lnTo>
                <a:lnTo>
                  <a:pt x="738" y="261"/>
                </a:lnTo>
                <a:cubicBezTo>
                  <a:pt x="756" y="261"/>
                  <a:pt x="774" y="270"/>
                  <a:pt x="783" y="288"/>
                </a:cubicBezTo>
                <a:cubicBezTo>
                  <a:pt x="792" y="315"/>
                  <a:pt x="828" y="342"/>
                  <a:pt x="855" y="333"/>
                </a:cubicBezTo>
                <a:cubicBezTo>
                  <a:pt x="891" y="333"/>
                  <a:pt x="927" y="306"/>
                  <a:pt x="927" y="261"/>
                </a:cubicBezTo>
                <a:cubicBezTo>
                  <a:pt x="810" y="81"/>
                  <a:pt x="810" y="81"/>
                  <a:pt x="810" y="81"/>
                </a:cubicBezTo>
                <a:cubicBezTo>
                  <a:pt x="198" y="81"/>
                  <a:pt x="198" y="81"/>
                  <a:pt x="198" y="81"/>
                </a:cubicBezTo>
                <a:lnTo>
                  <a:pt x="198" y="81"/>
                </a:lnTo>
                <a:cubicBezTo>
                  <a:pt x="81" y="261"/>
                  <a:pt x="81" y="261"/>
                  <a:pt x="81" y="261"/>
                </a:cubicBezTo>
                <a:cubicBezTo>
                  <a:pt x="81" y="297"/>
                  <a:pt x="117" y="333"/>
                  <a:pt x="153" y="333"/>
                </a:cubicBezTo>
                <a:cubicBezTo>
                  <a:pt x="180" y="333"/>
                  <a:pt x="216" y="315"/>
                  <a:pt x="225" y="288"/>
                </a:cubicBezTo>
                <a:cubicBezTo>
                  <a:pt x="234" y="270"/>
                  <a:pt x="252" y="261"/>
                  <a:pt x="270" y="261"/>
                </a:cubicBezTo>
                <a:lnTo>
                  <a:pt x="270" y="261"/>
                </a:lnTo>
                <a:cubicBezTo>
                  <a:pt x="288" y="261"/>
                  <a:pt x="306" y="270"/>
                  <a:pt x="315" y="288"/>
                </a:cubicBezTo>
                <a:cubicBezTo>
                  <a:pt x="333" y="315"/>
                  <a:pt x="360" y="333"/>
                  <a:pt x="387" y="333"/>
                </a:cubicBezTo>
                <a:cubicBezTo>
                  <a:pt x="414" y="333"/>
                  <a:pt x="441" y="315"/>
                  <a:pt x="459" y="288"/>
                </a:cubicBezTo>
                <a:cubicBezTo>
                  <a:pt x="468" y="270"/>
                  <a:pt x="486" y="261"/>
                  <a:pt x="504" y="261"/>
                </a:cubicBezTo>
                <a:lnTo>
                  <a:pt x="504" y="261"/>
                </a:lnTo>
                <a:cubicBezTo>
                  <a:pt x="522" y="261"/>
                  <a:pt x="540" y="270"/>
                  <a:pt x="549" y="288"/>
                </a:cubicBezTo>
                <a:cubicBezTo>
                  <a:pt x="558" y="315"/>
                  <a:pt x="585" y="333"/>
                  <a:pt x="621" y="333"/>
                </a:cubicBezTo>
                <a:cubicBezTo>
                  <a:pt x="648" y="333"/>
                  <a:pt x="675" y="315"/>
                  <a:pt x="684" y="288"/>
                </a:cubicBezTo>
                <a:cubicBezTo>
                  <a:pt x="693" y="270"/>
                  <a:pt x="711" y="261"/>
                  <a:pt x="738" y="26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7" name="Freeform 428">
            <a:extLst>
              <a:ext uri="{FF2B5EF4-FFF2-40B4-BE49-F238E27FC236}">
                <a16:creationId xmlns:a16="http://schemas.microsoft.com/office/drawing/2014/main" id="{C578CAD0-CC6C-AC4B-89C4-0F1CAE06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908" y="3777843"/>
            <a:ext cx="1363064" cy="1135493"/>
          </a:xfrm>
          <a:custGeom>
            <a:avLst/>
            <a:gdLst>
              <a:gd name="T0" fmla="*/ 2536 w 2537"/>
              <a:gd name="T1" fmla="*/ 0 h 2114"/>
              <a:gd name="T2" fmla="*/ 2536 w 2537"/>
              <a:gd name="T3" fmla="*/ 1843 h 2114"/>
              <a:gd name="T4" fmla="*/ 2383 w 2537"/>
              <a:gd name="T5" fmla="*/ 2113 h 2114"/>
              <a:gd name="T6" fmla="*/ 2231 w 2537"/>
              <a:gd name="T7" fmla="*/ 1843 h 2114"/>
              <a:gd name="T8" fmla="*/ 0 w 2537"/>
              <a:gd name="T9" fmla="*/ 1843 h 2114"/>
              <a:gd name="T10" fmla="*/ 0 w 2537"/>
              <a:gd name="T11" fmla="*/ 0 h 2114"/>
              <a:gd name="T12" fmla="*/ 2536 w 2537"/>
              <a:gd name="T13" fmla="*/ 0 h 2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37" h="2114">
                <a:moveTo>
                  <a:pt x="2536" y="0"/>
                </a:moveTo>
                <a:lnTo>
                  <a:pt x="2536" y="1843"/>
                </a:lnTo>
                <a:lnTo>
                  <a:pt x="2383" y="2113"/>
                </a:lnTo>
                <a:lnTo>
                  <a:pt x="2231" y="1843"/>
                </a:lnTo>
                <a:lnTo>
                  <a:pt x="0" y="1843"/>
                </a:lnTo>
                <a:lnTo>
                  <a:pt x="0" y="0"/>
                </a:lnTo>
                <a:lnTo>
                  <a:pt x="2536" y="0"/>
                </a:lnTo>
              </a:path>
            </a:pathLst>
          </a:custGeom>
          <a:solidFill>
            <a:schemeClr val="accent1"/>
          </a:solidFill>
          <a:ln w="9525" cap="flat">
            <a:solidFill>
              <a:schemeClr val="bg2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8" name="Freeform 431">
            <a:extLst>
              <a:ext uri="{FF2B5EF4-FFF2-40B4-BE49-F238E27FC236}">
                <a16:creationId xmlns:a16="http://schemas.microsoft.com/office/drawing/2014/main" id="{FAC05DAB-F273-1643-8DCC-6EAF66A9C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3914" y="4280399"/>
            <a:ext cx="165939" cy="232314"/>
          </a:xfrm>
          <a:custGeom>
            <a:avLst/>
            <a:gdLst>
              <a:gd name="T0" fmla="*/ 306 w 307"/>
              <a:gd name="T1" fmla="*/ 431 h 432"/>
              <a:gd name="T2" fmla="*/ 306 w 307"/>
              <a:gd name="T3" fmla="*/ 431 h 432"/>
              <a:gd name="T4" fmla="*/ 0 w 307"/>
              <a:gd name="T5" fmla="*/ 431 h 432"/>
              <a:gd name="T6" fmla="*/ 0 w 307"/>
              <a:gd name="T7" fmla="*/ 63 h 432"/>
              <a:gd name="T8" fmla="*/ 63 w 307"/>
              <a:gd name="T9" fmla="*/ 0 h 432"/>
              <a:gd name="T10" fmla="*/ 243 w 307"/>
              <a:gd name="T11" fmla="*/ 0 h 432"/>
              <a:gd name="T12" fmla="*/ 306 w 307"/>
              <a:gd name="T13" fmla="*/ 63 h 432"/>
              <a:gd name="T14" fmla="*/ 306 w 307"/>
              <a:gd name="T15" fmla="*/ 431 h 432"/>
              <a:gd name="T16" fmla="*/ 63 w 307"/>
              <a:gd name="T17" fmla="*/ 369 h 432"/>
              <a:gd name="T18" fmla="*/ 63 w 307"/>
              <a:gd name="T19" fmla="*/ 369 h 432"/>
              <a:gd name="T20" fmla="*/ 243 w 307"/>
              <a:gd name="T21" fmla="*/ 369 h 432"/>
              <a:gd name="T22" fmla="*/ 243 w 307"/>
              <a:gd name="T23" fmla="*/ 63 h 432"/>
              <a:gd name="T24" fmla="*/ 243 w 307"/>
              <a:gd name="T25" fmla="*/ 63 h 432"/>
              <a:gd name="T26" fmla="*/ 63 w 307"/>
              <a:gd name="T27" fmla="*/ 63 h 432"/>
              <a:gd name="T28" fmla="*/ 63 w 307"/>
              <a:gd name="T29" fmla="*/ 63 h 432"/>
              <a:gd name="T30" fmla="*/ 63 w 307"/>
              <a:gd name="T31" fmla="*/ 369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07" h="432">
                <a:moveTo>
                  <a:pt x="306" y="431"/>
                </a:moveTo>
                <a:lnTo>
                  <a:pt x="306" y="431"/>
                </a:lnTo>
                <a:cubicBezTo>
                  <a:pt x="0" y="431"/>
                  <a:pt x="0" y="431"/>
                  <a:pt x="0" y="431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27"/>
                  <a:pt x="27" y="0"/>
                  <a:pt x="63" y="0"/>
                </a:cubicBezTo>
                <a:cubicBezTo>
                  <a:pt x="243" y="0"/>
                  <a:pt x="243" y="0"/>
                  <a:pt x="243" y="0"/>
                </a:cubicBezTo>
                <a:cubicBezTo>
                  <a:pt x="279" y="0"/>
                  <a:pt x="306" y="27"/>
                  <a:pt x="306" y="63"/>
                </a:cubicBezTo>
                <a:lnTo>
                  <a:pt x="306" y="431"/>
                </a:lnTo>
                <a:close/>
                <a:moveTo>
                  <a:pt x="63" y="369"/>
                </a:moveTo>
                <a:lnTo>
                  <a:pt x="63" y="369"/>
                </a:lnTo>
                <a:cubicBezTo>
                  <a:pt x="243" y="369"/>
                  <a:pt x="243" y="369"/>
                  <a:pt x="243" y="369"/>
                </a:cubicBezTo>
                <a:cubicBezTo>
                  <a:pt x="243" y="63"/>
                  <a:pt x="243" y="63"/>
                  <a:pt x="243" y="63"/>
                </a:cubicBezTo>
                <a:lnTo>
                  <a:pt x="243" y="63"/>
                </a:lnTo>
                <a:cubicBezTo>
                  <a:pt x="63" y="63"/>
                  <a:pt x="63" y="63"/>
                  <a:pt x="63" y="63"/>
                </a:cubicBezTo>
                <a:lnTo>
                  <a:pt x="63" y="63"/>
                </a:lnTo>
                <a:lnTo>
                  <a:pt x="63" y="36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29" name="Freeform 432">
            <a:extLst>
              <a:ext uri="{FF2B5EF4-FFF2-40B4-BE49-F238E27FC236}">
                <a16:creationId xmlns:a16="http://schemas.microsoft.com/office/drawing/2014/main" id="{346825FF-18CD-A241-9031-03030CF0B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312" y="4216395"/>
            <a:ext cx="474110" cy="301059"/>
          </a:xfrm>
          <a:custGeom>
            <a:avLst/>
            <a:gdLst>
              <a:gd name="T0" fmla="*/ 792 w 883"/>
              <a:gd name="T1" fmla="*/ 558 h 559"/>
              <a:gd name="T2" fmla="*/ 792 w 883"/>
              <a:gd name="T3" fmla="*/ 558 h 559"/>
              <a:gd name="T4" fmla="*/ 90 w 883"/>
              <a:gd name="T5" fmla="*/ 558 h 559"/>
              <a:gd name="T6" fmla="*/ 0 w 883"/>
              <a:gd name="T7" fmla="*/ 467 h 559"/>
              <a:gd name="T8" fmla="*/ 0 w 883"/>
              <a:gd name="T9" fmla="*/ 108 h 559"/>
              <a:gd name="T10" fmla="*/ 36 w 883"/>
              <a:gd name="T11" fmla="*/ 63 h 559"/>
              <a:gd name="T12" fmla="*/ 36 w 883"/>
              <a:gd name="T13" fmla="*/ 63 h 559"/>
              <a:gd name="T14" fmla="*/ 81 w 883"/>
              <a:gd name="T15" fmla="*/ 108 h 559"/>
              <a:gd name="T16" fmla="*/ 81 w 883"/>
              <a:gd name="T17" fmla="*/ 467 h 559"/>
              <a:gd name="T18" fmla="*/ 90 w 883"/>
              <a:gd name="T19" fmla="*/ 476 h 559"/>
              <a:gd name="T20" fmla="*/ 792 w 883"/>
              <a:gd name="T21" fmla="*/ 476 h 559"/>
              <a:gd name="T22" fmla="*/ 801 w 883"/>
              <a:gd name="T23" fmla="*/ 467 h 559"/>
              <a:gd name="T24" fmla="*/ 801 w 883"/>
              <a:gd name="T25" fmla="*/ 0 h 559"/>
              <a:gd name="T26" fmla="*/ 882 w 883"/>
              <a:gd name="T27" fmla="*/ 0 h 559"/>
              <a:gd name="T28" fmla="*/ 882 w 883"/>
              <a:gd name="T29" fmla="*/ 467 h 559"/>
              <a:gd name="T30" fmla="*/ 792 w 883"/>
              <a:gd name="T31" fmla="*/ 558 h 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83" h="559">
                <a:moveTo>
                  <a:pt x="792" y="558"/>
                </a:moveTo>
                <a:lnTo>
                  <a:pt x="792" y="558"/>
                </a:lnTo>
                <a:cubicBezTo>
                  <a:pt x="90" y="558"/>
                  <a:pt x="90" y="558"/>
                  <a:pt x="90" y="558"/>
                </a:cubicBezTo>
                <a:cubicBezTo>
                  <a:pt x="36" y="558"/>
                  <a:pt x="0" y="512"/>
                  <a:pt x="0" y="467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81"/>
                  <a:pt x="18" y="63"/>
                  <a:pt x="36" y="63"/>
                </a:cubicBezTo>
                <a:lnTo>
                  <a:pt x="36" y="63"/>
                </a:lnTo>
                <a:cubicBezTo>
                  <a:pt x="63" y="63"/>
                  <a:pt x="81" y="81"/>
                  <a:pt x="81" y="108"/>
                </a:cubicBezTo>
                <a:cubicBezTo>
                  <a:pt x="81" y="467"/>
                  <a:pt x="81" y="467"/>
                  <a:pt x="81" y="467"/>
                </a:cubicBezTo>
                <a:cubicBezTo>
                  <a:pt x="81" y="467"/>
                  <a:pt x="81" y="476"/>
                  <a:pt x="90" y="476"/>
                </a:cubicBezTo>
                <a:cubicBezTo>
                  <a:pt x="792" y="476"/>
                  <a:pt x="792" y="476"/>
                  <a:pt x="792" y="476"/>
                </a:cubicBezTo>
                <a:lnTo>
                  <a:pt x="801" y="467"/>
                </a:lnTo>
                <a:cubicBezTo>
                  <a:pt x="801" y="0"/>
                  <a:pt x="801" y="0"/>
                  <a:pt x="801" y="0"/>
                </a:cubicBezTo>
                <a:cubicBezTo>
                  <a:pt x="882" y="0"/>
                  <a:pt x="882" y="0"/>
                  <a:pt x="882" y="0"/>
                </a:cubicBezTo>
                <a:cubicBezTo>
                  <a:pt x="882" y="467"/>
                  <a:pt x="882" y="467"/>
                  <a:pt x="882" y="467"/>
                </a:cubicBezTo>
                <a:cubicBezTo>
                  <a:pt x="882" y="512"/>
                  <a:pt x="837" y="558"/>
                  <a:pt x="792" y="558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0" name="Freeform 433">
            <a:extLst>
              <a:ext uri="{FF2B5EF4-FFF2-40B4-BE49-F238E27FC236}">
                <a16:creationId xmlns:a16="http://schemas.microsoft.com/office/drawing/2014/main" id="{A9E5F88F-7D9C-5F44-8B25-DF834F99A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383" y="4017269"/>
            <a:ext cx="542855" cy="222832"/>
          </a:xfrm>
          <a:custGeom>
            <a:avLst/>
            <a:gdLst>
              <a:gd name="T0" fmla="*/ 855 w 1009"/>
              <a:gd name="T1" fmla="*/ 414 h 415"/>
              <a:gd name="T2" fmla="*/ 855 w 1009"/>
              <a:gd name="T3" fmla="*/ 414 h 415"/>
              <a:gd name="T4" fmla="*/ 738 w 1009"/>
              <a:gd name="T5" fmla="*/ 360 h 415"/>
              <a:gd name="T6" fmla="*/ 621 w 1009"/>
              <a:gd name="T7" fmla="*/ 414 h 415"/>
              <a:gd name="T8" fmla="*/ 504 w 1009"/>
              <a:gd name="T9" fmla="*/ 360 h 415"/>
              <a:gd name="T10" fmla="*/ 387 w 1009"/>
              <a:gd name="T11" fmla="*/ 414 h 415"/>
              <a:gd name="T12" fmla="*/ 270 w 1009"/>
              <a:gd name="T13" fmla="*/ 360 h 415"/>
              <a:gd name="T14" fmla="*/ 144 w 1009"/>
              <a:gd name="T15" fmla="*/ 414 h 415"/>
              <a:gd name="T16" fmla="*/ 0 w 1009"/>
              <a:gd name="T17" fmla="*/ 252 h 415"/>
              <a:gd name="T18" fmla="*/ 0 w 1009"/>
              <a:gd name="T19" fmla="*/ 234 h 415"/>
              <a:gd name="T20" fmla="*/ 135 w 1009"/>
              <a:gd name="T21" fmla="*/ 36 h 415"/>
              <a:gd name="T22" fmla="*/ 198 w 1009"/>
              <a:gd name="T23" fmla="*/ 0 h 415"/>
              <a:gd name="T24" fmla="*/ 801 w 1009"/>
              <a:gd name="T25" fmla="*/ 0 h 415"/>
              <a:gd name="T26" fmla="*/ 801 w 1009"/>
              <a:gd name="T27" fmla="*/ 0 h 415"/>
              <a:gd name="T28" fmla="*/ 873 w 1009"/>
              <a:gd name="T29" fmla="*/ 36 h 415"/>
              <a:gd name="T30" fmla="*/ 1008 w 1009"/>
              <a:gd name="T31" fmla="*/ 243 h 415"/>
              <a:gd name="T32" fmla="*/ 1008 w 1009"/>
              <a:gd name="T33" fmla="*/ 252 h 415"/>
              <a:gd name="T34" fmla="*/ 864 w 1009"/>
              <a:gd name="T35" fmla="*/ 414 h 415"/>
              <a:gd name="T36" fmla="*/ 855 w 1009"/>
              <a:gd name="T37" fmla="*/ 414 h 415"/>
              <a:gd name="T38" fmla="*/ 738 w 1009"/>
              <a:gd name="T39" fmla="*/ 261 h 415"/>
              <a:gd name="T40" fmla="*/ 738 w 1009"/>
              <a:gd name="T41" fmla="*/ 261 h 415"/>
              <a:gd name="T42" fmla="*/ 738 w 1009"/>
              <a:gd name="T43" fmla="*/ 261 h 415"/>
              <a:gd name="T44" fmla="*/ 783 w 1009"/>
              <a:gd name="T45" fmla="*/ 288 h 415"/>
              <a:gd name="T46" fmla="*/ 855 w 1009"/>
              <a:gd name="T47" fmla="*/ 333 h 415"/>
              <a:gd name="T48" fmla="*/ 927 w 1009"/>
              <a:gd name="T49" fmla="*/ 261 h 415"/>
              <a:gd name="T50" fmla="*/ 810 w 1009"/>
              <a:gd name="T51" fmla="*/ 81 h 415"/>
              <a:gd name="T52" fmla="*/ 198 w 1009"/>
              <a:gd name="T53" fmla="*/ 81 h 415"/>
              <a:gd name="T54" fmla="*/ 198 w 1009"/>
              <a:gd name="T55" fmla="*/ 81 h 415"/>
              <a:gd name="T56" fmla="*/ 81 w 1009"/>
              <a:gd name="T57" fmla="*/ 261 h 415"/>
              <a:gd name="T58" fmla="*/ 153 w 1009"/>
              <a:gd name="T59" fmla="*/ 333 h 415"/>
              <a:gd name="T60" fmla="*/ 225 w 1009"/>
              <a:gd name="T61" fmla="*/ 288 h 415"/>
              <a:gd name="T62" fmla="*/ 270 w 1009"/>
              <a:gd name="T63" fmla="*/ 261 h 415"/>
              <a:gd name="T64" fmla="*/ 270 w 1009"/>
              <a:gd name="T65" fmla="*/ 261 h 415"/>
              <a:gd name="T66" fmla="*/ 315 w 1009"/>
              <a:gd name="T67" fmla="*/ 288 h 415"/>
              <a:gd name="T68" fmla="*/ 387 w 1009"/>
              <a:gd name="T69" fmla="*/ 333 h 415"/>
              <a:gd name="T70" fmla="*/ 459 w 1009"/>
              <a:gd name="T71" fmla="*/ 288 h 415"/>
              <a:gd name="T72" fmla="*/ 504 w 1009"/>
              <a:gd name="T73" fmla="*/ 261 h 415"/>
              <a:gd name="T74" fmla="*/ 504 w 1009"/>
              <a:gd name="T75" fmla="*/ 261 h 415"/>
              <a:gd name="T76" fmla="*/ 549 w 1009"/>
              <a:gd name="T77" fmla="*/ 288 h 415"/>
              <a:gd name="T78" fmla="*/ 621 w 1009"/>
              <a:gd name="T79" fmla="*/ 333 h 415"/>
              <a:gd name="T80" fmla="*/ 684 w 1009"/>
              <a:gd name="T81" fmla="*/ 288 h 415"/>
              <a:gd name="T82" fmla="*/ 738 w 1009"/>
              <a:gd name="T83" fmla="*/ 261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09" h="415">
                <a:moveTo>
                  <a:pt x="855" y="414"/>
                </a:moveTo>
                <a:lnTo>
                  <a:pt x="855" y="414"/>
                </a:lnTo>
                <a:cubicBezTo>
                  <a:pt x="810" y="414"/>
                  <a:pt x="765" y="396"/>
                  <a:pt x="738" y="360"/>
                </a:cubicBezTo>
                <a:cubicBezTo>
                  <a:pt x="702" y="396"/>
                  <a:pt x="666" y="414"/>
                  <a:pt x="621" y="414"/>
                </a:cubicBezTo>
                <a:cubicBezTo>
                  <a:pt x="576" y="414"/>
                  <a:pt x="531" y="396"/>
                  <a:pt x="504" y="360"/>
                </a:cubicBezTo>
                <a:cubicBezTo>
                  <a:pt x="477" y="396"/>
                  <a:pt x="432" y="414"/>
                  <a:pt x="387" y="414"/>
                </a:cubicBezTo>
                <a:cubicBezTo>
                  <a:pt x="342" y="414"/>
                  <a:pt x="297" y="396"/>
                  <a:pt x="270" y="360"/>
                </a:cubicBezTo>
                <a:cubicBezTo>
                  <a:pt x="243" y="396"/>
                  <a:pt x="189" y="414"/>
                  <a:pt x="144" y="414"/>
                </a:cubicBezTo>
                <a:cubicBezTo>
                  <a:pt x="63" y="405"/>
                  <a:pt x="0" y="333"/>
                  <a:pt x="0" y="252"/>
                </a:cubicBezTo>
                <a:cubicBezTo>
                  <a:pt x="0" y="234"/>
                  <a:pt x="0" y="234"/>
                  <a:pt x="0" y="234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44" y="18"/>
                  <a:pt x="171" y="0"/>
                  <a:pt x="198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0"/>
                </a:lnTo>
                <a:cubicBezTo>
                  <a:pt x="837" y="0"/>
                  <a:pt x="855" y="9"/>
                  <a:pt x="873" y="36"/>
                </a:cubicBezTo>
                <a:cubicBezTo>
                  <a:pt x="1008" y="243"/>
                  <a:pt x="1008" y="243"/>
                  <a:pt x="1008" y="243"/>
                </a:cubicBezTo>
                <a:cubicBezTo>
                  <a:pt x="1008" y="252"/>
                  <a:pt x="1008" y="252"/>
                  <a:pt x="1008" y="252"/>
                </a:cubicBezTo>
                <a:cubicBezTo>
                  <a:pt x="1008" y="342"/>
                  <a:pt x="945" y="414"/>
                  <a:pt x="864" y="414"/>
                </a:cubicBezTo>
                <a:cubicBezTo>
                  <a:pt x="855" y="414"/>
                  <a:pt x="855" y="414"/>
                  <a:pt x="855" y="414"/>
                </a:cubicBezTo>
                <a:close/>
                <a:moveTo>
                  <a:pt x="738" y="261"/>
                </a:moveTo>
                <a:lnTo>
                  <a:pt x="738" y="261"/>
                </a:lnTo>
                <a:lnTo>
                  <a:pt x="738" y="261"/>
                </a:lnTo>
                <a:cubicBezTo>
                  <a:pt x="756" y="261"/>
                  <a:pt x="774" y="270"/>
                  <a:pt x="783" y="288"/>
                </a:cubicBezTo>
                <a:cubicBezTo>
                  <a:pt x="792" y="315"/>
                  <a:pt x="828" y="342"/>
                  <a:pt x="855" y="333"/>
                </a:cubicBezTo>
                <a:cubicBezTo>
                  <a:pt x="891" y="333"/>
                  <a:pt x="927" y="306"/>
                  <a:pt x="927" y="261"/>
                </a:cubicBezTo>
                <a:cubicBezTo>
                  <a:pt x="810" y="81"/>
                  <a:pt x="810" y="81"/>
                  <a:pt x="810" y="81"/>
                </a:cubicBezTo>
                <a:cubicBezTo>
                  <a:pt x="198" y="81"/>
                  <a:pt x="198" y="81"/>
                  <a:pt x="198" y="81"/>
                </a:cubicBezTo>
                <a:lnTo>
                  <a:pt x="198" y="81"/>
                </a:lnTo>
                <a:cubicBezTo>
                  <a:pt x="81" y="261"/>
                  <a:pt x="81" y="261"/>
                  <a:pt x="81" y="261"/>
                </a:cubicBezTo>
                <a:cubicBezTo>
                  <a:pt x="81" y="297"/>
                  <a:pt x="117" y="333"/>
                  <a:pt x="153" y="333"/>
                </a:cubicBezTo>
                <a:cubicBezTo>
                  <a:pt x="180" y="333"/>
                  <a:pt x="216" y="315"/>
                  <a:pt x="225" y="288"/>
                </a:cubicBezTo>
                <a:cubicBezTo>
                  <a:pt x="234" y="270"/>
                  <a:pt x="252" y="261"/>
                  <a:pt x="270" y="261"/>
                </a:cubicBezTo>
                <a:lnTo>
                  <a:pt x="270" y="261"/>
                </a:lnTo>
                <a:cubicBezTo>
                  <a:pt x="288" y="261"/>
                  <a:pt x="306" y="270"/>
                  <a:pt x="315" y="288"/>
                </a:cubicBezTo>
                <a:cubicBezTo>
                  <a:pt x="333" y="315"/>
                  <a:pt x="360" y="333"/>
                  <a:pt x="387" y="333"/>
                </a:cubicBezTo>
                <a:cubicBezTo>
                  <a:pt x="414" y="333"/>
                  <a:pt x="441" y="315"/>
                  <a:pt x="459" y="288"/>
                </a:cubicBezTo>
                <a:cubicBezTo>
                  <a:pt x="468" y="270"/>
                  <a:pt x="486" y="261"/>
                  <a:pt x="504" y="261"/>
                </a:cubicBezTo>
                <a:lnTo>
                  <a:pt x="504" y="261"/>
                </a:lnTo>
                <a:cubicBezTo>
                  <a:pt x="522" y="261"/>
                  <a:pt x="540" y="270"/>
                  <a:pt x="549" y="288"/>
                </a:cubicBezTo>
                <a:cubicBezTo>
                  <a:pt x="558" y="315"/>
                  <a:pt x="585" y="333"/>
                  <a:pt x="621" y="333"/>
                </a:cubicBezTo>
                <a:cubicBezTo>
                  <a:pt x="648" y="333"/>
                  <a:pt x="675" y="315"/>
                  <a:pt x="684" y="288"/>
                </a:cubicBezTo>
                <a:cubicBezTo>
                  <a:pt x="693" y="270"/>
                  <a:pt x="711" y="261"/>
                  <a:pt x="738" y="26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1" name="Freeform 428">
            <a:extLst>
              <a:ext uri="{FF2B5EF4-FFF2-40B4-BE49-F238E27FC236}">
                <a16:creationId xmlns:a16="http://schemas.microsoft.com/office/drawing/2014/main" id="{B90D99B4-D609-2248-A59B-19CB94DA0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908" y="5090027"/>
            <a:ext cx="1363064" cy="1135493"/>
          </a:xfrm>
          <a:custGeom>
            <a:avLst/>
            <a:gdLst>
              <a:gd name="T0" fmla="*/ 2536 w 2537"/>
              <a:gd name="T1" fmla="*/ 0 h 2114"/>
              <a:gd name="T2" fmla="*/ 2536 w 2537"/>
              <a:gd name="T3" fmla="*/ 1843 h 2114"/>
              <a:gd name="T4" fmla="*/ 2383 w 2537"/>
              <a:gd name="T5" fmla="*/ 2113 h 2114"/>
              <a:gd name="T6" fmla="*/ 2231 w 2537"/>
              <a:gd name="T7" fmla="*/ 1843 h 2114"/>
              <a:gd name="T8" fmla="*/ 0 w 2537"/>
              <a:gd name="T9" fmla="*/ 1843 h 2114"/>
              <a:gd name="T10" fmla="*/ 0 w 2537"/>
              <a:gd name="T11" fmla="*/ 0 h 2114"/>
              <a:gd name="T12" fmla="*/ 2536 w 2537"/>
              <a:gd name="T13" fmla="*/ 0 h 2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37" h="2114">
                <a:moveTo>
                  <a:pt x="2536" y="0"/>
                </a:moveTo>
                <a:lnTo>
                  <a:pt x="2536" y="1843"/>
                </a:lnTo>
                <a:lnTo>
                  <a:pt x="2383" y="2113"/>
                </a:lnTo>
                <a:lnTo>
                  <a:pt x="2231" y="1843"/>
                </a:lnTo>
                <a:lnTo>
                  <a:pt x="0" y="1843"/>
                </a:lnTo>
                <a:lnTo>
                  <a:pt x="0" y="0"/>
                </a:lnTo>
                <a:lnTo>
                  <a:pt x="2536" y="0"/>
                </a:lnTo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solidFill>
              <a:schemeClr val="bg2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2" name="Freeform 431">
            <a:extLst>
              <a:ext uri="{FF2B5EF4-FFF2-40B4-BE49-F238E27FC236}">
                <a16:creationId xmlns:a16="http://schemas.microsoft.com/office/drawing/2014/main" id="{EA7F87A9-1AE8-B741-B5BA-DCB83BC8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3914" y="5592583"/>
            <a:ext cx="165939" cy="232314"/>
          </a:xfrm>
          <a:custGeom>
            <a:avLst/>
            <a:gdLst>
              <a:gd name="T0" fmla="*/ 306 w 307"/>
              <a:gd name="T1" fmla="*/ 431 h 432"/>
              <a:gd name="T2" fmla="*/ 306 w 307"/>
              <a:gd name="T3" fmla="*/ 431 h 432"/>
              <a:gd name="T4" fmla="*/ 0 w 307"/>
              <a:gd name="T5" fmla="*/ 431 h 432"/>
              <a:gd name="T6" fmla="*/ 0 w 307"/>
              <a:gd name="T7" fmla="*/ 63 h 432"/>
              <a:gd name="T8" fmla="*/ 63 w 307"/>
              <a:gd name="T9" fmla="*/ 0 h 432"/>
              <a:gd name="T10" fmla="*/ 243 w 307"/>
              <a:gd name="T11" fmla="*/ 0 h 432"/>
              <a:gd name="T12" fmla="*/ 306 w 307"/>
              <a:gd name="T13" fmla="*/ 63 h 432"/>
              <a:gd name="T14" fmla="*/ 306 w 307"/>
              <a:gd name="T15" fmla="*/ 431 h 432"/>
              <a:gd name="T16" fmla="*/ 63 w 307"/>
              <a:gd name="T17" fmla="*/ 369 h 432"/>
              <a:gd name="T18" fmla="*/ 63 w 307"/>
              <a:gd name="T19" fmla="*/ 369 h 432"/>
              <a:gd name="T20" fmla="*/ 243 w 307"/>
              <a:gd name="T21" fmla="*/ 369 h 432"/>
              <a:gd name="T22" fmla="*/ 243 w 307"/>
              <a:gd name="T23" fmla="*/ 63 h 432"/>
              <a:gd name="T24" fmla="*/ 243 w 307"/>
              <a:gd name="T25" fmla="*/ 63 h 432"/>
              <a:gd name="T26" fmla="*/ 63 w 307"/>
              <a:gd name="T27" fmla="*/ 63 h 432"/>
              <a:gd name="T28" fmla="*/ 63 w 307"/>
              <a:gd name="T29" fmla="*/ 63 h 432"/>
              <a:gd name="T30" fmla="*/ 63 w 307"/>
              <a:gd name="T31" fmla="*/ 369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07" h="432">
                <a:moveTo>
                  <a:pt x="306" y="431"/>
                </a:moveTo>
                <a:lnTo>
                  <a:pt x="306" y="431"/>
                </a:lnTo>
                <a:cubicBezTo>
                  <a:pt x="0" y="431"/>
                  <a:pt x="0" y="431"/>
                  <a:pt x="0" y="431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27"/>
                  <a:pt x="27" y="0"/>
                  <a:pt x="63" y="0"/>
                </a:cubicBezTo>
                <a:cubicBezTo>
                  <a:pt x="243" y="0"/>
                  <a:pt x="243" y="0"/>
                  <a:pt x="243" y="0"/>
                </a:cubicBezTo>
                <a:cubicBezTo>
                  <a:pt x="279" y="0"/>
                  <a:pt x="306" y="27"/>
                  <a:pt x="306" y="63"/>
                </a:cubicBezTo>
                <a:lnTo>
                  <a:pt x="306" y="431"/>
                </a:lnTo>
                <a:close/>
                <a:moveTo>
                  <a:pt x="63" y="369"/>
                </a:moveTo>
                <a:lnTo>
                  <a:pt x="63" y="369"/>
                </a:lnTo>
                <a:cubicBezTo>
                  <a:pt x="243" y="369"/>
                  <a:pt x="243" y="369"/>
                  <a:pt x="243" y="369"/>
                </a:cubicBezTo>
                <a:cubicBezTo>
                  <a:pt x="243" y="63"/>
                  <a:pt x="243" y="63"/>
                  <a:pt x="243" y="63"/>
                </a:cubicBezTo>
                <a:lnTo>
                  <a:pt x="243" y="63"/>
                </a:lnTo>
                <a:cubicBezTo>
                  <a:pt x="63" y="63"/>
                  <a:pt x="63" y="63"/>
                  <a:pt x="63" y="63"/>
                </a:cubicBezTo>
                <a:lnTo>
                  <a:pt x="63" y="63"/>
                </a:lnTo>
                <a:lnTo>
                  <a:pt x="63" y="36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3" name="Freeform 432">
            <a:extLst>
              <a:ext uri="{FF2B5EF4-FFF2-40B4-BE49-F238E27FC236}">
                <a16:creationId xmlns:a16="http://schemas.microsoft.com/office/drawing/2014/main" id="{C85D3A75-C2B2-144D-B83F-19A76D1F8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312" y="5528579"/>
            <a:ext cx="474110" cy="301059"/>
          </a:xfrm>
          <a:custGeom>
            <a:avLst/>
            <a:gdLst>
              <a:gd name="T0" fmla="*/ 792 w 883"/>
              <a:gd name="T1" fmla="*/ 558 h 559"/>
              <a:gd name="T2" fmla="*/ 792 w 883"/>
              <a:gd name="T3" fmla="*/ 558 h 559"/>
              <a:gd name="T4" fmla="*/ 90 w 883"/>
              <a:gd name="T5" fmla="*/ 558 h 559"/>
              <a:gd name="T6" fmla="*/ 0 w 883"/>
              <a:gd name="T7" fmla="*/ 467 h 559"/>
              <a:gd name="T8" fmla="*/ 0 w 883"/>
              <a:gd name="T9" fmla="*/ 108 h 559"/>
              <a:gd name="T10" fmla="*/ 36 w 883"/>
              <a:gd name="T11" fmla="*/ 63 h 559"/>
              <a:gd name="T12" fmla="*/ 36 w 883"/>
              <a:gd name="T13" fmla="*/ 63 h 559"/>
              <a:gd name="T14" fmla="*/ 81 w 883"/>
              <a:gd name="T15" fmla="*/ 108 h 559"/>
              <a:gd name="T16" fmla="*/ 81 w 883"/>
              <a:gd name="T17" fmla="*/ 467 h 559"/>
              <a:gd name="T18" fmla="*/ 90 w 883"/>
              <a:gd name="T19" fmla="*/ 476 h 559"/>
              <a:gd name="T20" fmla="*/ 792 w 883"/>
              <a:gd name="T21" fmla="*/ 476 h 559"/>
              <a:gd name="T22" fmla="*/ 801 w 883"/>
              <a:gd name="T23" fmla="*/ 467 h 559"/>
              <a:gd name="T24" fmla="*/ 801 w 883"/>
              <a:gd name="T25" fmla="*/ 0 h 559"/>
              <a:gd name="T26" fmla="*/ 882 w 883"/>
              <a:gd name="T27" fmla="*/ 0 h 559"/>
              <a:gd name="T28" fmla="*/ 882 w 883"/>
              <a:gd name="T29" fmla="*/ 467 h 559"/>
              <a:gd name="T30" fmla="*/ 792 w 883"/>
              <a:gd name="T31" fmla="*/ 558 h 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83" h="559">
                <a:moveTo>
                  <a:pt x="792" y="558"/>
                </a:moveTo>
                <a:lnTo>
                  <a:pt x="792" y="558"/>
                </a:lnTo>
                <a:cubicBezTo>
                  <a:pt x="90" y="558"/>
                  <a:pt x="90" y="558"/>
                  <a:pt x="90" y="558"/>
                </a:cubicBezTo>
                <a:cubicBezTo>
                  <a:pt x="36" y="558"/>
                  <a:pt x="0" y="512"/>
                  <a:pt x="0" y="467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81"/>
                  <a:pt x="18" y="63"/>
                  <a:pt x="36" y="63"/>
                </a:cubicBezTo>
                <a:lnTo>
                  <a:pt x="36" y="63"/>
                </a:lnTo>
                <a:cubicBezTo>
                  <a:pt x="63" y="63"/>
                  <a:pt x="81" y="81"/>
                  <a:pt x="81" y="108"/>
                </a:cubicBezTo>
                <a:cubicBezTo>
                  <a:pt x="81" y="467"/>
                  <a:pt x="81" y="467"/>
                  <a:pt x="81" y="467"/>
                </a:cubicBezTo>
                <a:cubicBezTo>
                  <a:pt x="81" y="467"/>
                  <a:pt x="81" y="476"/>
                  <a:pt x="90" y="476"/>
                </a:cubicBezTo>
                <a:cubicBezTo>
                  <a:pt x="792" y="476"/>
                  <a:pt x="792" y="476"/>
                  <a:pt x="792" y="476"/>
                </a:cubicBezTo>
                <a:lnTo>
                  <a:pt x="801" y="467"/>
                </a:lnTo>
                <a:cubicBezTo>
                  <a:pt x="801" y="0"/>
                  <a:pt x="801" y="0"/>
                  <a:pt x="801" y="0"/>
                </a:cubicBezTo>
                <a:cubicBezTo>
                  <a:pt x="882" y="0"/>
                  <a:pt x="882" y="0"/>
                  <a:pt x="882" y="0"/>
                </a:cubicBezTo>
                <a:cubicBezTo>
                  <a:pt x="882" y="467"/>
                  <a:pt x="882" y="467"/>
                  <a:pt x="882" y="467"/>
                </a:cubicBezTo>
                <a:cubicBezTo>
                  <a:pt x="882" y="512"/>
                  <a:pt x="837" y="558"/>
                  <a:pt x="792" y="558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34" name="Freeform 433">
            <a:extLst>
              <a:ext uri="{FF2B5EF4-FFF2-40B4-BE49-F238E27FC236}">
                <a16:creationId xmlns:a16="http://schemas.microsoft.com/office/drawing/2014/main" id="{7DF13669-58B9-EB49-938C-CBC7144CD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383" y="5329453"/>
            <a:ext cx="542855" cy="222832"/>
          </a:xfrm>
          <a:custGeom>
            <a:avLst/>
            <a:gdLst>
              <a:gd name="T0" fmla="*/ 855 w 1009"/>
              <a:gd name="T1" fmla="*/ 414 h 415"/>
              <a:gd name="T2" fmla="*/ 855 w 1009"/>
              <a:gd name="T3" fmla="*/ 414 h 415"/>
              <a:gd name="T4" fmla="*/ 738 w 1009"/>
              <a:gd name="T5" fmla="*/ 360 h 415"/>
              <a:gd name="T6" fmla="*/ 621 w 1009"/>
              <a:gd name="T7" fmla="*/ 414 h 415"/>
              <a:gd name="T8" fmla="*/ 504 w 1009"/>
              <a:gd name="T9" fmla="*/ 360 h 415"/>
              <a:gd name="T10" fmla="*/ 387 w 1009"/>
              <a:gd name="T11" fmla="*/ 414 h 415"/>
              <a:gd name="T12" fmla="*/ 270 w 1009"/>
              <a:gd name="T13" fmla="*/ 360 h 415"/>
              <a:gd name="T14" fmla="*/ 144 w 1009"/>
              <a:gd name="T15" fmla="*/ 414 h 415"/>
              <a:gd name="T16" fmla="*/ 0 w 1009"/>
              <a:gd name="T17" fmla="*/ 252 h 415"/>
              <a:gd name="T18" fmla="*/ 0 w 1009"/>
              <a:gd name="T19" fmla="*/ 234 h 415"/>
              <a:gd name="T20" fmla="*/ 135 w 1009"/>
              <a:gd name="T21" fmla="*/ 36 h 415"/>
              <a:gd name="T22" fmla="*/ 198 w 1009"/>
              <a:gd name="T23" fmla="*/ 0 h 415"/>
              <a:gd name="T24" fmla="*/ 801 w 1009"/>
              <a:gd name="T25" fmla="*/ 0 h 415"/>
              <a:gd name="T26" fmla="*/ 801 w 1009"/>
              <a:gd name="T27" fmla="*/ 0 h 415"/>
              <a:gd name="T28" fmla="*/ 873 w 1009"/>
              <a:gd name="T29" fmla="*/ 36 h 415"/>
              <a:gd name="T30" fmla="*/ 1008 w 1009"/>
              <a:gd name="T31" fmla="*/ 243 h 415"/>
              <a:gd name="T32" fmla="*/ 1008 w 1009"/>
              <a:gd name="T33" fmla="*/ 252 h 415"/>
              <a:gd name="T34" fmla="*/ 864 w 1009"/>
              <a:gd name="T35" fmla="*/ 414 h 415"/>
              <a:gd name="T36" fmla="*/ 855 w 1009"/>
              <a:gd name="T37" fmla="*/ 414 h 415"/>
              <a:gd name="T38" fmla="*/ 738 w 1009"/>
              <a:gd name="T39" fmla="*/ 261 h 415"/>
              <a:gd name="T40" fmla="*/ 738 w 1009"/>
              <a:gd name="T41" fmla="*/ 261 h 415"/>
              <a:gd name="T42" fmla="*/ 738 w 1009"/>
              <a:gd name="T43" fmla="*/ 261 h 415"/>
              <a:gd name="T44" fmla="*/ 783 w 1009"/>
              <a:gd name="T45" fmla="*/ 288 h 415"/>
              <a:gd name="T46" fmla="*/ 855 w 1009"/>
              <a:gd name="T47" fmla="*/ 333 h 415"/>
              <a:gd name="T48" fmla="*/ 927 w 1009"/>
              <a:gd name="T49" fmla="*/ 261 h 415"/>
              <a:gd name="T50" fmla="*/ 810 w 1009"/>
              <a:gd name="T51" fmla="*/ 81 h 415"/>
              <a:gd name="T52" fmla="*/ 198 w 1009"/>
              <a:gd name="T53" fmla="*/ 81 h 415"/>
              <a:gd name="T54" fmla="*/ 198 w 1009"/>
              <a:gd name="T55" fmla="*/ 81 h 415"/>
              <a:gd name="T56" fmla="*/ 81 w 1009"/>
              <a:gd name="T57" fmla="*/ 261 h 415"/>
              <a:gd name="T58" fmla="*/ 153 w 1009"/>
              <a:gd name="T59" fmla="*/ 333 h 415"/>
              <a:gd name="T60" fmla="*/ 225 w 1009"/>
              <a:gd name="T61" fmla="*/ 288 h 415"/>
              <a:gd name="T62" fmla="*/ 270 w 1009"/>
              <a:gd name="T63" fmla="*/ 261 h 415"/>
              <a:gd name="T64" fmla="*/ 270 w 1009"/>
              <a:gd name="T65" fmla="*/ 261 h 415"/>
              <a:gd name="T66" fmla="*/ 315 w 1009"/>
              <a:gd name="T67" fmla="*/ 288 h 415"/>
              <a:gd name="T68" fmla="*/ 387 w 1009"/>
              <a:gd name="T69" fmla="*/ 333 h 415"/>
              <a:gd name="T70" fmla="*/ 459 w 1009"/>
              <a:gd name="T71" fmla="*/ 288 h 415"/>
              <a:gd name="T72" fmla="*/ 504 w 1009"/>
              <a:gd name="T73" fmla="*/ 261 h 415"/>
              <a:gd name="T74" fmla="*/ 504 w 1009"/>
              <a:gd name="T75" fmla="*/ 261 h 415"/>
              <a:gd name="T76" fmla="*/ 549 w 1009"/>
              <a:gd name="T77" fmla="*/ 288 h 415"/>
              <a:gd name="T78" fmla="*/ 621 w 1009"/>
              <a:gd name="T79" fmla="*/ 333 h 415"/>
              <a:gd name="T80" fmla="*/ 684 w 1009"/>
              <a:gd name="T81" fmla="*/ 288 h 415"/>
              <a:gd name="T82" fmla="*/ 738 w 1009"/>
              <a:gd name="T83" fmla="*/ 261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009" h="415">
                <a:moveTo>
                  <a:pt x="855" y="414"/>
                </a:moveTo>
                <a:lnTo>
                  <a:pt x="855" y="414"/>
                </a:lnTo>
                <a:cubicBezTo>
                  <a:pt x="810" y="414"/>
                  <a:pt x="765" y="396"/>
                  <a:pt x="738" y="360"/>
                </a:cubicBezTo>
                <a:cubicBezTo>
                  <a:pt x="702" y="396"/>
                  <a:pt x="666" y="414"/>
                  <a:pt x="621" y="414"/>
                </a:cubicBezTo>
                <a:cubicBezTo>
                  <a:pt x="576" y="414"/>
                  <a:pt x="531" y="396"/>
                  <a:pt x="504" y="360"/>
                </a:cubicBezTo>
                <a:cubicBezTo>
                  <a:pt x="477" y="396"/>
                  <a:pt x="432" y="414"/>
                  <a:pt x="387" y="414"/>
                </a:cubicBezTo>
                <a:cubicBezTo>
                  <a:pt x="342" y="414"/>
                  <a:pt x="297" y="396"/>
                  <a:pt x="270" y="360"/>
                </a:cubicBezTo>
                <a:cubicBezTo>
                  <a:pt x="243" y="396"/>
                  <a:pt x="189" y="414"/>
                  <a:pt x="144" y="414"/>
                </a:cubicBezTo>
                <a:cubicBezTo>
                  <a:pt x="63" y="405"/>
                  <a:pt x="0" y="333"/>
                  <a:pt x="0" y="252"/>
                </a:cubicBezTo>
                <a:cubicBezTo>
                  <a:pt x="0" y="234"/>
                  <a:pt x="0" y="234"/>
                  <a:pt x="0" y="234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44" y="18"/>
                  <a:pt x="171" y="0"/>
                  <a:pt x="198" y="0"/>
                </a:cubicBezTo>
                <a:cubicBezTo>
                  <a:pt x="801" y="0"/>
                  <a:pt x="801" y="0"/>
                  <a:pt x="801" y="0"/>
                </a:cubicBezTo>
                <a:lnTo>
                  <a:pt x="801" y="0"/>
                </a:lnTo>
                <a:cubicBezTo>
                  <a:pt x="837" y="0"/>
                  <a:pt x="855" y="9"/>
                  <a:pt x="873" y="36"/>
                </a:cubicBezTo>
                <a:cubicBezTo>
                  <a:pt x="1008" y="243"/>
                  <a:pt x="1008" y="243"/>
                  <a:pt x="1008" y="243"/>
                </a:cubicBezTo>
                <a:cubicBezTo>
                  <a:pt x="1008" y="252"/>
                  <a:pt x="1008" y="252"/>
                  <a:pt x="1008" y="252"/>
                </a:cubicBezTo>
                <a:cubicBezTo>
                  <a:pt x="1008" y="342"/>
                  <a:pt x="945" y="414"/>
                  <a:pt x="864" y="414"/>
                </a:cubicBezTo>
                <a:cubicBezTo>
                  <a:pt x="855" y="414"/>
                  <a:pt x="855" y="414"/>
                  <a:pt x="855" y="414"/>
                </a:cubicBezTo>
                <a:close/>
                <a:moveTo>
                  <a:pt x="738" y="261"/>
                </a:moveTo>
                <a:lnTo>
                  <a:pt x="738" y="261"/>
                </a:lnTo>
                <a:lnTo>
                  <a:pt x="738" y="261"/>
                </a:lnTo>
                <a:cubicBezTo>
                  <a:pt x="756" y="261"/>
                  <a:pt x="774" y="270"/>
                  <a:pt x="783" y="288"/>
                </a:cubicBezTo>
                <a:cubicBezTo>
                  <a:pt x="792" y="315"/>
                  <a:pt x="828" y="342"/>
                  <a:pt x="855" y="333"/>
                </a:cubicBezTo>
                <a:cubicBezTo>
                  <a:pt x="891" y="333"/>
                  <a:pt x="927" y="306"/>
                  <a:pt x="927" y="261"/>
                </a:cubicBezTo>
                <a:cubicBezTo>
                  <a:pt x="810" y="81"/>
                  <a:pt x="810" y="81"/>
                  <a:pt x="810" y="81"/>
                </a:cubicBezTo>
                <a:cubicBezTo>
                  <a:pt x="198" y="81"/>
                  <a:pt x="198" y="81"/>
                  <a:pt x="198" y="81"/>
                </a:cubicBezTo>
                <a:lnTo>
                  <a:pt x="198" y="81"/>
                </a:lnTo>
                <a:cubicBezTo>
                  <a:pt x="81" y="261"/>
                  <a:pt x="81" y="261"/>
                  <a:pt x="81" y="261"/>
                </a:cubicBezTo>
                <a:cubicBezTo>
                  <a:pt x="81" y="297"/>
                  <a:pt x="117" y="333"/>
                  <a:pt x="153" y="333"/>
                </a:cubicBezTo>
                <a:cubicBezTo>
                  <a:pt x="180" y="333"/>
                  <a:pt x="216" y="315"/>
                  <a:pt x="225" y="288"/>
                </a:cubicBezTo>
                <a:cubicBezTo>
                  <a:pt x="234" y="270"/>
                  <a:pt x="252" y="261"/>
                  <a:pt x="270" y="261"/>
                </a:cubicBezTo>
                <a:lnTo>
                  <a:pt x="270" y="261"/>
                </a:lnTo>
                <a:cubicBezTo>
                  <a:pt x="288" y="261"/>
                  <a:pt x="306" y="270"/>
                  <a:pt x="315" y="288"/>
                </a:cubicBezTo>
                <a:cubicBezTo>
                  <a:pt x="333" y="315"/>
                  <a:pt x="360" y="333"/>
                  <a:pt x="387" y="333"/>
                </a:cubicBezTo>
                <a:cubicBezTo>
                  <a:pt x="414" y="333"/>
                  <a:pt x="441" y="315"/>
                  <a:pt x="459" y="288"/>
                </a:cubicBezTo>
                <a:cubicBezTo>
                  <a:pt x="468" y="270"/>
                  <a:pt x="486" y="261"/>
                  <a:pt x="504" y="261"/>
                </a:cubicBezTo>
                <a:lnTo>
                  <a:pt x="504" y="261"/>
                </a:lnTo>
                <a:cubicBezTo>
                  <a:pt x="522" y="261"/>
                  <a:pt x="540" y="270"/>
                  <a:pt x="549" y="288"/>
                </a:cubicBezTo>
                <a:cubicBezTo>
                  <a:pt x="558" y="315"/>
                  <a:pt x="585" y="333"/>
                  <a:pt x="621" y="333"/>
                </a:cubicBezTo>
                <a:cubicBezTo>
                  <a:pt x="648" y="333"/>
                  <a:pt x="675" y="315"/>
                  <a:pt x="684" y="288"/>
                </a:cubicBezTo>
                <a:cubicBezTo>
                  <a:pt x="693" y="270"/>
                  <a:pt x="711" y="261"/>
                  <a:pt x="738" y="26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</p:spTree>
    <p:extLst>
      <p:ext uri="{BB962C8B-B14F-4D97-AF65-F5344CB8AC3E}">
        <p14:creationId xmlns:p14="http://schemas.microsoft.com/office/powerpoint/2010/main" val="188167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664">
            <a:extLst>
              <a:ext uri="{FF2B5EF4-FFF2-40B4-BE49-F238E27FC236}">
                <a16:creationId xmlns:a16="http://schemas.microsoft.com/office/drawing/2014/main" id="{A08FC189-4576-AB4C-BCE6-9E83043BAAF0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Objective 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目標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id="{B1BCA687-E63C-6940-8ADD-351835846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6421" y="3307216"/>
            <a:ext cx="3950428" cy="3048988"/>
          </a:xfrm>
          <a:prstGeom prst="rect">
            <a:avLst/>
          </a:prstGeom>
        </p:spPr>
      </p:pic>
      <p:sp>
        <p:nvSpPr>
          <p:cNvPr id="11" name="Freeform 366">
            <a:extLst>
              <a:ext uri="{FF2B5EF4-FFF2-40B4-BE49-F238E27FC236}">
                <a16:creationId xmlns:a16="http://schemas.microsoft.com/office/drawing/2014/main" id="{8201D7CB-C207-5A41-B8BB-E5561F12A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699" y="1571835"/>
            <a:ext cx="1276653" cy="1264608"/>
          </a:xfrm>
          <a:custGeom>
            <a:avLst/>
            <a:gdLst>
              <a:gd name="T0" fmla="*/ 1178 w 2339"/>
              <a:gd name="T1" fmla="*/ 9 h 2313"/>
              <a:gd name="T2" fmla="*/ 1178 w 2339"/>
              <a:gd name="T3" fmla="*/ 9 h 2313"/>
              <a:gd name="T4" fmla="*/ 1461 w 2339"/>
              <a:gd name="T5" fmla="*/ 189 h 2313"/>
              <a:gd name="T6" fmla="*/ 1461 w 2339"/>
              <a:gd name="T7" fmla="*/ 189 h 2313"/>
              <a:gd name="T8" fmla="*/ 1805 w 2339"/>
              <a:gd name="T9" fmla="*/ 189 h 2313"/>
              <a:gd name="T10" fmla="*/ 1813 w 2339"/>
              <a:gd name="T11" fmla="*/ 198 h 2313"/>
              <a:gd name="T12" fmla="*/ 1951 w 2339"/>
              <a:gd name="T13" fmla="*/ 507 h 2313"/>
              <a:gd name="T14" fmla="*/ 1960 w 2339"/>
              <a:gd name="T15" fmla="*/ 507 h 2313"/>
              <a:gd name="T16" fmla="*/ 2243 w 2339"/>
              <a:gd name="T17" fmla="*/ 688 h 2313"/>
              <a:gd name="T18" fmla="*/ 2243 w 2339"/>
              <a:gd name="T19" fmla="*/ 696 h 2313"/>
              <a:gd name="T20" fmla="*/ 2201 w 2339"/>
              <a:gd name="T21" fmla="*/ 1031 h 2313"/>
              <a:gd name="T22" fmla="*/ 2201 w 2339"/>
              <a:gd name="T23" fmla="*/ 1040 h 2313"/>
              <a:gd name="T24" fmla="*/ 2338 w 2339"/>
              <a:gd name="T25" fmla="*/ 1349 h 2313"/>
              <a:gd name="T26" fmla="*/ 2338 w 2339"/>
              <a:gd name="T27" fmla="*/ 1358 h 2313"/>
              <a:gd name="T28" fmla="*/ 2114 w 2339"/>
              <a:gd name="T29" fmla="*/ 1616 h 2313"/>
              <a:gd name="T30" fmla="*/ 2114 w 2339"/>
              <a:gd name="T31" fmla="*/ 1616 h 2313"/>
              <a:gd name="T32" fmla="*/ 2063 w 2339"/>
              <a:gd name="T33" fmla="*/ 1951 h 2313"/>
              <a:gd name="T34" fmla="*/ 2063 w 2339"/>
              <a:gd name="T35" fmla="*/ 1960 h 2313"/>
              <a:gd name="T36" fmla="*/ 1736 w 2339"/>
              <a:gd name="T37" fmla="*/ 2054 h 2313"/>
              <a:gd name="T38" fmla="*/ 1728 w 2339"/>
              <a:gd name="T39" fmla="*/ 2054 h 2313"/>
              <a:gd name="T40" fmla="*/ 1504 w 2339"/>
              <a:gd name="T41" fmla="*/ 2312 h 2313"/>
              <a:gd name="T42" fmla="*/ 1496 w 2339"/>
              <a:gd name="T43" fmla="*/ 2312 h 2313"/>
              <a:gd name="T44" fmla="*/ 1178 w 2339"/>
              <a:gd name="T45" fmla="*/ 2218 h 2313"/>
              <a:gd name="T46" fmla="*/ 1169 w 2339"/>
              <a:gd name="T47" fmla="*/ 2218 h 2313"/>
              <a:gd name="T48" fmla="*/ 842 w 2339"/>
              <a:gd name="T49" fmla="*/ 2312 h 2313"/>
              <a:gd name="T50" fmla="*/ 834 w 2339"/>
              <a:gd name="T51" fmla="*/ 2312 h 2313"/>
              <a:gd name="T52" fmla="*/ 610 w 2339"/>
              <a:gd name="T53" fmla="*/ 2054 h 2313"/>
              <a:gd name="T54" fmla="*/ 610 w 2339"/>
              <a:gd name="T55" fmla="*/ 2054 h 2313"/>
              <a:gd name="T56" fmla="*/ 284 w 2339"/>
              <a:gd name="T57" fmla="*/ 1960 h 2313"/>
              <a:gd name="T58" fmla="*/ 275 w 2339"/>
              <a:gd name="T59" fmla="*/ 1951 h 2313"/>
              <a:gd name="T60" fmla="*/ 232 w 2339"/>
              <a:gd name="T61" fmla="*/ 1616 h 2313"/>
              <a:gd name="T62" fmla="*/ 232 w 2339"/>
              <a:gd name="T63" fmla="*/ 1616 h 2313"/>
              <a:gd name="T64" fmla="*/ 9 w 2339"/>
              <a:gd name="T65" fmla="*/ 1358 h 2313"/>
              <a:gd name="T66" fmla="*/ 9 w 2339"/>
              <a:gd name="T67" fmla="*/ 1349 h 2313"/>
              <a:gd name="T68" fmla="*/ 146 w 2339"/>
              <a:gd name="T69" fmla="*/ 1040 h 2313"/>
              <a:gd name="T70" fmla="*/ 146 w 2339"/>
              <a:gd name="T71" fmla="*/ 1031 h 2313"/>
              <a:gd name="T72" fmla="*/ 94 w 2339"/>
              <a:gd name="T73" fmla="*/ 696 h 2313"/>
              <a:gd name="T74" fmla="*/ 103 w 2339"/>
              <a:gd name="T75" fmla="*/ 688 h 2313"/>
              <a:gd name="T76" fmla="*/ 387 w 2339"/>
              <a:gd name="T77" fmla="*/ 507 h 2313"/>
              <a:gd name="T78" fmla="*/ 387 w 2339"/>
              <a:gd name="T79" fmla="*/ 507 h 2313"/>
              <a:gd name="T80" fmla="*/ 533 w 2339"/>
              <a:gd name="T81" fmla="*/ 198 h 2313"/>
              <a:gd name="T82" fmla="*/ 541 w 2339"/>
              <a:gd name="T83" fmla="*/ 189 h 2313"/>
              <a:gd name="T84" fmla="*/ 877 w 2339"/>
              <a:gd name="T85" fmla="*/ 189 h 2313"/>
              <a:gd name="T86" fmla="*/ 885 w 2339"/>
              <a:gd name="T87" fmla="*/ 189 h 2313"/>
              <a:gd name="T88" fmla="*/ 1169 w 2339"/>
              <a:gd name="T89" fmla="*/ 9 h 2313"/>
              <a:gd name="T90" fmla="*/ 1178 w 2339"/>
              <a:gd name="T91" fmla="*/ 9 h 2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39" h="2313">
                <a:moveTo>
                  <a:pt x="1178" y="9"/>
                </a:moveTo>
                <a:lnTo>
                  <a:pt x="1178" y="9"/>
                </a:lnTo>
                <a:cubicBezTo>
                  <a:pt x="1461" y="189"/>
                  <a:pt x="1461" y="189"/>
                  <a:pt x="1461" y="189"/>
                </a:cubicBezTo>
                <a:lnTo>
                  <a:pt x="1461" y="189"/>
                </a:lnTo>
                <a:cubicBezTo>
                  <a:pt x="1805" y="189"/>
                  <a:pt x="1805" y="189"/>
                  <a:pt x="1805" y="189"/>
                </a:cubicBezTo>
                <a:cubicBezTo>
                  <a:pt x="1805" y="189"/>
                  <a:pt x="1813" y="189"/>
                  <a:pt x="1813" y="198"/>
                </a:cubicBezTo>
                <a:cubicBezTo>
                  <a:pt x="1951" y="507"/>
                  <a:pt x="1951" y="507"/>
                  <a:pt x="1951" y="507"/>
                </a:cubicBezTo>
                <a:cubicBezTo>
                  <a:pt x="1951" y="507"/>
                  <a:pt x="1951" y="507"/>
                  <a:pt x="1960" y="507"/>
                </a:cubicBezTo>
                <a:cubicBezTo>
                  <a:pt x="2243" y="688"/>
                  <a:pt x="2243" y="688"/>
                  <a:pt x="2243" y="688"/>
                </a:cubicBezTo>
                <a:lnTo>
                  <a:pt x="2243" y="696"/>
                </a:lnTo>
                <a:cubicBezTo>
                  <a:pt x="2201" y="1031"/>
                  <a:pt x="2201" y="1031"/>
                  <a:pt x="2201" y="1031"/>
                </a:cubicBezTo>
                <a:lnTo>
                  <a:pt x="2201" y="1040"/>
                </a:lnTo>
                <a:cubicBezTo>
                  <a:pt x="2338" y="1349"/>
                  <a:pt x="2338" y="1349"/>
                  <a:pt x="2338" y="1349"/>
                </a:cubicBezTo>
                <a:cubicBezTo>
                  <a:pt x="2338" y="1349"/>
                  <a:pt x="2338" y="1349"/>
                  <a:pt x="2338" y="1358"/>
                </a:cubicBezTo>
                <a:cubicBezTo>
                  <a:pt x="2114" y="1616"/>
                  <a:pt x="2114" y="1616"/>
                  <a:pt x="2114" y="1616"/>
                </a:cubicBezTo>
                <a:lnTo>
                  <a:pt x="2114" y="1616"/>
                </a:lnTo>
                <a:cubicBezTo>
                  <a:pt x="2063" y="1951"/>
                  <a:pt x="2063" y="1951"/>
                  <a:pt x="2063" y="1951"/>
                </a:cubicBezTo>
                <a:lnTo>
                  <a:pt x="2063" y="1960"/>
                </a:lnTo>
                <a:cubicBezTo>
                  <a:pt x="1736" y="2054"/>
                  <a:pt x="1736" y="2054"/>
                  <a:pt x="1736" y="2054"/>
                </a:cubicBezTo>
                <a:lnTo>
                  <a:pt x="1728" y="2054"/>
                </a:lnTo>
                <a:cubicBezTo>
                  <a:pt x="1504" y="2312"/>
                  <a:pt x="1504" y="2312"/>
                  <a:pt x="1504" y="2312"/>
                </a:cubicBezTo>
                <a:cubicBezTo>
                  <a:pt x="1504" y="2312"/>
                  <a:pt x="1504" y="2312"/>
                  <a:pt x="1496" y="2312"/>
                </a:cubicBezTo>
                <a:cubicBezTo>
                  <a:pt x="1178" y="2218"/>
                  <a:pt x="1178" y="2218"/>
                  <a:pt x="1178" y="2218"/>
                </a:cubicBezTo>
                <a:cubicBezTo>
                  <a:pt x="1169" y="2218"/>
                  <a:pt x="1169" y="2218"/>
                  <a:pt x="1169" y="2218"/>
                </a:cubicBezTo>
                <a:cubicBezTo>
                  <a:pt x="842" y="2312"/>
                  <a:pt x="842" y="2312"/>
                  <a:pt x="842" y="2312"/>
                </a:cubicBezTo>
                <a:lnTo>
                  <a:pt x="834" y="2312"/>
                </a:lnTo>
                <a:cubicBezTo>
                  <a:pt x="610" y="2054"/>
                  <a:pt x="610" y="2054"/>
                  <a:pt x="610" y="2054"/>
                </a:cubicBezTo>
                <a:lnTo>
                  <a:pt x="610" y="2054"/>
                </a:lnTo>
                <a:cubicBezTo>
                  <a:pt x="284" y="1960"/>
                  <a:pt x="284" y="1960"/>
                  <a:pt x="284" y="1960"/>
                </a:cubicBezTo>
                <a:lnTo>
                  <a:pt x="275" y="1951"/>
                </a:lnTo>
                <a:cubicBezTo>
                  <a:pt x="232" y="1616"/>
                  <a:pt x="232" y="1616"/>
                  <a:pt x="232" y="1616"/>
                </a:cubicBezTo>
                <a:lnTo>
                  <a:pt x="232" y="1616"/>
                </a:lnTo>
                <a:cubicBezTo>
                  <a:pt x="9" y="1358"/>
                  <a:pt x="9" y="1358"/>
                  <a:pt x="9" y="1358"/>
                </a:cubicBezTo>
                <a:cubicBezTo>
                  <a:pt x="0" y="1349"/>
                  <a:pt x="0" y="1349"/>
                  <a:pt x="9" y="1349"/>
                </a:cubicBezTo>
                <a:cubicBezTo>
                  <a:pt x="146" y="1040"/>
                  <a:pt x="146" y="1040"/>
                  <a:pt x="146" y="1040"/>
                </a:cubicBezTo>
                <a:lnTo>
                  <a:pt x="146" y="1031"/>
                </a:lnTo>
                <a:cubicBezTo>
                  <a:pt x="94" y="696"/>
                  <a:pt x="94" y="696"/>
                  <a:pt x="94" y="696"/>
                </a:cubicBezTo>
                <a:lnTo>
                  <a:pt x="103" y="688"/>
                </a:lnTo>
                <a:cubicBezTo>
                  <a:pt x="387" y="507"/>
                  <a:pt x="387" y="507"/>
                  <a:pt x="387" y="507"/>
                </a:cubicBezTo>
                <a:lnTo>
                  <a:pt x="387" y="507"/>
                </a:lnTo>
                <a:cubicBezTo>
                  <a:pt x="533" y="198"/>
                  <a:pt x="533" y="198"/>
                  <a:pt x="533" y="198"/>
                </a:cubicBezTo>
                <a:cubicBezTo>
                  <a:pt x="533" y="189"/>
                  <a:pt x="533" y="189"/>
                  <a:pt x="541" y="189"/>
                </a:cubicBezTo>
                <a:cubicBezTo>
                  <a:pt x="877" y="189"/>
                  <a:pt x="877" y="189"/>
                  <a:pt x="877" y="189"/>
                </a:cubicBezTo>
                <a:cubicBezTo>
                  <a:pt x="877" y="189"/>
                  <a:pt x="877" y="189"/>
                  <a:pt x="885" y="189"/>
                </a:cubicBezTo>
                <a:cubicBezTo>
                  <a:pt x="1169" y="9"/>
                  <a:pt x="1169" y="9"/>
                  <a:pt x="1169" y="9"/>
                </a:cubicBezTo>
                <a:cubicBezTo>
                  <a:pt x="1169" y="0"/>
                  <a:pt x="1169" y="0"/>
                  <a:pt x="1178" y="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14" name="Freeform 367">
            <a:extLst>
              <a:ext uri="{FF2B5EF4-FFF2-40B4-BE49-F238E27FC236}">
                <a16:creationId xmlns:a16="http://schemas.microsoft.com/office/drawing/2014/main" id="{954CDD22-F3A2-7348-88F8-FABE3A546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699" y="3447975"/>
            <a:ext cx="1276653" cy="1262200"/>
          </a:xfrm>
          <a:custGeom>
            <a:avLst/>
            <a:gdLst>
              <a:gd name="T0" fmla="*/ 1178 w 2339"/>
              <a:gd name="T1" fmla="*/ 0 h 2312"/>
              <a:gd name="T2" fmla="*/ 1178 w 2339"/>
              <a:gd name="T3" fmla="*/ 0 h 2312"/>
              <a:gd name="T4" fmla="*/ 1461 w 2339"/>
              <a:gd name="T5" fmla="*/ 189 h 2312"/>
              <a:gd name="T6" fmla="*/ 1461 w 2339"/>
              <a:gd name="T7" fmla="*/ 189 h 2312"/>
              <a:gd name="T8" fmla="*/ 1805 w 2339"/>
              <a:gd name="T9" fmla="*/ 189 h 2312"/>
              <a:gd name="T10" fmla="*/ 1813 w 2339"/>
              <a:gd name="T11" fmla="*/ 189 h 2312"/>
              <a:gd name="T12" fmla="*/ 1951 w 2339"/>
              <a:gd name="T13" fmla="*/ 498 h 2312"/>
              <a:gd name="T14" fmla="*/ 1960 w 2339"/>
              <a:gd name="T15" fmla="*/ 507 h 2312"/>
              <a:gd name="T16" fmla="*/ 2243 w 2339"/>
              <a:gd name="T17" fmla="*/ 687 h 2312"/>
              <a:gd name="T18" fmla="*/ 2243 w 2339"/>
              <a:gd name="T19" fmla="*/ 696 h 2312"/>
              <a:gd name="T20" fmla="*/ 2201 w 2339"/>
              <a:gd name="T21" fmla="*/ 1031 h 2312"/>
              <a:gd name="T22" fmla="*/ 2201 w 2339"/>
              <a:gd name="T23" fmla="*/ 1040 h 2312"/>
              <a:gd name="T24" fmla="*/ 2338 w 2339"/>
              <a:gd name="T25" fmla="*/ 1348 h 2312"/>
              <a:gd name="T26" fmla="*/ 2338 w 2339"/>
              <a:gd name="T27" fmla="*/ 1348 h 2312"/>
              <a:gd name="T28" fmla="*/ 2114 w 2339"/>
              <a:gd name="T29" fmla="*/ 1606 h 2312"/>
              <a:gd name="T30" fmla="*/ 2114 w 2339"/>
              <a:gd name="T31" fmla="*/ 1615 h 2312"/>
              <a:gd name="T32" fmla="*/ 2063 w 2339"/>
              <a:gd name="T33" fmla="*/ 1950 h 2312"/>
              <a:gd name="T34" fmla="*/ 2063 w 2339"/>
              <a:gd name="T35" fmla="*/ 1958 h 2312"/>
              <a:gd name="T36" fmla="*/ 1736 w 2339"/>
              <a:gd name="T37" fmla="*/ 2053 h 2312"/>
              <a:gd name="T38" fmla="*/ 1728 w 2339"/>
              <a:gd name="T39" fmla="*/ 2053 h 2312"/>
              <a:gd name="T40" fmla="*/ 1504 w 2339"/>
              <a:gd name="T41" fmla="*/ 2311 h 2312"/>
              <a:gd name="T42" fmla="*/ 1496 w 2339"/>
              <a:gd name="T43" fmla="*/ 2311 h 2312"/>
              <a:gd name="T44" fmla="*/ 1178 w 2339"/>
              <a:gd name="T45" fmla="*/ 2216 h 2312"/>
              <a:gd name="T46" fmla="*/ 1169 w 2339"/>
              <a:gd name="T47" fmla="*/ 2216 h 2312"/>
              <a:gd name="T48" fmla="*/ 842 w 2339"/>
              <a:gd name="T49" fmla="*/ 2311 h 2312"/>
              <a:gd name="T50" fmla="*/ 834 w 2339"/>
              <a:gd name="T51" fmla="*/ 2311 h 2312"/>
              <a:gd name="T52" fmla="*/ 610 w 2339"/>
              <a:gd name="T53" fmla="*/ 2053 h 2312"/>
              <a:gd name="T54" fmla="*/ 610 w 2339"/>
              <a:gd name="T55" fmla="*/ 2053 h 2312"/>
              <a:gd name="T56" fmla="*/ 284 w 2339"/>
              <a:gd name="T57" fmla="*/ 1958 h 2312"/>
              <a:gd name="T58" fmla="*/ 275 w 2339"/>
              <a:gd name="T59" fmla="*/ 1950 h 2312"/>
              <a:gd name="T60" fmla="*/ 232 w 2339"/>
              <a:gd name="T61" fmla="*/ 1615 h 2312"/>
              <a:gd name="T62" fmla="*/ 232 w 2339"/>
              <a:gd name="T63" fmla="*/ 1606 h 2312"/>
              <a:gd name="T64" fmla="*/ 9 w 2339"/>
              <a:gd name="T65" fmla="*/ 1348 h 2312"/>
              <a:gd name="T66" fmla="*/ 9 w 2339"/>
              <a:gd name="T67" fmla="*/ 1348 h 2312"/>
              <a:gd name="T68" fmla="*/ 146 w 2339"/>
              <a:gd name="T69" fmla="*/ 1040 h 2312"/>
              <a:gd name="T70" fmla="*/ 146 w 2339"/>
              <a:gd name="T71" fmla="*/ 1031 h 2312"/>
              <a:gd name="T72" fmla="*/ 94 w 2339"/>
              <a:gd name="T73" fmla="*/ 696 h 2312"/>
              <a:gd name="T74" fmla="*/ 103 w 2339"/>
              <a:gd name="T75" fmla="*/ 687 h 2312"/>
              <a:gd name="T76" fmla="*/ 387 w 2339"/>
              <a:gd name="T77" fmla="*/ 507 h 2312"/>
              <a:gd name="T78" fmla="*/ 387 w 2339"/>
              <a:gd name="T79" fmla="*/ 498 h 2312"/>
              <a:gd name="T80" fmla="*/ 533 w 2339"/>
              <a:gd name="T81" fmla="*/ 189 h 2312"/>
              <a:gd name="T82" fmla="*/ 541 w 2339"/>
              <a:gd name="T83" fmla="*/ 189 h 2312"/>
              <a:gd name="T84" fmla="*/ 877 w 2339"/>
              <a:gd name="T85" fmla="*/ 189 h 2312"/>
              <a:gd name="T86" fmla="*/ 885 w 2339"/>
              <a:gd name="T87" fmla="*/ 189 h 2312"/>
              <a:gd name="T88" fmla="*/ 1169 w 2339"/>
              <a:gd name="T89" fmla="*/ 0 h 2312"/>
              <a:gd name="T90" fmla="*/ 1178 w 2339"/>
              <a:gd name="T91" fmla="*/ 0 h 2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39" h="2312">
                <a:moveTo>
                  <a:pt x="1178" y="0"/>
                </a:moveTo>
                <a:lnTo>
                  <a:pt x="1178" y="0"/>
                </a:lnTo>
                <a:cubicBezTo>
                  <a:pt x="1461" y="189"/>
                  <a:pt x="1461" y="189"/>
                  <a:pt x="1461" y="189"/>
                </a:cubicBezTo>
                <a:lnTo>
                  <a:pt x="1461" y="189"/>
                </a:lnTo>
                <a:cubicBezTo>
                  <a:pt x="1805" y="189"/>
                  <a:pt x="1805" y="189"/>
                  <a:pt x="1805" y="189"/>
                </a:cubicBezTo>
                <a:lnTo>
                  <a:pt x="1813" y="189"/>
                </a:lnTo>
                <a:cubicBezTo>
                  <a:pt x="1951" y="498"/>
                  <a:pt x="1951" y="498"/>
                  <a:pt x="1951" y="498"/>
                </a:cubicBezTo>
                <a:cubicBezTo>
                  <a:pt x="1951" y="507"/>
                  <a:pt x="1951" y="507"/>
                  <a:pt x="1960" y="507"/>
                </a:cubicBezTo>
                <a:cubicBezTo>
                  <a:pt x="2243" y="687"/>
                  <a:pt x="2243" y="687"/>
                  <a:pt x="2243" y="687"/>
                </a:cubicBezTo>
                <a:lnTo>
                  <a:pt x="2243" y="696"/>
                </a:lnTo>
                <a:cubicBezTo>
                  <a:pt x="2201" y="1031"/>
                  <a:pt x="2201" y="1031"/>
                  <a:pt x="2201" y="1031"/>
                </a:cubicBezTo>
                <a:cubicBezTo>
                  <a:pt x="2201" y="1031"/>
                  <a:pt x="2201" y="1031"/>
                  <a:pt x="2201" y="1040"/>
                </a:cubicBezTo>
                <a:cubicBezTo>
                  <a:pt x="2338" y="1348"/>
                  <a:pt x="2338" y="1348"/>
                  <a:pt x="2338" y="1348"/>
                </a:cubicBezTo>
                <a:lnTo>
                  <a:pt x="2338" y="1348"/>
                </a:lnTo>
                <a:cubicBezTo>
                  <a:pt x="2114" y="1606"/>
                  <a:pt x="2114" y="1606"/>
                  <a:pt x="2114" y="1606"/>
                </a:cubicBezTo>
                <a:cubicBezTo>
                  <a:pt x="2114" y="1615"/>
                  <a:pt x="2114" y="1615"/>
                  <a:pt x="2114" y="1615"/>
                </a:cubicBezTo>
                <a:cubicBezTo>
                  <a:pt x="2063" y="1950"/>
                  <a:pt x="2063" y="1950"/>
                  <a:pt x="2063" y="1950"/>
                </a:cubicBezTo>
                <a:lnTo>
                  <a:pt x="2063" y="1958"/>
                </a:lnTo>
                <a:cubicBezTo>
                  <a:pt x="1736" y="2053"/>
                  <a:pt x="1736" y="2053"/>
                  <a:pt x="1736" y="2053"/>
                </a:cubicBezTo>
                <a:lnTo>
                  <a:pt x="1728" y="2053"/>
                </a:lnTo>
                <a:cubicBezTo>
                  <a:pt x="1504" y="2311"/>
                  <a:pt x="1504" y="2311"/>
                  <a:pt x="1504" y="2311"/>
                </a:cubicBezTo>
                <a:cubicBezTo>
                  <a:pt x="1504" y="2311"/>
                  <a:pt x="1504" y="2311"/>
                  <a:pt x="1496" y="2311"/>
                </a:cubicBezTo>
                <a:cubicBezTo>
                  <a:pt x="1178" y="2216"/>
                  <a:pt x="1178" y="2216"/>
                  <a:pt x="1178" y="2216"/>
                </a:cubicBezTo>
                <a:cubicBezTo>
                  <a:pt x="1169" y="2216"/>
                  <a:pt x="1169" y="2216"/>
                  <a:pt x="1169" y="2216"/>
                </a:cubicBezTo>
                <a:cubicBezTo>
                  <a:pt x="842" y="2311"/>
                  <a:pt x="842" y="2311"/>
                  <a:pt x="842" y="2311"/>
                </a:cubicBezTo>
                <a:lnTo>
                  <a:pt x="834" y="2311"/>
                </a:lnTo>
                <a:cubicBezTo>
                  <a:pt x="610" y="2053"/>
                  <a:pt x="610" y="2053"/>
                  <a:pt x="610" y="2053"/>
                </a:cubicBezTo>
                <a:lnTo>
                  <a:pt x="610" y="2053"/>
                </a:lnTo>
                <a:cubicBezTo>
                  <a:pt x="284" y="1958"/>
                  <a:pt x="284" y="1958"/>
                  <a:pt x="284" y="1958"/>
                </a:cubicBezTo>
                <a:lnTo>
                  <a:pt x="275" y="1950"/>
                </a:lnTo>
                <a:cubicBezTo>
                  <a:pt x="232" y="1615"/>
                  <a:pt x="232" y="1615"/>
                  <a:pt x="232" y="1615"/>
                </a:cubicBezTo>
                <a:cubicBezTo>
                  <a:pt x="232" y="1615"/>
                  <a:pt x="232" y="1615"/>
                  <a:pt x="232" y="1606"/>
                </a:cubicBezTo>
                <a:cubicBezTo>
                  <a:pt x="9" y="1348"/>
                  <a:pt x="9" y="1348"/>
                  <a:pt x="9" y="1348"/>
                </a:cubicBezTo>
                <a:cubicBezTo>
                  <a:pt x="0" y="1348"/>
                  <a:pt x="0" y="1348"/>
                  <a:pt x="9" y="1348"/>
                </a:cubicBezTo>
                <a:cubicBezTo>
                  <a:pt x="146" y="1040"/>
                  <a:pt x="146" y="1040"/>
                  <a:pt x="146" y="1040"/>
                </a:cubicBezTo>
                <a:cubicBezTo>
                  <a:pt x="146" y="1031"/>
                  <a:pt x="146" y="1031"/>
                  <a:pt x="146" y="1031"/>
                </a:cubicBezTo>
                <a:cubicBezTo>
                  <a:pt x="94" y="696"/>
                  <a:pt x="94" y="696"/>
                  <a:pt x="94" y="696"/>
                </a:cubicBezTo>
                <a:lnTo>
                  <a:pt x="103" y="687"/>
                </a:lnTo>
                <a:cubicBezTo>
                  <a:pt x="387" y="507"/>
                  <a:pt x="387" y="507"/>
                  <a:pt x="387" y="507"/>
                </a:cubicBezTo>
                <a:cubicBezTo>
                  <a:pt x="387" y="507"/>
                  <a:pt x="387" y="507"/>
                  <a:pt x="387" y="498"/>
                </a:cubicBezTo>
                <a:cubicBezTo>
                  <a:pt x="533" y="189"/>
                  <a:pt x="533" y="189"/>
                  <a:pt x="533" y="189"/>
                </a:cubicBezTo>
                <a:cubicBezTo>
                  <a:pt x="533" y="189"/>
                  <a:pt x="533" y="189"/>
                  <a:pt x="541" y="189"/>
                </a:cubicBezTo>
                <a:cubicBezTo>
                  <a:pt x="877" y="189"/>
                  <a:pt x="877" y="189"/>
                  <a:pt x="877" y="189"/>
                </a:cubicBezTo>
                <a:cubicBezTo>
                  <a:pt x="877" y="189"/>
                  <a:pt x="877" y="189"/>
                  <a:pt x="885" y="189"/>
                </a:cubicBezTo>
                <a:cubicBezTo>
                  <a:pt x="1169" y="0"/>
                  <a:pt x="1169" y="0"/>
                  <a:pt x="1169" y="0"/>
                </a:cubicBezTo>
                <a:cubicBezTo>
                  <a:pt x="1169" y="0"/>
                  <a:pt x="1169" y="0"/>
                  <a:pt x="1178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18" name="Freeform 370">
            <a:extLst>
              <a:ext uri="{FF2B5EF4-FFF2-40B4-BE49-F238E27FC236}">
                <a16:creationId xmlns:a16="http://schemas.microsoft.com/office/drawing/2014/main" id="{94C6AF71-9056-A54B-88D2-300597817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375" y="3969954"/>
            <a:ext cx="474530" cy="399857"/>
          </a:xfrm>
          <a:custGeom>
            <a:avLst/>
            <a:gdLst>
              <a:gd name="T0" fmla="*/ 430 w 869"/>
              <a:gd name="T1" fmla="*/ 730 h 731"/>
              <a:gd name="T2" fmla="*/ 430 w 869"/>
              <a:gd name="T3" fmla="*/ 730 h 731"/>
              <a:gd name="T4" fmla="*/ 430 w 869"/>
              <a:gd name="T5" fmla="*/ 730 h 731"/>
              <a:gd name="T6" fmla="*/ 421 w 869"/>
              <a:gd name="T7" fmla="*/ 721 h 731"/>
              <a:gd name="T8" fmla="*/ 0 w 869"/>
              <a:gd name="T9" fmla="*/ 172 h 731"/>
              <a:gd name="T10" fmla="*/ 9 w 869"/>
              <a:gd name="T11" fmla="*/ 147 h 731"/>
              <a:gd name="T12" fmla="*/ 146 w 869"/>
              <a:gd name="T13" fmla="*/ 9 h 731"/>
              <a:gd name="T14" fmla="*/ 155 w 869"/>
              <a:gd name="T15" fmla="*/ 0 h 731"/>
              <a:gd name="T16" fmla="*/ 155 w 869"/>
              <a:gd name="T17" fmla="*/ 0 h 731"/>
              <a:gd name="T18" fmla="*/ 705 w 869"/>
              <a:gd name="T19" fmla="*/ 0 h 731"/>
              <a:gd name="T20" fmla="*/ 722 w 869"/>
              <a:gd name="T21" fmla="*/ 9 h 731"/>
              <a:gd name="T22" fmla="*/ 860 w 869"/>
              <a:gd name="T23" fmla="*/ 147 h 731"/>
              <a:gd name="T24" fmla="*/ 860 w 869"/>
              <a:gd name="T25" fmla="*/ 172 h 731"/>
              <a:gd name="T26" fmla="*/ 447 w 869"/>
              <a:gd name="T27" fmla="*/ 721 h 731"/>
              <a:gd name="T28" fmla="*/ 430 w 869"/>
              <a:gd name="T29" fmla="*/ 730 h 731"/>
              <a:gd name="T30" fmla="*/ 43 w 869"/>
              <a:gd name="T31" fmla="*/ 164 h 731"/>
              <a:gd name="T32" fmla="*/ 43 w 869"/>
              <a:gd name="T33" fmla="*/ 164 h 731"/>
              <a:gd name="T34" fmla="*/ 430 w 869"/>
              <a:gd name="T35" fmla="*/ 679 h 731"/>
              <a:gd name="T36" fmla="*/ 817 w 869"/>
              <a:gd name="T37" fmla="*/ 164 h 731"/>
              <a:gd name="T38" fmla="*/ 696 w 869"/>
              <a:gd name="T39" fmla="*/ 44 h 731"/>
              <a:gd name="T40" fmla="*/ 163 w 869"/>
              <a:gd name="T41" fmla="*/ 44 h 731"/>
              <a:gd name="T42" fmla="*/ 43 w 869"/>
              <a:gd name="T43" fmla="*/ 164 h 7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69" h="731">
                <a:moveTo>
                  <a:pt x="430" y="730"/>
                </a:moveTo>
                <a:lnTo>
                  <a:pt x="430" y="730"/>
                </a:lnTo>
                <a:lnTo>
                  <a:pt x="430" y="730"/>
                </a:lnTo>
                <a:cubicBezTo>
                  <a:pt x="430" y="730"/>
                  <a:pt x="421" y="730"/>
                  <a:pt x="421" y="721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64"/>
                  <a:pt x="0" y="155"/>
                  <a:pt x="9" y="147"/>
                </a:cubicBezTo>
                <a:cubicBezTo>
                  <a:pt x="146" y="9"/>
                  <a:pt x="146" y="9"/>
                  <a:pt x="146" y="9"/>
                </a:cubicBezTo>
                <a:lnTo>
                  <a:pt x="155" y="0"/>
                </a:lnTo>
                <a:lnTo>
                  <a:pt x="155" y="0"/>
                </a:lnTo>
                <a:cubicBezTo>
                  <a:pt x="705" y="0"/>
                  <a:pt x="705" y="0"/>
                  <a:pt x="705" y="0"/>
                </a:cubicBezTo>
                <a:cubicBezTo>
                  <a:pt x="714" y="0"/>
                  <a:pt x="722" y="9"/>
                  <a:pt x="722" y="9"/>
                </a:cubicBezTo>
                <a:cubicBezTo>
                  <a:pt x="860" y="147"/>
                  <a:pt x="860" y="147"/>
                  <a:pt x="860" y="147"/>
                </a:cubicBezTo>
                <a:cubicBezTo>
                  <a:pt x="868" y="155"/>
                  <a:pt x="868" y="164"/>
                  <a:pt x="860" y="172"/>
                </a:cubicBezTo>
                <a:cubicBezTo>
                  <a:pt x="447" y="721"/>
                  <a:pt x="447" y="721"/>
                  <a:pt x="447" y="721"/>
                </a:cubicBezTo>
                <a:cubicBezTo>
                  <a:pt x="447" y="730"/>
                  <a:pt x="439" y="730"/>
                  <a:pt x="430" y="730"/>
                </a:cubicBezTo>
                <a:close/>
                <a:moveTo>
                  <a:pt x="43" y="164"/>
                </a:moveTo>
                <a:lnTo>
                  <a:pt x="43" y="164"/>
                </a:lnTo>
                <a:cubicBezTo>
                  <a:pt x="430" y="679"/>
                  <a:pt x="430" y="679"/>
                  <a:pt x="430" y="679"/>
                </a:cubicBezTo>
                <a:cubicBezTo>
                  <a:pt x="817" y="164"/>
                  <a:pt x="817" y="164"/>
                  <a:pt x="817" y="164"/>
                </a:cubicBezTo>
                <a:cubicBezTo>
                  <a:pt x="696" y="44"/>
                  <a:pt x="696" y="44"/>
                  <a:pt x="696" y="44"/>
                </a:cubicBezTo>
                <a:cubicBezTo>
                  <a:pt x="163" y="44"/>
                  <a:pt x="163" y="44"/>
                  <a:pt x="163" y="44"/>
                </a:cubicBezTo>
                <a:lnTo>
                  <a:pt x="43" y="16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19" name="Freeform 371">
            <a:extLst>
              <a:ext uri="{FF2B5EF4-FFF2-40B4-BE49-F238E27FC236}">
                <a16:creationId xmlns:a16="http://schemas.microsoft.com/office/drawing/2014/main" id="{E6EAD337-9398-184F-844A-8F3A2C193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048" y="3969954"/>
            <a:ext cx="325185" cy="98759"/>
          </a:xfrm>
          <a:custGeom>
            <a:avLst/>
            <a:gdLst>
              <a:gd name="T0" fmla="*/ 154 w 594"/>
              <a:gd name="T1" fmla="*/ 181 h 182"/>
              <a:gd name="T2" fmla="*/ 154 w 594"/>
              <a:gd name="T3" fmla="*/ 181 h 182"/>
              <a:gd name="T4" fmla="*/ 146 w 594"/>
              <a:gd name="T5" fmla="*/ 172 h 182"/>
              <a:gd name="T6" fmla="*/ 8 w 594"/>
              <a:gd name="T7" fmla="*/ 35 h 182"/>
              <a:gd name="T8" fmla="*/ 8 w 594"/>
              <a:gd name="T9" fmla="*/ 9 h 182"/>
              <a:gd name="T10" fmla="*/ 34 w 594"/>
              <a:gd name="T11" fmla="*/ 9 h 182"/>
              <a:gd name="T12" fmla="*/ 154 w 594"/>
              <a:gd name="T13" fmla="*/ 129 h 182"/>
              <a:gd name="T14" fmla="*/ 283 w 594"/>
              <a:gd name="T15" fmla="*/ 9 h 182"/>
              <a:gd name="T16" fmla="*/ 309 w 594"/>
              <a:gd name="T17" fmla="*/ 9 h 182"/>
              <a:gd name="T18" fmla="*/ 430 w 594"/>
              <a:gd name="T19" fmla="*/ 129 h 182"/>
              <a:gd name="T20" fmla="*/ 558 w 594"/>
              <a:gd name="T21" fmla="*/ 9 h 182"/>
              <a:gd name="T22" fmla="*/ 584 w 594"/>
              <a:gd name="T23" fmla="*/ 9 h 182"/>
              <a:gd name="T24" fmla="*/ 584 w 594"/>
              <a:gd name="T25" fmla="*/ 35 h 182"/>
              <a:gd name="T26" fmla="*/ 447 w 594"/>
              <a:gd name="T27" fmla="*/ 172 h 182"/>
              <a:gd name="T28" fmla="*/ 421 w 594"/>
              <a:gd name="T29" fmla="*/ 172 h 182"/>
              <a:gd name="T30" fmla="*/ 292 w 594"/>
              <a:gd name="T31" fmla="*/ 52 h 182"/>
              <a:gd name="T32" fmla="*/ 172 w 594"/>
              <a:gd name="T33" fmla="*/ 172 h 182"/>
              <a:gd name="T34" fmla="*/ 154 w 594"/>
              <a:gd name="T35" fmla="*/ 181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4" h="182">
                <a:moveTo>
                  <a:pt x="154" y="181"/>
                </a:moveTo>
                <a:lnTo>
                  <a:pt x="154" y="181"/>
                </a:lnTo>
                <a:cubicBezTo>
                  <a:pt x="154" y="181"/>
                  <a:pt x="146" y="181"/>
                  <a:pt x="146" y="172"/>
                </a:cubicBezTo>
                <a:cubicBezTo>
                  <a:pt x="8" y="35"/>
                  <a:pt x="8" y="35"/>
                  <a:pt x="8" y="35"/>
                </a:cubicBezTo>
                <a:cubicBezTo>
                  <a:pt x="0" y="26"/>
                  <a:pt x="0" y="18"/>
                  <a:pt x="8" y="9"/>
                </a:cubicBezTo>
                <a:cubicBezTo>
                  <a:pt x="17" y="0"/>
                  <a:pt x="25" y="0"/>
                  <a:pt x="34" y="9"/>
                </a:cubicBezTo>
                <a:cubicBezTo>
                  <a:pt x="154" y="129"/>
                  <a:pt x="154" y="129"/>
                  <a:pt x="154" y="129"/>
                </a:cubicBezTo>
                <a:cubicBezTo>
                  <a:pt x="283" y="9"/>
                  <a:pt x="283" y="9"/>
                  <a:pt x="283" y="9"/>
                </a:cubicBezTo>
                <a:cubicBezTo>
                  <a:pt x="292" y="0"/>
                  <a:pt x="301" y="0"/>
                  <a:pt x="309" y="9"/>
                </a:cubicBezTo>
                <a:cubicBezTo>
                  <a:pt x="430" y="129"/>
                  <a:pt x="430" y="129"/>
                  <a:pt x="430" y="129"/>
                </a:cubicBezTo>
                <a:cubicBezTo>
                  <a:pt x="558" y="9"/>
                  <a:pt x="558" y="9"/>
                  <a:pt x="558" y="9"/>
                </a:cubicBezTo>
                <a:cubicBezTo>
                  <a:pt x="567" y="0"/>
                  <a:pt x="576" y="0"/>
                  <a:pt x="584" y="9"/>
                </a:cubicBezTo>
                <a:cubicBezTo>
                  <a:pt x="593" y="18"/>
                  <a:pt x="593" y="26"/>
                  <a:pt x="584" y="35"/>
                </a:cubicBezTo>
                <a:cubicBezTo>
                  <a:pt x="447" y="172"/>
                  <a:pt x="447" y="172"/>
                  <a:pt x="447" y="172"/>
                </a:cubicBezTo>
                <a:cubicBezTo>
                  <a:pt x="438" y="181"/>
                  <a:pt x="430" y="181"/>
                  <a:pt x="421" y="172"/>
                </a:cubicBezTo>
                <a:cubicBezTo>
                  <a:pt x="292" y="52"/>
                  <a:pt x="292" y="52"/>
                  <a:pt x="292" y="52"/>
                </a:cubicBezTo>
                <a:cubicBezTo>
                  <a:pt x="172" y="172"/>
                  <a:pt x="172" y="172"/>
                  <a:pt x="172" y="172"/>
                </a:cubicBezTo>
                <a:cubicBezTo>
                  <a:pt x="172" y="181"/>
                  <a:pt x="163" y="181"/>
                  <a:pt x="154" y="181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20" name="Freeform 372">
            <a:extLst>
              <a:ext uri="{FF2B5EF4-FFF2-40B4-BE49-F238E27FC236}">
                <a16:creationId xmlns:a16="http://schemas.microsoft.com/office/drawing/2014/main" id="{F1E3C152-BE81-1B4F-9F00-F4629CD9F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719" y="4044625"/>
            <a:ext cx="173432" cy="322777"/>
          </a:xfrm>
          <a:custGeom>
            <a:avLst/>
            <a:gdLst>
              <a:gd name="T0" fmla="*/ 155 w 319"/>
              <a:gd name="T1" fmla="*/ 592 h 593"/>
              <a:gd name="T2" fmla="*/ 155 w 319"/>
              <a:gd name="T3" fmla="*/ 592 h 593"/>
              <a:gd name="T4" fmla="*/ 138 w 319"/>
              <a:gd name="T5" fmla="*/ 575 h 593"/>
              <a:gd name="T6" fmla="*/ 0 w 319"/>
              <a:gd name="T7" fmla="*/ 26 h 593"/>
              <a:gd name="T8" fmla="*/ 17 w 319"/>
              <a:gd name="T9" fmla="*/ 0 h 593"/>
              <a:gd name="T10" fmla="*/ 43 w 319"/>
              <a:gd name="T11" fmla="*/ 17 h 593"/>
              <a:gd name="T12" fmla="*/ 155 w 319"/>
              <a:gd name="T13" fmla="*/ 489 h 593"/>
              <a:gd name="T14" fmla="*/ 275 w 319"/>
              <a:gd name="T15" fmla="*/ 17 h 593"/>
              <a:gd name="T16" fmla="*/ 301 w 319"/>
              <a:gd name="T17" fmla="*/ 0 h 593"/>
              <a:gd name="T18" fmla="*/ 318 w 319"/>
              <a:gd name="T19" fmla="*/ 26 h 593"/>
              <a:gd name="T20" fmla="*/ 181 w 319"/>
              <a:gd name="T21" fmla="*/ 575 h 593"/>
              <a:gd name="T22" fmla="*/ 155 w 319"/>
              <a:gd name="T23" fmla="*/ 592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19" h="593">
                <a:moveTo>
                  <a:pt x="155" y="592"/>
                </a:moveTo>
                <a:lnTo>
                  <a:pt x="155" y="592"/>
                </a:lnTo>
                <a:cubicBezTo>
                  <a:pt x="146" y="592"/>
                  <a:pt x="138" y="592"/>
                  <a:pt x="138" y="575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7"/>
                  <a:pt x="0" y="9"/>
                  <a:pt x="17" y="0"/>
                </a:cubicBezTo>
                <a:cubicBezTo>
                  <a:pt x="26" y="0"/>
                  <a:pt x="35" y="9"/>
                  <a:pt x="43" y="17"/>
                </a:cubicBezTo>
                <a:cubicBezTo>
                  <a:pt x="155" y="489"/>
                  <a:pt x="155" y="489"/>
                  <a:pt x="155" y="489"/>
                </a:cubicBezTo>
                <a:cubicBezTo>
                  <a:pt x="275" y="17"/>
                  <a:pt x="275" y="17"/>
                  <a:pt x="275" y="17"/>
                </a:cubicBezTo>
                <a:cubicBezTo>
                  <a:pt x="275" y="9"/>
                  <a:pt x="293" y="0"/>
                  <a:pt x="301" y="0"/>
                </a:cubicBezTo>
                <a:cubicBezTo>
                  <a:pt x="310" y="9"/>
                  <a:pt x="318" y="17"/>
                  <a:pt x="318" y="26"/>
                </a:cubicBezTo>
                <a:cubicBezTo>
                  <a:pt x="181" y="575"/>
                  <a:pt x="181" y="575"/>
                  <a:pt x="181" y="575"/>
                </a:cubicBezTo>
                <a:cubicBezTo>
                  <a:pt x="172" y="592"/>
                  <a:pt x="164" y="592"/>
                  <a:pt x="155" y="592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21" name="Freeform 373">
            <a:extLst>
              <a:ext uri="{FF2B5EF4-FFF2-40B4-BE49-F238E27FC236}">
                <a16:creationId xmlns:a16="http://schemas.microsoft.com/office/drawing/2014/main" id="{623B3A2D-906D-A04B-B7F9-2B2BE8BE4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375" y="4044625"/>
            <a:ext cx="474530" cy="24088"/>
          </a:xfrm>
          <a:custGeom>
            <a:avLst/>
            <a:gdLst>
              <a:gd name="T0" fmla="*/ 843 w 869"/>
              <a:gd name="T1" fmla="*/ 43 h 44"/>
              <a:gd name="T2" fmla="*/ 843 w 869"/>
              <a:gd name="T3" fmla="*/ 43 h 44"/>
              <a:gd name="T4" fmla="*/ 843 w 869"/>
              <a:gd name="T5" fmla="*/ 43 h 44"/>
              <a:gd name="T6" fmla="*/ 17 w 869"/>
              <a:gd name="T7" fmla="*/ 43 h 44"/>
              <a:gd name="T8" fmla="*/ 0 w 869"/>
              <a:gd name="T9" fmla="*/ 26 h 44"/>
              <a:gd name="T10" fmla="*/ 17 w 869"/>
              <a:gd name="T11" fmla="*/ 0 h 44"/>
              <a:gd name="T12" fmla="*/ 17 w 869"/>
              <a:gd name="T13" fmla="*/ 0 h 44"/>
              <a:gd name="T14" fmla="*/ 843 w 869"/>
              <a:gd name="T15" fmla="*/ 9 h 44"/>
              <a:gd name="T16" fmla="*/ 868 w 869"/>
              <a:gd name="T17" fmla="*/ 26 h 44"/>
              <a:gd name="T18" fmla="*/ 843 w 869"/>
              <a:gd name="T19" fmla="*/ 4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69" h="44">
                <a:moveTo>
                  <a:pt x="843" y="43"/>
                </a:moveTo>
                <a:lnTo>
                  <a:pt x="843" y="43"/>
                </a:lnTo>
                <a:lnTo>
                  <a:pt x="843" y="43"/>
                </a:lnTo>
                <a:cubicBezTo>
                  <a:pt x="17" y="43"/>
                  <a:pt x="17" y="43"/>
                  <a:pt x="17" y="43"/>
                </a:cubicBezTo>
                <a:cubicBezTo>
                  <a:pt x="9" y="43"/>
                  <a:pt x="0" y="34"/>
                  <a:pt x="0" y="26"/>
                </a:cubicBezTo>
                <a:cubicBezTo>
                  <a:pt x="0" y="9"/>
                  <a:pt x="9" y="0"/>
                  <a:pt x="17" y="0"/>
                </a:cubicBezTo>
                <a:lnTo>
                  <a:pt x="17" y="0"/>
                </a:lnTo>
                <a:cubicBezTo>
                  <a:pt x="843" y="9"/>
                  <a:pt x="843" y="9"/>
                  <a:pt x="843" y="9"/>
                </a:cubicBezTo>
                <a:cubicBezTo>
                  <a:pt x="860" y="9"/>
                  <a:pt x="868" y="17"/>
                  <a:pt x="868" y="26"/>
                </a:cubicBezTo>
                <a:cubicBezTo>
                  <a:pt x="868" y="34"/>
                  <a:pt x="860" y="43"/>
                  <a:pt x="843" y="43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23" name="Freeform 375">
            <a:extLst>
              <a:ext uri="{FF2B5EF4-FFF2-40B4-BE49-F238E27FC236}">
                <a16:creationId xmlns:a16="http://schemas.microsoft.com/office/drawing/2014/main" id="{95E77FFD-D7F9-0242-952C-758F9E59E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230" y="5577336"/>
            <a:ext cx="103577" cy="103578"/>
          </a:xfrm>
          <a:custGeom>
            <a:avLst/>
            <a:gdLst>
              <a:gd name="T0" fmla="*/ 163 w 190"/>
              <a:gd name="T1" fmla="*/ 189 h 190"/>
              <a:gd name="T2" fmla="*/ 163 w 190"/>
              <a:gd name="T3" fmla="*/ 189 h 190"/>
              <a:gd name="T4" fmla="*/ 26 w 190"/>
              <a:gd name="T5" fmla="*/ 189 h 190"/>
              <a:gd name="T6" fmla="*/ 0 w 190"/>
              <a:gd name="T7" fmla="*/ 164 h 190"/>
              <a:gd name="T8" fmla="*/ 0 w 190"/>
              <a:gd name="T9" fmla="*/ 26 h 190"/>
              <a:gd name="T10" fmla="*/ 26 w 190"/>
              <a:gd name="T11" fmla="*/ 0 h 190"/>
              <a:gd name="T12" fmla="*/ 163 w 190"/>
              <a:gd name="T13" fmla="*/ 0 h 190"/>
              <a:gd name="T14" fmla="*/ 189 w 190"/>
              <a:gd name="T15" fmla="*/ 26 h 190"/>
              <a:gd name="T16" fmla="*/ 189 w 190"/>
              <a:gd name="T17" fmla="*/ 164 h 190"/>
              <a:gd name="T18" fmla="*/ 163 w 190"/>
              <a:gd name="T19" fmla="*/ 189 h 190"/>
              <a:gd name="T20" fmla="*/ 52 w 190"/>
              <a:gd name="T21" fmla="*/ 138 h 190"/>
              <a:gd name="T22" fmla="*/ 52 w 190"/>
              <a:gd name="T23" fmla="*/ 138 h 190"/>
              <a:gd name="T24" fmla="*/ 138 w 190"/>
              <a:gd name="T25" fmla="*/ 138 h 190"/>
              <a:gd name="T26" fmla="*/ 138 w 190"/>
              <a:gd name="T27" fmla="*/ 52 h 190"/>
              <a:gd name="T28" fmla="*/ 52 w 190"/>
              <a:gd name="T29" fmla="*/ 52 h 190"/>
              <a:gd name="T30" fmla="*/ 52 w 190"/>
              <a:gd name="T31" fmla="*/ 138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90" h="190">
                <a:moveTo>
                  <a:pt x="163" y="189"/>
                </a:moveTo>
                <a:lnTo>
                  <a:pt x="163" y="189"/>
                </a:lnTo>
                <a:cubicBezTo>
                  <a:pt x="26" y="189"/>
                  <a:pt x="26" y="189"/>
                  <a:pt x="26" y="189"/>
                </a:cubicBezTo>
                <a:cubicBezTo>
                  <a:pt x="9" y="189"/>
                  <a:pt x="0" y="181"/>
                  <a:pt x="0" y="16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9"/>
                  <a:pt x="9" y="0"/>
                  <a:pt x="26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181" y="0"/>
                  <a:pt x="189" y="9"/>
                  <a:pt x="189" y="26"/>
                </a:cubicBezTo>
                <a:cubicBezTo>
                  <a:pt x="189" y="164"/>
                  <a:pt x="189" y="164"/>
                  <a:pt x="189" y="164"/>
                </a:cubicBezTo>
                <a:cubicBezTo>
                  <a:pt x="189" y="181"/>
                  <a:pt x="181" y="189"/>
                  <a:pt x="163" y="189"/>
                </a:cubicBezTo>
                <a:close/>
                <a:moveTo>
                  <a:pt x="52" y="138"/>
                </a:moveTo>
                <a:lnTo>
                  <a:pt x="52" y="138"/>
                </a:lnTo>
                <a:cubicBezTo>
                  <a:pt x="138" y="138"/>
                  <a:pt x="138" y="138"/>
                  <a:pt x="138" y="138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52" y="52"/>
                  <a:pt x="52" y="52"/>
                  <a:pt x="52" y="52"/>
                </a:cubicBezTo>
                <a:lnTo>
                  <a:pt x="52" y="1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24" name="Freeform 376">
            <a:extLst>
              <a:ext uri="{FF2B5EF4-FFF2-40B4-BE49-F238E27FC236}">
                <a16:creationId xmlns:a16="http://schemas.microsoft.com/office/drawing/2014/main" id="{AED71C61-FF43-E747-BEC7-ECA58C32B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230" y="5726681"/>
            <a:ext cx="103577" cy="103578"/>
          </a:xfrm>
          <a:custGeom>
            <a:avLst/>
            <a:gdLst>
              <a:gd name="T0" fmla="*/ 163 w 190"/>
              <a:gd name="T1" fmla="*/ 189 h 190"/>
              <a:gd name="T2" fmla="*/ 163 w 190"/>
              <a:gd name="T3" fmla="*/ 189 h 190"/>
              <a:gd name="T4" fmla="*/ 26 w 190"/>
              <a:gd name="T5" fmla="*/ 189 h 190"/>
              <a:gd name="T6" fmla="*/ 0 w 190"/>
              <a:gd name="T7" fmla="*/ 164 h 190"/>
              <a:gd name="T8" fmla="*/ 0 w 190"/>
              <a:gd name="T9" fmla="*/ 26 h 190"/>
              <a:gd name="T10" fmla="*/ 26 w 190"/>
              <a:gd name="T11" fmla="*/ 0 h 190"/>
              <a:gd name="T12" fmla="*/ 163 w 190"/>
              <a:gd name="T13" fmla="*/ 0 h 190"/>
              <a:gd name="T14" fmla="*/ 189 w 190"/>
              <a:gd name="T15" fmla="*/ 26 h 190"/>
              <a:gd name="T16" fmla="*/ 189 w 190"/>
              <a:gd name="T17" fmla="*/ 164 h 190"/>
              <a:gd name="T18" fmla="*/ 163 w 190"/>
              <a:gd name="T19" fmla="*/ 189 h 190"/>
              <a:gd name="T20" fmla="*/ 52 w 190"/>
              <a:gd name="T21" fmla="*/ 138 h 190"/>
              <a:gd name="T22" fmla="*/ 52 w 190"/>
              <a:gd name="T23" fmla="*/ 138 h 190"/>
              <a:gd name="T24" fmla="*/ 138 w 190"/>
              <a:gd name="T25" fmla="*/ 138 h 190"/>
              <a:gd name="T26" fmla="*/ 138 w 190"/>
              <a:gd name="T27" fmla="*/ 52 h 190"/>
              <a:gd name="T28" fmla="*/ 52 w 190"/>
              <a:gd name="T29" fmla="*/ 52 h 190"/>
              <a:gd name="T30" fmla="*/ 52 w 190"/>
              <a:gd name="T31" fmla="*/ 138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90" h="190">
                <a:moveTo>
                  <a:pt x="163" y="189"/>
                </a:moveTo>
                <a:lnTo>
                  <a:pt x="163" y="189"/>
                </a:lnTo>
                <a:cubicBezTo>
                  <a:pt x="26" y="189"/>
                  <a:pt x="26" y="189"/>
                  <a:pt x="26" y="189"/>
                </a:cubicBezTo>
                <a:cubicBezTo>
                  <a:pt x="9" y="189"/>
                  <a:pt x="0" y="181"/>
                  <a:pt x="0" y="16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9"/>
                  <a:pt x="9" y="0"/>
                  <a:pt x="26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181" y="0"/>
                  <a:pt x="189" y="9"/>
                  <a:pt x="189" y="26"/>
                </a:cubicBezTo>
                <a:cubicBezTo>
                  <a:pt x="189" y="164"/>
                  <a:pt x="189" y="164"/>
                  <a:pt x="189" y="164"/>
                </a:cubicBezTo>
                <a:cubicBezTo>
                  <a:pt x="189" y="181"/>
                  <a:pt x="181" y="189"/>
                  <a:pt x="163" y="189"/>
                </a:cubicBezTo>
                <a:close/>
                <a:moveTo>
                  <a:pt x="52" y="138"/>
                </a:moveTo>
                <a:lnTo>
                  <a:pt x="52" y="138"/>
                </a:lnTo>
                <a:cubicBezTo>
                  <a:pt x="138" y="138"/>
                  <a:pt x="138" y="138"/>
                  <a:pt x="138" y="138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52" y="52"/>
                  <a:pt x="52" y="52"/>
                  <a:pt x="52" y="52"/>
                </a:cubicBezTo>
                <a:lnTo>
                  <a:pt x="52" y="1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25" name="Freeform 377">
            <a:extLst>
              <a:ext uri="{FF2B5EF4-FFF2-40B4-BE49-F238E27FC236}">
                <a16:creationId xmlns:a16="http://schemas.microsoft.com/office/drawing/2014/main" id="{F312C815-C419-CA4F-9F84-0FFDFCD69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230" y="5876025"/>
            <a:ext cx="103577" cy="103578"/>
          </a:xfrm>
          <a:custGeom>
            <a:avLst/>
            <a:gdLst>
              <a:gd name="T0" fmla="*/ 163 w 190"/>
              <a:gd name="T1" fmla="*/ 190 h 191"/>
              <a:gd name="T2" fmla="*/ 163 w 190"/>
              <a:gd name="T3" fmla="*/ 190 h 191"/>
              <a:gd name="T4" fmla="*/ 26 w 190"/>
              <a:gd name="T5" fmla="*/ 190 h 191"/>
              <a:gd name="T6" fmla="*/ 0 w 190"/>
              <a:gd name="T7" fmla="*/ 164 h 191"/>
              <a:gd name="T8" fmla="*/ 0 w 190"/>
              <a:gd name="T9" fmla="*/ 26 h 191"/>
              <a:gd name="T10" fmla="*/ 26 w 190"/>
              <a:gd name="T11" fmla="*/ 0 h 191"/>
              <a:gd name="T12" fmla="*/ 163 w 190"/>
              <a:gd name="T13" fmla="*/ 0 h 191"/>
              <a:gd name="T14" fmla="*/ 189 w 190"/>
              <a:gd name="T15" fmla="*/ 26 h 191"/>
              <a:gd name="T16" fmla="*/ 189 w 190"/>
              <a:gd name="T17" fmla="*/ 164 h 191"/>
              <a:gd name="T18" fmla="*/ 163 w 190"/>
              <a:gd name="T19" fmla="*/ 190 h 191"/>
              <a:gd name="T20" fmla="*/ 52 w 190"/>
              <a:gd name="T21" fmla="*/ 138 h 191"/>
              <a:gd name="T22" fmla="*/ 52 w 190"/>
              <a:gd name="T23" fmla="*/ 138 h 191"/>
              <a:gd name="T24" fmla="*/ 138 w 190"/>
              <a:gd name="T25" fmla="*/ 138 h 191"/>
              <a:gd name="T26" fmla="*/ 138 w 190"/>
              <a:gd name="T27" fmla="*/ 52 h 191"/>
              <a:gd name="T28" fmla="*/ 52 w 190"/>
              <a:gd name="T29" fmla="*/ 52 h 191"/>
              <a:gd name="T30" fmla="*/ 52 w 190"/>
              <a:gd name="T31" fmla="*/ 138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90" h="191">
                <a:moveTo>
                  <a:pt x="163" y="190"/>
                </a:moveTo>
                <a:lnTo>
                  <a:pt x="163" y="190"/>
                </a:lnTo>
                <a:cubicBezTo>
                  <a:pt x="26" y="190"/>
                  <a:pt x="26" y="190"/>
                  <a:pt x="26" y="190"/>
                </a:cubicBezTo>
                <a:cubicBezTo>
                  <a:pt x="9" y="190"/>
                  <a:pt x="0" y="181"/>
                  <a:pt x="0" y="16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8"/>
                  <a:pt x="9" y="0"/>
                  <a:pt x="26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181" y="0"/>
                  <a:pt x="189" y="18"/>
                  <a:pt x="189" y="26"/>
                </a:cubicBezTo>
                <a:cubicBezTo>
                  <a:pt x="189" y="164"/>
                  <a:pt x="189" y="164"/>
                  <a:pt x="189" y="164"/>
                </a:cubicBezTo>
                <a:cubicBezTo>
                  <a:pt x="189" y="181"/>
                  <a:pt x="181" y="190"/>
                  <a:pt x="163" y="190"/>
                </a:cubicBezTo>
                <a:close/>
                <a:moveTo>
                  <a:pt x="52" y="138"/>
                </a:moveTo>
                <a:lnTo>
                  <a:pt x="52" y="138"/>
                </a:lnTo>
                <a:cubicBezTo>
                  <a:pt x="138" y="138"/>
                  <a:pt x="138" y="138"/>
                  <a:pt x="138" y="138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52" y="52"/>
                  <a:pt x="52" y="52"/>
                  <a:pt x="52" y="52"/>
                </a:cubicBezTo>
                <a:lnTo>
                  <a:pt x="52" y="13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28" name="Freeform 379">
            <a:extLst>
              <a:ext uri="{FF2B5EF4-FFF2-40B4-BE49-F238E27FC236}">
                <a16:creationId xmlns:a16="http://schemas.microsoft.com/office/drawing/2014/main" id="{9F7DC9F6-E85B-9C43-9B7F-992EBF373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574" y="5765221"/>
            <a:ext cx="183067" cy="28906"/>
          </a:xfrm>
          <a:custGeom>
            <a:avLst/>
            <a:gdLst>
              <a:gd name="T0" fmla="*/ 310 w 336"/>
              <a:gd name="T1" fmla="*/ 52 h 53"/>
              <a:gd name="T2" fmla="*/ 310 w 336"/>
              <a:gd name="T3" fmla="*/ 52 h 53"/>
              <a:gd name="T4" fmla="*/ 26 w 336"/>
              <a:gd name="T5" fmla="*/ 52 h 53"/>
              <a:gd name="T6" fmla="*/ 0 w 336"/>
              <a:gd name="T7" fmla="*/ 26 h 53"/>
              <a:gd name="T8" fmla="*/ 26 w 336"/>
              <a:gd name="T9" fmla="*/ 0 h 53"/>
              <a:gd name="T10" fmla="*/ 310 w 336"/>
              <a:gd name="T11" fmla="*/ 0 h 53"/>
              <a:gd name="T12" fmla="*/ 335 w 336"/>
              <a:gd name="T13" fmla="*/ 26 h 53"/>
              <a:gd name="T14" fmla="*/ 310 w 336"/>
              <a:gd name="T15" fmla="*/ 5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6" h="53">
                <a:moveTo>
                  <a:pt x="310" y="52"/>
                </a:moveTo>
                <a:lnTo>
                  <a:pt x="310" y="52"/>
                </a:lnTo>
                <a:cubicBezTo>
                  <a:pt x="26" y="52"/>
                  <a:pt x="26" y="52"/>
                  <a:pt x="26" y="52"/>
                </a:cubicBezTo>
                <a:cubicBezTo>
                  <a:pt x="17" y="52"/>
                  <a:pt x="0" y="43"/>
                  <a:pt x="0" y="26"/>
                </a:cubicBezTo>
                <a:cubicBezTo>
                  <a:pt x="0" y="9"/>
                  <a:pt x="17" y="0"/>
                  <a:pt x="26" y="0"/>
                </a:cubicBezTo>
                <a:cubicBezTo>
                  <a:pt x="310" y="0"/>
                  <a:pt x="310" y="0"/>
                  <a:pt x="310" y="0"/>
                </a:cubicBezTo>
                <a:cubicBezTo>
                  <a:pt x="318" y="0"/>
                  <a:pt x="335" y="9"/>
                  <a:pt x="335" y="26"/>
                </a:cubicBezTo>
                <a:cubicBezTo>
                  <a:pt x="335" y="43"/>
                  <a:pt x="318" y="52"/>
                  <a:pt x="310" y="52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29" name="Freeform 380">
            <a:extLst>
              <a:ext uri="{FF2B5EF4-FFF2-40B4-BE49-F238E27FC236}">
                <a16:creationId xmlns:a16="http://schemas.microsoft.com/office/drawing/2014/main" id="{CC31C311-FC69-9943-95FA-5839642C4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574" y="5914565"/>
            <a:ext cx="183067" cy="28906"/>
          </a:xfrm>
          <a:custGeom>
            <a:avLst/>
            <a:gdLst>
              <a:gd name="T0" fmla="*/ 310 w 336"/>
              <a:gd name="T1" fmla="*/ 52 h 53"/>
              <a:gd name="T2" fmla="*/ 310 w 336"/>
              <a:gd name="T3" fmla="*/ 52 h 53"/>
              <a:gd name="T4" fmla="*/ 26 w 336"/>
              <a:gd name="T5" fmla="*/ 52 h 53"/>
              <a:gd name="T6" fmla="*/ 0 w 336"/>
              <a:gd name="T7" fmla="*/ 26 h 53"/>
              <a:gd name="T8" fmla="*/ 26 w 336"/>
              <a:gd name="T9" fmla="*/ 0 h 53"/>
              <a:gd name="T10" fmla="*/ 310 w 336"/>
              <a:gd name="T11" fmla="*/ 0 h 53"/>
              <a:gd name="T12" fmla="*/ 335 w 336"/>
              <a:gd name="T13" fmla="*/ 26 h 53"/>
              <a:gd name="T14" fmla="*/ 310 w 336"/>
              <a:gd name="T15" fmla="*/ 52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6" h="53">
                <a:moveTo>
                  <a:pt x="310" y="52"/>
                </a:moveTo>
                <a:lnTo>
                  <a:pt x="310" y="52"/>
                </a:lnTo>
                <a:cubicBezTo>
                  <a:pt x="26" y="52"/>
                  <a:pt x="26" y="52"/>
                  <a:pt x="26" y="52"/>
                </a:cubicBezTo>
                <a:cubicBezTo>
                  <a:pt x="17" y="52"/>
                  <a:pt x="0" y="43"/>
                  <a:pt x="0" y="26"/>
                </a:cubicBezTo>
                <a:cubicBezTo>
                  <a:pt x="0" y="17"/>
                  <a:pt x="17" y="0"/>
                  <a:pt x="26" y="0"/>
                </a:cubicBezTo>
                <a:cubicBezTo>
                  <a:pt x="310" y="0"/>
                  <a:pt x="310" y="0"/>
                  <a:pt x="310" y="0"/>
                </a:cubicBezTo>
                <a:cubicBezTo>
                  <a:pt x="318" y="0"/>
                  <a:pt x="335" y="17"/>
                  <a:pt x="335" y="26"/>
                </a:cubicBezTo>
                <a:cubicBezTo>
                  <a:pt x="335" y="43"/>
                  <a:pt x="318" y="52"/>
                  <a:pt x="310" y="52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0" name="Freeform 381">
            <a:extLst>
              <a:ext uri="{FF2B5EF4-FFF2-40B4-BE49-F238E27FC236}">
                <a16:creationId xmlns:a16="http://schemas.microsoft.com/office/drawing/2014/main" id="{2E43A6AA-968C-9440-86E4-89CEC384C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771" y="5350911"/>
            <a:ext cx="252921" cy="163797"/>
          </a:xfrm>
          <a:custGeom>
            <a:avLst/>
            <a:gdLst>
              <a:gd name="T0" fmla="*/ 430 w 465"/>
              <a:gd name="T1" fmla="*/ 301 h 302"/>
              <a:gd name="T2" fmla="*/ 430 w 465"/>
              <a:gd name="T3" fmla="*/ 301 h 302"/>
              <a:gd name="T4" fmla="*/ 34 w 465"/>
              <a:gd name="T5" fmla="*/ 301 h 302"/>
              <a:gd name="T6" fmla="*/ 0 w 465"/>
              <a:gd name="T7" fmla="*/ 275 h 302"/>
              <a:gd name="T8" fmla="*/ 0 w 465"/>
              <a:gd name="T9" fmla="*/ 163 h 302"/>
              <a:gd name="T10" fmla="*/ 0 w 465"/>
              <a:gd name="T11" fmla="*/ 154 h 302"/>
              <a:gd name="T12" fmla="*/ 94 w 465"/>
              <a:gd name="T13" fmla="*/ 43 h 302"/>
              <a:gd name="T14" fmla="*/ 232 w 465"/>
              <a:gd name="T15" fmla="*/ 0 h 302"/>
              <a:gd name="T16" fmla="*/ 378 w 465"/>
              <a:gd name="T17" fmla="*/ 43 h 302"/>
              <a:gd name="T18" fmla="*/ 464 w 465"/>
              <a:gd name="T19" fmla="*/ 154 h 302"/>
              <a:gd name="T20" fmla="*/ 464 w 465"/>
              <a:gd name="T21" fmla="*/ 163 h 302"/>
              <a:gd name="T22" fmla="*/ 464 w 465"/>
              <a:gd name="T23" fmla="*/ 275 h 302"/>
              <a:gd name="T24" fmla="*/ 430 w 465"/>
              <a:gd name="T25" fmla="*/ 301 h 302"/>
              <a:gd name="T26" fmla="*/ 51 w 465"/>
              <a:gd name="T27" fmla="*/ 249 h 302"/>
              <a:gd name="T28" fmla="*/ 51 w 465"/>
              <a:gd name="T29" fmla="*/ 249 h 302"/>
              <a:gd name="T30" fmla="*/ 412 w 465"/>
              <a:gd name="T31" fmla="*/ 249 h 302"/>
              <a:gd name="T32" fmla="*/ 412 w 465"/>
              <a:gd name="T33" fmla="*/ 163 h 302"/>
              <a:gd name="T34" fmla="*/ 344 w 465"/>
              <a:gd name="T35" fmla="*/ 86 h 302"/>
              <a:gd name="T36" fmla="*/ 232 w 465"/>
              <a:gd name="T37" fmla="*/ 51 h 302"/>
              <a:gd name="T38" fmla="*/ 120 w 465"/>
              <a:gd name="T39" fmla="*/ 86 h 302"/>
              <a:gd name="T40" fmla="*/ 51 w 465"/>
              <a:gd name="T41" fmla="*/ 163 h 302"/>
              <a:gd name="T42" fmla="*/ 51 w 465"/>
              <a:gd name="T43" fmla="*/ 249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65" h="302">
                <a:moveTo>
                  <a:pt x="430" y="301"/>
                </a:moveTo>
                <a:lnTo>
                  <a:pt x="430" y="301"/>
                </a:lnTo>
                <a:cubicBezTo>
                  <a:pt x="34" y="301"/>
                  <a:pt x="34" y="301"/>
                  <a:pt x="34" y="301"/>
                </a:cubicBezTo>
                <a:cubicBezTo>
                  <a:pt x="17" y="301"/>
                  <a:pt x="0" y="292"/>
                  <a:pt x="0" y="275"/>
                </a:cubicBezTo>
                <a:cubicBezTo>
                  <a:pt x="0" y="163"/>
                  <a:pt x="0" y="163"/>
                  <a:pt x="0" y="163"/>
                </a:cubicBezTo>
                <a:cubicBezTo>
                  <a:pt x="0" y="154"/>
                  <a:pt x="0" y="154"/>
                  <a:pt x="0" y="154"/>
                </a:cubicBezTo>
                <a:cubicBezTo>
                  <a:pt x="26" y="103"/>
                  <a:pt x="51" y="68"/>
                  <a:pt x="94" y="43"/>
                </a:cubicBezTo>
                <a:cubicBezTo>
                  <a:pt x="137" y="17"/>
                  <a:pt x="180" y="0"/>
                  <a:pt x="232" y="0"/>
                </a:cubicBezTo>
                <a:cubicBezTo>
                  <a:pt x="283" y="0"/>
                  <a:pt x="335" y="17"/>
                  <a:pt x="378" y="43"/>
                </a:cubicBezTo>
                <a:cubicBezTo>
                  <a:pt x="412" y="68"/>
                  <a:pt x="447" y="103"/>
                  <a:pt x="464" y="154"/>
                </a:cubicBezTo>
                <a:cubicBezTo>
                  <a:pt x="464" y="154"/>
                  <a:pt x="464" y="154"/>
                  <a:pt x="464" y="163"/>
                </a:cubicBezTo>
                <a:cubicBezTo>
                  <a:pt x="464" y="275"/>
                  <a:pt x="464" y="275"/>
                  <a:pt x="464" y="275"/>
                </a:cubicBezTo>
                <a:cubicBezTo>
                  <a:pt x="464" y="292"/>
                  <a:pt x="447" y="301"/>
                  <a:pt x="430" y="301"/>
                </a:cubicBezTo>
                <a:close/>
                <a:moveTo>
                  <a:pt x="51" y="249"/>
                </a:moveTo>
                <a:lnTo>
                  <a:pt x="51" y="249"/>
                </a:lnTo>
                <a:cubicBezTo>
                  <a:pt x="412" y="249"/>
                  <a:pt x="412" y="249"/>
                  <a:pt x="412" y="249"/>
                </a:cubicBezTo>
                <a:cubicBezTo>
                  <a:pt x="412" y="163"/>
                  <a:pt x="412" y="163"/>
                  <a:pt x="412" y="163"/>
                </a:cubicBezTo>
                <a:cubicBezTo>
                  <a:pt x="395" y="137"/>
                  <a:pt x="378" y="103"/>
                  <a:pt x="344" y="86"/>
                </a:cubicBezTo>
                <a:cubicBezTo>
                  <a:pt x="309" y="60"/>
                  <a:pt x="275" y="51"/>
                  <a:pt x="232" y="51"/>
                </a:cubicBezTo>
                <a:cubicBezTo>
                  <a:pt x="198" y="51"/>
                  <a:pt x="154" y="60"/>
                  <a:pt x="120" y="86"/>
                </a:cubicBezTo>
                <a:cubicBezTo>
                  <a:pt x="94" y="103"/>
                  <a:pt x="69" y="137"/>
                  <a:pt x="51" y="163"/>
                </a:cubicBezTo>
                <a:lnTo>
                  <a:pt x="51" y="24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1" name="Freeform 382">
            <a:extLst>
              <a:ext uri="{FF2B5EF4-FFF2-40B4-BE49-F238E27FC236}">
                <a16:creationId xmlns:a16="http://schemas.microsoft.com/office/drawing/2014/main" id="{58B75109-CDE4-CF48-A09E-700929FB4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209" y="2023959"/>
            <a:ext cx="93942" cy="245696"/>
          </a:xfrm>
          <a:custGeom>
            <a:avLst/>
            <a:gdLst>
              <a:gd name="T0" fmla="*/ 18 w 173"/>
              <a:gd name="T1" fmla="*/ 447 h 448"/>
              <a:gd name="T2" fmla="*/ 18 w 173"/>
              <a:gd name="T3" fmla="*/ 447 h 448"/>
              <a:gd name="T4" fmla="*/ 18 w 173"/>
              <a:gd name="T5" fmla="*/ 447 h 448"/>
              <a:gd name="T6" fmla="*/ 0 w 173"/>
              <a:gd name="T7" fmla="*/ 430 h 448"/>
              <a:gd name="T8" fmla="*/ 0 w 173"/>
              <a:gd name="T9" fmla="*/ 163 h 448"/>
              <a:gd name="T10" fmla="*/ 43 w 173"/>
              <a:gd name="T11" fmla="*/ 43 h 448"/>
              <a:gd name="T12" fmla="*/ 155 w 173"/>
              <a:gd name="T13" fmla="*/ 0 h 448"/>
              <a:gd name="T14" fmla="*/ 155 w 173"/>
              <a:gd name="T15" fmla="*/ 0 h 448"/>
              <a:gd name="T16" fmla="*/ 172 w 173"/>
              <a:gd name="T17" fmla="*/ 17 h 448"/>
              <a:gd name="T18" fmla="*/ 155 w 173"/>
              <a:gd name="T19" fmla="*/ 34 h 448"/>
              <a:gd name="T20" fmla="*/ 69 w 173"/>
              <a:gd name="T21" fmla="*/ 69 h 448"/>
              <a:gd name="T22" fmla="*/ 35 w 173"/>
              <a:gd name="T23" fmla="*/ 163 h 448"/>
              <a:gd name="T24" fmla="*/ 35 w 173"/>
              <a:gd name="T25" fmla="*/ 163 h 448"/>
              <a:gd name="T26" fmla="*/ 35 w 173"/>
              <a:gd name="T27" fmla="*/ 430 h 448"/>
              <a:gd name="T28" fmla="*/ 18 w 173"/>
              <a:gd name="T29" fmla="*/ 447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3" h="448">
                <a:moveTo>
                  <a:pt x="18" y="447"/>
                </a:moveTo>
                <a:lnTo>
                  <a:pt x="18" y="447"/>
                </a:lnTo>
                <a:lnTo>
                  <a:pt x="18" y="447"/>
                </a:lnTo>
                <a:cubicBezTo>
                  <a:pt x="9" y="447"/>
                  <a:pt x="0" y="438"/>
                  <a:pt x="0" y="430"/>
                </a:cubicBezTo>
                <a:cubicBezTo>
                  <a:pt x="0" y="163"/>
                  <a:pt x="0" y="163"/>
                  <a:pt x="0" y="163"/>
                </a:cubicBezTo>
                <a:cubicBezTo>
                  <a:pt x="0" y="155"/>
                  <a:pt x="0" y="94"/>
                  <a:pt x="43" y="43"/>
                </a:cubicBezTo>
                <a:cubicBezTo>
                  <a:pt x="69" y="17"/>
                  <a:pt x="103" y="0"/>
                  <a:pt x="155" y="0"/>
                </a:cubicBezTo>
                <a:lnTo>
                  <a:pt x="155" y="0"/>
                </a:lnTo>
                <a:cubicBezTo>
                  <a:pt x="164" y="0"/>
                  <a:pt x="172" y="9"/>
                  <a:pt x="172" y="17"/>
                </a:cubicBezTo>
                <a:cubicBezTo>
                  <a:pt x="172" y="26"/>
                  <a:pt x="164" y="34"/>
                  <a:pt x="155" y="34"/>
                </a:cubicBezTo>
                <a:cubicBezTo>
                  <a:pt x="112" y="34"/>
                  <a:pt x="86" y="51"/>
                  <a:pt x="69" y="69"/>
                </a:cubicBezTo>
                <a:cubicBezTo>
                  <a:pt x="35" y="103"/>
                  <a:pt x="35" y="163"/>
                  <a:pt x="35" y="163"/>
                </a:cubicBezTo>
                <a:lnTo>
                  <a:pt x="35" y="163"/>
                </a:lnTo>
                <a:cubicBezTo>
                  <a:pt x="35" y="430"/>
                  <a:pt x="35" y="430"/>
                  <a:pt x="35" y="430"/>
                </a:cubicBezTo>
                <a:cubicBezTo>
                  <a:pt x="35" y="438"/>
                  <a:pt x="26" y="447"/>
                  <a:pt x="18" y="447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2" name="Freeform 383">
            <a:extLst>
              <a:ext uri="{FF2B5EF4-FFF2-40B4-BE49-F238E27FC236}">
                <a16:creationId xmlns:a16="http://schemas.microsoft.com/office/drawing/2014/main" id="{9F94B61E-74F7-5443-AA4F-8455B2FC7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683" y="2088995"/>
            <a:ext cx="163797" cy="108396"/>
          </a:xfrm>
          <a:custGeom>
            <a:avLst/>
            <a:gdLst>
              <a:gd name="T0" fmla="*/ 284 w 302"/>
              <a:gd name="T1" fmla="*/ 198 h 199"/>
              <a:gd name="T2" fmla="*/ 284 w 302"/>
              <a:gd name="T3" fmla="*/ 198 h 199"/>
              <a:gd name="T4" fmla="*/ 284 w 302"/>
              <a:gd name="T5" fmla="*/ 198 h 199"/>
              <a:gd name="T6" fmla="*/ 266 w 302"/>
              <a:gd name="T7" fmla="*/ 181 h 199"/>
              <a:gd name="T8" fmla="*/ 266 w 302"/>
              <a:gd name="T9" fmla="*/ 181 h 199"/>
              <a:gd name="T10" fmla="*/ 232 w 302"/>
              <a:gd name="T11" fmla="*/ 86 h 199"/>
              <a:gd name="T12" fmla="*/ 146 w 302"/>
              <a:gd name="T13" fmla="*/ 52 h 199"/>
              <a:gd name="T14" fmla="*/ 146 w 302"/>
              <a:gd name="T15" fmla="*/ 52 h 199"/>
              <a:gd name="T16" fmla="*/ 26 w 302"/>
              <a:gd name="T17" fmla="*/ 43 h 199"/>
              <a:gd name="T18" fmla="*/ 0 w 302"/>
              <a:gd name="T19" fmla="*/ 35 h 199"/>
              <a:gd name="T20" fmla="*/ 17 w 302"/>
              <a:gd name="T21" fmla="*/ 9 h 199"/>
              <a:gd name="T22" fmla="*/ 146 w 302"/>
              <a:gd name="T23" fmla="*/ 17 h 199"/>
              <a:gd name="T24" fmla="*/ 258 w 302"/>
              <a:gd name="T25" fmla="*/ 60 h 199"/>
              <a:gd name="T26" fmla="*/ 301 w 302"/>
              <a:gd name="T27" fmla="*/ 181 h 199"/>
              <a:gd name="T28" fmla="*/ 284 w 302"/>
              <a:gd name="T29" fmla="*/ 198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02" h="199">
                <a:moveTo>
                  <a:pt x="284" y="198"/>
                </a:moveTo>
                <a:lnTo>
                  <a:pt x="284" y="198"/>
                </a:lnTo>
                <a:lnTo>
                  <a:pt x="284" y="198"/>
                </a:lnTo>
                <a:cubicBezTo>
                  <a:pt x="275" y="198"/>
                  <a:pt x="266" y="189"/>
                  <a:pt x="266" y="181"/>
                </a:cubicBezTo>
                <a:lnTo>
                  <a:pt x="266" y="181"/>
                </a:lnTo>
                <a:cubicBezTo>
                  <a:pt x="266" y="181"/>
                  <a:pt x="266" y="120"/>
                  <a:pt x="232" y="86"/>
                </a:cubicBezTo>
                <a:cubicBezTo>
                  <a:pt x="215" y="69"/>
                  <a:pt x="180" y="52"/>
                  <a:pt x="146" y="52"/>
                </a:cubicBezTo>
                <a:lnTo>
                  <a:pt x="146" y="52"/>
                </a:lnTo>
                <a:cubicBezTo>
                  <a:pt x="120" y="52"/>
                  <a:pt x="60" y="35"/>
                  <a:pt x="26" y="43"/>
                </a:cubicBezTo>
                <a:cubicBezTo>
                  <a:pt x="17" y="43"/>
                  <a:pt x="0" y="43"/>
                  <a:pt x="0" y="35"/>
                </a:cubicBezTo>
                <a:cubicBezTo>
                  <a:pt x="0" y="17"/>
                  <a:pt x="8" y="9"/>
                  <a:pt x="17" y="9"/>
                </a:cubicBezTo>
                <a:cubicBezTo>
                  <a:pt x="60" y="0"/>
                  <a:pt x="137" y="17"/>
                  <a:pt x="146" y="17"/>
                </a:cubicBezTo>
                <a:cubicBezTo>
                  <a:pt x="197" y="17"/>
                  <a:pt x="232" y="35"/>
                  <a:pt x="258" y="60"/>
                </a:cubicBezTo>
                <a:cubicBezTo>
                  <a:pt x="301" y="112"/>
                  <a:pt x="301" y="181"/>
                  <a:pt x="301" y="181"/>
                </a:cubicBezTo>
                <a:cubicBezTo>
                  <a:pt x="301" y="189"/>
                  <a:pt x="292" y="198"/>
                  <a:pt x="284" y="198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3" name="Freeform 384">
            <a:extLst>
              <a:ext uri="{FF2B5EF4-FFF2-40B4-BE49-F238E27FC236}">
                <a16:creationId xmlns:a16="http://schemas.microsoft.com/office/drawing/2014/main" id="{06F546DC-34BA-7F49-B36A-005DFF3AD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881" y="1966148"/>
            <a:ext cx="240878" cy="132482"/>
          </a:xfrm>
          <a:custGeom>
            <a:avLst/>
            <a:gdLst>
              <a:gd name="T0" fmla="*/ 129 w 439"/>
              <a:gd name="T1" fmla="*/ 240 h 241"/>
              <a:gd name="T2" fmla="*/ 129 w 439"/>
              <a:gd name="T3" fmla="*/ 240 h 241"/>
              <a:gd name="T4" fmla="*/ 86 w 439"/>
              <a:gd name="T5" fmla="*/ 240 h 241"/>
              <a:gd name="T6" fmla="*/ 0 w 439"/>
              <a:gd name="T7" fmla="*/ 120 h 241"/>
              <a:gd name="T8" fmla="*/ 112 w 439"/>
              <a:gd name="T9" fmla="*/ 8 h 241"/>
              <a:gd name="T10" fmla="*/ 301 w 439"/>
              <a:gd name="T11" fmla="*/ 34 h 241"/>
              <a:gd name="T12" fmla="*/ 430 w 439"/>
              <a:gd name="T13" fmla="*/ 129 h 241"/>
              <a:gd name="T14" fmla="*/ 430 w 439"/>
              <a:gd name="T15" fmla="*/ 146 h 241"/>
              <a:gd name="T16" fmla="*/ 412 w 439"/>
              <a:gd name="T17" fmla="*/ 154 h 241"/>
              <a:gd name="T18" fmla="*/ 249 w 439"/>
              <a:gd name="T19" fmla="*/ 172 h 241"/>
              <a:gd name="T20" fmla="*/ 232 w 439"/>
              <a:gd name="T21" fmla="*/ 189 h 241"/>
              <a:gd name="T22" fmla="*/ 146 w 439"/>
              <a:gd name="T23" fmla="*/ 240 h 241"/>
              <a:gd name="T24" fmla="*/ 129 w 439"/>
              <a:gd name="T25" fmla="*/ 240 h 241"/>
              <a:gd name="T26" fmla="*/ 163 w 439"/>
              <a:gd name="T27" fmla="*/ 43 h 241"/>
              <a:gd name="T28" fmla="*/ 163 w 439"/>
              <a:gd name="T29" fmla="*/ 43 h 241"/>
              <a:gd name="T30" fmla="*/ 112 w 439"/>
              <a:gd name="T31" fmla="*/ 43 h 241"/>
              <a:gd name="T32" fmla="*/ 112 w 439"/>
              <a:gd name="T33" fmla="*/ 43 h 241"/>
              <a:gd name="T34" fmla="*/ 34 w 439"/>
              <a:gd name="T35" fmla="*/ 120 h 241"/>
              <a:gd name="T36" fmla="*/ 94 w 439"/>
              <a:gd name="T37" fmla="*/ 206 h 241"/>
              <a:gd name="T38" fmla="*/ 94 w 439"/>
              <a:gd name="T39" fmla="*/ 206 h 241"/>
              <a:gd name="T40" fmla="*/ 146 w 439"/>
              <a:gd name="T41" fmla="*/ 206 h 241"/>
              <a:gd name="T42" fmla="*/ 206 w 439"/>
              <a:gd name="T43" fmla="*/ 163 h 241"/>
              <a:gd name="T44" fmla="*/ 223 w 439"/>
              <a:gd name="T45" fmla="*/ 146 h 241"/>
              <a:gd name="T46" fmla="*/ 369 w 439"/>
              <a:gd name="T47" fmla="*/ 112 h 241"/>
              <a:gd name="T48" fmla="*/ 284 w 439"/>
              <a:gd name="T49" fmla="*/ 68 h 241"/>
              <a:gd name="T50" fmla="*/ 163 w 439"/>
              <a:gd name="T51" fmla="*/ 43 h 241"/>
              <a:gd name="T52" fmla="*/ 112 w 439"/>
              <a:gd name="T53" fmla="*/ 25 h 241"/>
              <a:gd name="T54" fmla="*/ 112 w 439"/>
              <a:gd name="T55" fmla="*/ 25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39" h="241">
                <a:moveTo>
                  <a:pt x="129" y="240"/>
                </a:moveTo>
                <a:lnTo>
                  <a:pt x="129" y="240"/>
                </a:lnTo>
                <a:cubicBezTo>
                  <a:pt x="112" y="240"/>
                  <a:pt x="103" y="240"/>
                  <a:pt x="86" y="240"/>
                </a:cubicBezTo>
                <a:cubicBezTo>
                  <a:pt x="34" y="223"/>
                  <a:pt x="0" y="172"/>
                  <a:pt x="0" y="120"/>
                </a:cubicBezTo>
                <a:cubicBezTo>
                  <a:pt x="0" y="60"/>
                  <a:pt x="51" y="17"/>
                  <a:pt x="112" y="8"/>
                </a:cubicBezTo>
                <a:cubicBezTo>
                  <a:pt x="155" y="0"/>
                  <a:pt x="223" y="0"/>
                  <a:pt x="301" y="34"/>
                </a:cubicBezTo>
                <a:cubicBezTo>
                  <a:pt x="352" y="51"/>
                  <a:pt x="395" y="86"/>
                  <a:pt x="430" y="129"/>
                </a:cubicBezTo>
                <a:cubicBezTo>
                  <a:pt x="438" y="129"/>
                  <a:pt x="438" y="137"/>
                  <a:pt x="430" y="146"/>
                </a:cubicBezTo>
                <a:cubicBezTo>
                  <a:pt x="430" y="154"/>
                  <a:pt x="421" y="154"/>
                  <a:pt x="412" y="154"/>
                </a:cubicBezTo>
                <a:cubicBezTo>
                  <a:pt x="335" y="137"/>
                  <a:pt x="284" y="146"/>
                  <a:pt x="249" y="172"/>
                </a:cubicBezTo>
                <a:cubicBezTo>
                  <a:pt x="240" y="180"/>
                  <a:pt x="232" y="180"/>
                  <a:pt x="232" y="189"/>
                </a:cubicBezTo>
                <a:cubicBezTo>
                  <a:pt x="215" y="206"/>
                  <a:pt x="189" y="232"/>
                  <a:pt x="146" y="240"/>
                </a:cubicBezTo>
                <a:cubicBezTo>
                  <a:pt x="137" y="240"/>
                  <a:pt x="137" y="240"/>
                  <a:pt x="129" y="240"/>
                </a:cubicBezTo>
                <a:close/>
                <a:moveTo>
                  <a:pt x="163" y="43"/>
                </a:moveTo>
                <a:lnTo>
                  <a:pt x="163" y="43"/>
                </a:lnTo>
                <a:cubicBezTo>
                  <a:pt x="146" y="43"/>
                  <a:pt x="129" y="43"/>
                  <a:pt x="112" y="43"/>
                </a:cubicBezTo>
                <a:lnTo>
                  <a:pt x="112" y="43"/>
                </a:lnTo>
                <a:cubicBezTo>
                  <a:pt x="69" y="51"/>
                  <a:pt x="34" y="86"/>
                  <a:pt x="34" y="120"/>
                </a:cubicBezTo>
                <a:cubicBezTo>
                  <a:pt x="34" y="163"/>
                  <a:pt x="60" y="197"/>
                  <a:pt x="94" y="206"/>
                </a:cubicBezTo>
                <a:lnTo>
                  <a:pt x="94" y="206"/>
                </a:lnTo>
                <a:cubicBezTo>
                  <a:pt x="112" y="206"/>
                  <a:pt x="129" y="206"/>
                  <a:pt x="146" y="206"/>
                </a:cubicBezTo>
                <a:cubicBezTo>
                  <a:pt x="172" y="197"/>
                  <a:pt x="189" y="180"/>
                  <a:pt x="206" y="163"/>
                </a:cubicBezTo>
                <a:cubicBezTo>
                  <a:pt x="215" y="163"/>
                  <a:pt x="215" y="154"/>
                  <a:pt x="223" y="146"/>
                </a:cubicBezTo>
                <a:cubicBezTo>
                  <a:pt x="258" y="120"/>
                  <a:pt x="309" y="112"/>
                  <a:pt x="369" y="112"/>
                </a:cubicBezTo>
                <a:cubicBezTo>
                  <a:pt x="344" y="94"/>
                  <a:pt x="318" y="77"/>
                  <a:pt x="284" y="68"/>
                </a:cubicBezTo>
                <a:cubicBezTo>
                  <a:pt x="240" y="43"/>
                  <a:pt x="198" y="43"/>
                  <a:pt x="163" y="43"/>
                </a:cubicBezTo>
                <a:close/>
                <a:moveTo>
                  <a:pt x="112" y="25"/>
                </a:moveTo>
                <a:lnTo>
                  <a:pt x="112" y="2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4" name="Freeform 385">
            <a:extLst>
              <a:ext uri="{FF2B5EF4-FFF2-40B4-BE49-F238E27FC236}">
                <a16:creationId xmlns:a16="http://schemas.microsoft.com/office/drawing/2014/main" id="{442DCAA5-6BA7-8746-84DB-483C228CD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105" y="2050455"/>
            <a:ext cx="187885" cy="113214"/>
          </a:xfrm>
          <a:custGeom>
            <a:avLst/>
            <a:gdLst>
              <a:gd name="T0" fmla="*/ 206 w 345"/>
              <a:gd name="T1" fmla="*/ 35 h 208"/>
              <a:gd name="T2" fmla="*/ 206 w 345"/>
              <a:gd name="T3" fmla="*/ 35 h 208"/>
              <a:gd name="T4" fmla="*/ 240 w 345"/>
              <a:gd name="T5" fmla="*/ 43 h 208"/>
              <a:gd name="T6" fmla="*/ 309 w 345"/>
              <a:gd name="T7" fmla="*/ 104 h 208"/>
              <a:gd name="T8" fmla="*/ 258 w 345"/>
              <a:gd name="T9" fmla="*/ 172 h 208"/>
              <a:gd name="T10" fmla="*/ 232 w 345"/>
              <a:gd name="T11" fmla="*/ 172 h 208"/>
              <a:gd name="T12" fmla="*/ 223 w 345"/>
              <a:gd name="T13" fmla="*/ 172 h 208"/>
              <a:gd name="T14" fmla="*/ 155 w 345"/>
              <a:gd name="T15" fmla="*/ 129 h 208"/>
              <a:gd name="T16" fmla="*/ 86 w 345"/>
              <a:gd name="T17" fmla="*/ 112 h 208"/>
              <a:gd name="T18" fmla="*/ 34 w 345"/>
              <a:gd name="T19" fmla="*/ 112 h 208"/>
              <a:gd name="T20" fmla="*/ 120 w 345"/>
              <a:gd name="T21" fmla="*/ 52 h 208"/>
              <a:gd name="T22" fmla="*/ 206 w 345"/>
              <a:gd name="T23" fmla="*/ 35 h 208"/>
              <a:gd name="T24" fmla="*/ 206 w 345"/>
              <a:gd name="T25" fmla="*/ 0 h 208"/>
              <a:gd name="T26" fmla="*/ 206 w 345"/>
              <a:gd name="T27" fmla="*/ 0 h 208"/>
              <a:gd name="T28" fmla="*/ 206 w 345"/>
              <a:gd name="T29" fmla="*/ 35 h 208"/>
              <a:gd name="T30" fmla="*/ 206 w 345"/>
              <a:gd name="T31" fmla="*/ 0 h 208"/>
              <a:gd name="T32" fmla="*/ 206 w 345"/>
              <a:gd name="T33" fmla="*/ 0 h 208"/>
              <a:gd name="T34" fmla="*/ 103 w 345"/>
              <a:gd name="T35" fmla="*/ 26 h 208"/>
              <a:gd name="T36" fmla="*/ 8 w 345"/>
              <a:gd name="T37" fmla="*/ 95 h 208"/>
              <a:gd name="T38" fmla="*/ 0 w 345"/>
              <a:gd name="T39" fmla="*/ 129 h 208"/>
              <a:gd name="T40" fmla="*/ 34 w 345"/>
              <a:gd name="T41" fmla="*/ 147 h 208"/>
              <a:gd name="T42" fmla="*/ 43 w 345"/>
              <a:gd name="T43" fmla="*/ 147 h 208"/>
              <a:gd name="T44" fmla="*/ 86 w 345"/>
              <a:gd name="T45" fmla="*/ 147 h 208"/>
              <a:gd name="T46" fmla="*/ 137 w 345"/>
              <a:gd name="T47" fmla="*/ 155 h 208"/>
              <a:gd name="T48" fmla="*/ 146 w 345"/>
              <a:gd name="T49" fmla="*/ 172 h 208"/>
              <a:gd name="T50" fmla="*/ 215 w 345"/>
              <a:gd name="T51" fmla="*/ 207 h 208"/>
              <a:gd name="T52" fmla="*/ 232 w 345"/>
              <a:gd name="T53" fmla="*/ 207 h 208"/>
              <a:gd name="T54" fmla="*/ 266 w 345"/>
              <a:gd name="T55" fmla="*/ 207 h 208"/>
              <a:gd name="T56" fmla="*/ 326 w 345"/>
              <a:gd name="T57" fmla="*/ 172 h 208"/>
              <a:gd name="T58" fmla="*/ 344 w 345"/>
              <a:gd name="T59" fmla="*/ 104 h 208"/>
              <a:gd name="T60" fmla="*/ 249 w 345"/>
              <a:gd name="T61" fmla="*/ 9 h 208"/>
              <a:gd name="T62" fmla="*/ 206 w 345"/>
              <a:gd name="T63" fmla="*/ 0 h 208"/>
              <a:gd name="T64" fmla="*/ 206 w 345"/>
              <a:gd name="T65" fmla="*/ 35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45" h="208">
                <a:moveTo>
                  <a:pt x="206" y="35"/>
                </a:moveTo>
                <a:lnTo>
                  <a:pt x="206" y="35"/>
                </a:lnTo>
                <a:cubicBezTo>
                  <a:pt x="223" y="35"/>
                  <a:pt x="232" y="43"/>
                  <a:pt x="240" y="43"/>
                </a:cubicBezTo>
                <a:cubicBezTo>
                  <a:pt x="283" y="43"/>
                  <a:pt x="309" y="69"/>
                  <a:pt x="309" y="104"/>
                </a:cubicBezTo>
                <a:cubicBezTo>
                  <a:pt x="309" y="138"/>
                  <a:pt x="292" y="164"/>
                  <a:pt x="258" y="172"/>
                </a:cubicBezTo>
                <a:cubicBezTo>
                  <a:pt x="249" y="172"/>
                  <a:pt x="240" y="172"/>
                  <a:pt x="232" y="172"/>
                </a:cubicBezTo>
                <a:lnTo>
                  <a:pt x="223" y="172"/>
                </a:lnTo>
                <a:cubicBezTo>
                  <a:pt x="189" y="172"/>
                  <a:pt x="172" y="147"/>
                  <a:pt x="155" y="129"/>
                </a:cubicBezTo>
                <a:cubicBezTo>
                  <a:pt x="146" y="121"/>
                  <a:pt x="120" y="112"/>
                  <a:pt x="86" y="112"/>
                </a:cubicBezTo>
                <a:cubicBezTo>
                  <a:pt x="68" y="112"/>
                  <a:pt x="51" y="112"/>
                  <a:pt x="34" y="112"/>
                </a:cubicBezTo>
                <a:cubicBezTo>
                  <a:pt x="51" y="104"/>
                  <a:pt x="77" y="69"/>
                  <a:pt x="120" y="52"/>
                </a:cubicBezTo>
                <a:cubicBezTo>
                  <a:pt x="155" y="43"/>
                  <a:pt x="180" y="35"/>
                  <a:pt x="206" y="35"/>
                </a:cubicBezTo>
                <a:lnTo>
                  <a:pt x="206" y="0"/>
                </a:lnTo>
                <a:lnTo>
                  <a:pt x="206" y="0"/>
                </a:lnTo>
                <a:cubicBezTo>
                  <a:pt x="206" y="35"/>
                  <a:pt x="206" y="35"/>
                  <a:pt x="206" y="35"/>
                </a:cubicBezTo>
                <a:cubicBezTo>
                  <a:pt x="206" y="0"/>
                  <a:pt x="206" y="0"/>
                  <a:pt x="206" y="0"/>
                </a:cubicBezTo>
                <a:lnTo>
                  <a:pt x="206" y="0"/>
                </a:lnTo>
                <a:cubicBezTo>
                  <a:pt x="172" y="0"/>
                  <a:pt x="137" y="9"/>
                  <a:pt x="103" y="26"/>
                </a:cubicBezTo>
                <a:cubicBezTo>
                  <a:pt x="68" y="35"/>
                  <a:pt x="34" y="61"/>
                  <a:pt x="8" y="95"/>
                </a:cubicBezTo>
                <a:cubicBezTo>
                  <a:pt x="0" y="104"/>
                  <a:pt x="0" y="121"/>
                  <a:pt x="0" y="129"/>
                </a:cubicBezTo>
                <a:cubicBezTo>
                  <a:pt x="8" y="147"/>
                  <a:pt x="17" y="147"/>
                  <a:pt x="34" y="147"/>
                </a:cubicBezTo>
                <a:cubicBezTo>
                  <a:pt x="34" y="147"/>
                  <a:pt x="34" y="147"/>
                  <a:pt x="43" y="147"/>
                </a:cubicBezTo>
                <a:cubicBezTo>
                  <a:pt x="60" y="147"/>
                  <a:pt x="68" y="147"/>
                  <a:pt x="86" y="147"/>
                </a:cubicBezTo>
                <a:cubicBezTo>
                  <a:pt x="111" y="147"/>
                  <a:pt x="120" y="147"/>
                  <a:pt x="137" y="155"/>
                </a:cubicBezTo>
                <a:cubicBezTo>
                  <a:pt x="137" y="164"/>
                  <a:pt x="146" y="164"/>
                  <a:pt x="146" y="172"/>
                </a:cubicBezTo>
                <a:cubicBezTo>
                  <a:pt x="163" y="181"/>
                  <a:pt x="180" y="198"/>
                  <a:pt x="215" y="207"/>
                </a:cubicBezTo>
                <a:cubicBezTo>
                  <a:pt x="223" y="207"/>
                  <a:pt x="223" y="207"/>
                  <a:pt x="232" y="207"/>
                </a:cubicBezTo>
                <a:cubicBezTo>
                  <a:pt x="249" y="207"/>
                  <a:pt x="258" y="207"/>
                  <a:pt x="266" y="207"/>
                </a:cubicBezTo>
                <a:cubicBezTo>
                  <a:pt x="292" y="198"/>
                  <a:pt x="309" y="189"/>
                  <a:pt x="326" y="172"/>
                </a:cubicBezTo>
                <a:cubicBezTo>
                  <a:pt x="335" y="155"/>
                  <a:pt x="344" y="129"/>
                  <a:pt x="344" y="104"/>
                </a:cubicBezTo>
                <a:cubicBezTo>
                  <a:pt x="344" y="52"/>
                  <a:pt x="301" y="9"/>
                  <a:pt x="249" y="9"/>
                </a:cubicBezTo>
                <a:cubicBezTo>
                  <a:pt x="232" y="0"/>
                  <a:pt x="223" y="0"/>
                  <a:pt x="206" y="0"/>
                </a:cubicBezTo>
                <a:lnTo>
                  <a:pt x="206" y="35"/>
                </a:ln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5" name="Freeform 386">
            <a:extLst>
              <a:ext uri="{FF2B5EF4-FFF2-40B4-BE49-F238E27FC236}">
                <a16:creationId xmlns:a16="http://schemas.microsoft.com/office/drawing/2014/main" id="{14D4DC20-C543-BA47-BE4E-97019512F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063" y="2009506"/>
            <a:ext cx="113214" cy="33723"/>
          </a:xfrm>
          <a:custGeom>
            <a:avLst/>
            <a:gdLst>
              <a:gd name="T0" fmla="*/ 26 w 208"/>
              <a:gd name="T1" fmla="*/ 60 h 61"/>
              <a:gd name="T2" fmla="*/ 26 w 208"/>
              <a:gd name="T3" fmla="*/ 60 h 61"/>
              <a:gd name="T4" fmla="*/ 9 w 208"/>
              <a:gd name="T5" fmla="*/ 52 h 61"/>
              <a:gd name="T6" fmla="*/ 18 w 208"/>
              <a:gd name="T7" fmla="*/ 26 h 61"/>
              <a:gd name="T8" fmla="*/ 189 w 208"/>
              <a:gd name="T9" fmla="*/ 0 h 61"/>
              <a:gd name="T10" fmla="*/ 207 w 208"/>
              <a:gd name="T11" fmla="*/ 17 h 61"/>
              <a:gd name="T12" fmla="*/ 189 w 208"/>
              <a:gd name="T13" fmla="*/ 35 h 61"/>
              <a:gd name="T14" fmla="*/ 26 w 208"/>
              <a:gd name="T15" fmla="*/ 6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8" h="61">
                <a:moveTo>
                  <a:pt x="26" y="60"/>
                </a:moveTo>
                <a:lnTo>
                  <a:pt x="26" y="60"/>
                </a:lnTo>
                <a:cubicBezTo>
                  <a:pt x="18" y="60"/>
                  <a:pt x="9" y="60"/>
                  <a:pt x="9" y="52"/>
                </a:cubicBezTo>
                <a:cubicBezTo>
                  <a:pt x="0" y="43"/>
                  <a:pt x="9" y="35"/>
                  <a:pt x="18" y="26"/>
                </a:cubicBezTo>
                <a:cubicBezTo>
                  <a:pt x="26" y="26"/>
                  <a:pt x="129" y="0"/>
                  <a:pt x="189" y="0"/>
                </a:cubicBezTo>
                <a:cubicBezTo>
                  <a:pt x="198" y="0"/>
                  <a:pt x="207" y="9"/>
                  <a:pt x="207" y="17"/>
                </a:cubicBezTo>
                <a:cubicBezTo>
                  <a:pt x="207" y="26"/>
                  <a:pt x="198" y="35"/>
                  <a:pt x="189" y="35"/>
                </a:cubicBezTo>
                <a:cubicBezTo>
                  <a:pt x="138" y="35"/>
                  <a:pt x="26" y="60"/>
                  <a:pt x="26" y="60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6" name="Freeform 387">
            <a:extLst>
              <a:ext uri="{FF2B5EF4-FFF2-40B4-BE49-F238E27FC236}">
                <a16:creationId xmlns:a16="http://schemas.microsoft.com/office/drawing/2014/main" id="{22BDBD2F-7882-1A45-8265-F6DF7E93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604" y="2014324"/>
            <a:ext cx="52993" cy="48176"/>
          </a:xfrm>
          <a:custGeom>
            <a:avLst/>
            <a:gdLst>
              <a:gd name="T0" fmla="*/ 77 w 96"/>
              <a:gd name="T1" fmla="*/ 86 h 87"/>
              <a:gd name="T2" fmla="*/ 77 w 96"/>
              <a:gd name="T3" fmla="*/ 86 h 87"/>
              <a:gd name="T4" fmla="*/ 60 w 96"/>
              <a:gd name="T5" fmla="*/ 77 h 87"/>
              <a:gd name="T6" fmla="*/ 9 w 96"/>
              <a:gd name="T7" fmla="*/ 34 h 87"/>
              <a:gd name="T8" fmla="*/ 9 w 96"/>
              <a:gd name="T9" fmla="*/ 8 h 87"/>
              <a:gd name="T10" fmla="*/ 34 w 96"/>
              <a:gd name="T11" fmla="*/ 8 h 87"/>
              <a:gd name="T12" fmla="*/ 86 w 96"/>
              <a:gd name="T13" fmla="*/ 51 h 87"/>
              <a:gd name="T14" fmla="*/ 86 w 96"/>
              <a:gd name="T15" fmla="*/ 77 h 87"/>
              <a:gd name="T16" fmla="*/ 77 w 96"/>
              <a:gd name="T17" fmla="*/ 86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6" h="87">
                <a:moveTo>
                  <a:pt x="77" y="86"/>
                </a:moveTo>
                <a:lnTo>
                  <a:pt x="77" y="86"/>
                </a:lnTo>
                <a:cubicBezTo>
                  <a:pt x="69" y="86"/>
                  <a:pt x="69" y="86"/>
                  <a:pt x="60" y="77"/>
                </a:cubicBezTo>
                <a:cubicBezTo>
                  <a:pt x="9" y="34"/>
                  <a:pt x="9" y="34"/>
                  <a:pt x="9" y="34"/>
                </a:cubicBezTo>
                <a:cubicBezTo>
                  <a:pt x="0" y="26"/>
                  <a:pt x="0" y="17"/>
                  <a:pt x="9" y="8"/>
                </a:cubicBezTo>
                <a:cubicBezTo>
                  <a:pt x="17" y="0"/>
                  <a:pt x="26" y="0"/>
                  <a:pt x="34" y="8"/>
                </a:cubicBezTo>
                <a:cubicBezTo>
                  <a:pt x="86" y="51"/>
                  <a:pt x="86" y="51"/>
                  <a:pt x="86" y="51"/>
                </a:cubicBezTo>
                <a:cubicBezTo>
                  <a:pt x="95" y="60"/>
                  <a:pt x="95" y="68"/>
                  <a:pt x="86" y="77"/>
                </a:cubicBezTo>
                <a:cubicBezTo>
                  <a:pt x="86" y="86"/>
                  <a:pt x="77" y="86"/>
                  <a:pt x="77" y="86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7" name="Freeform 388">
            <a:extLst>
              <a:ext uri="{FF2B5EF4-FFF2-40B4-BE49-F238E27FC236}">
                <a16:creationId xmlns:a16="http://schemas.microsoft.com/office/drawing/2014/main" id="{C8F33EC5-AE2A-4246-AC7B-8D9637769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76" y="2173303"/>
            <a:ext cx="549202" cy="445623"/>
          </a:xfrm>
          <a:custGeom>
            <a:avLst/>
            <a:gdLst>
              <a:gd name="T0" fmla="*/ 782 w 1007"/>
              <a:gd name="T1" fmla="*/ 816 h 817"/>
              <a:gd name="T2" fmla="*/ 696 w 1007"/>
              <a:gd name="T3" fmla="*/ 756 h 817"/>
              <a:gd name="T4" fmla="*/ 679 w 1007"/>
              <a:gd name="T5" fmla="*/ 653 h 817"/>
              <a:gd name="T6" fmla="*/ 533 w 1007"/>
              <a:gd name="T7" fmla="*/ 670 h 817"/>
              <a:gd name="T8" fmla="*/ 413 w 1007"/>
              <a:gd name="T9" fmla="*/ 739 h 817"/>
              <a:gd name="T10" fmla="*/ 249 w 1007"/>
              <a:gd name="T11" fmla="*/ 756 h 817"/>
              <a:gd name="T12" fmla="*/ 172 w 1007"/>
              <a:gd name="T13" fmla="*/ 550 h 817"/>
              <a:gd name="T14" fmla="*/ 51 w 1007"/>
              <a:gd name="T15" fmla="*/ 481 h 817"/>
              <a:gd name="T16" fmla="*/ 0 w 1007"/>
              <a:gd name="T17" fmla="*/ 421 h 817"/>
              <a:gd name="T18" fmla="*/ 51 w 1007"/>
              <a:gd name="T19" fmla="*/ 275 h 817"/>
              <a:gd name="T20" fmla="*/ 172 w 1007"/>
              <a:gd name="T21" fmla="*/ 137 h 817"/>
              <a:gd name="T22" fmla="*/ 120 w 1007"/>
              <a:gd name="T23" fmla="*/ 17 h 817"/>
              <a:gd name="T24" fmla="*/ 309 w 1007"/>
              <a:gd name="T25" fmla="*/ 34 h 817"/>
              <a:gd name="T26" fmla="*/ 533 w 1007"/>
              <a:gd name="T27" fmla="*/ 43 h 817"/>
              <a:gd name="T28" fmla="*/ 1006 w 1007"/>
              <a:gd name="T29" fmla="*/ 369 h 817"/>
              <a:gd name="T30" fmla="*/ 937 w 1007"/>
              <a:gd name="T31" fmla="*/ 550 h 817"/>
              <a:gd name="T32" fmla="*/ 868 w 1007"/>
              <a:gd name="T33" fmla="*/ 696 h 817"/>
              <a:gd name="T34" fmla="*/ 782 w 1007"/>
              <a:gd name="T35" fmla="*/ 816 h 817"/>
              <a:gd name="T36" fmla="*/ 748 w 1007"/>
              <a:gd name="T37" fmla="*/ 748 h 817"/>
              <a:gd name="T38" fmla="*/ 808 w 1007"/>
              <a:gd name="T39" fmla="*/ 731 h 817"/>
              <a:gd name="T40" fmla="*/ 825 w 1007"/>
              <a:gd name="T41" fmla="*/ 636 h 817"/>
              <a:gd name="T42" fmla="*/ 911 w 1007"/>
              <a:gd name="T43" fmla="*/ 490 h 817"/>
              <a:gd name="T44" fmla="*/ 834 w 1007"/>
              <a:gd name="T45" fmla="*/ 180 h 817"/>
              <a:gd name="T46" fmla="*/ 481 w 1007"/>
              <a:gd name="T47" fmla="*/ 103 h 817"/>
              <a:gd name="T48" fmla="*/ 292 w 1007"/>
              <a:gd name="T49" fmla="*/ 86 h 817"/>
              <a:gd name="T50" fmla="*/ 232 w 1007"/>
              <a:gd name="T51" fmla="*/ 129 h 817"/>
              <a:gd name="T52" fmla="*/ 232 w 1007"/>
              <a:gd name="T53" fmla="*/ 163 h 817"/>
              <a:gd name="T54" fmla="*/ 60 w 1007"/>
              <a:gd name="T55" fmla="*/ 327 h 817"/>
              <a:gd name="T56" fmla="*/ 51 w 1007"/>
              <a:gd name="T57" fmla="*/ 421 h 817"/>
              <a:gd name="T58" fmla="*/ 69 w 1007"/>
              <a:gd name="T59" fmla="*/ 430 h 817"/>
              <a:gd name="T60" fmla="*/ 189 w 1007"/>
              <a:gd name="T61" fmla="*/ 507 h 817"/>
              <a:gd name="T62" fmla="*/ 301 w 1007"/>
              <a:gd name="T63" fmla="*/ 739 h 817"/>
              <a:gd name="T64" fmla="*/ 352 w 1007"/>
              <a:gd name="T65" fmla="*/ 739 h 817"/>
              <a:gd name="T66" fmla="*/ 370 w 1007"/>
              <a:gd name="T67" fmla="*/ 602 h 817"/>
              <a:gd name="T68" fmla="*/ 533 w 1007"/>
              <a:gd name="T69" fmla="*/ 610 h 817"/>
              <a:gd name="T70" fmla="*/ 705 w 1007"/>
              <a:gd name="T71" fmla="*/ 602 h 817"/>
              <a:gd name="T72" fmla="*/ 739 w 1007"/>
              <a:gd name="T73" fmla="*/ 679 h 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07" h="817">
                <a:moveTo>
                  <a:pt x="782" y="816"/>
                </a:moveTo>
                <a:lnTo>
                  <a:pt x="782" y="816"/>
                </a:lnTo>
                <a:cubicBezTo>
                  <a:pt x="739" y="816"/>
                  <a:pt x="705" y="791"/>
                  <a:pt x="696" y="756"/>
                </a:cubicBezTo>
                <a:lnTo>
                  <a:pt x="696" y="756"/>
                </a:lnTo>
                <a:cubicBezTo>
                  <a:pt x="688" y="679"/>
                  <a:pt x="688" y="679"/>
                  <a:pt x="688" y="679"/>
                </a:cubicBezTo>
                <a:cubicBezTo>
                  <a:pt x="688" y="670"/>
                  <a:pt x="688" y="662"/>
                  <a:pt x="679" y="653"/>
                </a:cubicBezTo>
                <a:cubicBezTo>
                  <a:pt x="670" y="653"/>
                  <a:pt x="670" y="653"/>
                  <a:pt x="670" y="653"/>
                </a:cubicBezTo>
                <a:cubicBezTo>
                  <a:pt x="627" y="662"/>
                  <a:pt x="585" y="670"/>
                  <a:pt x="533" y="670"/>
                </a:cubicBezTo>
                <a:cubicBezTo>
                  <a:pt x="490" y="670"/>
                  <a:pt x="447" y="662"/>
                  <a:pt x="413" y="653"/>
                </a:cubicBezTo>
                <a:cubicBezTo>
                  <a:pt x="413" y="739"/>
                  <a:pt x="413" y="739"/>
                  <a:pt x="413" y="739"/>
                </a:cubicBezTo>
                <a:cubicBezTo>
                  <a:pt x="413" y="782"/>
                  <a:pt x="370" y="816"/>
                  <a:pt x="327" y="816"/>
                </a:cubicBezTo>
                <a:cubicBezTo>
                  <a:pt x="292" y="816"/>
                  <a:pt x="258" y="791"/>
                  <a:pt x="249" y="756"/>
                </a:cubicBezTo>
                <a:cubicBezTo>
                  <a:pt x="206" y="567"/>
                  <a:pt x="206" y="567"/>
                  <a:pt x="206" y="567"/>
                </a:cubicBezTo>
                <a:cubicBezTo>
                  <a:pt x="206" y="567"/>
                  <a:pt x="180" y="559"/>
                  <a:pt x="172" y="550"/>
                </a:cubicBezTo>
                <a:cubicBezTo>
                  <a:pt x="155" y="550"/>
                  <a:pt x="129" y="541"/>
                  <a:pt x="112" y="524"/>
                </a:cubicBezTo>
                <a:cubicBezTo>
                  <a:pt x="95" y="498"/>
                  <a:pt x="69" y="490"/>
                  <a:pt x="51" y="481"/>
                </a:cubicBezTo>
                <a:cubicBezTo>
                  <a:pt x="43" y="481"/>
                  <a:pt x="34" y="473"/>
                  <a:pt x="34" y="473"/>
                </a:cubicBezTo>
                <a:cubicBezTo>
                  <a:pt x="9" y="464"/>
                  <a:pt x="0" y="447"/>
                  <a:pt x="0" y="421"/>
                </a:cubicBezTo>
                <a:cubicBezTo>
                  <a:pt x="0" y="327"/>
                  <a:pt x="0" y="327"/>
                  <a:pt x="0" y="327"/>
                </a:cubicBezTo>
                <a:cubicBezTo>
                  <a:pt x="0" y="301"/>
                  <a:pt x="26" y="275"/>
                  <a:pt x="51" y="275"/>
                </a:cubicBezTo>
                <a:cubicBezTo>
                  <a:pt x="69" y="266"/>
                  <a:pt x="77" y="258"/>
                  <a:pt x="103" y="223"/>
                </a:cubicBezTo>
                <a:cubicBezTo>
                  <a:pt x="120" y="206"/>
                  <a:pt x="138" y="172"/>
                  <a:pt x="172" y="137"/>
                </a:cubicBezTo>
                <a:cubicBezTo>
                  <a:pt x="120" y="69"/>
                  <a:pt x="120" y="69"/>
                  <a:pt x="120" y="69"/>
                </a:cubicBezTo>
                <a:cubicBezTo>
                  <a:pt x="103" y="51"/>
                  <a:pt x="103" y="34"/>
                  <a:pt x="120" y="17"/>
                </a:cubicBezTo>
                <a:cubicBezTo>
                  <a:pt x="129" y="9"/>
                  <a:pt x="146" y="0"/>
                  <a:pt x="163" y="0"/>
                </a:cubicBezTo>
                <a:cubicBezTo>
                  <a:pt x="206" y="9"/>
                  <a:pt x="292" y="34"/>
                  <a:pt x="309" y="34"/>
                </a:cubicBezTo>
                <a:cubicBezTo>
                  <a:pt x="335" y="51"/>
                  <a:pt x="430" y="51"/>
                  <a:pt x="473" y="51"/>
                </a:cubicBezTo>
                <a:cubicBezTo>
                  <a:pt x="498" y="43"/>
                  <a:pt x="516" y="43"/>
                  <a:pt x="533" y="43"/>
                </a:cubicBezTo>
                <a:cubicBezTo>
                  <a:pt x="662" y="43"/>
                  <a:pt x="774" y="77"/>
                  <a:pt x="868" y="137"/>
                </a:cubicBezTo>
                <a:cubicBezTo>
                  <a:pt x="954" y="198"/>
                  <a:pt x="1006" y="284"/>
                  <a:pt x="1006" y="369"/>
                </a:cubicBezTo>
                <a:cubicBezTo>
                  <a:pt x="1006" y="421"/>
                  <a:pt x="989" y="473"/>
                  <a:pt x="954" y="524"/>
                </a:cubicBezTo>
                <a:cubicBezTo>
                  <a:pt x="945" y="533"/>
                  <a:pt x="945" y="541"/>
                  <a:pt x="937" y="550"/>
                </a:cubicBezTo>
                <a:cubicBezTo>
                  <a:pt x="911" y="584"/>
                  <a:pt x="894" y="602"/>
                  <a:pt x="877" y="644"/>
                </a:cubicBezTo>
                <a:cubicBezTo>
                  <a:pt x="877" y="662"/>
                  <a:pt x="868" y="679"/>
                  <a:pt x="868" y="696"/>
                </a:cubicBezTo>
                <a:cubicBezTo>
                  <a:pt x="868" y="705"/>
                  <a:pt x="860" y="713"/>
                  <a:pt x="860" y="739"/>
                </a:cubicBezTo>
                <a:cubicBezTo>
                  <a:pt x="860" y="782"/>
                  <a:pt x="825" y="816"/>
                  <a:pt x="782" y="816"/>
                </a:cubicBezTo>
                <a:close/>
                <a:moveTo>
                  <a:pt x="748" y="748"/>
                </a:moveTo>
                <a:lnTo>
                  <a:pt x="748" y="748"/>
                </a:lnTo>
                <a:cubicBezTo>
                  <a:pt x="756" y="756"/>
                  <a:pt x="765" y="765"/>
                  <a:pt x="782" y="765"/>
                </a:cubicBezTo>
                <a:cubicBezTo>
                  <a:pt x="791" y="765"/>
                  <a:pt x="808" y="748"/>
                  <a:pt x="808" y="731"/>
                </a:cubicBezTo>
                <a:cubicBezTo>
                  <a:pt x="808" y="713"/>
                  <a:pt x="808" y="705"/>
                  <a:pt x="817" y="687"/>
                </a:cubicBezTo>
                <a:cubicBezTo>
                  <a:pt x="817" y="670"/>
                  <a:pt x="825" y="653"/>
                  <a:pt x="825" y="636"/>
                </a:cubicBezTo>
                <a:cubicBezTo>
                  <a:pt x="842" y="576"/>
                  <a:pt x="868" y="550"/>
                  <a:pt x="894" y="515"/>
                </a:cubicBezTo>
                <a:cubicBezTo>
                  <a:pt x="903" y="507"/>
                  <a:pt x="903" y="498"/>
                  <a:pt x="911" y="490"/>
                </a:cubicBezTo>
                <a:cubicBezTo>
                  <a:pt x="937" y="456"/>
                  <a:pt x="954" y="412"/>
                  <a:pt x="954" y="369"/>
                </a:cubicBezTo>
                <a:cubicBezTo>
                  <a:pt x="954" y="301"/>
                  <a:pt x="911" y="232"/>
                  <a:pt x="834" y="180"/>
                </a:cubicBezTo>
                <a:cubicBezTo>
                  <a:pt x="756" y="129"/>
                  <a:pt x="653" y="94"/>
                  <a:pt x="533" y="94"/>
                </a:cubicBezTo>
                <a:cubicBezTo>
                  <a:pt x="516" y="94"/>
                  <a:pt x="498" y="103"/>
                  <a:pt x="481" y="103"/>
                </a:cubicBezTo>
                <a:lnTo>
                  <a:pt x="481" y="103"/>
                </a:lnTo>
                <a:cubicBezTo>
                  <a:pt x="464" y="103"/>
                  <a:pt x="335" y="103"/>
                  <a:pt x="292" y="86"/>
                </a:cubicBezTo>
                <a:cubicBezTo>
                  <a:pt x="275" y="86"/>
                  <a:pt x="223" y="69"/>
                  <a:pt x="180" y="60"/>
                </a:cubicBezTo>
                <a:cubicBezTo>
                  <a:pt x="232" y="129"/>
                  <a:pt x="232" y="129"/>
                  <a:pt x="232" y="129"/>
                </a:cubicBezTo>
                <a:cubicBezTo>
                  <a:pt x="241" y="129"/>
                  <a:pt x="241" y="137"/>
                  <a:pt x="241" y="146"/>
                </a:cubicBezTo>
                <a:cubicBezTo>
                  <a:pt x="241" y="155"/>
                  <a:pt x="232" y="163"/>
                  <a:pt x="232" y="163"/>
                </a:cubicBezTo>
                <a:cubicBezTo>
                  <a:pt x="189" y="198"/>
                  <a:pt x="163" y="232"/>
                  <a:pt x="146" y="258"/>
                </a:cubicBezTo>
                <a:cubicBezTo>
                  <a:pt x="120" y="292"/>
                  <a:pt x="95" y="318"/>
                  <a:pt x="60" y="327"/>
                </a:cubicBezTo>
                <a:cubicBezTo>
                  <a:pt x="51" y="327"/>
                  <a:pt x="51" y="327"/>
                  <a:pt x="51" y="327"/>
                </a:cubicBezTo>
                <a:cubicBezTo>
                  <a:pt x="51" y="421"/>
                  <a:pt x="51" y="421"/>
                  <a:pt x="51" y="421"/>
                </a:cubicBezTo>
                <a:lnTo>
                  <a:pt x="51" y="421"/>
                </a:lnTo>
                <a:cubicBezTo>
                  <a:pt x="60" y="430"/>
                  <a:pt x="60" y="430"/>
                  <a:pt x="69" y="430"/>
                </a:cubicBezTo>
                <a:cubicBezTo>
                  <a:pt x="95" y="438"/>
                  <a:pt x="129" y="456"/>
                  <a:pt x="155" y="490"/>
                </a:cubicBezTo>
                <a:cubicBezTo>
                  <a:pt x="155" y="490"/>
                  <a:pt x="180" y="498"/>
                  <a:pt x="189" y="507"/>
                </a:cubicBezTo>
                <a:cubicBezTo>
                  <a:pt x="223" y="515"/>
                  <a:pt x="258" y="524"/>
                  <a:pt x="258" y="559"/>
                </a:cubicBezTo>
                <a:cubicBezTo>
                  <a:pt x="301" y="739"/>
                  <a:pt x="301" y="739"/>
                  <a:pt x="301" y="739"/>
                </a:cubicBezTo>
                <a:cubicBezTo>
                  <a:pt x="309" y="756"/>
                  <a:pt x="318" y="765"/>
                  <a:pt x="327" y="765"/>
                </a:cubicBezTo>
                <a:cubicBezTo>
                  <a:pt x="344" y="765"/>
                  <a:pt x="352" y="748"/>
                  <a:pt x="352" y="739"/>
                </a:cubicBezTo>
                <a:cubicBezTo>
                  <a:pt x="352" y="619"/>
                  <a:pt x="352" y="619"/>
                  <a:pt x="352" y="619"/>
                </a:cubicBezTo>
                <a:cubicBezTo>
                  <a:pt x="352" y="610"/>
                  <a:pt x="361" y="610"/>
                  <a:pt x="370" y="602"/>
                </a:cubicBezTo>
                <a:cubicBezTo>
                  <a:pt x="370" y="593"/>
                  <a:pt x="378" y="593"/>
                  <a:pt x="387" y="593"/>
                </a:cubicBezTo>
                <a:cubicBezTo>
                  <a:pt x="438" y="610"/>
                  <a:pt x="481" y="610"/>
                  <a:pt x="533" y="610"/>
                </a:cubicBezTo>
                <a:cubicBezTo>
                  <a:pt x="585" y="610"/>
                  <a:pt x="636" y="610"/>
                  <a:pt x="679" y="602"/>
                </a:cubicBezTo>
                <a:cubicBezTo>
                  <a:pt x="688" y="593"/>
                  <a:pt x="696" y="602"/>
                  <a:pt x="705" y="602"/>
                </a:cubicBezTo>
                <a:cubicBezTo>
                  <a:pt x="722" y="619"/>
                  <a:pt x="722" y="619"/>
                  <a:pt x="722" y="619"/>
                </a:cubicBezTo>
                <a:cubicBezTo>
                  <a:pt x="731" y="636"/>
                  <a:pt x="739" y="653"/>
                  <a:pt x="739" y="679"/>
                </a:cubicBezTo>
                <a:lnTo>
                  <a:pt x="748" y="74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8" name="Freeform 389">
            <a:extLst>
              <a:ext uri="{FF2B5EF4-FFF2-40B4-BE49-F238E27FC236}">
                <a16:creationId xmlns:a16="http://schemas.microsoft.com/office/drawing/2014/main" id="{DE1CE7CF-C282-4841-B26A-F282CD5EF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729" y="2247975"/>
            <a:ext cx="127665" cy="84308"/>
          </a:xfrm>
          <a:custGeom>
            <a:avLst/>
            <a:gdLst>
              <a:gd name="T0" fmla="*/ 26 w 234"/>
              <a:gd name="T1" fmla="*/ 155 h 156"/>
              <a:gd name="T2" fmla="*/ 26 w 234"/>
              <a:gd name="T3" fmla="*/ 155 h 156"/>
              <a:gd name="T4" fmla="*/ 9 w 234"/>
              <a:gd name="T5" fmla="*/ 147 h 156"/>
              <a:gd name="T6" fmla="*/ 17 w 234"/>
              <a:gd name="T7" fmla="*/ 121 h 156"/>
              <a:gd name="T8" fmla="*/ 78 w 234"/>
              <a:gd name="T9" fmla="*/ 95 h 156"/>
              <a:gd name="T10" fmla="*/ 61 w 234"/>
              <a:gd name="T11" fmla="*/ 78 h 156"/>
              <a:gd name="T12" fmla="*/ 61 w 234"/>
              <a:gd name="T13" fmla="*/ 26 h 156"/>
              <a:gd name="T14" fmla="*/ 112 w 234"/>
              <a:gd name="T15" fmla="*/ 0 h 156"/>
              <a:gd name="T16" fmla="*/ 155 w 234"/>
              <a:gd name="T17" fmla="*/ 26 h 156"/>
              <a:gd name="T18" fmla="*/ 155 w 234"/>
              <a:gd name="T19" fmla="*/ 69 h 156"/>
              <a:gd name="T20" fmla="*/ 207 w 234"/>
              <a:gd name="T21" fmla="*/ 61 h 156"/>
              <a:gd name="T22" fmla="*/ 233 w 234"/>
              <a:gd name="T23" fmla="*/ 78 h 156"/>
              <a:gd name="T24" fmla="*/ 215 w 234"/>
              <a:gd name="T25" fmla="*/ 95 h 156"/>
              <a:gd name="T26" fmla="*/ 155 w 234"/>
              <a:gd name="T27" fmla="*/ 103 h 156"/>
              <a:gd name="T28" fmla="*/ 129 w 234"/>
              <a:gd name="T29" fmla="*/ 103 h 156"/>
              <a:gd name="T30" fmla="*/ 78 w 234"/>
              <a:gd name="T31" fmla="*/ 138 h 156"/>
              <a:gd name="T32" fmla="*/ 26 w 234"/>
              <a:gd name="T33" fmla="*/ 155 h 156"/>
              <a:gd name="T34" fmla="*/ 104 w 234"/>
              <a:gd name="T35" fmla="*/ 35 h 156"/>
              <a:gd name="T36" fmla="*/ 104 w 234"/>
              <a:gd name="T37" fmla="*/ 35 h 156"/>
              <a:gd name="T38" fmla="*/ 104 w 234"/>
              <a:gd name="T39" fmla="*/ 35 h 156"/>
              <a:gd name="T40" fmla="*/ 95 w 234"/>
              <a:gd name="T41" fmla="*/ 43 h 156"/>
              <a:gd name="T42" fmla="*/ 86 w 234"/>
              <a:gd name="T43" fmla="*/ 61 h 156"/>
              <a:gd name="T44" fmla="*/ 112 w 234"/>
              <a:gd name="T45" fmla="*/ 69 h 156"/>
              <a:gd name="T46" fmla="*/ 121 w 234"/>
              <a:gd name="T47" fmla="*/ 61 h 156"/>
              <a:gd name="T48" fmla="*/ 121 w 234"/>
              <a:gd name="T49" fmla="*/ 43 h 156"/>
              <a:gd name="T50" fmla="*/ 104 w 234"/>
              <a:gd name="T51" fmla="*/ 35 h 156"/>
              <a:gd name="T52" fmla="*/ 121 w 234"/>
              <a:gd name="T53" fmla="*/ 43 h 156"/>
              <a:gd name="T54" fmla="*/ 121 w 234"/>
              <a:gd name="T55" fmla="*/ 43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4" h="156">
                <a:moveTo>
                  <a:pt x="26" y="155"/>
                </a:moveTo>
                <a:lnTo>
                  <a:pt x="26" y="155"/>
                </a:lnTo>
                <a:cubicBezTo>
                  <a:pt x="17" y="155"/>
                  <a:pt x="9" y="147"/>
                  <a:pt x="9" y="147"/>
                </a:cubicBezTo>
                <a:cubicBezTo>
                  <a:pt x="0" y="129"/>
                  <a:pt x="9" y="121"/>
                  <a:pt x="17" y="121"/>
                </a:cubicBezTo>
                <a:cubicBezTo>
                  <a:pt x="35" y="121"/>
                  <a:pt x="61" y="112"/>
                  <a:pt x="78" y="95"/>
                </a:cubicBezTo>
                <a:cubicBezTo>
                  <a:pt x="69" y="95"/>
                  <a:pt x="69" y="86"/>
                  <a:pt x="61" y="78"/>
                </a:cubicBezTo>
                <a:cubicBezTo>
                  <a:pt x="52" y="69"/>
                  <a:pt x="52" y="52"/>
                  <a:pt x="61" y="26"/>
                </a:cubicBezTo>
                <a:cubicBezTo>
                  <a:pt x="69" y="9"/>
                  <a:pt x="86" y="0"/>
                  <a:pt x="112" y="0"/>
                </a:cubicBezTo>
                <a:cubicBezTo>
                  <a:pt x="129" y="0"/>
                  <a:pt x="146" y="9"/>
                  <a:pt x="155" y="26"/>
                </a:cubicBezTo>
                <a:cubicBezTo>
                  <a:pt x="164" y="43"/>
                  <a:pt x="155" y="61"/>
                  <a:pt x="155" y="69"/>
                </a:cubicBezTo>
                <a:cubicBezTo>
                  <a:pt x="172" y="69"/>
                  <a:pt x="189" y="69"/>
                  <a:pt x="207" y="61"/>
                </a:cubicBezTo>
                <a:cubicBezTo>
                  <a:pt x="215" y="61"/>
                  <a:pt x="224" y="69"/>
                  <a:pt x="233" y="78"/>
                </a:cubicBezTo>
                <a:cubicBezTo>
                  <a:pt x="233" y="86"/>
                  <a:pt x="224" y="95"/>
                  <a:pt x="215" y="95"/>
                </a:cubicBezTo>
                <a:cubicBezTo>
                  <a:pt x="215" y="95"/>
                  <a:pt x="189" y="103"/>
                  <a:pt x="155" y="103"/>
                </a:cubicBezTo>
                <a:cubicBezTo>
                  <a:pt x="146" y="103"/>
                  <a:pt x="138" y="103"/>
                  <a:pt x="129" y="103"/>
                </a:cubicBezTo>
                <a:cubicBezTo>
                  <a:pt x="112" y="112"/>
                  <a:pt x="95" y="129"/>
                  <a:pt x="78" y="138"/>
                </a:cubicBezTo>
                <a:cubicBezTo>
                  <a:pt x="52" y="147"/>
                  <a:pt x="26" y="155"/>
                  <a:pt x="26" y="155"/>
                </a:cubicBezTo>
                <a:close/>
                <a:moveTo>
                  <a:pt x="104" y="35"/>
                </a:moveTo>
                <a:lnTo>
                  <a:pt x="104" y="35"/>
                </a:lnTo>
                <a:lnTo>
                  <a:pt x="104" y="35"/>
                </a:lnTo>
                <a:cubicBezTo>
                  <a:pt x="95" y="35"/>
                  <a:pt x="95" y="35"/>
                  <a:pt x="95" y="43"/>
                </a:cubicBezTo>
                <a:cubicBezTo>
                  <a:pt x="86" y="52"/>
                  <a:pt x="86" y="61"/>
                  <a:pt x="86" y="61"/>
                </a:cubicBezTo>
                <a:cubicBezTo>
                  <a:pt x="95" y="69"/>
                  <a:pt x="104" y="69"/>
                  <a:pt x="112" y="69"/>
                </a:cubicBezTo>
                <a:lnTo>
                  <a:pt x="121" y="61"/>
                </a:lnTo>
                <a:cubicBezTo>
                  <a:pt x="121" y="52"/>
                  <a:pt x="121" y="43"/>
                  <a:pt x="121" y="43"/>
                </a:cubicBezTo>
                <a:cubicBezTo>
                  <a:pt x="121" y="35"/>
                  <a:pt x="112" y="35"/>
                  <a:pt x="104" y="35"/>
                </a:cubicBezTo>
                <a:close/>
                <a:moveTo>
                  <a:pt x="121" y="43"/>
                </a:moveTo>
                <a:lnTo>
                  <a:pt x="121" y="4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39" name="Freeform 390">
            <a:extLst>
              <a:ext uri="{FF2B5EF4-FFF2-40B4-BE49-F238E27FC236}">
                <a16:creationId xmlns:a16="http://schemas.microsoft.com/office/drawing/2014/main" id="{1D58CE58-DAC3-A14A-BBC0-F80D12AEB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690" y="2315420"/>
            <a:ext cx="33723" cy="33723"/>
          </a:xfrm>
          <a:custGeom>
            <a:avLst/>
            <a:gdLst>
              <a:gd name="T0" fmla="*/ 0 w 62"/>
              <a:gd name="T1" fmla="*/ 34 h 61"/>
              <a:gd name="T2" fmla="*/ 0 w 62"/>
              <a:gd name="T3" fmla="*/ 34 h 61"/>
              <a:gd name="T4" fmla="*/ 26 w 62"/>
              <a:gd name="T5" fmla="*/ 0 h 61"/>
              <a:gd name="T6" fmla="*/ 61 w 62"/>
              <a:gd name="T7" fmla="*/ 34 h 61"/>
              <a:gd name="T8" fmla="*/ 26 w 62"/>
              <a:gd name="T9" fmla="*/ 60 h 61"/>
              <a:gd name="T10" fmla="*/ 0 w 62"/>
              <a:gd name="T11" fmla="*/ 34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" h="61">
                <a:moveTo>
                  <a:pt x="0" y="34"/>
                </a:moveTo>
                <a:lnTo>
                  <a:pt x="0" y="34"/>
                </a:lnTo>
                <a:cubicBezTo>
                  <a:pt x="0" y="17"/>
                  <a:pt x="9" y="0"/>
                  <a:pt x="26" y="0"/>
                </a:cubicBezTo>
                <a:cubicBezTo>
                  <a:pt x="43" y="0"/>
                  <a:pt x="61" y="17"/>
                  <a:pt x="61" y="34"/>
                </a:cubicBezTo>
                <a:cubicBezTo>
                  <a:pt x="61" y="51"/>
                  <a:pt x="43" y="60"/>
                  <a:pt x="26" y="60"/>
                </a:cubicBezTo>
                <a:cubicBezTo>
                  <a:pt x="9" y="60"/>
                  <a:pt x="0" y="51"/>
                  <a:pt x="0" y="34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sp>
        <p:nvSpPr>
          <p:cNvPr id="40" name="Freeform 391">
            <a:extLst>
              <a:ext uri="{FF2B5EF4-FFF2-40B4-BE49-F238E27FC236}">
                <a16:creationId xmlns:a16="http://schemas.microsoft.com/office/drawing/2014/main" id="{3CA10919-B4FA-F746-8F5E-A3F60477C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989" y="2257610"/>
            <a:ext cx="137301" cy="43358"/>
          </a:xfrm>
          <a:custGeom>
            <a:avLst/>
            <a:gdLst>
              <a:gd name="T0" fmla="*/ 223 w 250"/>
              <a:gd name="T1" fmla="*/ 77 h 78"/>
              <a:gd name="T2" fmla="*/ 223 w 250"/>
              <a:gd name="T3" fmla="*/ 77 h 78"/>
              <a:gd name="T4" fmla="*/ 214 w 250"/>
              <a:gd name="T5" fmla="*/ 77 h 78"/>
              <a:gd name="T6" fmla="*/ 111 w 250"/>
              <a:gd name="T7" fmla="*/ 51 h 78"/>
              <a:gd name="T8" fmla="*/ 34 w 250"/>
              <a:gd name="T9" fmla="*/ 51 h 78"/>
              <a:gd name="T10" fmla="*/ 0 w 250"/>
              <a:gd name="T11" fmla="*/ 34 h 78"/>
              <a:gd name="T12" fmla="*/ 25 w 250"/>
              <a:gd name="T13" fmla="*/ 0 h 78"/>
              <a:gd name="T14" fmla="*/ 120 w 250"/>
              <a:gd name="T15" fmla="*/ 0 h 78"/>
              <a:gd name="T16" fmla="*/ 232 w 250"/>
              <a:gd name="T17" fmla="*/ 25 h 78"/>
              <a:gd name="T18" fmla="*/ 249 w 250"/>
              <a:gd name="T19" fmla="*/ 60 h 78"/>
              <a:gd name="T20" fmla="*/ 223 w 250"/>
              <a:gd name="T21" fmla="*/ 77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0" h="78">
                <a:moveTo>
                  <a:pt x="223" y="77"/>
                </a:moveTo>
                <a:lnTo>
                  <a:pt x="223" y="77"/>
                </a:lnTo>
                <a:cubicBezTo>
                  <a:pt x="214" y="77"/>
                  <a:pt x="214" y="77"/>
                  <a:pt x="214" y="77"/>
                </a:cubicBezTo>
                <a:cubicBezTo>
                  <a:pt x="180" y="60"/>
                  <a:pt x="154" y="60"/>
                  <a:pt x="111" y="51"/>
                </a:cubicBezTo>
                <a:cubicBezTo>
                  <a:pt x="94" y="51"/>
                  <a:pt x="51" y="51"/>
                  <a:pt x="34" y="51"/>
                </a:cubicBezTo>
                <a:cubicBezTo>
                  <a:pt x="17" y="60"/>
                  <a:pt x="0" y="51"/>
                  <a:pt x="0" y="34"/>
                </a:cubicBezTo>
                <a:cubicBezTo>
                  <a:pt x="0" y="17"/>
                  <a:pt x="8" y="8"/>
                  <a:pt x="25" y="0"/>
                </a:cubicBezTo>
                <a:cubicBezTo>
                  <a:pt x="42" y="0"/>
                  <a:pt x="94" y="0"/>
                  <a:pt x="120" y="0"/>
                </a:cubicBezTo>
                <a:cubicBezTo>
                  <a:pt x="163" y="0"/>
                  <a:pt x="189" y="8"/>
                  <a:pt x="232" y="25"/>
                </a:cubicBezTo>
                <a:cubicBezTo>
                  <a:pt x="240" y="25"/>
                  <a:pt x="249" y="43"/>
                  <a:pt x="249" y="60"/>
                </a:cubicBezTo>
                <a:cubicBezTo>
                  <a:pt x="240" y="68"/>
                  <a:pt x="232" y="77"/>
                  <a:pt x="223" y="77"/>
                </a:cubicBezTo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sz="1800"/>
          </a:p>
        </p:txBody>
      </p:sp>
      <p:grpSp>
        <p:nvGrpSpPr>
          <p:cNvPr id="41" name="Group 51">
            <a:extLst>
              <a:ext uri="{FF2B5EF4-FFF2-40B4-BE49-F238E27FC236}">
                <a16:creationId xmlns:a16="http://schemas.microsoft.com/office/drawing/2014/main" id="{1E3968D3-A717-134F-A70E-7F4638E673FB}"/>
              </a:ext>
            </a:extLst>
          </p:cNvPr>
          <p:cNvGrpSpPr/>
          <p:nvPr/>
        </p:nvGrpSpPr>
        <p:grpSpPr>
          <a:xfrm>
            <a:off x="1899558" y="1663071"/>
            <a:ext cx="6870473" cy="1763894"/>
            <a:chOff x="20348885" y="1470910"/>
            <a:chExt cx="5609444" cy="3527787"/>
          </a:xfrm>
        </p:grpSpPr>
        <p:sp>
          <p:nvSpPr>
            <p:cNvPr id="42" name="CuadroTexto 395">
              <a:extLst>
                <a:ext uri="{FF2B5EF4-FFF2-40B4-BE49-F238E27FC236}">
                  <a16:creationId xmlns:a16="http://schemas.microsoft.com/office/drawing/2014/main" id="{9A754F85-4D04-5A4C-8FCD-EE212939D550}"/>
                </a:ext>
              </a:extLst>
            </p:cNvPr>
            <p:cNvSpPr txBox="1"/>
            <p:nvPr/>
          </p:nvSpPr>
          <p:spPr>
            <a:xfrm>
              <a:off x="20372331" y="1470910"/>
              <a:ext cx="52782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WHAT</a:t>
              </a:r>
              <a:r>
                <a:rPr lang="zh-TW" altLang="en-US" sz="24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 </a:t>
              </a:r>
              <a:r>
                <a:rPr lang="en-US" altLang="zh-TW" sz="24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To Do</a:t>
              </a:r>
              <a:endParaRPr lang="en-US" sz="24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43" name="Rectangle 56">
              <a:extLst>
                <a:ext uri="{FF2B5EF4-FFF2-40B4-BE49-F238E27FC236}">
                  <a16:creationId xmlns:a16="http://schemas.microsoft.com/office/drawing/2014/main" id="{9D00078F-CE77-3648-B7B3-2A76064E4A33}"/>
                </a:ext>
              </a:extLst>
            </p:cNvPr>
            <p:cNvSpPr/>
            <p:nvPr/>
          </p:nvSpPr>
          <p:spPr>
            <a:xfrm>
              <a:off x="20348885" y="2305654"/>
              <a:ext cx="5609444" cy="269304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2400" b="1" dirty="0">
                  <a:latin typeface="Calibri"/>
                  <a:ea typeface="Calibri"/>
                  <a:cs typeface="Calibri"/>
                  <a:sym typeface="Calibri"/>
                </a:rPr>
                <a:t>提出一套銷售管理方法幫助</a:t>
              </a:r>
              <a:endParaRPr lang="en-US" altLang="zh-TW" sz="2700" b="1" dirty="0">
                <a:latin typeface="Calibri"/>
                <a:ea typeface="Calibri"/>
                <a:cs typeface="Calibri"/>
                <a:sym typeface="Calibri"/>
              </a:endParaRPr>
            </a:p>
            <a:p>
              <a:r>
                <a:rPr lang="zh-TW" altLang="en-US" sz="5750" b="1" dirty="0">
                  <a:latin typeface="Calibri"/>
                  <a:ea typeface="Calibri"/>
                  <a:cs typeface="Calibri"/>
                  <a:sym typeface="Calibri"/>
                </a:rPr>
                <a:t>全聯</a:t>
              </a:r>
              <a:r>
                <a:rPr lang="zh-TW" altLang="en-US" sz="2400" b="1" dirty="0">
                  <a:latin typeface="Calibri"/>
                  <a:ea typeface="Calibri"/>
                  <a:cs typeface="Calibri"/>
                  <a:sym typeface="Calibri"/>
                </a:rPr>
                <a:t>變成</a:t>
              </a:r>
              <a:r>
                <a:rPr lang="zh-TW" altLang="en-US" sz="5750" b="1" dirty="0">
                  <a:latin typeface="Calibri"/>
                  <a:ea typeface="Calibri"/>
                  <a:cs typeface="Calibri"/>
                  <a:sym typeface="Calibri"/>
                </a:rPr>
                <a:t>智能零售商店</a:t>
              </a:r>
              <a:endParaRPr lang="zh-TW" altLang="en-US" sz="27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roup 54">
            <a:extLst>
              <a:ext uri="{FF2B5EF4-FFF2-40B4-BE49-F238E27FC236}">
                <a16:creationId xmlns:a16="http://schemas.microsoft.com/office/drawing/2014/main" id="{681C9A63-601C-4C48-B189-9A4CECB3F9F2}"/>
              </a:ext>
            </a:extLst>
          </p:cNvPr>
          <p:cNvGrpSpPr/>
          <p:nvPr/>
        </p:nvGrpSpPr>
        <p:grpSpPr>
          <a:xfrm>
            <a:off x="1920193" y="3704125"/>
            <a:ext cx="5017894" cy="1332885"/>
            <a:chOff x="20365783" y="1470910"/>
            <a:chExt cx="4109205" cy="2665768"/>
          </a:xfrm>
        </p:grpSpPr>
        <p:sp>
          <p:nvSpPr>
            <p:cNvPr id="45" name="CuadroTexto 395">
              <a:extLst>
                <a:ext uri="{FF2B5EF4-FFF2-40B4-BE49-F238E27FC236}">
                  <a16:creationId xmlns:a16="http://schemas.microsoft.com/office/drawing/2014/main" id="{2A5A3280-6C8A-E348-AC81-CD87F78397FD}"/>
                </a:ext>
              </a:extLst>
            </p:cNvPr>
            <p:cNvSpPr txBox="1"/>
            <p:nvPr/>
          </p:nvSpPr>
          <p:spPr>
            <a:xfrm>
              <a:off x="20372331" y="1470910"/>
              <a:ext cx="3313260" cy="923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Output of The Project</a:t>
              </a:r>
            </a:p>
          </p:txBody>
        </p:sp>
        <p:sp>
          <p:nvSpPr>
            <p:cNvPr id="46" name="Rectangle 56">
              <a:extLst>
                <a:ext uri="{FF2B5EF4-FFF2-40B4-BE49-F238E27FC236}">
                  <a16:creationId xmlns:a16="http://schemas.microsoft.com/office/drawing/2014/main" id="{D0CC5698-D628-D04F-ACB9-638BFDDA6B79}"/>
                </a:ext>
              </a:extLst>
            </p:cNvPr>
            <p:cNvSpPr/>
            <p:nvPr/>
          </p:nvSpPr>
          <p:spPr>
            <a:xfrm>
              <a:off x="20365783" y="2474685"/>
              <a:ext cx="4109205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>
                <a:buAutoNum type="arabicPeriod"/>
              </a:pPr>
              <a:r>
                <a:rPr lang="en-US" sz="2400" b="1" dirty="0" err="1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銷售管理方法</a:t>
              </a:r>
              <a:endParaRPr lang="en-US" sz="2400" b="1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marL="457200" indent="-457200">
                <a:buAutoNum type="arabicPeriod"/>
              </a:pPr>
              <a:r>
                <a:rPr lang="en-US" sz="2400" b="1" dirty="0" err="1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預測系統</a:t>
              </a:r>
              <a:endParaRPr lang="en-US" sz="2400" b="1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AE69CD5-DBB5-4759-A5C2-3DD46D0445B9}"/>
              </a:ext>
            </a:extLst>
          </p:cNvPr>
          <p:cNvSpPr/>
          <p:nvPr/>
        </p:nvSpPr>
        <p:spPr>
          <a:xfrm>
            <a:off x="456699" y="5037010"/>
            <a:ext cx="1182915" cy="11368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15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664">
            <a:extLst>
              <a:ext uri="{FF2B5EF4-FFF2-40B4-BE49-F238E27FC236}">
                <a16:creationId xmlns:a16="http://schemas.microsoft.com/office/drawing/2014/main" id="{43037F60-D1B4-D243-ADDE-E207BBC2B469}"/>
              </a:ext>
            </a:extLst>
          </p:cNvPr>
          <p:cNvSpPr txBox="1"/>
          <p:nvPr/>
        </p:nvSpPr>
        <p:spPr>
          <a:xfrm>
            <a:off x="190800" y="180000"/>
            <a:ext cx="78836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Schedule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 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&amp;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 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Task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 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Distribution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id="{A4154E9F-3465-AB45-AE45-1748D44BC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1064" y="1360682"/>
            <a:ext cx="1759686" cy="1623372"/>
          </a:xfrm>
          <a:prstGeom prst="rect">
            <a:avLst/>
          </a:prstGeom>
        </p:spPr>
      </p:pic>
      <p:sp>
        <p:nvSpPr>
          <p:cNvPr id="11" name="Freeform 419">
            <a:extLst>
              <a:ext uri="{FF2B5EF4-FFF2-40B4-BE49-F238E27FC236}">
                <a16:creationId xmlns:a16="http://schemas.microsoft.com/office/drawing/2014/main" id="{6D1AA01D-A01C-D64C-AACF-378BCAEE4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473" y="3003080"/>
            <a:ext cx="9580056" cy="708997"/>
          </a:xfrm>
          <a:custGeom>
            <a:avLst/>
            <a:gdLst>
              <a:gd name="T0" fmla="*/ 14651 w 14930"/>
              <a:gd name="T1" fmla="*/ 1096 h 1097"/>
              <a:gd name="T2" fmla="*/ 14651 w 14930"/>
              <a:gd name="T3" fmla="*/ 1096 h 1097"/>
              <a:gd name="T4" fmla="*/ 278 w 14930"/>
              <a:gd name="T5" fmla="*/ 1096 h 1097"/>
              <a:gd name="T6" fmla="*/ 0 w 14930"/>
              <a:gd name="T7" fmla="*/ 818 h 1097"/>
              <a:gd name="T8" fmla="*/ 0 w 14930"/>
              <a:gd name="T9" fmla="*/ 269 h 1097"/>
              <a:gd name="T10" fmla="*/ 278 w 14930"/>
              <a:gd name="T11" fmla="*/ 0 h 1097"/>
              <a:gd name="T12" fmla="*/ 14651 w 14930"/>
              <a:gd name="T13" fmla="*/ 0 h 1097"/>
              <a:gd name="T14" fmla="*/ 14929 w 14930"/>
              <a:gd name="T15" fmla="*/ 269 h 1097"/>
              <a:gd name="T16" fmla="*/ 14929 w 14930"/>
              <a:gd name="T17" fmla="*/ 818 h 1097"/>
              <a:gd name="T18" fmla="*/ 14651 w 14930"/>
              <a:gd name="T19" fmla="*/ 1096 h 1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930" h="1097">
                <a:moveTo>
                  <a:pt x="14651" y="1096"/>
                </a:moveTo>
                <a:lnTo>
                  <a:pt x="14651" y="1096"/>
                </a:lnTo>
                <a:cubicBezTo>
                  <a:pt x="278" y="1096"/>
                  <a:pt x="278" y="1096"/>
                  <a:pt x="278" y="1096"/>
                </a:cubicBezTo>
                <a:cubicBezTo>
                  <a:pt x="125" y="1096"/>
                  <a:pt x="0" y="971"/>
                  <a:pt x="0" y="818"/>
                </a:cubicBezTo>
                <a:cubicBezTo>
                  <a:pt x="0" y="269"/>
                  <a:pt x="0" y="269"/>
                  <a:pt x="0" y="269"/>
                </a:cubicBezTo>
                <a:cubicBezTo>
                  <a:pt x="0" y="116"/>
                  <a:pt x="125" y="0"/>
                  <a:pt x="278" y="0"/>
                </a:cubicBezTo>
                <a:cubicBezTo>
                  <a:pt x="14651" y="0"/>
                  <a:pt x="14651" y="0"/>
                  <a:pt x="14651" y="0"/>
                </a:cubicBezTo>
                <a:cubicBezTo>
                  <a:pt x="14803" y="0"/>
                  <a:pt x="14929" y="116"/>
                  <a:pt x="14929" y="269"/>
                </a:cubicBezTo>
                <a:cubicBezTo>
                  <a:pt x="14929" y="818"/>
                  <a:pt x="14929" y="818"/>
                  <a:pt x="14929" y="818"/>
                </a:cubicBezTo>
                <a:cubicBezTo>
                  <a:pt x="14929" y="971"/>
                  <a:pt x="14803" y="1096"/>
                  <a:pt x="14651" y="1096"/>
                </a:cubicBezTo>
              </a:path>
            </a:pathLst>
          </a:custGeom>
          <a:solidFill>
            <a:schemeClr val="bg1">
              <a:lumMod val="50000"/>
              <a:alpha val="2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sp>
        <p:nvSpPr>
          <p:cNvPr id="14" name="Freeform 426">
            <a:extLst>
              <a:ext uri="{FF2B5EF4-FFF2-40B4-BE49-F238E27FC236}">
                <a16:creationId xmlns:a16="http://schemas.microsoft.com/office/drawing/2014/main" id="{741359EC-D2B4-6C43-9A21-D8608724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399" y="3269762"/>
            <a:ext cx="290441" cy="395842"/>
          </a:xfrm>
          <a:custGeom>
            <a:avLst/>
            <a:gdLst>
              <a:gd name="T0" fmla="*/ 521 w 549"/>
              <a:gd name="T1" fmla="*/ 288 h 747"/>
              <a:gd name="T2" fmla="*/ 521 w 549"/>
              <a:gd name="T3" fmla="*/ 288 h 747"/>
              <a:gd name="T4" fmla="*/ 81 w 549"/>
              <a:gd name="T5" fmla="*/ 18 h 747"/>
              <a:gd name="T6" fmla="*/ 18 w 549"/>
              <a:gd name="T7" fmla="*/ 54 h 747"/>
              <a:gd name="T8" fmla="*/ 0 w 549"/>
              <a:gd name="T9" fmla="*/ 576 h 747"/>
              <a:gd name="T10" fmla="*/ 72 w 549"/>
              <a:gd name="T11" fmla="*/ 611 h 747"/>
              <a:gd name="T12" fmla="*/ 180 w 549"/>
              <a:gd name="T13" fmla="*/ 558 h 747"/>
              <a:gd name="T14" fmla="*/ 278 w 549"/>
              <a:gd name="T15" fmla="*/ 746 h 747"/>
              <a:gd name="T16" fmla="*/ 521 w 549"/>
              <a:gd name="T17" fmla="*/ 611 h 747"/>
              <a:gd name="T18" fmla="*/ 413 w 549"/>
              <a:gd name="T19" fmla="*/ 423 h 747"/>
              <a:gd name="T20" fmla="*/ 521 w 549"/>
              <a:gd name="T21" fmla="*/ 369 h 747"/>
              <a:gd name="T22" fmla="*/ 521 w 549"/>
              <a:gd name="T23" fmla="*/ 288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49" h="747">
                <a:moveTo>
                  <a:pt x="521" y="288"/>
                </a:moveTo>
                <a:lnTo>
                  <a:pt x="521" y="288"/>
                </a:lnTo>
                <a:cubicBezTo>
                  <a:pt x="81" y="18"/>
                  <a:pt x="81" y="18"/>
                  <a:pt x="81" y="18"/>
                </a:cubicBezTo>
                <a:cubicBezTo>
                  <a:pt x="54" y="0"/>
                  <a:pt x="18" y="27"/>
                  <a:pt x="18" y="54"/>
                </a:cubicBezTo>
                <a:cubicBezTo>
                  <a:pt x="0" y="576"/>
                  <a:pt x="0" y="576"/>
                  <a:pt x="0" y="576"/>
                </a:cubicBezTo>
                <a:cubicBezTo>
                  <a:pt x="0" y="603"/>
                  <a:pt x="36" y="630"/>
                  <a:pt x="72" y="611"/>
                </a:cubicBezTo>
                <a:cubicBezTo>
                  <a:pt x="180" y="558"/>
                  <a:pt x="180" y="558"/>
                  <a:pt x="180" y="558"/>
                </a:cubicBezTo>
                <a:cubicBezTo>
                  <a:pt x="278" y="746"/>
                  <a:pt x="278" y="746"/>
                  <a:pt x="278" y="746"/>
                </a:cubicBezTo>
                <a:cubicBezTo>
                  <a:pt x="521" y="611"/>
                  <a:pt x="521" y="611"/>
                  <a:pt x="521" y="611"/>
                </a:cubicBezTo>
                <a:cubicBezTo>
                  <a:pt x="413" y="423"/>
                  <a:pt x="413" y="423"/>
                  <a:pt x="413" y="423"/>
                </a:cubicBezTo>
                <a:cubicBezTo>
                  <a:pt x="521" y="369"/>
                  <a:pt x="521" y="369"/>
                  <a:pt x="521" y="369"/>
                </a:cubicBezTo>
                <a:cubicBezTo>
                  <a:pt x="548" y="351"/>
                  <a:pt x="548" y="306"/>
                  <a:pt x="521" y="288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900"/>
          </a:p>
        </p:txBody>
      </p:sp>
      <p:grpSp>
        <p:nvGrpSpPr>
          <p:cNvPr id="18" name="Group 1">
            <a:extLst>
              <a:ext uri="{FF2B5EF4-FFF2-40B4-BE49-F238E27FC236}">
                <a16:creationId xmlns:a16="http://schemas.microsoft.com/office/drawing/2014/main" id="{7A2150CB-2227-A247-AC9A-2C4AF9254CF9}"/>
              </a:ext>
            </a:extLst>
          </p:cNvPr>
          <p:cNvGrpSpPr/>
          <p:nvPr/>
        </p:nvGrpSpPr>
        <p:grpSpPr>
          <a:xfrm>
            <a:off x="769031" y="3700603"/>
            <a:ext cx="9601191" cy="2957921"/>
            <a:chOff x="2847606" y="8043184"/>
            <a:chExt cx="18105007" cy="5915840"/>
          </a:xfrm>
        </p:grpSpPr>
        <p:sp>
          <p:nvSpPr>
            <p:cNvPr id="19" name="Line 427">
              <a:extLst>
                <a:ext uri="{FF2B5EF4-FFF2-40B4-BE49-F238E27FC236}">
                  <a16:creationId xmlns:a16="http://schemas.microsoft.com/office/drawing/2014/main" id="{914BDDFD-69A9-0F4E-BC49-2ADCA0990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9552" y="8043184"/>
              <a:ext cx="4686" cy="1011857"/>
            </a:xfrm>
            <a:prstGeom prst="line">
              <a:avLst/>
            </a:pr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 sz="900"/>
            </a:p>
          </p:txBody>
        </p:sp>
        <p:sp>
          <p:nvSpPr>
            <p:cNvPr id="20" name="Freeform 428">
              <a:extLst>
                <a:ext uri="{FF2B5EF4-FFF2-40B4-BE49-F238E27FC236}">
                  <a16:creationId xmlns:a16="http://schemas.microsoft.com/office/drawing/2014/main" id="{8044694D-CFAD-074C-9ED7-F9AA48297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917" y="9055041"/>
              <a:ext cx="1737956" cy="1737956"/>
            </a:xfrm>
            <a:custGeom>
              <a:avLst/>
              <a:gdLst>
                <a:gd name="T0" fmla="*/ 1637 w 1638"/>
                <a:gd name="T1" fmla="*/ 818 h 1638"/>
                <a:gd name="T2" fmla="*/ 1637 w 1638"/>
                <a:gd name="T3" fmla="*/ 818 h 1638"/>
                <a:gd name="T4" fmla="*/ 819 w 1638"/>
                <a:gd name="T5" fmla="*/ 1637 h 1638"/>
                <a:gd name="T6" fmla="*/ 0 w 1638"/>
                <a:gd name="T7" fmla="*/ 818 h 1638"/>
                <a:gd name="T8" fmla="*/ 819 w 1638"/>
                <a:gd name="T9" fmla="*/ 0 h 1638"/>
                <a:gd name="T10" fmla="*/ 1637 w 1638"/>
                <a:gd name="T11" fmla="*/ 81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38" h="1638">
                  <a:moveTo>
                    <a:pt x="1637" y="818"/>
                  </a:moveTo>
                  <a:lnTo>
                    <a:pt x="1637" y="818"/>
                  </a:lnTo>
                  <a:cubicBezTo>
                    <a:pt x="1637" y="1268"/>
                    <a:pt x="1268" y="1637"/>
                    <a:pt x="819" y="1637"/>
                  </a:cubicBezTo>
                  <a:cubicBezTo>
                    <a:pt x="369" y="1637"/>
                    <a:pt x="0" y="1268"/>
                    <a:pt x="0" y="818"/>
                  </a:cubicBezTo>
                  <a:cubicBezTo>
                    <a:pt x="0" y="369"/>
                    <a:pt x="369" y="0"/>
                    <a:pt x="819" y="0"/>
                  </a:cubicBezTo>
                  <a:cubicBezTo>
                    <a:pt x="1268" y="0"/>
                    <a:pt x="1637" y="369"/>
                    <a:pt x="1637" y="818"/>
                  </a:cubicBezTo>
                </a:path>
              </a:pathLst>
            </a:cu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21" name="Line 429">
              <a:extLst>
                <a:ext uri="{FF2B5EF4-FFF2-40B4-BE49-F238E27FC236}">
                  <a16:creationId xmlns:a16="http://schemas.microsoft.com/office/drawing/2014/main" id="{ED2783CA-F5D5-5142-B6C2-340F7939E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6556" y="8043184"/>
              <a:ext cx="4683" cy="1011857"/>
            </a:xfrm>
            <a:prstGeom prst="line">
              <a:avLst/>
            </a:pr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 sz="900"/>
            </a:p>
          </p:txBody>
        </p:sp>
        <p:sp>
          <p:nvSpPr>
            <p:cNvPr id="22" name="Freeform 430">
              <a:extLst>
                <a:ext uri="{FF2B5EF4-FFF2-40B4-BE49-F238E27FC236}">
                  <a16:creationId xmlns:a16="http://schemas.microsoft.com/office/drawing/2014/main" id="{A024C732-D7D1-864C-9E5C-FFFCC5E4D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5235" y="9055041"/>
              <a:ext cx="1737956" cy="1737956"/>
            </a:xfrm>
            <a:custGeom>
              <a:avLst/>
              <a:gdLst>
                <a:gd name="T0" fmla="*/ 1637 w 1638"/>
                <a:gd name="T1" fmla="*/ 818 h 1638"/>
                <a:gd name="T2" fmla="*/ 1637 w 1638"/>
                <a:gd name="T3" fmla="*/ 818 h 1638"/>
                <a:gd name="T4" fmla="*/ 818 w 1638"/>
                <a:gd name="T5" fmla="*/ 1637 h 1638"/>
                <a:gd name="T6" fmla="*/ 0 w 1638"/>
                <a:gd name="T7" fmla="*/ 818 h 1638"/>
                <a:gd name="T8" fmla="*/ 818 w 1638"/>
                <a:gd name="T9" fmla="*/ 0 h 1638"/>
                <a:gd name="T10" fmla="*/ 1637 w 1638"/>
                <a:gd name="T11" fmla="*/ 81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38" h="1638">
                  <a:moveTo>
                    <a:pt x="1637" y="818"/>
                  </a:moveTo>
                  <a:lnTo>
                    <a:pt x="1637" y="818"/>
                  </a:lnTo>
                  <a:cubicBezTo>
                    <a:pt x="1637" y="1268"/>
                    <a:pt x="1268" y="1637"/>
                    <a:pt x="818" y="1637"/>
                  </a:cubicBezTo>
                  <a:cubicBezTo>
                    <a:pt x="359" y="1637"/>
                    <a:pt x="0" y="1268"/>
                    <a:pt x="0" y="818"/>
                  </a:cubicBezTo>
                  <a:cubicBezTo>
                    <a:pt x="0" y="369"/>
                    <a:pt x="359" y="0"/>
                    <a:pt x="818" y="0"/>
                  </a:cubicBezTo>
                  <a:cubicBezTo>
                    <a:pt x="1268" y="0"/>
                    <a:pt x="1637" y="369"/>
                    <a:pt x="1637" y="818"/>
                  </a:cubicBezTo>
                </a:path>
              </a:pathLst>
            </a:cu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23" name="Line 431">
              <a:extLst>
                <a:ext uri="{FF2B5EF4-FFF2-40B4-BE49-F238E27FC236}">
                  <a16:creationId xmlns:a16="http://schemas.microsoft.com/office/drawing/2014/main" id="{234F675D-15DF-E34A-82B4-930721E5B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84075" y="8043184"/>
              <a:ext cx="4683" cy="1011857"/>
            </a:xfrm>
            <a:prstGeom prst="line">
              <a:avLst/>
            </a:pr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 sz="900"/>
            </a:p>
          </p:txBody>
        </p:sp>
        <p:sp>
          <p:nvSpPr>
            <p:cNvPr id="24" name="Freeform 432">
              <a:extLst>
                <a:ext uri="{FF2B5EF4-FFF2-40B4-BE49-F238E27FC236}">
                  <a16:creationId xmlns:a16="http://schemas.microsoft.com/office/drawing/2014/main" id="{95C7D018-B4E7-1549-A716-6D98083D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7437" y="9055041"/>
              <a:ext cx="1747328" cy="1737956"/>
            </a:xfrm>
            <a:custGeom>
              <a:avLst/>
              <a:gdLst>
                <a:gd name="T0" fmla="*/ 1646 w 1647"/>
                <a:gd name="T1" fmla="*/ 818 h 1638"/>
                <a:gd name="T2" fmla="*/ 1646 w 1647"/>
                <a:gd name="T3" fmla="*/ 818 h 1638"/>
                <a:gd name="T4" fmla="*/ 819 w 1647"/>
                <a:gd name="T5" fmla="*/ 1637 h 1638"/>
                <a:gd name="T6" fmla="*/ 0 w 1647"/>
                <a:gd name="T7" fmla="*/ 818 h 1638"/>
                <a:gd name="T8" fmla="*/ 819 w 1647"/>
                <a:gd name="T9" fmla="*/ 0 h 1638"/>
                <a:gd name="T10" fmla="*/ 1646 w 1647"/>
                <a:gd name="T11" fmla="*/ 81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47" h="1638">
                  <a:moveTo>
                    <a:pt x="1646" y="818"/>
                  </a:moveTo>
                  <a:lnTo>
                    <a:pt x="1646" y="818"/>
                  </a:lnTo>
                  <a:cubicBezTo>
                    <a:pt x="1646" y="1268"/>
                    <a:pt x="1277" y="1637"/>
                    <a:pt x="819" y="1637"/>
                  </a:cubicBezTo>
                  <a:cubicBezTo>
                    <a:pt x="369" y="1637"/>
                    <a:pt x="0" y="1268"/>
                    <a:pt x="0" y="818"/>
                  </a:cubicBezTo>
                  <a:cubicBezTo>
                    <a:pt x="0" y="369"/>
                    <a:pt x="369" y="0"/>
                    <a:pt x="819" y="0"/>
                  </a:cubicBezTo>
                  <a:cubicBezTo>
                    <a:pt x="1277" y="0"/>
                    <a:pt x="1646" y="369"/>
                    <a:pt x="1646" y="818"/>
                  </a:cubicBezTo>
                </a:path>
              </a:pathLst>
            </a:cu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25" name="Line 433">
              <a:extLst>
                <a:ext uri="{FF2B5EF4-FFF2-40B4-BE49-F238E27FC236}">
                  <a16:creationId xmlns:a16="http://schemas.microsoft.com/office/drawing/2014/main" id="{02354197-FA66-7848-A1C7-863CD6C5D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31979" y="8043184"/>
              <a:ext cx="4686" cy="1011857"/>
            </a:xfrm>
            <a:prstGeom prst="line">
              <a:avLst/>
            </a:pr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 sz="900"/>
            </a:p>
          </p:txBody>
        </p:sp>
        <p:sp>
          <p:nvSpPr>
            <p:cNvPr id="27" name="Freeform 434">
              <a:extLst>
                <a:ext uri="{FF2B5EF4-FFF2-40B4-BE49-F238E27FC236}">
                  <a16:creationId xmlns:a16="http://schemas.microsoft.com/office/drawing/2014/main" id="{56BC5006-D241-8840-B03E-D3E42EBB8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0658" y="9055041"/>
              <a:ext cx="1737959" cy="1737956"/>
            </a:xfrm>
            <a:custGeom>
              <a:avLst/>
              <a:gdLst>
                <a:gd name="T0" fmla="*/ 1637 w 1638"/>
                <a:gd name="T1" fmla="*/ 818 h 1638"/>
                <a:gd name="T2" fmla="*/ 1637 w 1638"/>
                <a:gd name="T3" fmla="*/ 818 h 1638"/>
                <a:gd name="T4" fmla="*/ 819 w 1638"/>
                <a:gd name="T5" fmla="*/ 1637 h 1638"/>
                <a:gd name="T6" fmla="*/ 0 w 1638"/>
                <a:gd name="T7" fmla="*/ 818 h 1638"/>
                <a:gd name="T8" fmla="*/ 819 w 1638"/>
                <a:gd name="T9" fmla="*/ 0 h 1638"/>
                <a:gd name="T10" fmla="*/ 1637 w 1638"/>
                <a:gd name="T11" fmla="*/ 81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38" h="1638">
                  <a:moveTo>
                    <a:pt x="1637" y="818"/>
                  </a:moveTo>
                  <a:lnTo>
                    <a:pt x="1637" y="818"/>
                  </a:lnTo>
                  <a:cubicBezTo>
                    <a:pt x="1637" y="1268"/>
                    <a:pt x="1277" y="1637"/>
                    <a:pt x="819" y="1637"/>
                  </a:cubicBezTo>
                  <a:cubicBezTo>
                    <a:pt x="369" y="1637"/>
                    <a:pt x="0" y="1268"/>
                    <a:pt x="0" y="818"/>
                  </a:cubicBezTo>
                  <a:cubicBezTo>
                    <a:pt x="0" y="369"/>
                    <a:pt x="369" y="0"/>
                    <a:pt x="819" y="0"/>
                  </a:cubicBezTo>
                  <a:cubicBezTo>
                    <a:pt x="1277" y="0"/>
                    <a:pt x="1637" y="369"/>
                    <a:pt x="1637" y="818"/>
                  </a:cubicBezTo>
                </a:path>
              </a:pathLst>
            </a:custGeom>
            <a:noFill/>
            <a:ln w="63500" cap="flat">
              <a:solidFill>
                <a:schemeClr val="bg1">
                  <a:lumMod val="50000"/>
                  <a:alpha val="2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28" name="Freeform 435">
              <a:extLst>
                <a:ext uri="{FF2B5EF4-FFF2-40B4-BE49-F238E27FC236}">
                  <a16:creationId xmlns:a16="http://schemas.microsoft.com/office/drawing/2014/main" id="{570A62FF-81FD-C345-8966-382A6016D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23365" y="9420433"/>
              <a:ext cx="735471" cy="1011857"/>
            </a:xfrm>
            <a:custGeom>
              <a:avLst/>
              <a:gdLst>
                <a:gd name="T0" fmla="*/ 666 w 693"/>
                <a:gd name="T1" fmla="*/ 953 h 954"/>
                <a:gd name="T2" fmla="*/ 666 w 693"/>
                <a:gd name="T3" fmla="*/ 953 h 954"/>
                <a:gd name="T4" fmla="*/ 27 w 693"/>
                <a:gd name="T5" fmla="*/ 953 h 954"/>
                <a:gd name="T6" fmla="*/ 0 w 693"/>
                <a:gd name="T7" fmla="*/ 926 h 954"/>
                <a:gd name="T8" fmla="*/ 0 w 693"/>
                <a:gd name="T9" fmla="*/ 27 h 954"/>
                <a:gd name="T10" fmla="*/ 27 w 693"/>
                <a:gd name="T11" fmla="*/ 0 h 954"/>
                <a:gd name="T12" fmla="*/ 666 w 693"/>
                <a:gd name="T13" fmla="*/ 0 h 954"/>
                <a:gd name="T14" fmla="*/ 692 w 693"/>
                <a:gd name="T15" fmla="*/ 27 h 954"/>
                <a:gd name="T16" fmla="*/ 692 w 693"/>
                <a:gd name="T17" fmla="*/ 926 h 954"/>
                <a:gd name="T18" fmla="*/ 666 w 693"/>
                <a:gd name="T19" fmla="*/ 953 h 954"/>
                <a:gd name="T20" fmla="*/ 36 w 693"/>
                <a:gd name="T21" fmla="*/ 917 h 954"/>
                <a:gd name="T22" fmla="*/ 36 w 693"/>
                <a:gd name="T23" fmla="*/ 917 h 954"/>
                <a:gd name="T24" fmla="*/ 656 w 693"/>
                <a:gd name="T25" fmla="*/ 917 h 954"/>
                <a:gd name="T26" fmla="*/ 656 w 693"/>
                <a:gd name="T27" fmla="*/ 36 h 954"/>
                <a:gd name="T28" fmla="*/ 36 w 693"/>
                <a:gd name="T29" fmla="*/ 36 h 954"/>
                <a:gd name="T30" fmla="*/ 36 w 693"/>
                <a:gd name="T31" fmla="*/ 917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3" h="954">
                  <a:moveTo>
                    <a:pt x="666" y="953"/>
                  </a:moveTo>
                  <a:lnTo>
                    <a:pt x="666" y="953"/>
                  </a:lnTo>
                  <a:cubicBezTo>
                    <a:pt x="27" y="953"/>
                    <a:pt x="27" y="953"/>
                    <a:pt x="27" y="953"/>
                  </a:cubicBezTo>
                  <a:cubicBezTo>
                    <a:pt x="9" y="953"/>
                    <a:pt x="0" y="944"/>
                    <a:pt x="0" y="9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8"/>
                    <a:pt x="9" y="0"/>
                    <a:pt x="27" y="0"/>
                  </a:cubicBezTo>
                  <a:cubicBezTo>
                    <a:pt x="666" y="0"/>
                    <a:pt x="666" y="0"/>
                    <a:pt x="666" y="0"/>
                  </a:cubicBezTo>
                  <a:cubicBezTo>
                    <a:pt x="684" y="0"/>
                    <a:pt x="692" y="8"/>
                    <a:pt x="692" y="27"/>
                  </a:cubicBezTo>
                  <a:cubicBezTo>
                    <a:pt x="692" y="926"/>
                    <a:pt x="692" y="926"/>
                    <a:pt x="692" y="926"/>
                  </a:cubicBezTo>
                  <a:cubicBezTo>
                    <a:pt x="692" y="944"/>
                    <a:pt x="684" y="953"/>
                    <a:pt x="666" y="953"/>
                  </a:cubicBezTo>
                  <a:close/>
                  <a:moveTo>
                    <a:pt x="36" y="917"/>
                  </a:moveTo>
                  <a:lnTo>
                    <a:pt x="36" y="917"/>
                  </a:lnTo>
                  <a:cubicBezTo>
                    <a:pt x="656" y="917"/>
                    <a:pt x="656" y="917"/>
                    <a:pt x="656" y="917"/>
                  </a:cubicBezTo>
                  <a:cubicBezTo>
                    <a:pt x="656" y="36"/>
                    <a:pt x="656" y="36"/>
                    <a:pt x="656" y="36"/>
                  </a:cubicBezTo>
                  <a:cubicBezTo>
                    <a:pt x="36" y="36"/>
                    <a:pt x="36" y="36"/>
                    <a:pt x="36" y="36"/>
                  </a:cubicBezTo>
                  <a:lnTo>
                    <a:pt x="36" y="9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29" name="Freeform 436">
              <a:extLst>
                <a:ext uri="{FF2B5EF4-FFF2-40B4-BE49-F238E27FC236}">
                  <a16:creationId xmlns:a16="http://schemas.microsoft.com/office/drawing/2014/main" id="{CDC611A0-A7E7-5A4F-9D87-E9C66313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3079" y="10268330"/>
              <a:ext cx="37476" cy="37476"/>
            </a:xfrm>
            <a:custGeom>
              <a:avLst/>
              <a:gdLst>
                <a:gd name="T0" fmla="*/ 18 w 37"/>
                <a:gd name="T1" fmla="*/ 36 h 37"/>
                <a:gd name="T2" fmla="*/ 18 w 37"/>
                <a:gd name="T3" fmla="*/ 36 h 37"/>
                <a:gd name="T4" fmla="*/ 18 w 37"/>
                <a:gd name="T5" fmla="*/ 36 h 37"/>
                <a:gd name="T6" fmla="*/ 0 w 37"/>
                <a:gd name="T7" fmla="*/ 18 h 37"/>
                <a:gd name="T8" fmla="*/ 18 w 37"/>
                <a:gd name="T9" fmla="*/ 0 h 37"/>
                <a:gd name="T10" fmla="*/ 18 w 37"/>
                <a:gd name="T11" fmla="*/ 0 h 37"/>
                <a:gd name="T12" fmla="*/ 36 w 37"/>
                <a:gd name="T13" fmla="*/ 18 h 37"/>
                <a:gd name="T14" fmla="*/ 18 w 37"/>
                <a:gd name="T1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18" y="36"/>
                  </a:moveTo>
                  <a:lnTo>
                    <a:pt x="18" y="36"/>
                  </a:lnTo>
                  <a:lnTo>
                    <a:pt x="18" y="36"/>
                  </a:lnTo>
                  <a:cubicBezTo>
                    <a:pt x="9" y="36"/>
                    <a:pt x="0" y="27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lnTo>
                    <a:pt x="18" y="0"/>
                  </a:lnTo>
                  <a:cubicBezTo>
                    <a:pt x="27" y="0"/>
                    <a:pt x="36" y="9"/>
                    <a:pt x="36" y="18"/>
                  </a:cubicBezTo>
                  <a:cubicBezTo>
                    <a:pt x="36" y="27"/>
                    <a:pt x="27" y="36"/>
                    <a:pt x="18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0" name="Freeform 437">
              <a:extLst>
                <a:ext uri="{FF2B5EF4-FFF2-40B4-BE49-F238E27FC236}">
                  <a16:creationId xmlns:a16="http://schemas.microsoft.com/office/drawing/2014/main" id="{B2AEBFE6-9B30-2D48-94F6-6251D9F12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9925" y="10268330"/>
              <a:ext cx="46845" cy="37476"/>
            </a:xfrm>
            <a:custGeom>
              <a:avLst/>
              <a:gdLst>
                <a:gd name="T0" fmla="*/ 27 w 46"/>
                <a:gd name="T1" fmla="*/ 36 h 37"/>
                <a:gd name="T2" fmla="*/ 27 w 46"/>
                <a:gd name="T3" fmla="*/ 36 h 37"/>
                <a:gd name="T4" fmla="*/ 27 w 46"/>
                <a:gd name="T5" fmla="*/ 36 h 37"/>
                <a:gd name="T6" fmla="*/ 0 w 46"/>
                <a:gd name="T7" fmla="*/ 18 h 37"/>
                <a:gd name="T8" fmla="*/ 27 w 46"/>
                <a:gd name="T9" fmla="*/ 0 h 37"/>
                <a:gd name="T10" fmla="*/ 27 w 46"/>
                <a:gd name="T11" fmla="*/ 0 h 37"/>
                <a:gd name="T12" fmla="*/ 45 w 46"/>
                <a:gd name="T13" fmla="*/ 18 h 37"/>
                <a:gd name="T14" fmla="*/ 27 w 46"/>
                <a:gd name="T1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37">
                  <a:moveTo>
                    <a:pt x="27" y="36"/>
                  </a:moveTo>
                  <a:lnTo>
                    <a:pt x="27" y="36"/>
                  </a:lnTo>
                  <a:lnTo>
                    <a:pt x="27" y="36"/>
                  </a:lnTo>
                  <a:cubicBezTo>
                    <a:pt x="9" y="36"/>
                    <a:pt x="0" y="27"/>
                    <a:pt x="0" y="18"/>
                  </a:cubicBezTo>
                  <a:cubicBezTo>
                    <a:pt x="0" y="9"/>
                    <a:pt x="9" y="0"/>
                    <a:pt x="27" y="0"/>
                  </a:cubicBezTo>
                  <a:lnTo>
                    <a:pt x="27" y="0"/>
                  </a:lnTo>
                  <a:cubicBezTo>
                    <a:pt x="36" y="0"/>
                    <a:pt x="45" y="9"/>
                    <a:pt x="45" y="18"/>
                  </a:cubicBezTo>
                  <a:cubicBezTo>
                    <a:pt x="45" y="27"/>
                    <a:pt x="36" y="36"/>
                    <a:pt x="27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1" name="Freeform 438">
              <a:extLst>
                <a:ext uri="{FF2B5EF4-FFF2-40B4-BE49-F238E27FC236}">
                  <a16:creationId xmlns:a16="http://schemas.microsoft.com/office/drawing/2014/main" id="{D4DC82F8-ED85-924C-B3C8-BC7DDE234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6139" y="10268330"/>
              <a:ext cx="37476" cy="37476"/>
            </a:xfrm>
            <a:custGeom>
              <a:avLst/>
              <a:gdLst>
                <a:gd name="T0" fmla="*/ 18 w 37"/>
                <a:gd name="T1" fmla="*/ 36 h 37"/>
                <a:gd name="T2" fmla="*/ 18 w 37"/>
                <a:gd name="T3" fmla="*/ 36 h 37"/>
                <a:gd name="T4" fmla="*/ 18 w 37"/>
                <a:gd name="T5" fmla="*/ 36 h 37"/>
                <a:gd name="T6" fmla="*/ 0 w 37"/>
                <a:gd name="T7" fmla="*/ 18 h 37"/>
                <a:gd name="T8" fmla="*/ 18 w 37"/>
                <a:gd name="T9" fmla="*/ 0 h 37"/>
                <a:gd name="T10" fmla="*/ 18 w 37"/>
                <a:gd name="T11" fmla="*/ 0 h 37"/>
                <a:gd name="T12" fmla="*/ 36 w 37"/>
                <a:gd name="T13" fmla="*/ 18 h 37"/>
                <a:gd name="T14" fmla="*/ 18 w 37"/>
                <a:gd name="T1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18" y="36"/>
                  </a:moveTo>
                  <a:lnTo>
                    <a:pt x="18" y="36"/>
                  </a:lnTo>
                  <a:lnTo>
                    <a:pt x="18" y="36"/>
                  </a:lnTo>
                  <a:cubicBezTo>
                    <a:pt x="9" y="36"/>
                    <a:pt x="0" y="27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lnTo>
                    <a:pt x="18" y="0"/>
                  </a:lnTo>
                  <a:cubicBezTo>
                    <a:pt x="27" y="0"/>
                    <a:pt x="36" y="9"/>
                    <a:pt x="36" y="18"/>
                  </a:cubicBezTo>
                  <a:cubicBezTo>
                    <a:pt x="36" y="27"/>
                    <a:pt x="27" y="36"/>
                    <a:pt x="18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2" name="Freeform 439">
              <a:extLst>
                <a:ext uri="{FF2B5EF4-FFF2-40B4-BE49-F238E27FC236}">
                  <a16:creationId xmlns:a16="http://schemas.microsoft.com/office/drawing/2014/main" id="{9FBD73A4-DC7B-9240-B0C2-BD08BE6CA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3901" y="9532862"/>
              <a:ext cx="238912" cy="60897"/>
            </a:xfrm>
            <a:custGeom>
              <a:avLst/>
              <a:gdLst>
                <a:gd name="T0" fmla="*/ 72 w 226"/>
                <a:gd name="T1" fmla="*/ 55 h 56"/>
                <a:gd name="T2" fmla="*/ 72 w 226"/>
                <a:gd name="T3" fmla="*/ 55 h 56"/>
                <a:gd name="T4" fmla="*/ 63 w 226"/>
                <a:gd name="T5" fmla="*/ 55 h 56"/>
                <a:gd name="T6" fmla="*/ 45 w 226"/>
                <a:gd name="T7" fmla="*/ 36 h 56"/>
                <a:gd name="T8" fmla="*/ 27 w 226"/>
                <a:gd name="T9" fmla="*/ 55 h 56"/>
                <a:gd name="T10" fmla="*/ 9 w 226"/>
                <a:gd name="T11" fmla="*/ 55 h 56"/>
                <a:gd name="T12" fmla="*/ 9 w 226"/>
                <a:gd name="T13" fmla="*/ 36 h 56"/>
                <a:gd name="T14" fmla="*/ 36 w 226"/>
                <a:gd name="T15" fmla="*/ 9 h 56"/>
                <a:gd name="T16" fmla="*/ 54 w 226"/>
                <a:gd name="T17" fmla="*/ 9 h 56"/>
                <a:gd name="T18" fmla="*/ 72 w 226"/>
                <a:gd name="T19" fmla="*/ 28 h 56"/>
                <a:gd name="T20" fmla="*/ 90 w 226"/>
                <a:gd name="T21" fmla="*/ 9 h 56"/>
                <a:gd name="T22" fmla="*/ 108 w 226"/>
                <a:gd name="T23" fmla="*/ 9 h 56"/>
                <a:gd name="T24" fmla="*/ 126 w 226"/>
                <a:gd name="T25" fmla="*/ 28 h 56"/>
                <a:gd name="T26" fmla="*/ 144 w 226"/>
                <a:gd name="T27" fmla="*/ 9 h 56"/>
                <a:gd name="T28" fmla="*/ 162 w 226"/>
                <a:gd name="T29" fmla="*/ 9 h 56"/>
                <a:gd name="T30" fmla="*/ 180 w 226"/>
                <a:gd name="T31" fmla="*/ 28 h 56"/>
                <a:gd name="T32" fmla="*/ 198 w 226"/>
                <a:gd name="T33" fmla="*/ 9 h 56"/>
                <a:gd name="T34" fmla="*/ 216 w 226"/>
                <a:gd name="T35" fmla="*/ 9 h 56"/>
                <a:gd name="T36" fmla="*/ 216 w 226"/>
                <a:gd name="T37" fmla="*/ 28 h 56"/>
                <a:gd name="T38" fmla="*/ 189 w 226"/>
                <a:gd name="T39" fmla="*/ 55 h 56"/>
                <a:gd name="T40" fmla="*/ 171 w 226"/>
                <a:gd name="T41" fmla="*/ 55 h 56"/>
                <a:gd name="T42" fmla="*/ 153 w 226"/>
                <a:gd name="T43" fmla="*/ 36 h 56"/>
                <a:gd name="T44" fmla="*/ 135 w 226"/>
                <a:gd name="T45" fmla="*/ 55 h 56"/>
                <a:gd name="T46" fmla="*/ 117 w 226"/>
                <a:gd name="T47" fmla="*/ 55 h 56"/>
                <a:gd name="T48" fmla="*/ 99 w 226"/>
                <a:gd name="T49" fmla="*/ 36 h 56"/>
                <a:gd name="T50" fmla="*/ 81 w 226"/>
                <a:gd name="T51" fmla="*/ 55 h 56"/>
                <a:gd name="T52" fmla="*/ 72 w 226"/>
                <a:gd name="T53" fmla="*/ 5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6" h="56">
                  <a:moveTo>
                    <a:pt x="72" y="55"/>
                  </a:moveTo>
                  <a:lnTo>
                    <a:pt x="72" y="55"/>
                  </a:lnTo>
                  <a:lnTo>
                    <a:pt x="63" y="55"/>
                  </a:lnTo>
                  <a:cubicBezTo>
                    <a:pt x="45" y="36"/>
                    <a:pt x="45" y="36"/>
                    <a:pt x="45" y="36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18" y="55"/>
                    <a:pt x="9" y="55"/>
                    <a:pt x="9" y="55"/>
                  </a:cubicBezTo>
                  <a:cubicBezTo>
                    <a:pt x="0" y="45"/>
                    <a:pt x="0" y="36"/>
                    <a:pt x="9" y="36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0"/>
                    <a:pt x="45" y="0"/>
                    <a:pt x="54" y="9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99" y="0"/>
                    <a:pt x="99" y="0"/>
                    <a:pt x="108" y="9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53" y="0"/>
                    <a:pt x="162" y="0"/>
                    <a:pt x="162" y="9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98" y="9"/>
                    <a:pt x="198" y="9"/>
                    <a:pt x="198" y="9"/>
                  </a:cubicBezTo>
                  <a:cubicBezTo>
                    <a:pt x="207" y="0"/>
                    <a:pt x="216" y="0"/>
                    <a:pt x="216" y="9"/>
                  </a:cubicBezTo>
                  <a:cubicBezTo>
                    <a:pt x="225" y="9"/>
                    <a:pt x="225" y="19"/>
                    <a:pt x="216" y="28"/>
                  </a:cubicBezTo>
                  <a:cubicBezTo>
                    <a:pt x="189" y="55"/>
                    <a:pt x="189" y="55"/>
                    <a:pt x="189" y="55"/>
                  </a:cubicBezTo>
                  <a:cubicBezTo>
                    <a:pt x="189" y="55"/>
                    <a:pt x="180" y="55"/>
                    <a:pt x="171" y="55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35" y="55"/>
                    <a:pt x="135" y="55"/>
                    <a:pt x="135" y="55"/>
                  </a:cubicBezTo>
                  <a:cubicBezTo>
                    <a:pt x="135" y="55"/>
                    <a:pt x="126" y="55"/>
                    <a:pt x="117" y="55"/>
                  </a:cubicBezTo>
                  <a:cubicBezTo>
                    <a:pt x="99" y="36"/>
                    <a:pt x="99" y="36"/>
                    <a:pt x="99" y="36"/>
                  </a:cubicBezTo>
                  <a:cubicBezTo>
                    <a:pt x="81" y="55"/>
                    <a:pt x="81" y="55"/>
                    <a:pt x="81" y="55"/>
                  </a:cubicBezTo>
                  <a:lnTo>
                    <a:pt x="72" y="55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3" name="Freeform 440">
              <a:extLst>
                <a:ext uri="{FF2B5EF4-FFF2-40B4-BE49-F238E27FC236}">
                  <a16:creationId xmlns:a16="http://schemas.microsoft.com/office/drawing/2014/main" id="{E6E2FCCC-AD52-C649-BB5F-50AE0D9B5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3901" y="9692136"/>
              <a:ext cx="145222" cy="51528"/>
            </a:xfrm>
            <a:custGeom>
              <a:avLst/>
              <a:gdLst>
                <a:gd name="T0" fmla="*/ 18 w 136"/>
                <a:gd name="T1" fmla="*/ 46 h 47"/>
                <a:gd name="T2" fmla="*/ 18 w 136"/>
                <a:gd name="T3" fmla="*/ 46 h 47"/>
                <a:gd name="T4" fmla="*/ 0 w 136"/>
                <a:gd name="T5" fmla="*/ 27 h 47"/>
                <a:gd name="T6" fmla="*/ 18 w 136"/>
                <a:gd name="T7" fmla="*/ 0 h 47"/>
                <a:gd name="T8" fmla="*/ 117 w 136"/>
                <a:gd name="T9" fmla="*/ 0 h 47"/>
                <a:gd name="T10" fmla="*/ 135 w 136"/>
                <a:gd name="T11" fmla="*/ 18 h 47"/>
                <a:gd name="T12" fmla="*/ 117 w 136"/>
                <a:gd name="T13" fmla="*/ 46 h 47"/>
                <a:gd name="T14" fmla="*/ 18 w 136"/>
                <a:gd name="T15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47">
                  <a:moveTo>
                    <a:pt x="18" y="46"/>
                  </a:moveTo>
                  <a:lnTo>
                    <a:pt x="18" y="46"/>
                  </a:lnTo>
                  <a:cubicBezTo>
                    <a:pt x="9" y="46"/>
                    <a:pt x="0" y="36"/>
                    <a:pt x="0" y="27"/>
                  </a:cubicBezTo>
                  <a:cubicBezTo>
                    <a:pt x="0" y="10"/>
                    <a:pt x="9" y="0"/>
                    <a:pt x="18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6" y="0"/>
                    <a:pt x="135" y="10"/>
                    <a:pt x="135" y="18"/>
                  </a:cubicBezTo>
                  <a:cubicBezTo>
                    <a:pt x="135" y="36"/>
                    <a:pt x="126" y="46"/>
                    <a:pt x="117" y="46"/>
                  </a:cubicBezTo>
                  <a:cubicBezTo>
                    <a:pt x="18" y="46"/>
                    <a:pt x="18" y="46"/>
                    <a:pt x="18" y="4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4" name="Freeform 441">
              <a:extLst>
                <a:ext uri="{FF2B5EF4-FFF2-40B4-BE49-F238E27FC236}">
                  <a16:creationId xmlns:a16="http://schemas.microsoft.com/office/drawing/2014/main" id="{9E31677C-64D4-164E-BEA7-BCD3CDCB8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3079" y="9902938"/>
              <a:ext cx="145222" cy="37476"/>
            </a:xfrm>
            <a:custGeom>
              <a:avLst/>
              <a:gdLst>
                <a:gd name="T0" fmla="*/ 18 w 136"/>
                <a:gd name="T1" fmla="*/ 36 h 37"/>
                <a:gd name="T2" fmla="*/ 18 w 136"/>
                <a:gd name="T3" fmla="*/ 36 h 37"/>
                <a:gd name="T4" fmla="*/ 0 w 136"/>
                <a:gd name="T5" fmla="*/ 18 h 37"/>
                <a:gd name="T6" fmla="*/ 18 w 136"/>
                <a:gd name="T7" fmla="*/ 0 h 37"/>
                <a:gd name="T8" fmla="*/ 117 w 136"/>
                <a:gd name="T9" fmla="*/ 0 h 37"/>
                <a:gd name="T10" fmla="*/ 135 w 136"/>
                <a:gd name="T11" fmla="*/ 18 h 37"/>
                <a:gd name="T12" fmla="*/ 117 w 136"/>
                <a:gd name="T13" fmla="*/ 36 h 37"/>
                <a:gd name="T14" fmla="*/ 27 w 136"/>
                <a:gd name="T15" fmla="*/ 36 h 37"/>
                <a:gd name="T16" fmla="*/ 18 w 136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" h="37">
                  <a:moveTo>
                    <a:pt x="18" y="36"/>
                  </a:moveTo>
                  <a:lnTo>
                    <a:pt x="18" y="36"/>
                  </a:lnTo>
                  <a:cubicBezTo>
                    <a:pt x="9" y="36"/>
                    <a:pt x="0" y="27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6" y="0"/>
                    <a:pt x="135" y="9"/>
                    <a:pt x="135" y="18"/>
                  </a:cubicBezTo>
                  <a:cubicBezTo>
                    <a:pt x="135" y="27"/>
                    <a:pt x="126" y="36"/>
                    <a:pt x="11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18" y="36"/>
                    <a:pt x="18" y="36"/>
                    <a:pt x="18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5" name="Freeform 442">
              <a:extLst>
                <a:ext uri="{FF2B5EF4-FFF2-40B4-BE49-F238E27FC236}">
                  <a16:creationId xmlns:a16="http://schemas.microsoft.com/office/drawing/2014/main" id="{BA4D1455-4EE0-4D45-B430-E0019AF7B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82448" y="10010683"/>
              <a:ext cx="135853" cy="37476"/>
            </a:xfrm>
            <a:custGeom>
              <a:avLst/>
              <a:gdLst>
                <a:gd name="T0" fmla="*/ 18 w 127"/>
                <a:gd name="T1" fmla="*/ 36 h 37"/>
                <a:gd name="T2" fmla="*/ 18 w 127"/>
                <a:gd name="T3" fmla="*/ 36 h 37"/>
                <a:gd name="T4" fmla="*/ 0 w 127"/>
                <a:gd name="T5" fmla="*/ 18 h 37"/>
                <a:gd name="T6" fmla="*/ 18 w 127"/>
                <a:gd name="T7" fmla="*/ 0 h 37"/>
                <a:gd name="T8" fmla="*/ 108 w 127"/>
                <a:gd name="T9" fmla="*/ 0 h 37"/>
                <a:gd name="T10" fmla="*/ 108 w 127"/>
                <a:gd name="T11" fmla="*/ 0 h 37"/>
                <a:gd name="T12" fmla="*/ 126 w 127"/>
                <a:gd name="T13" fmla="*/ 18 h 37"/>
                <a:gd name="T14" fmla="*/ 108 w 127"/>
                <a:gd name="T15" fmla="*/ 36 h 37"/>
                <a:gd name="T16" fmla="*/ 18 w 127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" h="37">
                  <a:moveTo>
                    <a:pt x="18" y="36"/>
                  </a:moveTo>
                  <a:lnTo>
                    <a:pt x="18" y="36"/>
                  </a:lnTo>
                  <a:cubicBezTo>
                    <a:pt x="0" y="36"/>
                    <a:pt x="0" y="27"/>
                    <a:pt x="0" y="18"/>
                  </a:cubicBezTo>
                  <a:cubicBezTo>
                    <a:pt x="0" y="9"/>
                    <a:pt x="0" y="0"/>
                    <a:pt x="18" y="0"/>
                  </a:cubicBezTo>
                  <a:cubicBezTo>
                    <a:pt x="108" y="0"/>
                    <a:pt x="108" y="0"/>
                    <a:pt x="108" y="0"/>
                  </a:cubicBezTo>
                  <a:lnTo>
                    <a:pt x="108" y="0"/>
                  </a:lnTo>
                  <a:cubicBezTo>
                    <a:pt x="117" y="0"/>
                    <a:pt x="126" y="9"/>
                    <a:pt x="126" y="18"/>
                  </a:cubicBezTo>
                  <a:cubicBezTo>
                    <a:pt x="126" y="27"/>
                    <a:pt x="117" y="36"/>
                    <a:pt x="108" y="36"/>
                  </a:cubicBezTo>
                  <a:cubicBezTo>
                    <a:pt x="18" y="36"/>
                    <a:pt x="18" y="36"/>
                    <a:pt x="18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6" name="Freeform 443">
              <a:extLst>
                <a:ext uri="{FF2B5EF4-FFF2-40B4-BE49-F238E27FC236}">
                  <a16:creationId xmlns:a16="http://schemas.microsoft.com/office/drawing/2014/main" id="{56F0ED33-7160-7E43-B241-0FD4FCDD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3079" y="10104374"/>
              <a:ext cx="145222" cy="46845"/>
            </a:xfrm>
            <a:custGeom>
              <a:avLst/>
              <a:gdLst>
                <a:gd name="T0" fmla="*/ 18 w 136"/>
                <a:gd name="T1" fmla="*/ 45 h 46"/>
                <a:gd name="T2" fmla="*/ 18 w 136"/>
                <a:gd name="T3" fmla="*/ 45 h 46"/>
                <a:gd name="T4" fmla="*/ 0 w 136"/>
                <a:gd name="T5" fmla="*/ 27 h 46"/>
                <a:gd name="T6" fmla="*/ 18 w 136"/>
                <a:gd name="T7" fmla="*/ 9 h 46"/>
                <a:gd name="T8" fmla="*/ 117 w 136"/>
                <a:gd name="T9" fmla="*/ 0 h 46"/>
                <a:gd name="T10" fmla="*/ 135 w 136"/>
                <a:gd name="T11" fmla="*/ 27 h 46"/>
                <a:gd name="T12" fmla="*/ 117 w 136"/>
                <a:gd name="T13" fmla="*/ 45 h 46"/>
                <a:gd name="T14" fmla="*/ 27 w 136"/>
                <a:gd name="T15" fmla="*/ 45 h 46"/>
                <a:gd name="T16" fmla="*/ 18 w 136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" h="46">
                  <a:moveTo>
                    <a:pt x="18" y="45"/>
                  </a:moveTo>
                  <a:lnTo>
                    <a:pt x="18" y="45"/>
                  </a:lnTo>
                  <a:cubicBezTo>
                    <a:pt x="9" y="45"/>
                    <a:pt x="0" y="36"/>
                    <a:pt x="0" y="27"/>
                  </a:cubicBezTo>
                  <a:cubicBezTo>
                    <a:pt x="0" y="18"/>
                    <a:pt x="9" y="9"/>
                    <a:pt x="18" y="9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26" y="0"/>
                    <a:pt x="135" y="9"/>
                    <a:pt x="135" y="27"/>
                  </a:cubicBezTo>
                  <a:cubicBezTo>
                    <a:pt x="135" y="36"/>
                    <a:pt x="126" y="45"/>
                    <a:pt x="11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18" y="45"/>
                    <a:pt x="18" y="45"/>
                    <a:pt x="18" y="4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7" name="Freeform 444">
              <a:extLst>
                <a:ext uri="{FF2B5EF4-FFF2-40B4-BE49-F238E27FC236}">
                  <a16:creationId xmlns:a16="http://schemas.microsoft.com/office/drawing/2014/main" id="{5B3391C5-1211-9E46-A146-9BC55D24B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3901" y="9902938"/>
              <a:ext cx="248281" cy="37476"/>
            </a:xfrm>
            <a:custGeom>
              <a:avLst/>
              <a:gdLst>
                <a:gd name="T0" fmla="*/ 207 w 235"/>
                <a:gd name="T1" fmla="*/ 36 h 37"/>
                <a:gd name="T2" fmla="*/ 207 w 235"/>
                <a:gd name="T3" fmla="*/ 36 h 37"/>
                <a:gd name="T4" fmla="*/ 18 w 235"/>
                <a:gd name="T5" fmla="*/ 36 h 37"/>
                <a:gd name="T6" fmla="*/ 0 w 235"/>
                <a:gd name="T7" fmla="*/ 18 h 37"/>
                <a:gd name="T8" fmla="*/ 18 w 235"/>
                <a:gd name="T9" fmla="*/ 0 h 37"/>
                <a:gd name="T10" fmla="*/ 207 w 235"/>
                <a:gd name="T11" fmla="*/ 0 h 37"/>
                <a:gd name="T12" fmla="*/ 234 w 235"/>
                <a:gd name="T13" fmla="*/ 18 h 37"/>
                <a:gd name="T14" fmla="*/ 207 w 235"/>
                <a:gd name="T1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5" h="37">
                  <a:moveTo>
                    <a:pt x="207" y="36"/>
                  </a:moveTo>
                  <a:lnTo>
                    <a:pt x="207" y="36"/>
                  </a:lnTo>
                  <a:cubicBezTo>
                    <a:pt x="18" y="36"/>
                    <a:pt x="18" y="36"/>
                    <a:pt x="18" y="36"/>
                  </a:cubicBezTo>
                  <a:cubicBezTo>
                    <a:pt x="9" y="36"/>
                    <a:pt x="0" y="27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25" y="0"/>
                    <a:pt x="234" y="9"/>
                    <a:pt x="234" y="18"/>
                  </a:cubicBezTo>
                  <a:cubicBezTo>
                    <a:pt x="234" y="27"/>
                    <a:pt x="225" y="36"/>
                    <a:pt x="207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8" name="Freeform 445">
              <a:extLst>
                <a:ext uri="{FF2B5EF4-FFF2-40B4-BE49-F238E27FC236}">
                  <a16:creationId xmlns:a16="http://schemas.microsoft.com/office/drawing/2014/main" id="{410E816D-B5E1-0040-8F47-F12232CF0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3901" y="10010683"/>
              <a:ext cx="238912" cy="37476"/>
            </a:xfrm>
            <a:custGeom>
              <a:avLst/>
              <a:gdLst>
                <a:gd name="T0" fmla="*/ 207 w 226"/>
                <a:gd name="T1" fmla="*/ 36 h 37"/>
                <a:gd name="T2" fmla="*/ 207 w 226"/>
                <a:gd name="T3" fmla="*/ 36 h 37"/>
                <a:gd name="T4" fmla="*/ 18 w 226"/>
                <a:gd name="T5" fmla="*/ 36 h 37"/>
                <a:gd name="T6" fmla="*/ 0 w 226"/>
                <a:gd name="T7" fmla="*/ 18 h 37"/>
                <a:gd name="T8" fmla="*/ 18 w 226"/>
                <a:gd name="T9" fmla="*/ 0 h 37"/>
                <a:gd name="T10" fmla="*/ 207 w 226"/>
                <a:gd name="T11" fmla="*/ 0 h 37"/>
                <a:gd name="T12" fmla="*/ 225 w 226"/>
                <a:gd name="T13" fmla="*/ 18 h 37"/>
                <a:gd name="T14" fmla="*/ 207 w 226"/>
                <a:gd name="T1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6" h="37">
                  <a:moveTo>
                    <a:pt x="207" y="36"/>
                  </a:moveTo>
                  <a:lnTo>
                    <a:pt x="207" y="36"/>
                  </a:lnTo>
                  <a:cubicBezTo>
                    <a:pt x="18" y="36"/>
                    <a:pt x="18" y="36"/>
                    <a:pt x="18" y="36"/>
                  </a:cubicBezTo>
                  <a:cubicBezTo>
                    <a:pt x="9" y="36"/>
                    <a:pt x="0" y="27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25" y="0"/>
                    <a:pt x="225" y="9"/>
                    <a:pt x="225" y="18"/>
                  </a:cubicBezTo>
                  <a:cubicBezTo>
                    <a:pt x="225" y="27"/>
                    <a:pt x="225" y="36"/>
                    <a:pt x="207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39" name="Freeform 446">
              <a:extLst>
                <a:ext uri="{FF2B5EF4-FFF2-40B4-BE49-F238E27FC236}">
                  <a16:creationId xmlns:a16="http://schemas.microsoft.com/office/drawing/2014/main" id="{FE0DCC6B-03B4-E646-A04B-108BE9BA5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3901" y="10113743"/>
              <a:ext cx="238912" cy="37476"/>
            </a:xfrm>
            <a:custGeom>
              <a:avLst/>
              <a:gdLst>
                <a:gd name="T0" fmla="*/ 207 w 226"/>
                <a:gd name="T1" fmla="*/ 36 h 37"/>
                <a:gd name="T2" fmla="*/ 207 w 226"/>
                <a:gd name="T3" fmla="*/ 36 h 37"/>
                <a:gd name="T4" fmla="*/ 18 w 226"/>
                <a:gd name="T5" fmla="*/ 36 h 37"/>
                <a:gd name="T6" fmla="*/ 0 w 226"/>
                <a:gd name="T7" fmla="*/ 18 h 37"/>
                <a:gd name="T8" fmla="*/ 18 w 226"/>
                <a:gd name="T9" fmla="*/ 0 h 37"/>
                <a:gd name="T10" fmla="*/ 207 w 226"/>
                <a:gd name="T11" fmla="*/ 0 h 37"/>
                <a:gd name="T12" fmla="*/ 225 w 226"/>
                <a:gd name="T13" fmla="*/ 18 h 37"/>
                <a:gd name="T14" fmla="*/ 207 w 226"/>
                <a:gd name="T15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6" h="37">
                  <a:moveTo>
                    <a:pt x="207" y="36"/>
                  </a:moveTo>
                  <a:lnTo>
                    <a:pt x="207" y="36"/>
                  </a:lnTo>
                  <a:cubicBezTo>
                    <a:pt x="18" y="36"/>
                    <a:pt x="18" y="36"/>
                    <a:pt x="18" y="36"/>
                  </a:cubicBezTo>
                  <a:cubicBezTo>
                    <a:pt x="9" y="36"/>
                    <a:pt x="0" y="27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25" y="0"/>
                    <a:pt x="225" y="9"/>
                    <a:pt x="225" y="18"/>
                  </a:cubicBezTo>
                  <a:cubicBezTo>
                    <a:pt x="225" y="27"/>
                    <a:pt x="225" y="36"/>
                    <a:pt x="207" y="3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0" name="Freeform 447">
              <a:extLst>
                <a:ext uri="{FF2B5EF4-FFF2-40B4-BE49-F238E27FC236}">
                  <a16:creationId xmlns:a16="http://schemas.microsoft.com/office/drawing/2014/main" id="{3B29690A-4D0E-D54A-8481-3391EB113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3901" y="10221485"/>
              <a:ext cx="135853" cy="126484"/>
            </a:xfrm>
            <a:custGeom>
              <a:avLst/>
              <a:gdLst>
                <a:gd name="T0" fmla="*/ 117 w 127"/>
                <a:gd name="T1" fmla="*/ 117 h 118"/>
                <a:gd name="T2" fmla="*/ 117 w 127"/>
                <a:gd name="T3" fmla="*/ 117 h 118"/>
                <a:gd name="T4" fmla="*/ 18 w 127"/>
                <a:gd name="T5" fmla="*/ 117 h 118"/>
                <a:gd name="T6" fmla="*/ 0 w 127"/>
                <a:gd name="T7" fmla="*/ 108 h 118"/>
                <a:gd name="T8" fmla="*/ 0 w 127"/>
                <a:gd name="T9" fmla="*/ 9 h 118"/>
                <a:gd name="T10" fmla="*/ 18 w 127"/>
                <a:gd name="T11" fmla="*/ 0 h 118"/>
                <a:gd name="T12" fmla="*/ 117 w 127"/>
                <a:gd name="T13" fmla="*/ 0 h 118"/>
                <a:gd name="T14" fmla="*/ 126 w 127"/>
                <a:gd name="T15" fmla="*/ 9 h 118"/>
                <a:gd name="T16" fmla="*/ 126 w 127"/>
                <a:gd name="T17" fmla="*/ 108 h 118"/>
                <a:gd name="T18" fmla="*/ 117 w 127"/>
                <a:gd name="T19" fmla="*/ 117 h 118"/>
                <a:gd name="T20" fmla="*/ 27 w 127"/>
                <a:gd name="T21" fmla="*/ 99 h 118"/>
                <a:gd name="T22" fmla="*/ 27 w 127"/>
                <a:gd name="T23" fmla="*/ 99 h 118"/>
                <a:gd name="T24" fmla="*/ 99 w 127"/>
                <a:gd name="T25" fmla="*/ 99 h 118"/>
                <a:gd name="T26" fmla="*/ 99 w 127"/>
                <a:gd name="T27" fmla="*/ 27 h 118"/>
                <a:gd name="T28" fmla="*/ 27 w 127"/>
                <a:gd name="T29" fmla="*/ 27 h 118"/>
                <a:gd name="T30" fmla="*/ 27 w 127"/>
                <a:gd name="T31" fmla="*/ 9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" h="118">
                  <a:moveTo>
                    <a:pt x="117" y="117"/>
                  </a:moveTo>
                  <a:lnTo>
                    <a:pt x="117" y="117"/>
                  </a:lnTo>
                  <a:cubicBezTo>
                    <a:pt x="18" y="117"/>
                    <a:pt x="18" y="117"/>
                    <a:pt x="18" y="117"/>
                  </a:cubicBezTo>
                  <a:cubicBezTo>
                    <a:pt x="9" y="117"/>
                    <a:pt x="0" y="117"/>
                    <a:pt x="0" y="10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117" y="0"/>
                    <a:pt x="117" y="0"/>
                    <a:pt x="117" y="0"/>
                  </a:cubicBezTo>
                  <a:lnTo>
                    <a:pt x="126" y="9"/>
                  </a:lnTo>
                  <a:cubicBezTo>
                    <a:pt x="126" y="108"/>
                    <a:pt x="126" y="108"/>
                    <a:pt x="126" y="108"/>
                  </a:cubicBezTo>
                  <a:cubicBezTo>
                    <a:pt x="126" y="117"/>
                    <a:pt x="117" y="117"/>
                    <a:pt x="117" y="117"/>
                  </a:cubicBezTo>
                  <a:close/>
                  <a:moveTo>
                    <a:pt x="27" y="99"/>
                  </a:moveTo>
                  <a:lnTo>
                    <a:pt x="27" y="99"/>
                  </a:lnTo>
                  <a:cubicBezTo>
                    <a:pt x="99" y="99"/>
                    <a:pt x="99" y="99"/>
                    <a:pt x="99" y="99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27" y="27"/>
                    <a:pt x="27" y="27"/>
                    <a:pt x="27" y="27"/>
                  </a:cubicBezTo>
                  <a:lnTo>
                    <a:pt x="27" y="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1" name="Freeform 448">
              <a:extLst>
                <a:ext uri="{FF2B5EF4-FFF2-40B4-BE49-F238E27FC236}">
                  <a16:creationId xmlns:a16="http://schemas.microsoft.com/office/drawing/2014/main" id="{6196428C-FB44-374A-AFC5-4BC87427E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3079" y="9495386"/>
              <a:ext cx="145222" cy="145219"/>
            </a:xfrm>
            <a:custGeom>
              <a:avLst/>
              <a:gdLst>
                <a:gd name="T0" fmla="*/ 72 w 136"/>
                <a:gd name="T1" fmla="*/ 134 h 135"/>
                <a:gd name="T2" fmla="*/ 72 w 136"/>
                <a:gd name="T3" fmla="*/ 134 h 135"/>
                <a:gd name="T4" fmla="*/ 0 w 136"/>
                <a:gd name="T5" fmla="*/ 63 h 135"/>
                <a:gd name="T6" fmla="*/ 72 w 136"/>
                <a:gd name="T7" fmla="*/ 0 h 135"/>
                <a:gd name="T8" fmla="*/ 135 w 136"/>
                <a:gd name="T9" fmla="*/ 63 h 135"/>
                <a:gd name="T10" fmla="*/ 72 w 136"/>
                <a:gd name="T11" fmla="*/ 134 h 135"/>
                <a:gd name="T12" fmla="*/ 72 w 136"/>
                <a:gd name="T13" fmla="*/ 35 h 135"/>
                <a:gd name="T14" fmla="*/ 72 w 136"/>
                <a:gd name="T15" fmla="*/ 35 h 135"/>
                <a:gd name="T16" fmla="*/ 36 w 136"/>
                <a:gd name="T17" fmla="*/ 63 h 135"/>
                <a:gd name="T18" fmla="*/ 72 w 136"/>
                <a:gd name="T19" fmla="*/ 99 h 135"/>
                <a:gd name="T20" fmla="*/ 99 w 136"/>
                <a:gd name="T21" fmla="*/ 63 h 135"/>
                <a:gd name="T22" fmla="*/ 72 w 136"/>
                <a:gd name="T23" fmla="*/ 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" h="135">
                  <a:moveTo>
                    <a:pt x="72" y="134"/>
                  </a:moveTo>
                  <a:lnTo>
                    <a:pt x="72" y="134"/>
                  </a:lnTo>
                  <a:cubicBezTo>
                    <a:pt x="36" y="134"/>
                    <a:pt x="0" y="99"/>
                    <a:pt x="0" y="63"/>
                  </a:cubicBezTo>
                  <a:cubicBezTo>
                    <a:pt x="0" y="27"/>
                    <a:pt x="36" y="0"/>
                    <a:pt x="72" y="0"/>
                  </a:cubicBezTo>
                  <a:cubicBezTo>
                    <a:pt x="108" y="0"/>
                    <a:pt x="135" y="27"/>
                    <a:pt x="135" y="63"/>
                  </a:cubicBezTo>
                  <a:cubicBezTo>
                    <a:pt x="135" y="99"/>
                    <a:pt x="108" y="134"/>
                    <a:pt x="72" y="134"/>
                  </a:cubicBezTo>
                  <a:close/>
                  <a:moveTo>
                    <a:pt x="72" y="35"/>
                  </a:moveTo>
                  <a:lnTo>
                    <a:pt x="72" y="35"/>
                  </a:lnTo>
                  <a:cubicBezTo>
                    <a:pt x="54" y="35"/>
                    <a:pt x="36" y="44"/>
                    <a:pt x="36" y="63"/>
                  </a:cubicBezTo>
                  <a:cubicBezTo>
                    <a:pt x="36" y="80"/>
                    <a:pt x="54" y="99"/>
                    <a:pt x="72" y="99"/>
                  </a:cubicBezTo>
                  <a:cubicBezTo>
                    <a:pt x="90" y="99"/>
                    <a:pt x="99" y="80"/>
                    <a:pt x="99" y="63"/>
                  </a:cubicBezTo>
                  <a:cubicBezTo>
                    <a:pt x="99" y="44"/>
                    <a:pt x="90" y="35"/>
                    <a:pt x="72" y="3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2" name="Freeform 449">
              <a:extLst>
                <a:ext uri="{FF2B5EF4-FFF2-40B4-BE49-F238E27FC236}">
                  <a16:creationId xmlns:a16="http://schemas.microsoft.com/office/drawing/2014/main" id="{FC9F58F7-DF64-E04C-9BAA-A9EC3CEA3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5955" y="9963838"/>
              <a:ext cx="735471" cy="192064"/>
            </a:xfrm>
            <a:custGeom>
              <a:avLst/>
              <a:gdLst>
                <a:gd name="T0" fmla="*/ 656 w 693"/>
                <a:gd name="T1" fmla="*/ 180 h 181"/>
                <a:gd name="T2" fmla="*/ 656 w 693"/>
                <a:gd name="T3" fmla="*/ 180 h 181"/>
                <a:gd name="T4" fmla="*/ 45 w 693"/>
                <a:gd name="T5" fmla="*/ 180 h 181"/>
                <a:gd name="T6" fmla="*/ 0 w 693"/>
                <a:gd name="T7" fmla="*/ 144 h 181"/>
                <a:gd name="T8" fmla="*/ 0 w 693"/>
                <a:gd name="T9" fmla="*/ 45 h 181"/>
                <a:gd name="T10" fmla="*/ 45 w 693"/>
                <a:gd name="T11" fmla="*/ 0 h 181"/>
                <a:gd name="T12" fmla="*/ 656 w 693"/>
                <a:gd name="T13" fmla="*/ 0 h 181"/>
                <a:gd name="T14" fmla="*/ 692 w 693"/>
                <a:gd name="T15" fmla="*/ 45 h 181"/>
                <a:gd name="T16" fmla="*/ 692 w 693"/>
                <a:gd name="T17" fmla="*/ 144 h 181"/>
                <a:gd name="T18" fmla="*/ 656 w 693"/>
                <a:gd name="T19" fmla="*/ 180 h 181"/>
                <a:gd name="T20" fmla="*/ 54 w 693"/>
                <a:gd name="T21" fmla="*/ 135 h 181"/>
                <a:gd name="T22" fmla="*/ 54 w 693"/>
                <a:gd name="T23" fmla="*/ 135 h 181"/>
                <a:gd name="T24" fmla="*/ 647 w 693"/>
                <a:gd name="T25" fmla="*/ 135 h 181"/>
                <a:gd name="T26" fmla="*/ 647 w 693"/>
                <a:gd name="T27" fmla="*/ 54 h 181"/>
                <a:gd name="T28" fmla="*/ 54 w 693"/>
                <a:gd name="T29" fmla="*/ 54 h 181"/>
                <a:gd name="T30" fmla="*/ 54 w 693"/>
                <a:gd name="T31" fmla="*/ 13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3" h="181">
                  <a:moveTo>
                    <a:pt x="656" y="180"/>
                  </a:moveTo>
                  <a:lnTo>
                    <a:pt x="656" y="180"/>
                  </a:lnTo>
                  <a:cubicBezTo>
                    <a:pt x="45" y="180"/>
                    <a:pt x="45" y="180"/>
                    <a:pt x="45" y="180"/>
                  </a:cubicBezTo>
                  <a:cubicBezTo>
                    <a:pt x="18" y="180"/>
                    <a:pt x="0" y="162"/>
                    <a:pt x="0" y="144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18"/>
                    <a:pt x="18" y="0"/>
                    <a:pt x="45" y="0"/>
                  </a:cubicBezTo>
                  <a:cubicBezTo>
                    <a:pt x="656" y="0"/>
                    <a:pt x="656" y="0"/>
                    <a:pt x="656" y="0"/>
                  </a:cubicBezTo>
                  <a:cubicBezTo>
                    <a:pt x="674" y="0"/>
                    <a:pt x="692" y="18"/>
                    <a:pt x="692" y="45"/>
                  </a:cubicBezTo>
                  <a:cubicBezTo>
                    <a:pt x="692" y="144"/>
                    <a:pt x="692" y="144"/>
                    <a:pt x="692" y="144"/>
                  </a:cubicBezTo>
                  <a:cubicBezTo>
                    <a:pt x="692" y="162"/>
                    <a:pt x="674" y="180"/>
                    <a:pt x="656" y="180"/>
                  </a:cubicBezTo>
                  <a:close/>
                  <a:moveTo>
                    <a:pt x="54" y="135"/>
                  </a:moveTo>
                  <a:lnTo>
                    <a:pt x="54" y="135"/>
                  </a:lnTo>
                  <a:cubicBezTo>
                    <a:pt x="647" y="135"/>
                    <a:pt x="647" y="135"/>
                    <a:pt x="647" y="135"/>
                  </a:cubicBezTo>
                  <a:cubicBezTo>
                    <a:pt x="647" y="54"/>
                    <a:pt x="647" y="54"/>
                    <a:pt x="647" y="54"/>
                  </a:cubicBezTo>
                  <a:cubicBezTo>
                    <a:pt x="54" y="54"/>
                    <a:pt x="54" y="54"/>
                    <a:pt x="54" y="54"/>
                  </a:cubicBezTo>
                  <a:lnTo>
                    <a:pt x="54" y="1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3" name="Freeform 450">
              <a:extLst>
                <a:ext uri="{FF2B5EF4-FFF2-40B4-BE49-F238E27FC236}">
                  <a16:creationId xmlns:a16="http://schemas.microsoft.com/office/drawing/2014/main" id="{68B83C63-900F-D940-B2E2-EAE405972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1177" y="9982576"/>
              <a:ext cx="46845" cy="154588"/>
            </a:xfrm>
            <a:custGeom>
              <a:avLst/>
              <a:gdLst>
                <a:gd name="T0" fmla="*/ 27 w 45"/>
                <a:gd name="T1" fmla="*/ 144 h 145"/>
                <a:gd name="T2" fmla="*/ 27 w 45"/>
                <a:gd name="T3" fmla="*/ 144 h 145"/>
                <a:gd name="T4" fmla="*/ 0 w 45"/>
                <a:gd name="T5" fmla="*/ 126 h 145"/>
                <a:gd name="T6" fmla="*/ 0 w 45"/>
                <a:gd name="T7" fmla="*/ 27 h 145"/>
                <a:gd name="T8" fmla="*/ 18 w 45"/>
                <a:gd name="T9" fmla="*/ 0 h 145"/>
                <a:gd name="T10" fmla="*/ 18 w 45"/>
                <a:gd name="T11" fmla="*/ 0 h 145"/>
                <a:gd name="T12" fmla="*/ 44 w 45"/>
                <a:gd name="T13" fmla="*/ 27 h 145"/>
                <a:gd name="T14" fmla="*/ 44 w 45"/>
                <a:gd name="T15" fmla="*/ 126 h 145"/>
                <a:gd name="T16" fmla="*/ 27 w 45"/>
                <a:gd name="T17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145">
                  <a:moveTo>
                    <a:pt x="27" y="144"/>
                  </a:moveTo>
                  <a:lnTo>
                    <a:pt x="27" y="144"/>
                  </a:lnTo>
                  <a:cubicBezTo>
                    <a:pt x="8" y="144"/>
                    <a:pt x="0" y="135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9"/>
                    <a:pt x="8" y="0"/>
                    <a:pt x="18" y="0"/>
                  </a:cubicBezTo>
                  <a:lnTo>
                    <a:pt x="18" y="0"/>
                  </a:lnTo>
                  <a:cubicBezTo>
                    <a:pt x="36" y="0"/>
                    <a:pt x="44" y="9"/>
                    <a:pt x="44" y="27"/>
                  </a:cubicBezTo>
                  <a:cubicBezTo>
                    <a:pt x="44" y="126"/>
                    <a:pt x="44" y="126"/>
                    <a:pt x="44" y="126"/>
                  </a:cubicBezTo>
                  <a:cubicBezTo>
                    <a:pt x="44" y="135"/>
                    <a:pt x="36" y="144"/>
                    <a:pt x="27" y="14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4" name="Freeform 451">
              <a:extLst>
                <a:ext uri="{FF2B5EF4-FFF2-40B4-BE49-F238E27FC236}">
                  <a16:creationId xmlns:a16="http://schemas.microsoft.com/office/drawing/2014/main" id="{503D57D1-BF89-AC44-B5C2-917D37AE0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57026" y="9982576"/>
              <a:ext cx="56214" cy="154588"/>
            </a:xfrm>
            <a:custGeom>
              <a:avLst/>
              <a:gdLst>
                <a:gd name="T0" fmla="*/ 26 w 54"/>
                <a:gd name="T1" fmla="*/ 144 h 145"/>
                <a:gd name="T2" fmla="*/ 26 w 54"/>
                <a:gd name="T3" fmla="*/ 144 h 145"/>
                <a:gd name="T4" fmla="*/ 0 w 54"/>
                <a:gd name="T5" fmla="*/ 126 h 145"/>
                <a:gd name="T6" fmla="*/ 0 w 54"/>
                <a:gd name="T7" fmla="*/ 27 h 145"/>
                <a:gd name="T8" fmla="*/ 26 w 54"/>
                <a:gd name="T9" fmla="*/ 0 h 145"/>
                <a:gd name="T10" fmla="*/ 26 w 54"/>
                <a:gd name="T11" fmla="*/ 0 h 145"/>
                <a:gd name="T12" fmla="*/ 44 w 54"/>
                <a:gd name="T13" fmla="*/ 27 h 145"/>
                <a:gd name="T14" fmla="*/ 53 w 54"/>
                <a:gd name="T15" fmla="*/ 126 h 145"/>
                <a:gd name="T16" fmla="*/ 26 w 54"/>
                <a:gd name="T17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145">
                  <a:moveTo>
                    <a:pt x="26" y="144"/>
                  </a:moveTo>
                  <a:lnTo>
                    <a:pt x="26" y="144"/>
                  </a:lnTo>
                  <a:cubicBezTo>
                    <a:pt x="9" y="144"/>
                    <a:pt x="0" y="135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9"/>
                    <a:pt x="9" y="0"/>
                    <a:pt x="26" y="0"/>
                  </a:cubicBezTo>
                  <a:lnTo>
                    <a:pt x="26" y="0"/>
                  </a:lnTo>
                  <a:cubicBezTo>
                    <a:pt x="36" y="0"/>
                    <a:pt x="44" y="9"/>
                    <a:pt x="44" y="27"/>
                  </a:cubicBezTo>
                  <a:cubicBezTo>
                    <a:pt x="53" y="126"/>
                    <a:pt x="53" y="126"/>
                    <a:pt x="53" y="126"/>
                  </a:cubicBezTo>
                  <a:cubicBezTo>
                    <a:pt x="53" y="135"/>
                    <a:pt x="36" y="144"/>
                    <a:pt x="26" y="14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5" name="Freeform 452">
              <a:extLst>
                <a:ext uri="{FF2B5EF4-FFF2-40B4-BE49-F238E27FC236}">
                  <a16:creationId xmlns:a16="http://schemas.microsoft.com/office/drawing/2014/main" id="{1A9E6DA2-134D-724C-BA6B-0E04ECC5A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8193" y="9982576"/>
              <a:ext cx="56214" cy="163957"/>
            </a:xfrm>
            <a:custGeom>
              <a:avLst/>
              <a:gdLst>
                <a:gd name="T0" fmla="*/ 27 w 55"/>
                <a:gd name="T1" fmla="*/ 153 h 154"/>
                <a:gd name="T2" fmla="*/ 27 w 55"/>
                <a:gd name="T3" fmla="*/ 153 h 154"/>
                <a:gd name="T4" fmla="*/ 0 w 55"/>
                <a:gd name="T5" fmla="*/ 126 h 154"/>
                <a:gd name="T6" fmla="*/ 0 w 55"/>
                <a:gd name="T7" fmla="*/ 27 h 154"/>
                <a:gd name="T8" fmla="*/ 27 w 55"/>
                <a:gd name="T9" fmla="*/ 0 h 154"/>
                <a:gd name="T10" fmla="*/ 54 w 55"/>
                <a:gd name="T11" fmla="*/ 27 h 154"/>
                <a:gd name="T12" fmla="*/ 54 w 55"/>
                <a:gd name="T13" fmla="*/ 126 h 154"/>
                <a:gd name="T14" fmla="*/ 27 w 55"/>
                <a:gd name="T15" fmla="*/ 1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154">
                  <a:moveTo>
                    <a:pt x="27" y="153"/>
                  </a:moveTo>
                  <a:lnTo>
                    <a:pt x="27" y="153"/>
                  </a:lnTo>
                  <a:cubicBezTo>
                    <a:pt x="19" y="153"/>
                    <a:pt x="0" y="135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9"/>
                    <a:pt x="9" y="0"/>
                    <a:pt x="27" y="0"/>
                  </a:cubicBezTo>
                  <a:cubicBezTo>
                    <a:pt x="36" y="0"/>
                    <a:pt x="54" y="9"/>
                    <a:pt x="54" y="27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35"/>
                    <a:pt x="45" y="153"/>
                    <a:pt x="27" y="15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6" name="Freeform 453">
              <a:extLst>
                <a:ext uri="{FF2B5EF4-FFF2-40B4-BE49-F238E27FC236}">
                  <a16:creationId xmlns:a16="http://schemas.microsoft.com/office/drawing/2014/main" id="{67E4128B-1E24-1346-844E-478052A21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3414" y="9982576"/>
              <a:ext cx="46845" cy="163957"/>
            </a:xfrm>
            <a:custGeom>
              <a:avLst/>
              <a:gdLst>
                <a:gd name="T0" fmla="*/ 27 w 46"/>
                <a:gd name="T1" fmla="*/ 153 h 154"/>
                <a:gd name="T2" fmla="*/ 27 w 46"/>
                <a:gd name="T3" fmla="*/ 153 h 154"/>
                <a:gd name="T4" fmla="*/ 0 w 46"/>
                <a:gd name="T5" fmla="*/ 126 h 154"/>
                <a:gd name="T6" fmla="*/ 0 w 46"/>
                <a:gd name="T7" fmla="*/ 27 h 154"/>
                <a:gd name="T8" fmla="*/ 18 w 46"/>
                <a:gd name="T9" fmla="*/ 0 h 154"/>
                <a:gd name="T10" fmla="*/ 45 w 46"/>
                <a:gd name="T11" fmla="*/ 27 h 154"/>
                <a:gd name="T12" fmla="*/ 45 w 46"/>
                <a:gd name="T13" fmla="*/ 126 h 154"/>
                <a:gd name="T14" fmla="*/ 27 w 46"/>
                <a:gd name="T15" fmla="*/ 1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154">
                  <a:moveTo>
                    <a:pt x="27" y="153"/>
                  </a:moveTo>
                  <a:lnTo>
                    <a:pt x="27" y="153"/>
                  </a:lnTo>
                  <a:cubicBezTo>
                    <a:pt x="9" y="153"/>
                    <a:pt x="0" y="135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36" y="0"/>
                    <a:pt x="45" y="9"/>
                    <a:pt x="45" y="27"/>
                  </a:cubicBezTo>
                  <a:cubicBezTo>
                    <a:pt x="45" y="126"/>
                    <a:pt x="45" y="126"/>
                    <a:pt x="45" y="126"/>
                  </a:cubicBezTo>
                  <a:cubicBezTo>
                    <a:pt x="45" y="135"/>
                    <a:pt x="36" y="153"/>
                    <a:pt x="27" y="15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7" name="Freeform 454">
              <a:extLst>
                <a:ext uri="{FF2B5EF4-FFF2-40B4-BE49-F238E27FC236}">
                  <a16:creationId xmlns:a16="http://schemas.microsoft.com/office/drawing/2014/main" id="{90A961B5-1285-EE4D-B5F2-7B3DFF569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2264" y="9827985"/>
              <a:ext cx="735471" cy="192067"/>
            </a:xfrm>
            <a:custGeom>
              <a:avLst/>
              <a:gdLst>
                <a:gd name="T0" fmla="*/ 647 w 693"/>
                <a:gd name="T1" fmla="*/ 180 h 181"/>
                <a:gd name="T2" fmla="*/ 647 w 693"/>
                <a:gd name="T3" fmla="*/ 180 h 181"/>
                <a:gd name="T4" fmla="*/ 36 w 693"/>
                <a:gd name="T5" fmla="*/ 180 h 181"/>
                <a:gd name="T6" fmla="*/ 0 w 693"/>
                <a:gd name="T7" fmla="*/ 135 h 181"/>
                <a:gd name="T8" fmla="*/ 0 w 693"/>
                <a:gd name="T9" fmla="*/ 36 h 181"/>
                <a:gd name="T10" fmla="*/ 36 w 693"/>
                <a:gd name="T11" fmla="*/ 0 h 181"/>
                <a:gd name="T12" fmla="*/ 647 w 693"/>
                <a:gd name="T13" fmla="*/ 0 h 181"/>
                <a:gd name="T14" fmla="*/ 692 w 693"/>
                <a:gd name="T15" fmla="*/ 36 h 181"/>
                <a:gd name="T16" fmla="*/ 692 w 693"/>
                <a:gd name="T17" fmla="*/ 135 h 181"/>
                <a:gd name="T18" fmla="*/ 647 w 693"/>
                <a:gd name="T19" fmla="*/ 180 h 181"/>
                <a:gd name="T20" fmla="*/ 54 w 693"/>
                <a:gd name="T21" fmla="*/ 126 h 181"/>
                <a:gd name="T22" fmla="*/ 54 w 693"/>
                <a:gd name="T23" fmla="*/ 126 h 181"/>
                <a:gd name="T24" fmla="*/ 638 w 693"/>
                <a:gd name="T25" fmla="*/ 126 h 181"/>
                <a:gd name="T26" fmla="*/ 638 w 693"/>
                <a:gd name="T27" fmla="*/ 45 h 181"/>
                <a:gd name="T28" fmla="*/ 54 w 693"/>
                <a:gd name="T29" fmla="*/ 45 h 181"/>
                <a:gd name="T30" fmla="*/ 54 w 693"/>
                <a:gd name="T31" fmla="*/ 12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3" h="181">
                  <a:moveTo>
                    <a:pt x="647" y="180"/>
                  </a:moveTo>
                  <a:lnTo>
                    <a:pt x="647" y="180"/>
                  </a:lnTo>
                  <a:cubicBezTo>
                    <a:pt x="36" y="180"/>
                    <a:pt x="36" y="180"/>
                    <a:pt x="36" y="180"/>
                  </a:cubicBezTo>
                  <a:cubicBezTo>
                    <a:pt x="18" y="180"/>
                    <a:pt x="0" y="162"/>
                    <a:pt x="0" y="135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8"/>
                    <a:pt x="18" y="0"/>
                    <a:pt x="36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74" y="0"/>
                    <a:pt x="692" y="18"/>
                    <a:pt x="692" y="36"/>
                  </a:cubicBezTo>
                  <a:cubicBezTo>
                    <a:pt x="692" y="135"/>
                    <a:pt x="692" y="135"/>
                    <a:pt x="692" y="135"/>
                  </a:cubicBezTo>
                  <a:cubicBezTo>
                    <a:pt x="692" y="162"/>
                    <a:pt x="674" y="180"/>
                    <a:pt x="647" y="180"/>
                  </a:cubicBezTo>
                  <a:close/>
                  <a:moveTo>
                    <a:pt x="54" y="126"/>
                  </a:moveTo>
                  <a:lnTo>
                    <a:pt x="54" y="126"/>
                  </a:lnTo>
                  <a:cubicBezTo>
                    <a:pt x="638" y="126"/>
                    <a:pt x="638" y="126"/>
                    <a:pt x="638" y="126"/>
                  </a:cubicBezTo>
                  <a:cubicBezTo>
                    <a:pt x="638" y="45"/>
                    <a:pt x="638" y="45"/>
                    <a:pt x="638" y="45"/>
                  </a:cubicBezTo>
                  <a:cubicBezTo>
                    <a:pt x="54" y="45"/>
                    <a:pt x="54" y="45"/>
                    <a:pt x="54" y="45"/>
                  </a:cubicBezTo>
                  <a:lnTo>
                    <a:pt x="54" y="1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8" name="Freeform 455">
              <a:extLst>
                <a:ext uri="{FF2B5EF4-FFF2-40B4-BE49-F238E27FC236}">
                  <a16:creationId xmlns:a16="http://schemas.microsoft.com/office/drawing/2014/main" id="{1C36FC95-0F98-1D44-A5C8-3FBA5C113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8117" y="9837354"/>
              <a:ext cx="56214" cy="163960"/>
            </a:xfrm>
            <a:custGeom>
              <a:avLst/>
              <a:gdLst>
                <a:gd name="T0" fmla="*/ 27 w 55"/>
                <a:gd name="T1" fmla="*/ 153 h 154"/>
                <a:gd name="T2" fmla="*/ 27 w 55"/>
                <a:gd name="T3" fmla="*/ 153 h 154"/>
                <a:gd name="T4" fmla="*/ 0 w 55"/>
                <a:gd name="T5" fmla="*/ 126 h 154"/>
                <a:gd name="T6" fmla="*/ 0 w 55"/>
                <a:gd name="T7" fmla="*/ 27 h 154"/>
                <a:gd name="T8" fmla="*/ 27 w 55"/>
                <a:gd name="T9" fmla="*/ 0 h 154"/>
                <a:gd name="T10" fmla="*/ 54 w 55"/>
                <a:gd name="T11" fmla="*/ 27 h 154"/>
                <a:gd name="T12" fmla="*/ 54 w 55"/>
                <a:gd name="T13" fmla="*/ 126 h 154"/>
                <a:gd name="T14" fmla="*/ 27 w 55"/>
                <a:gd name="T15" fmla="*/ 1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154">
                  <a:moveTo>
                    <a:pt x="27" y="153"/>
                  </a:moveTo>
                  <a:lnTo>
                    <a:pt x="27" y="153"/>
                  </a:lnTo>
                  <a:cubicBezTo>
                    <a:pt x="18" y="153"/>
                    <a:pt x="0" y="144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9"/>
                    <a:pt x="9" y="0"/>
                    <a:pt x="27" y="0"/>
                  </a:cubicBezTo>
                  <a:cubicBezTo>
                    <a:pt x="36" y="0"/>
                    <a:pt x="54" y="9"/>
                    <a:pt x="54" y="27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44"/>
                    <a:pt x="45" y="153"/>
                    <a:pt x="27" y="15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49" name="Freeform 456">
              <a:extLst>
                <a:ext uri="{FF2B5EF4-FFF2-40B4-BE49-F238E27FC236}">
                  <a16:creationId xmlns:a16="http://schemas.microsoft.com/office/drawing/2014/main" id="{46CC3920-E105-E749-921B-4B2354F27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9284" y="9837354"/>
              <a:ext cx="56214" cy="163960"/>
            </a:xfrm>
            <a:custGeom>
              <a:avLst/>
              <a:gdLst>
                <a:gd name="T0" fmla="*/ 27 w 54"/>
                <a:gd name="T1" fmla="*/ 153 h 154"/>
                <a:gd name="T2" fmla="*/ 27 w 54"/>
                <a:gd name="T3" fmla="*/ 153 h 154"/>
                <a:gd name="T4" fmla="*/ 0 w 54"/>
                <a:gd name="T5" fmla="*/ 126 h 154"/>
                <a:gd name="T6" fmla="*/ 0 w 54"/>
                <a:gd name="T7" fmla="*/ 27 h 154"/>
                <a:gd name="T8" fmla="*/ 27 w 54"/>
                <a:gd name="T9" fmla="*/ 0 h 154"/>
                <a:gd name="T10" fmla="*/ 53 w 54"/>
                <a:gd name="T11" fmla="*/ 27 h 154"/>
                <a:gd name="T12" fmla="*/ 53 w 54"/>
                <a:gd name="T13" fmla="*/ 126 h 154"/>
                <a:gd name="T14" fmla="*/ 27 w 54"/>
                <a:gd name="T15" fmla="*/ 1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154">
                  <a:moveTo>
                    <a:pt x="27" y="153"/>
                  </a:moveTo>
                  <a:lnTo>
                    <a:pt x="27" y="153"/>
                  </a:lnTo>
                  <a:cubicBezTo>
                    <a:pt x="17" y="153"/>
                    <a:pt x="9" y="144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9"/>
                    <a:pt x="17" y="0"/>
                    <a:pt x="27" y="0"/>
                  </a:cubicBezTo>
                  <a:cubicBezTo>
                    <a:pt x="44" y="0"/>
                    <a:pt x="53" y="9"/>
                    <a:pt x="53" y="27"/>
                  </a:cubicBezTo>
                  <a:cubicBezTo>
                    <a:pt x="53" y="126"/>
                    <a:pt x="53" y="126"/>
                    <a:pt x="53" y="126"/>
                  </a:cubicBezTo>
                  <a:cubicBezTo>
                    <a:pt x="53" y="144"/>
                    <a:pt x="44" y="153"/>
                    <a:pt x="27" y="15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0" name="Freeform 457">
              <a:extLst>
                <a:ext uri="{FF2B5EF4-FFF2-40B4-BE49-F238E27FC236}">
                  <a16:creationId xmlns:a16="http://schemas.microsoft.com/office/drawing/2014/main" id="{57BBB2AE-687F-8F44-93A5-248B5243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4502" y="9837354"/>
              <a:ext cx="46845" cy="163960"/>
            </a:xfrm>
            <a:custGeom>
              <a:avLst/>
              <a:gdLst>
                <a:gd name="T0" fmla="*/ 26 w 45"/>
                <a:gd name="T1" fmla="*/ 153 h 154"/>
                <a:gd name="T2" fmla="*/ 26 w 45"/>
                <a:gd name="T3" fmla="*/ 153 h 154"/>
                <a:gd name="T4" fmla="*/ 0 w 45"/>
                <a:gd name="T5" fmla="*/ 126 h 154"/>
                <a:gd name="T6" fmla="*/ 0 w 45"/>
                <a:gd name="T7" fmla="*/ 27 h 154"/>
                <a:gd name="T8" fmla="*/ 17 w 45"/>
                <a:gd name="T9" fmla="*/ 0 h 154"/>
                <a:gd name="T10" fmla="*/ 44 w 45"/>
                <a:gd name="T11" fmla="*/ 27 h 154"/>
                <a:gd name="T12" fmla="*/ 44 w 45"/>
                <a:gd name="T13" fmla="*/ 126 h 154"/>
                <a:gd name="T14" fmla="*/ 26 w 45"/>
                <a:gd name="T15" fmla="*/ 1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154">
                  <a:moveTo>
                    <a:pt x="26" y="153"/>
                  </a:moveTo>
                  <a:lnTo>
                    <a:pt x="26" y="153"/>
                  </a:lnTo>
                  <a:cubicBezTo>
                    <a:pt x="8" y="153"/>
                    <a:pt x="0" y="144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8" y="0"/>
                    <a:pt x="17" y="0"/>
                  </a:cubicBezTo>
                  <a:cubicBezTo>
                    <a:pt x="36" y="0"/>
                    <a:pt x="44" y="18"/>
                    <a:pt x="44" y="27"/>
                  </a:cubicBezTo>
                  <a:cubicBezTo>
                    <a:pt x="44" y="126"/>
                    <a:pt x="44" y="126"/>
                    <a:pt x="44" y="126"/>
                  </a:cubicBezTo>
                  <a:cubicBezTo>
                    <a:pt x="44" y="144"/>
                    <a:pt x="36" y="153"/>
                    <a:pt x="26" y="15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1" name="Freeform 458">
              <a:extLst>
                <a:ext uri="{FF2B5EF4-FFF2-40B4-BE49-F238E27FC236}">
                  <a16:creationId xmlns:a16="http://schemas.microsoft.com/office/drawing/2014/main" id="{83B0DF9A-4B78-434D-8162-C749C90C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5669" y="9837354"/>
              <a:ext cx="56214" cy="163960"/>
            </a:xfrm>
            <a:custGeom>
              <a:avLst/>
              <a:gdLst>
                <a:gd name="T0" fmla="*/ 27 w 55"/>
                <a:gd name="T1" fmla="*/ 153 h 154"/>
                <a:gd name="T2" fmla="*/ 27 w 55"/>
                <a:gd name="T3" fmla="*/ 153 h 154"/>
                <a:gd name="T4" fmla="*/ 0 w 55"/>
                <a:gd name="T5" fmla="*/ 126 h 154"/>
                <a:gd name="T6" fmla="*/ 0 w 55"/>
                <a:gd name="T7" fmla="*/ 27 h 154"/>
                <a:gd name="T8" fmla="*/ 27 w 55"/>
                <a:gd name="T9" fmla="*/ 0 h 154"/>
                <a:gd name="T10" fmla="*/ 27 w 55"/>
                <a:gd name="T11" fmla="*/ 0 h 154"/>
                <a:gd name="T12" fmla="*/ 54 w 55"/>
                <a:gd name="T13" fmla="*/ 27 h 154"/>
                <a:gd name="T14" fmla="*/ 54 w 55"/>
                <a:gd name="T15" fmla="*/ 126 h 154"/>
                <a:gd name="T16" fmla="*/ 27 w 55"/>
                <a:gd name="T17" fmla="*/ 1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154">
                  <a:moveTo>
                    <a:pt x="27" y="153"/>
                  </a:moveTo>
                  <a:lnTo>
                    <a:pt x="27" y="153"/>
                  </a:lnTo>
                  <a:cubicBezTo>
                    <a:pt x="18" y="153"/>
                    <a:pt x="0" y="144"/>
                    <a:pt x="0" y="12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9" y="0"/>
                    <a:pt x="27" y="0"/>
                  </a:cubicBezTo>
                  <a:lnTo>
                    <a:pt x="27" y="0"/>
                  </a:lnTo>
                  <a:cubicBezTo>
                    <a:pt x="36" y="0"/>
                    <a:pt x="54" y="18"/>
                    <a:pt x="54" y="27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44"/>
                    <a:pt x="45" y="153"/>
                    <a:pt x="27" y="15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2" name="Freeform 459">
              <a:extLst>
                <a:ext uri="{FF2B5EF4-FFF2-40B4-BE49-F238E27FC236}">
                  <a16:creationId xmlns:a16="http://schemas.microsoft.com/office/drawing/2014/main" id="{959EC314-4E25-224F-B4B6-C0FE0DCDA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5593" y="9692136"/>
              <a:ext cx="726099" cy="192064"/>
            </a:xfrm>
            <a:custGeom>
              <a:avLst/>
              <a:gdLst>
                <a:gd name="T0" fmla="*/ 647 w 684"/>
                <a:gd name="T1" fmla="*/ 180 h 181"/>
                <a:gd name="T2" fmla="*/ 647 w 684"/>
                <a:gd name="T3" fmla="*/ 180 h 181"/>
                <a:gd name="T4" fmla="*/ 35 w 684"/>
                <a:gd name="T5" fmla="*/ 180 h 181"/>
                <a:gd name="T6" fmla="*/ 0 w 684"/>
                <a:gd name="T7" fmla="*/ 135 h 181"/>
                <a:gd name="T8" fmla="*/ 0 w 684"/>
                <a:gd name="T9" fmla="*/ 36 h 181"/>
                <a:gd name="T10" fmla="*/ 35 w 684"/>
                <a:gd name="T11" fmla="*/ 0 h 181"/>
                <a:gd name="T12" fmla="*/ 647 w 684"/>
                <a:gd name="T13" fmla="*/ 0 h 181"/>
                <a:gd name="T14" fmla="*/ 683 w 684"/>
                <a:gd name="T15" fmla="*/ 36 h 181"/>
                <a:gd name="T16" fmla="*/ 683 w 684"/>
                <a:gd name="T17" fmla="*/ 135 h 181"/>
                <a:gd name="T18" fmla="*/ 647 w 684"/>
                <a:gd name="T19" fmla="*/ 180 h 181"/>
                <a:gd name="T20" fmla="*/ 45 w 684"/>
                <a:gd name="T21" fmla="*/ 126 h 181"/>
                <a:gd name="T22" fmla="*/ 45 w 684"/>
                <a:gd name="T23" fmla="*/ 126 h 181"/>
                <a:gd name="T24" fmla="*/ 638 w 684"/>
                <a:gd name="T25" fmla="*/ 126 h 181"/>
                <a:gd name="T26" fmla="*/ 638 w 684"/>
                <a:gd name="T27" fmla="*/ 46 h 181"/>
                <a:gd name="T28" fmla="*/ 45 w 684"/>
                <a:gd name="T29" fmla="*/ 46 h 181"/>
                <a:gd name="T30" fmla="*/ 45 w 684"/>
                <a:gd name="T31" fmla="*/ 12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4" h="181">
                  <a:moveTo>
                    <a:pt x="647" y="180"/>
                  </a:moveTo>
                  <a:lnTo>
                    <a:pt x="647" y="180"/>
                  </a:lnTo>
                  <a:cubicBezTo>
                    <a:pt x="35" y="180"/>
                    <a:pt x="35" y="180"/>
                    <a:pt x="35" y="180"/>
                  </a:cubicBezTo>
                  <a:cubicBezTo>
                    <a:pt x="18" y="180"/>
                    <a:pt x="0" y="162"/>
                    <a:pt x="0" y="135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8"/>
                    <a:pt x="18" y="0"/>
                    <a:pt x="35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65" y="0"/>
                    <a:pt x="683" y="18"/>
                    <a:pt x="683" y="36"/>
                  </a:cubicBezTo>
                  <a:cubicBezTo>
                    <a:pt x="683" y="135"/>
                    <a:pt x="683" y="135"/>
                    <a:pt x="683" y="135"/>
                  </a:cubicBezTo>
                  <a:cubicBezTo>
                    <a:pt x="683" y="162"/>
                    <a:pt x="665" y="180"/>
                    <a:pt x="647" y="180"/>
                  </a:cubicBezTo>
                  <a:close/>
                  <a:moveTo>
                    <a:pt x="45" y="126"/>
                  </a:moveTo>
                  <a:lnTo>
                    <a:pt x="45" y="126"/>
                  </a:lnTo>
                  <a:cubicBezTo>
                    <a:pt x="638" y="126"/>
                    <a:pt x="638" y="126"/>
                    <a:pt x="638" y="126"/>
                  </a:cubicBezTo>
                  <a:cubicBezTo>
                    <a:pt x="638" y="46"/>
                    <a:pt x="638" y="46"/>
                    <a:pt x="638" y="46"/>
                  </a:cubicBezTo>
                  <a:cubicBezTo>
                    <a:pt x="45" y="46"/>
                    <a:pt x="45" y="46"/>
                    <a:pt x="45" y="46"/>
                  </a:cubicBezTo>
                  <a:lnTo>
                    <a:pt x="45" y="1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3" name="Freeform 460">
              <a:extLst>
                <a:ext uri="{FF2B5EF4-FFF2-40B4-BE49-F238E27FC236}">
                  <a16:creationId xmlns:a16="http://schemas.microsoft.com/office/drawing/2014/main" id="{E68C0289-9CB2-994B-9A66-D85D1A5F3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6760" y="9706188"/>
              <a:ext cx="46845" cy="163960"/>
            </a:xfrm>
            <a:custGeom>
              <a:avLst/>
              <a:gdLst>
                <a:gd name="T0" fmla="*/ 27 w 45"/>
                <a:gd name="T1" fmla="*/ 152 h 153"/>
                <a:gd name="T2" fmla="*/ 27 w 45"/>
                <a:gd name="T3" fmla="*/ 152 h 153"/>
                <a:gd name="T4" fmla="*/ 0 w 45"/>
                <a:gd name="T5" fmla="*/ 125 h 153"/>
                <a:gd name="T6" fmla="*/ 0 w 45"/>
                <a:gd name="T7" fmla="*/ 26 h 153"/>
                <a:gd name="T8" fmla="*/ 17 w 45"/>
                <a:gd name="T9" fmla="*/ 0 h 153"/>
                <a:gd name="T10" fmla="*/ 44 w 45"/>
                <a:gd name="T11" fmla="*/ 26 h 153"/>
                <a:gd name="T12" fmla="*/ 44 w 45"/>
                <a:gd name="T13" fmla="*/ 125 h 153"/>
                <a:gd name="T14" fmla="*/ 27 w 45"/>
                <a:gd name="T15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153">
                  <a:moveTo>
                    <a:pt x="27" y="152"/>
                  </a:moveTo>
                  <a:lnTo>
                    <a:pt x="27" y="152"/>
                  </a:lnTo>
                  <a:cubicBezTo>
                    <a:pt x="8" y="152"/>
                    <a:pt x="0" y="143"/>
                    <a:pt x="0" y="1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36" y="0"/>
                    <a:pt x="44" y="8"/>
                    <a:pt x="44" y="26"/>
                  </a:cubicBezTo>
                  <a:cubicBezTo>
                    <a:pt x="44" y="125"/>
                    <a:pt x="44" y="125"/>
                    <a:pt x="44" y="125"/>
                  </a:cubicBezTo>
                  <a:cubicBezTo>
                    <a:pt x="44" y="143"/>
                    <a:pt x="36" y="152"/>
                    <a:pt x="27" y="15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4" name="Freeform 461">
              <a:extLst>
                <a:ext uri="{FF2B5EF4-FFF2-40B4-BE49-F238E27FC236}">
                  <a16:creationId xmlns:a16="http://schemas.microsoft.com/office/drawing/2014/main" id="{B1F59F52-2731-8A45-8407-D3BDAD2A5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2610" y="9706188"/>
              <a:ext cx="56214" cy="163960"/>
            </a:xfrm>
            <a:custGeom>
              <a:avLst/>
              <a:gdLst>
                <a:gd name="T0" fmla="*/ 27 w 55"/>
                <a:gd name="T1" fmla="*/ 152 h 153"/>
                <a:gd name="T2" fmla="*/ 27 w 55"/>
                <a:gd name="T3" fmla="*/ 152 h 153"/>
                <a:gd name="T4" fmla="*/ 0 w 55"/>
                <a:gd name="T5" fmla="*/ 125 h 153"/>
                <a:gd name="T6" fmla="*/ 0 w 55"/>
                <a:gd name="T7" fmla="*/ 26 h 153"/>
                <a:gd name="T8" fmla="*/ 27 w 55"/>
                <a:gd name="T9" fmla="*/ 0 h 153"/>
                <a:gd name="T10" fmla="*/ 46 w 55"/>
                <a:gd name="T11" fmla="*/ 26 h 153"/>
                <a:gd name="T12" fmla="*/ 54 w 55"/>
                <a:gd name="T13" fmla="*/ 125 h 153"/>
                <a:gd name="T14" fmla="*/ 27 w 55"/>
                <a:gd name="T15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153">
                  <a:moveTo>
                    <a:pt x="27" y="152"/>
                  </a:moveTo>
                  <a:lnTo>
                    <a:pt x="27" y="152"/>
                  </a:lnTo>
                  <a:cubicBezTo>
                    <a:pt x="10" y="152"/>
                    <a:pt x="0" y="143"/>
                    <a:pt x="0" y="1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8"/>
                    <a:pt x="10" y="0"/>
                    <a:pt x="27" y="0"/>
                  </a:cubicBezTo>
                  <a:cubicBezTo>
                    <a:pt x="36" y="0"/>
                    <a:pt x="46" y="8"/>
                    <a:pt x="46" y="26"/>
                  </a:cubicBezTo>
                  <a:cubicBezTo>
                    <a:pt x="54" y="125"/>
                    <a:pt x="54" y="125"/>
                    <a:pt x="54" y="125"/>
                  </a:cubicBezTo>
                  <a:cubicBezTo>
                    <a:pt x="54" y="143"/>
                    <a:pt x="36" y="152"/>
                    <a:pt x="27" y="15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5" name="Freeform 462">
              <a:extLst>
                <a:ext uri="{FF2B5EF4-FFF2-40B4-BE49-F238E27FC236}">
                  <a16:creationId xmlns:a16="http://schemas.microsoft.com/office/drawing/2014/main" id="{D572A134-577F-0243-8993-A26F5F1BF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3776" y="9706188"/>
              <a:ext cx="56214" cy="163960"/>
            </a:xfrm>
            <a:custGeom>
              <a:avLst/>
              <a:gdLst>
                <a:gd name="T0" fmla="*/ 27 w 55"/>
                <a:gd name="T1" fmla="*/ 152 h 153"/>
                <a:gd name="T2" fmla="*/ 27 w 55"/>
                <a:gd name="T3" fmla="*/ 152 h 153"/>
                <a:gd name="T4" fmla="*/ 0 w 55"/>
                <a:gd name="T5" fmla="*/ 125 h 153"/>
                <a:gd name="T6" fmla="*/ 0 w 55"/>
                <a:gd name="T7" fmla="*/ 26 h 153"/>
                <a:gd name="T8" fmla="*/ 27 w 55"/>
                <a:gd name="T9" fmla="*/ 0 h 153"/>
                <a:gd name="T10" fmla="*/ 27 w 55"/>
                <a:gd name="T11" fmla="*/ 0 h 153"/>
                <a:gd name="T12" fmla="*/ 54 w 55"/>
                <a:gd name="T13" fmla="*/ 26 h 153"/>
                <a:gd name="T14" fmla="*/ 54 w 55"/>
                <a:gd name="T15" fmla="*/ 125 h 153"/>
                <a:gd name="T16" fmla="*/ 27 w 55"/>
                <a:gd name="T17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153">
                  <a:moveTo>
                    <a:pt x="27" y="152"/>
                  </a:moveTo>
                  <a:lnTo>
                    <a:pt x="27" y="152"/>
                  </a:lnTo>
                  <a:cubicBezTo>
                    <a:pt x="18" y="152"/>
                    <a:pt x="0" y="143"/>
                    <a:pt x="0" y="1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7"/>
                    <a:pt x="9" y="0"/>
                    <a:pt x="27" y="0"/>
                  </a:cubicBezTo>
                  <a:lnTo>
                    <a:pt x="27" y="0"/>
                  </a:lnTo>
                  <a:cubicBezTo>
                    <a:pt x="45" y="0"/>
                    <a:pt x="54" y="17"/>
                    <a:pt x="54" y="26"/>
                  </a:cubicBezTo>
                  <a:cubicBezTo>
                    <a:pt x="54" y="125"/>
                    <a:pt x="54" y="125"/>
                    <a:pt x="54" y="125"/>
                  </a:cubicBezTo>
                  <a:cubicBezTo>
                    <a:pt x="54" y="143"/>
                    <a:pt x="45" y="152"/>
                    <a:pt x="27" y="15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6" name="Freeform 463">
              <a:extLst>
                <a:ext uri="{FF2B5EF4-FFF2-40B4-BE49-F238E27FC236}">
                  <a16:creationId xmlns:a16="http://schemas.microsoft.com/office/drawing/2014/main" id="{4F73A11B-D13E-2E4A-9166-D4364ADAF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8998" y="9706188"/>
              <a:ext cx="46845" cy="163960"/>
            </a:xfrm>
            <a:custGeom>
              <a:avLst/>
              <a:gdLst>
                <a:gd name="T0" fmla="*/ 27 w 46"/>
                <a:gd name="T1" fmla="*/ 152 h 153"/>
                <a:gd name="T2" fmla="*/ 27 w 46"/>
                <a:gd name="T3" fmla="*/ 152 h 153"/>
                <a:gd name="T4" fmla="*/ 0 w 46"/>
                <a:gd name="T5" fmla="*/ 125 h 153"/>
                <a:gd name="T6" fmla="*/ 0 w 46"/>
                <a:gd name="T7" fmla="*/ 26 h 153"/>
                <a:gd name="T8" fmla="*/ 18 w 46"/>
                <a:gd name="T9" fmla="*/ 0 h 153"/>
                <a:gd name="T10" fmla="*/ 18 w 46"/>
                <a:gd name="T11" fmla="*/ 0 h 153"/>
                <a:gd name="T12" fmla="*/ 45 w 46"/>
                <a:gd name="T13" fmla="*/ 26 h 153"/>
                <a:gd name="T14" fmla="*/ 45 w 46"/>
                <a:gd name="T15" fmla="*/ 125 h 153"/>
                <a:gd name="T16" fmla="*/ 27 w 46"/>
                <a:gd name="T17" fmla="*/ 15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53">
                  <a:moveTo>
                    <a:pt x="27" y="152"/>
                  </a:moveTo>
                  <a:lnTo>
                    <a:pt x="27" y="152"/>
                  </a:lnTo>
                  <a:cubicBezTo>
                    <a:pt x="9" y="152"/>
                    <a:pt x="0" y="143"/>
                    <a:pt x="0" y="1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7"/>
                    <a:pt x="9" y="0"/>
                    <a:pt x="18" y="0"/>
                  </a:cubicBezTo>
                  <a:lnTo>
                    <a:pt x="18" y="0"/>
                  </a:lnTo>
                  <a:cubicBezTo>
                    <a:pt x="36" y="0"/>
                    <a:pt x="45" y="17"/>
                    <a:pt x="45" y="26"/>
                  </a:cubicBezTo>
                  <a:cubicBezTo>
                    <a:pt x="45" y="125"/>
                    <a:pt x="45" y="125"/>
                    <a:pt x="45" y="125"/>
                  </a:cubicBezTo>
                  <a:cubicBezTo>
                    <a:pt x="45" y="143"/>
                    <a:pt x="36" y="152"/>
                    <a:pt x="27" y="15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7" name="Freeform 464">
              <a:extLst>
                <a:ext uri="{FF2B5EF4-FFF2-40B4-BE49-F238E27FC236}">
                  <a16:creationId xmlns:a16="http://schemas.microsoft.com/office/drawing/2014/main" id="{540D6A26-74A4-804C-9ED0-B31B1FF24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6211" y="9486017"/>
              <a:ext cx="871321" cy="880690"/>
            </a:xfrm>
            <a:custGeom>
              <a:avLst/>
              <a:gdLst>
                <a:gd name="T0" fmla="*/ 414 w 820"/>
                <a:gd name="T1" fmla="*/ 827 h 828"/>
                <a:gd name="T2" fmla="*/ 414 w 820"/>
                <a:gd name="T3" fmla="*/ 827 h 828"/>
                <a:gd name="T4" fmla="*/ 117 w 820"/>
                <a:gd name="T5" fmla="*/ 701 h 828"/>
                <a:gd name="T6" fmla="*/ 0 w 820"/>
                <a:gd name="T7" fmla="*/ 413 h 828"/>
                <a:gd name="T8" fmla="*/ 117 w 820"/>
                <a:gd name="T9" fmla="*/ 125 h 828"/>
                <a:gd name="T10" fmla="*/ 414 w 820"/>
                <a:gd name="T11" fmla="*/ 0 h 828"/>
                <a:gd name="T12" fmla="*/ 702 w 820"/>
                <a:gd name="T13" fmla="*/ 125 h 828"/>
                <a:gd name="T14" fmla="*/ 819 w 820"/>
                <a:gd name="T15" fmla="*/ 413 h 828"/>
                <a:gd name="T16" fmla="*/ 702 w 820"/>
                <a:gd name="T17" fmla="*/ 701 h 828"/>
                <a:gd name="T18" fmla="*/ 414 w 820"/>
                <a:gd name="T19" fmla="*/ 827 h 828"/>
                <a:gd name="T20" fmla="*/ 414 w 820"/>
                <a:gd name="T21" fmla="*/ 53 h 828"/>
                <a:gd name="T22" fmla="*/ 414 w 820"/>
                <a:gd name="T23" fmla="*/ 53 h 828"/>
                <a:gd name="T24" fmla="*/ 54 w 820"/>
                <a:gd name="T25" fmla="*/ 413 h 828"/>
                <a:gd name="T26" fmla="*/ 414 w 820"/>
                <a:gd name="T27" fmla="*/ 773 h 828"/>
                <a:gd name="T28" fmla="*/ 774 w 820"/>
                <a:gd name="T29" fmla="*/ 413 h 828"/>
                <a:gd name="T30" fmla="*/ 414 w 820"/>
                <a:gd name="T31" fmla="*/ 53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0" h="828">
                  <a:moveTo>
                    <a:pt x="414" y="827"/>
                  </a:moveTo>
                  <a:lnTo>
                    <a:pt x="414" y="827"/>
                  </a:lnTo>
                  <a:cubicBezTo>
                    <a:pt x="297" y="827"/>
                    <a:pt x="198" y="782"/>
                    <a:pt x="117" y="701"/>
                  </a:cubicBezTo>
                  <a:cubicBezTo>
                    <a:pt x="45" y="629"/>
                    <a:pt x="0" y="521"/>
                    <a:pt x="0" y="413"/>
                  </a:cubicBezTo>
                  <a:cubicBezTo>
                    <a:pt x="0" y="305"/>
                    <a:pt x="45" y="197"/>
                    <a:pt x="117" y="125"/>
                  </a:cubicBezTo>
                  <a:cubicBezTo>
                    <a:pt x="198" y="44"/>
                    <a:pt x="297" y="0"/>
                    <a:pt x="414" y="0"/>
                  </a:cubicBezTo>
                  <a:cubicBezTo>
                    <a:pt x="522" y="0"/>
                    <a:pt x="621" y="44"/>
                    <a:pt x="702" y="125"/>
                  </a:cubicBezTo>
                  <a:cubicBezTo>
                    <a:pt x="774" y="197"/>
                    <a:pt x="819" y="305"/>
                    <a:pt x="819" y="413"/>
                  </a:cubicBezTo>
                  <a:cubicBezTo>
                    <a:pt x="819" y="521"/>
                    <a:pt x="774" y="629"/>
                    <a:pt x="702" y="701"/>
                  </a:cubicBezTo>
                  <a:cubicBezTo>
                    <a:pt x="621" y="782"/>
                    <a:pt x="522" y="827"/>
                    <a:pt x="414" y="827"/>
                  </a:cubicBezTo>
                  <a:close/>
                  <a:moveTo>
                    <a:pt x="414" y="53"/>
                  </a:moveTo>
                  <a:lnTo>
                    <a:pt x="414" y="53"/>
                  </a:lnTo>
                  <a:cubicBezTo>
                    <a:pt x="216" y="53"/>
                    <a:pt x="54" y="215"/>
                    <a:pt x="54" y="413"/>
                  </a:cubicBezTo>
                  <a:cubicBezTo>
                    <a:pt x="54" y="611"/>
                    <a:pt x="216" y="773"/>
                    <a:pt x="414" y="773"/>
                  </a:cubicBezTo>
                  <a:cubicBezTo>
                    <a:pt x="612" y="773"/>
                    <a:pt x="774" y="611"/>
                    <a:pt x="774" y="413"/>
                  </a:cubicBezTo>
                  <a:cubicBezTo>
                    <a:pt x="774" y="215"/>
                    <a:pt x="612" y="53"/>
                    <a:pt x="414" y="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8" name="Freeform 465">
              <a:extLst>
                <a:ext uri="{FF2B5EF4-FFF2-40B4-BE49-F238E27FC236}">
                  <a16:creationId xmlns:a16="http://schemas.microsoft.com/office/drawing/2014/main" id="{874370FF-CDBC-D34D-94E6-1FA2A1C71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7378" y="9589076"/>
              <a:ext cx="613671" cy="154588"/>
            </a:xfrm>
            <a:custGeom>
              <a:avLst/>
              <a:gdLst>
                <a:gd name="T0" fmla="*/ 288 w 577"/>
                <a:gd name="T1" fmla="*/ 144 h 145"/>
                <a:gd name="T2" fmla="*/ 288 w 577"/>
                <a:gd name="T3" fmla="*/ 144 h 145"/>
                <a:gd name="T4" fmla="*/ 279 w 577"/>
                <a:gd name="T5" fmla="*/ 144 h 145"/>
                <a:gd name="T6" fmla="*/ 9 w 577"/>
                <a:gd name="T7" fmla="*/ 53 h 145"/>
                <a:gd name="T8" fmla="*/ 0 w 577"/>
                <a:gd name="T9" fmla="*/ 17 h 145"/>
                <a:gd name="T10" fmla="*/ 36 w 577"/>
                <a:gd name="T11" fmla="*/ 9 h 145"/>
                <a:gd name="T12" fmla="*/ 279 w 577"/>
                <a:gd name="T13" fmla="*/ 89 h 145"/>
                <a:gd name="T14" fmla="*/ 531 w 577"/>
                <a:gd name="T15" fmla="*/ 17 h 145"/>
                <a:gd name="T16" fmla="*/ 567 w 577"/>
                <a:gd name="T17" fmla="*/ 26 h 145"/>
                <a:gd name="T18" fmla="*/ 558 w 577"/>
                <a:gd name="T19" fmla="*/ 53 h 145"/>
                <a:gd name="T20" fmla="*/ 288 w 577"/>
                <a:gd name="T21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7" h="145">
                  <a:moveTo>
                    <a:pt x="288" y="144"/>
                  </a:moveTo>
                  <a:lnTo>
                    <a:pt x="288" y="144"/>
                  </a:lnTo>
                  <a:cubicBezTo>
                    <a:pt x="288" y="144"/>
                    <a:pt x="288" y="144"/>
                    <a:pt x="279" y="144"/>
                  </a:cubicBezTo>
                  <a:cubicBezTo>
                    <a:pt x="180" y="134"/>
                    <a:pt x="90" y="108"/>
                    <a:pt x="9" y="53"/>
                  </a:cubicBezTo>
                  <a:cubicBezTo>
                    <a:pt x="0" y="44"/>
                    <a:pt x="0" y="26"/>
                    <a:pt x="0" y="17"/>
                  </a:cubicBezTo>
                  <a:cubicBezTo>
                    <a:pt x="9" y="9"/>
                    <a:pt x="27" y="0"/>
                    <a:pt x="36" y="9"/>
                  </a:cubicBezTo>
                  <a:cubicBezTo>
                    <a:pt x="108" y="62"/>
                    <a:pt x="198" y="89"/>
                    <a:pt x="279" y="89"/>
                  </a:cubicBezTo>
                  <a:cubicBezTo>
                    <a:pt x="369" y="89"/>
                    <a:pt x="459" y="62"/>
                    <a:pt x="531" y="17"/>
                  </a:cubicBezTo>
                  <a:cubicBezTo>
                    <a:pt x="540" y="9"/>
                    <a:pt x="558" y="9"/>
                    <a:pt x="567" y="26"/>
                  </a:cubicBezTo>
                  <a:cubicBezTo>
                    <a:pt x="576" y="36"/>
                    <a:pt x="567" y="53"/>
                    <a:pt x="558" y="53"/>
                  </a:cubicBezTo>
                  <a:cubicBezTo>
                    <a:pt x="477" y="108"/>
                    <a:pt x="387" y="144"/>
                    <a:pt x="288" y="14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59" name="Freeform 466">
              <a:extLst>
                <a:ext uri="{FF2B5EF4-FFF2-40B4-BE49-F238E27FC236}">
                  <a16:creationId xmlns:a16="http://schemas.microsoft.com/office/drawing/2014/main" id="{9E7C4DDD-D0CE-4845-849D-F3BBDA661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7378" y="10104374"/>
              <a:ext cx="613671" cy="145219"/>
            </a:xfrm>
            <a:custGeom>
              <a:avLst/>
              <a:gdLst>
                <a:gd name="T0" fmla="*/ 549 w 577"/>
                <a:gd name="T1" fmla="*/ 135 h 136"/>
                <a:gd name="T2" fmla="*/ 549 w 577"/>
                <a:gd name="T3" fmla="*/ 135 h 136"/>
                <a:gd name="T4" fmla="*/ 531 w 577"/>
                <a:gd name="T5" fmla="*/ 135 h 136"/>
                <a:gd name="T6" fmla="*/ 288 w 577"/>
                <a:gd name="T7" fmla="*/ 54 h 136"/>
                <a:gd name="T8" fmla="*/ 36 w 577"/>
                <a:gd name="T9" fmla="*/ 126 h 136"/>
                <a:gd name="T10" fmla="*/ 0 w 577"/>
                <a:gd name="T11" fmla="*/ 117 h 136"/>
                <a:gd name="T12" fmla="*/ 9 w 577"/>
                <a:gd name="T13" fmla="*/ 90 h 136"/>
                <a:gd name="T14" fmla="*/ 288 w 577"/>
                <a:gd name="T15" fmla="*/ 0 h 136"/>
                <a:gd name="T16" fmla="*/ 558 w 577"/>
                <a:gd name="T17" fmla="*/ 90 h 136"/>
                <a:gd name="T18" fmla="*/ 567 w 577"/>
                <a:gd name="T19" fmla="*/ 126 h 136"/>
                <a:gd name="T20" fmla="*/ 549 w 577"/>
                <a:gd name="T21" fmla="*/ 13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7" h="136">
                  <a:moveTo>
                    <a:pt x="549" y="135"/>
                  </a:moveTo>
                  <a:lnTo>
                    <a:pt x="549" y="135"/>
                  </a:lnTo>
                  <a:cubicBezTo>
                    <a:pt x="540" y="135"/>
                    <a:pt x="540" y="135"/>
                    <a:pt x="531" y="135"/>
                  </a:cubicBezTo>
                  <a:cubicBezTo>
                    <a:pt x="459" y="81"/>
                    <a:pt x="378" y="54"/>
                    <a:pt x="288" y="54"/>
                  </a:cubicBezTo>
                  <a:cubicBezTo>
                    <a:pt x="198" y="54"/>
                    <a:pt x="108" y="81"/>
                    <a:pt x="36" y="126"/>
                  </a:cubicBezTo>
                  <a:cubicBezTo>
                    <a:pt x="27" y="135"/>
                    <a:pt x="9" y="135"/>
                    <a:pt x="0" y="117"/>
                  </a:cubicBezTo>
                  <a:cubicBezTo>
                    <a:pt x="0" y="108"/>
                    <a:pt x="0" y="90"/>
                    <a:pt x="9" y="90"/>
                  </a:cubicBezTo>
                  <a:cubicBezTo>
                    <a:pt x="90" y="27"/>
                    <a:pt x="189" y="0"/>
                    <a:pt x="288" y="0"/>
                  </a:cubicBezTo>
                  <a:cubicBezTo>
                    <a:pt x="387" y="9"/>
                    <a:pt x="477" y="36"/>
                    <a:pt x="558" y="90"/>
                  </a:cubicBezTo>
                  <a:cubicBezTo>
                    <a:pt x="567" y="99"/>
                    <a:pt x="576" y="117"/>
                    <a:pt x="567" y="126"/>
                  </a:cubicBezTo>
                  <a:cubicBezTo>
                    <a:pt x="558" y="135"/>
                    <a:pt x="558" y="135"/>
                    <a:pt x="549" y="13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60" name="Freeform 467">
              <a:extLst>
                <a:ext uri="{FF2B5EF4-FFF2-40B4-BE49-F238E27FC236}">
                  <a16:creationId xmlns:a16="http://schemas.microsoft.com/office/drawing/2014/main" id="{A230DD1D-990B-7649-9E2C-369A9F061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6211" y="9893569"/>
              <a:ext cx="871321" cy="56214"/>
            </a:xfrm>
            <a:custGeom>
              <a:avLst/>
              <a:gdLst>
                <a:gd name="T0" fmla="*/ 792 w 820"/>
                <a:gd name="T1" fmla="*/ 54 h 55"/>
                <a:gd name="T2" fmla="*/ 792 w 820"/>
                <a:gd name="T3" fmla="*/ 54 h 55"/>
                <a:gd name="T4" fmla="*/ 27 w 820"/>
                <a:gd name="T5" fmla="*/ 54 h 55"/>
                <a:gd name="T6" fmla="*/ 0 w 820"/>
                <a:gd name="T7" fmla="*/ 27 h 55"/>
                <a:gd name="T8" fmla="*/ 27 w 820"/>
                <a:gd name="T9" fmla="*/ 0 h 55"/>
                <a:gd name="T10" fmla="*/ 792 w 820"/>
                <a:gd name="T11" fmla="*/ 0 h 55"/>
                <a:gd name="T12" fmla="*/ 819 w 820"/>
                <a:gd name="T13" fmla="*/ 27 h 55"/>
                <a:gd name="T14" fmla="*/ 792 w 820"/>
                <a:gd name="T15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0" h="55">
                  <a:moveTo>
                    <a:pt x="792" y="54"/>
                  </a:moveTo>
                  <a:lnTo>
                    <a:pt x="792" y="54"/>
                  </a:lnTo>
                  <a:cubicBezTo>
                    <a:pt x="27" y="54"/>
                    <a:pt x="27" y="54"/>
                    <a:pt x="27" y="54"/>
                  </a:cubicBezTo>
                  <a:cubicBezTo>
                    <a:pt x="9" y="54"/>
                    <a:pt x="0" y="45"/>
                    <a:pt x="0" y="27"/>
                  </a:cubicBezTo>
                  <a:cubicBezTo>
                    <a:pt x="0" y="9"/>
                    <a:pt x="9" y="0"/>
                    <a:pt x="27" y="0"/>
                  </a:cubicBezTo>
                  <a:cubicBezTo>
                    <a:pt x="792" y="0"/>
                    <a:pt x="792" y="0"/>
                    <a:pt x="792" y="0"/>
                  </a:cubicBezTo>
                  <a:cubicBezTo>
                    <a:pt x="810" y="0"/>
                    <a:pt x="819" y="9"/>
                    <a:pt x="819" y="27"/>
                  </a:cubicBezTo>
                  <a:cubicBezTo>
                    <a:pt x="819" y="45"/>
                    <a:pt x="810" y="54"/>
                    <a:pt x="792" y="54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61" name="Freeform 468">
              <a:extLst>
                <a:ext uri="{FF2B5EF4-FFF2-40B4-BE49-F238E27FC236}">
                  <a16:creationId xmlns:a16="http://schemas.microsoft.com/office/drawing/2014/main" id="{1ED45ED0-434C-254A-86F1-460366640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9537" y="9486017"/>
              <a:ext cx="295126" cy="880690"/>
            </a:xfrm>
            <a:custGeom>
              <a:avLst/>
              <a:gdLst>
                <a:gd name="T0" fmla="*/ 234 w 280"/>
                <a:gd name="T1" fmla="*/ 827 h 828"/>
                <a:gd name="T2" fmla="*/ 234 w 280"/>
                <a:gd name="T3" fmla="*/ 827 h 828"/>
                <a:gd name="T4" fmla="*/ 216 w 280"/>
                <a:gd name="T5" fmla="*/ 818 h 828"/>
                <a:gd name="T6" fmla="*/ 9 w 280"/>
                <a:gd name="T7" fmla="*/ 413 h 828"/>
                <a:gd name="T8" fmla="*/ 234 w 280"/>
                <a:gd name="T9" fmla="*/ 9 h 828"/>
                <a:gd name="T10" fmla="*/ 270 w 280"/>
                <a:gd name="T11" fmla="*/ 17 h 828"/>
                <a:gd name="T12" fmla="*/ 261 w 280"/>
                <a:gd name="T13" fmla="*/ 44 h 828"/>
                <a:gd name="T14" fmla="*/ 54 w 280"/>
                <a:gd name="T15" fmla="*/ 413 h 828"/>
                <a:gd name="T16" fmla="*/ 252 w 280"/>
                <a:gd name="T17" fmla="*/ 782 h 828"/>
                <a:gd name="T18" fmla="*/ 252 w 280"/>
                <a:gd name="T19" fmla="*/ 818 h 828"/>
                <a:gd name="T20" fmla="*/ 234 w 280"/>
                <a:gd name="T21" fmla="*/ 827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828">
                  <a:moveTo>
                    <a:pt x="234" y="827"/>
                  </a:moveTo>
                  <a:lnTo>
                    <a:pt x="234" y="827"/>
                  </a:lnTo>
                  <a:cubicBezTo>
                    <a:pt x="225" y="827"/>
                    <a:pt x="225" y="818"/>
                    <a:pt x="216" y="818"/>
                  </a:cubicBezTo>
                  <a:cubicBezTo>
                    <a:pt x="72" y="692"/>
                    <a:pt x="0" y="557"/>
                    <a:pt x="9" y="413"/>
                  </a:cubicBezTo>
                  <a:cubicBezTo>
                    <a:pt x="9" y="260"/>
                    <a:pt x="90" y="125"/>
                    <a:pt x="234" y="9"/>
                  </a:cubicBezTo>
                  <a:cubicBezTo>
                    <a:pt x="243" y="0"/>
                    <a:pt x="261" y="0"/>
                    <a:pt x="270" y="17"/>
                  </a:cubicBezTo>
                  <a:cubicBezTo>
                    <a:pt x="279" y="27"/>
                    <a:pt x="279" y="36"/>
                    <a:pt x="261" y="44"/>
                  </a:cubicBezTo>
                  <a:cubicBezTo>
                    <a:pt x="135" y="152"/>
                    <a:pt x="63" y="278"/>
                    <a:pt x="54" y="413"/>
                  </a:cubicBezTo>
                  <a:cubicBezTo>
                    <a:pt x="54" y="539"/>
                    <a:pt x="117" y="665"/>
                    <a:pt x="252" y="782"/>
                  </a:cubicBezTo>
                  <a:cubicBezTo>
                    <a:pt x="261" y="791"/>
                    <a:pt x="261" y="800"/>
                    <a:pt x="252" y="818"/>
                  </a:cubicBezTo>
                  <a:cubicBezTo>
                    <a:pt x="243" y="818"/>
                    <a:pt x="243" y="827"/>
                    <a:pt x="234" y="82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62" name="Freeform 469">
              <a:extLst>
                <a:ext uri="{FF2B5EF4-FFF2-40B4-BE49-F238E27FC236}">
                  <a16:creationId xmlns:a16="http://schemas.microsoft.com/office/drawing/2014/main" id="{8EC023DC-B308-2A43-8A9E-027879465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8449" y="9486017"/>
              <a:ext cx="285754" cy="880690"/>
            </a:xfrm>
            <a:custGeom>
              <a:avLst/>
              <a:gdLst>
                <a:gd name="T0" fmla="*/ 27 w 271"/>
                <a:gd name="T1" fmla="*/ 827 h 828"/>
                <a:gd name="T2" fmla="*/ 27 w 271"/>
                <a:gd name="T3" fmla="*/ 827 h 828"/>
                <a:gd name="T4" fmla="*/ 9 w 271"/>
                <a:gd name="T5" fmla="*/ 818 h 828"/>
                <a:gd name="T6" fmla="*/ 9 w 271"/>
                <a:gd name="T7" fmla="*/ 782 h 828"/>
                <a:gd name="T8" fmla="*/ 216 w 271"/>
                <a:gd name="T9" fmla="*/ 413 h 828"/>
                <a:gd name="T10" fmla="*/ 27 w 271"/>
                <a:gd name="T11" fmla="*/ 44 h 828"/>
                <a:gd name="T12" fmla="*/ 18 w 271"/>
                <a:gd name="T13" fmla="*/ 9 h 828"/>
                <a:gd name="T14" fmla="*/ 54 w 271"/>
                <a:gd name="T15" fmla="*/ 9 h 828"/>
                <a:gd name="T16" fmla="*/ 270 w 271"/>
                <a:gd name="T17" fmla="*/ 422 h 828"/>
                <a:gd name="T18" fmla="*/ 36 w 271"/>
                <a:gd name="T19" fmla="*/ 818 h 828"/>
                <a:gd name="T20" fmla="*/ 27 w 271"/>
                <a:gd name="T21" fmla="*/ 827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828">
                  <a:moveTo>
                    <a:pt x="27" y="827"/>
                  </a:moveTo>
                  <a:lnTo>
                    <a:pt x="27" y="827"/>
                  </a:lnTo>
                  <a:cubicBezTo>
                    <a:pt x="18" y="827"/>
                    <a:pt x="9" y="818"/>
                    <a:pt x="9" y="818"/>
                  </a:cubicBezTo>
                  <a:cubicBezTo>
                    <a:pt x="0" y="800"/>
                    <a:pt x="0" y="791"/>
                    <a:pt x="9" y="782"/>
                  </a:cubicBezTo>
                  <a:cubicBezTo>
                    <a:pt x="144" y="674"/>
                    <a:pt x="216" y="548"/>
                    <a:pt x="216" y="413"/>
                  </a:cubicBezTo>
                  <a:cubicBezTo>
                    <a:pt x="216" y="287"/>
                    <a:pt x="153" y="161"/>
                    <a:pt x="27" y="44"/>
                  </a:cubicBezTo>
                  <a:cubicBezTo>
                    <a:pt x="18" y="36"/>
                    <a:pt x="9" y="27"/>
                    <a:pt x="18" y="9"/>
                  </a:cubicBezTo>
                  <a:cubicBezTo>
                    <a:pt x="27" y="0"/>
                    <a:pt x="45" y="0"/>
                    <a:pt x="54" y="9"/>
                  </a:cubicBezTo>
                  <a:cubicBezTo>
                    <a:pt x="198" y="135"/>
                    <a:pt x="270" y="269"/>
                    <a:pt x="270" y="422"/>
                  </a:cubicBezTo>
                  <a:cubicBezTo>
                    <a:pt x="261" y="566"/>
                    <a:pt x="180" y="701"/>
                    <a:pt x="36" y="818"/>
                  </a:cubicBezTo>
                  <a:lnTo>
                    <a:pt x="27" y="82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63" name="Freeform 470">
              <a:extLst>
                <a:ext uri="{FF2B5EF4-FFF2-40B4-BE49-F238E27FC236}">
                  <a16:creationId xmlns:a16="http://schemas.microsoft.com/office/drawing/2014/main" id="{CDB869D0-F08F-0D4A-846B-03E9725C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0278" y="9753033"/>
              <a:ext cx="192067" cy="585567"/>
            </a:xfrm>
            <a:custGeom>
              <a:avLst/>
              <a:gdLst>
                <a:gd name="T0" fmla="*/ 89 w 181"/>
                <a:gd name="T1" fmla="*/ 549 h 550"/>
                <a:gd name="T2" fmla="*/ 89 w 181"/>
                <a:gd name="T3" fmla="*/ 549 h 550"/>
                <a:gd name="T4" fmla="*/ 9 w 181"/>
                <a:gd name="T5" fmla="*/ 504 h 550"/>
                <a:gd name="T6" fmla="*/ 0 w 181"/>
                <a:gd name="T7" fmla="*/ 459 h 550"/>
                <a:gd name="T8" fmla="*/ 45 w 181"/>
                <a:gd name="T9" fmla="*/ 459 h 550"/>
                <a:gd name="T10" fmla="*/ 45 w 181"/>
                <a:gd name="T11" fmla="*/ 459 h 550"/>
                <a:gd name="T12" fmla="*/ 53 w 181"/>
                <a:gd name="T13" fmla="*/ 477 h 550"/>
                <a:gd name="T14" fmla="*/ 89 w 181"/>
                <a:gd name="T15" fmla="*/ 495 h 550"/>
                <a:gd name="T16" fmla="*/ 117 w 181"/>
                <a:gd name="T17" fmla="*/ 477 h 550"/>
                <a:gd name="T18" fmla="*/ 125 w 181"/>
                <a:gd name="T19" fmla="*/ 459 h 550"/>
                <a:gd name="T20" fmla="*/ 125 w 181"/>
                <a:gd name="T21" fmla="*/ 27 h 550"/>
                <a:gd name="T22" fmla="*/ 153 w 181"/>
                <a:gd name="T23" fmla="*/ 0 h 550"/>
                <a:gd name="T24" fmla="*/ 153 w 181"/>
                <a:gd name="T25" fmla="*/ 0 h 550"/>
                <a:gd name="T26" fmla="*/ 180 w 181"/>
                <a:gd name="T27" fmla="*/ 27 h 550"/>
                <a:gd name="T28" fmla="*/ 180 w 181"/>
                <a:gd name="T29" fmla="*/ 459 h 550"/>
                <a:gd name="T30" fmla="*/ 161 w 181"/>
                <a:gd name="T31" fmla="*/ 504 h 550"/>
                <a:gd name="T32" fmla="*/ 89 w 181"/>
                <a:gd name="T33" fmla="*/ 549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1" h="550">
                  <a:moveTo>
                    <a:pt x="89" y="549"/>
                  </a:moveTo>
                  <a:lnTo>
                    <a:pt x="89" y="549"/>
                  </a:lnTo>
                  <a:cubicBezTo>
                    <a:pt x="53" y="549"/>
                    <a:pt x="26" y="531"/>
                    <a:pt x="9" y="504"/>
                  </a:cubicBezTo>
                  <a:cubicBezTo>
                    <a:pt x="0" y="486"/>
                    <a:pt x="0" y="459"/>
                    <a:pt x="0" y="459"/>
                  </a:cubicBezTo>
                  <a:cubicBezTo>
                    <a:pt x="45" y="459"/>
                    <a:pt x="45" y="459"/>
                    <a:pt x="45" y="459"/>
                  </a:cubicBezTo>
                  <a:lnTo>
                    <a:pt x="45" y="459"/>
                  </a:lnTo>
                  <a:cubicBezTo>
                    <a:pt x="45" y="459"/>
                    <a:pt x="45" y="468"/>
                    <a:pt x="53" y="477"/>
                  </a:cubicBezTo>
                  <a:cubicBezTo>
                    <a:pt x="53" y="486"/>
                    <a:pt x="62" y="495"/>
                    <a:pt x="89" y="495"/>
                  </a:cubicBezTo>
                  <a:cubicBezTo>
                    <a:pt x="108" y="495"/>
                    <a:pt x="117" y="486"/>
                    <a:pt x="117" y="477"/>
                  </a:cubicBezTo>
                  <a:cubicBezTo>
                    <a:pt x="125" y="468"/>
                    <a:pt x="125" y="459"/>
                    <a:pt x="125" y="459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5" y="9"/>
                    <a:pt x="134" y="0"/>
                    <a:pt x="153" y="0"/>
                  </a:cubicBezTo>
                  <a:lnTo>
                    <a:pt x="153" y="0"/>
                  </a:lnTo>
                  <a:cubicBezTo>
                    <a:pt x="161" y="0"/>
                    <a:pt x="180" y="9"/>
                    <a:pt x="180" y="27"/>
                  </a:cubicBezTo>
                  <a:cubicBezTo>
                    <a:pt x="180" y="459"/>
                    <a:pt x="180" y="459"/>
                    <a:pt x="180" y="459"/>
                  </a:cubicBezTo>
                  <a:cubicBezTo>
                    <a:pt x="180" y="459"/>
                    <a:pt x="180" y="486"/>
                    <a:pt x="161" y="504"/>
                  </a:cubicBezTo>
                  <a:cubicBezTo>
                    <a:pt x="153" y="531"/>
                    <a:pt x="125" y="549"/>
                    <a:pt x="89" y="54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64" name="Freeform 471">
              <a:extLst>
                <a:ext uri="{FF2B5EF4-FFF2-40B4-BE49-F238E27FC236}">
                  <a16:creationId xmlns:a16="http://schemas.microsoft.com/office/drawing/2014/main" id="{CBEBD25B-A89A-1947-B49B-38EF746D8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8040" y="9551600"/>
              <a:ext cx="1147709" cy="285754"/>
            </a:xfrm>
            <a:custGeom>
              <a:avLst/>
              <a:gdLst>
                <a:gd name="T0" fmla="*/ 863 w 1080"/>
                <a:gd name="T1" fmla="*/ 269 h 270"/>
                <a:gd name="T2" fmla="*/ 863 w 1080"/>
                <a:gd name="T3" fmla="*/ 269 h 270"/>
                <a:gd name="T4" fmla="*/ 854 w 1080"/>
                <a:gd name="T5" fmla="*/ 269 h 270"/>
                <a:gd name="T6" fmla="*/ 540 w 1080"/>
                <a:gd name="T7" fmla="*/ 224 h 270"/>
                <a:gd name="T8" fmla="*/ 540 w 1080"/>
                <a:gd name="T9" fmla="*/ 224 h 270"/>
                <a:gd name="T10" fmla="*/ 225 w 1080"/>
                <a:gd name="T11" fmla="*/ 269 h 270"/>
                <a:gd name="T12" fmla="*/ 171 w 1080"/>
                <a:gd name="T13" fmla="*/ 251 h 270"/>
                <a:gd name="T14" fmla="*/ 144 w 1080"/>
                <a:gd name="T15" fmla="*/ 224 h 270"/>
                <a:gd name="T16" fmla="*/ 144 w 1080"/>
                <a:gd name="T17" fmla="*/ 224 h 270"/>
                <a:gd name="T18" fmla="*/ 27 w 1080"/>
                <a:gd name="T19" fmla="*/ 224 h 270"/>
                <a:gd name="T20" fmla="*/ 0 w 1080"/>
                <a:gd name="T21" fmla="*/ 206 h 270"/>
                <a:gd name="T22" fmla="*/ 9 w 1080"/>
                <a:gd name="T23" fmla="*/ 180 h 270"/>
                <a:gd name="T24" fmla="*/ 171 w 1080"/>
                <a:gd name="T25" fmla="*/ 89 h 270"/>
                <a:gd name="T26" fmla="*/ 540 w 1080"/>
                <a:gd name="T27" fmla="*/ 0 h 270"/>
                <a:gd name="T28" fmla="*/ 908 w 1080"/>
                <a:gd name="T29" fmla="*/ 89 h 270"/>
                <a:gd name="T30" fmla="*/ 1070 w 1080"/>
                <a:gd name="T31" fmla="*/ 180 h 270"/>
                <a:gd name="T32" fmla="*/ 1079 w 1080"/>
                <a:gd name="T33" fmla="*/ 206 h 270"/>
                <a:gd name="T34" fmla="*/ 1052 w 1080"/>
                <a:gd name="T35" fmla="*/ 224 h 270"/>
                <a:gd name="T36" fmla="*/ 935 w 1080"/>
                <a:gd name="T37" fmla="*/ 224 h 270"/>
                <a:gd name="T38" fmla="*/ 935 w 1080"/>
                <a:gd name="T39" fmla="*/ 224 h 270"/>
                <a:gd name="T40" fmla="*/ 908 w 1080"/>
                <a:gd name="T41" fmla="*/ 251 h 270"/>
                <a:gd name="T42" fmla="*/ 863 w 1080"/>
                <a:gd name="T43" fmla="*/ 269 h 270"/>
                <a:gd name="T44" fmla="*/ 540 w 1080"/>
                <a:gd name="T45" fmla="*/ 170 h 270"/>
                <a:gd name="T46" fmla="*/ 540 w 1080"/>
                <a:gd name="T47" fmla="*/ 170 h 270"/>
                <a:gd name="T48" fmla="*/ 863 w 1080"/>
                <a:gd name="T49" fmla="*/ 215 h 270"/>
                <a:gd name="T50" fmla="*/ 872 w 1080"/>
                <a:gd name="T51" fmla="*/ 215 h 270"/>
                <a:gd name="T52" fmla="*/ 899 w 1080"/>
                <a:gd name="T53" fmla="*/ 188 h 270"/>
                <a:gd name="T54" fmla="*/ 935 w 1080"/>
                <a:gd name="T55" fmla="*/ 170 h 270"/>
                <a:gd name="T56" fmla="*/ 962 w 1080"/>
                <a:gd name="T57" fmla="*/ 170 h 270"/>
                <a:gd name="T58" fmla="*/ 881 w 1080"/>
                <a:gd name="T59" fmla="*/ 134 h 270"/>
                <a:gd name="T60" fmla="*/ 540 w 1080"/>
                <a:gd name="T61" fmla="*/ 45 h 270"/>
                <a:gd name="T62" fmla="*/ 117 w 1080"/>
                <a:gd name="T63" fmla="*/ 170 h 270"/>
                <a:gd name="T64" fmla="*/ 144 w 1080"/>
                <a:gd name="T65" fmla="*/ 170 h 270"/>
                <a:gd name="T66" fmla="*/ 180 w 1080"/>
                <a:gd name="T67" fmla="*/ 188 h 270"/>
                <a:gd name="T68" fmla="*/ 207 w 1080"/>
                <a:gd name="T69" fmla="*/ 215 h 270"/>
                <a:gd name="T70" fmla="*/ 216 w 1080"/>
                <a:gd name="T71" fmla="*/ 215 h 270"/>
                <a:gd name="T72" fmla="*/ 540 w 1080"/>
                <a:gd name="T73" fmla="*/ 1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80" h="270">
                  <a:moveTo>
                    <a:pt x="863" y="269"/>
                  </a:moveTo>
                  <a:lnTo>
                    <a:pt x="863" y="269"/>
                  </a:lnTo>
                  <a:cubicBezTo>
                    <a:pt x="863" y="269"/>
                    <a:pt x="863" y="269"/>
                    <a:pt x="854" y="269"/>
                  </a:cubicBezTo>
                  <a:cubicBezTo>
                    <a:pt x="809" y="260"/>
                    <a:pt x="639" y="224"/>
                    <a:pt x="540" y="224"/>
                  </a:cubicBezTo>
                  <a:lnTo>
                    <a:pt x="540" y="224"/>
                  </a:lnTo>
                  <a:cubicBezTo>
                    <a:pt x="432" y="224"/>
                    <a:pt x="270" y="260"/>
                    <a:pt x="225" y="269"/>
                  </a:cubicBezTo>
                  <a:cubicBezTo>
                    <a:pt x="207" y="269"/>
                    <a:pt x="180" y="269"/>
                    <a:pt x="171" y="251"/>
                  </a:cubicBezTo>
                  <a:cubicBezTo>
                    <a:pt x="144" y="224"/>
                    <a:pt x="144" y="224"/>
                    <a:pt x="144" y="224"/>
                  </a:cubicBezTo>
                  <a:lnTo>
                    <a:pt x="144" y="224"/>
                  </a:lnTo>
                  <a:cubicBezTo>
                    <a:pt x="27" y="224"/>
                    <a:pt x="27" y="224"/>
                    <a:pt x="27" y="224"/>
                  </a:cubicBezTo>
                  <a:cubicBezTo>
                    <a:pt x="9" y="224"/>
                    <a:pt x="0" y="215"/>
                    <a:pt x="0" y="206"/>
                  </a:cubicBezTo>
                  <a:cubicBezTo>
                    <a:pt x="0" y="197"/>
                    <a:pt x="0" y="188"/>
                    <a:pt x="9" y="180"/>
                  </a:cubicBezTo>
                  <a:cubicBezTo>
                    <a:pt x="9" y="180"/>
                    <a:pt x="81" y="134"/>
                    <a:pt x="171" y="89"/>
                  </a:cubicBezTo>
                  <a:cubicBezTo>
                    <a:pt x="270" y="45"/>
                    <a:pt x="405" y="0"/>
                    <a:pt x="540" y="0"/>
                  </a:cubicBezTo>
                  <a:cubicBezTo>
                    <a:pt x="674" y="0"/>
                    <a:pt x="818" y="45"/>
                    <a:pt x="908" y="89"/>
                  </a:cubicBezTo>
                  <a:cubicBezTo>
                    <a:pt x="998" y="134"/>
                    <a:pt x="1061" y="180"/>
                    <a:pt x="1070" y="180"/>
                  </a:cubicBezTo>
                  <a:cubicBezTo>
                    <a:pt x="1079" y="188"/>
                    <a:pt x="1079" y="197"/>
                    <a:pt x="1079" y="206"/>
                  </a:cubicBezTo>
                  <a:cubicBezTo>
                    <a:pt x="1070" y="215"/>
                    <a:pt x="1061" y="224"/>
                    <a:pt x="1052" y="224"/>
                  </a:cubicBezTo>
                  <a:cubicBezTo>
                    <a:pt x="935" y="224"/>
                    <a:pt x="935" y="224"/>
                    <a:pt x="935" y="224"/>
                  </a:cubicBezTo>
                  <a:lnTo>
                    <a:pt x="935" y="224"/>
                  </a:lnTo>
                  <a:cubicBezTo>
                    <a:pt x="908" y="251"/>
                    <a:pt x="908" y="251"/>
                    <a:pt x="908" y="251"/>
                  </a:cubicBezTo>
                  <a:cubicBezTo>
                    <a:pt x="899" y="260"/>
                    <a:pt x="881" y="269"/>
                    <a:pt x="863" y="269"/>
                  </a:cubicBezTo>
                  <a:close/>
                  <a:moveTo>
                    <a:pt x="540" y="170"/>
                  </a:moveTo>
                  <a:lnTo>
                    <a:pt x="540" y="170"/>
                  </a:lnTo>
                  <a:cubicBezTo>
                    <a:pt x="647" y="170"/>
                    <a:pt x="800" y="206"/>
                    <a:pt x="863" y="215"/>
                  </a:cubicBezTo>
                  <a:lnTo>
                    <a:pt x="872" y="215"/>
                  </a:lnTo>
                  <a:cubicBezTo>
                    <a:pt x="899" y="188"/>
                    <a:pt x="899" y="188"/>
                    <a:pt x="899" y="188"/>
                  </a:cubicBezTo>
                  <a:cubicBezTo>
                    <a:pt x="908" y="180"/>
                    <a:pt x="917" y="170"/>
                    <a:pt x="935" y="170"/>
                  </a:cubicBezTo>
                  <a:cubicBezTo>
                    <a:pt x="962" y="170"/>
                    <a:pt x="962" y="170"/>
                    <a:pt x="962" y="170"/>
                  </a:cubicBezTo>
                  <a:cubicBezTo>
                    <a:pt x="944" y="161"/>
                    <a:pt x="917" y="152"/>
                    <a:pt x="881" y="134"/>
                  </a:cubicBezTo>
                  <a:cubicBezTo>
                    <a:pt x="800" y="98"/>
                    <a:pt x="665" y="45"/>
                    <a:pt x="540" y="45"/>
                  </a:cubicBezTo>
                  <a:cubicBezTo>
                    <a:pt x="377" y="45"/>
                    <a:pt x="207" y="125"/>
                    <a:pt x="117" y="170"/>
                  </a:cubicBezTo>
                  <a:cubicBezTo>
                    <a:pt x="144" y="170"/>
                    <a:pt x="144" y="170"/>
                    <a:pt x="144" y="170"/>
                  </a:cubicBezTo>
                  <a:cubicBezTo>
                    <a:pt x="153" y="170"/>
                    <a:pt x="171" y="180"/>
                    <a:pt x="180" y="188"/>
                  </a:cubicBezTo>
                  <a:cubicBezTo>
                    <a:pt x="207" y="215"/>
                    <a:pt x="207" y="215"/>
                    <a:pt x="207" y="215"/>
                  </a:cubicBezTo>
                  <a:cubicBezTo>
                    <a:pt x="207" y="215"/>
                    <a:pt x="207" y="215"/>
                    <a:pt x="216" y="215"/>
                  </a:cubicBezTo>
                  <a:cubicBezTo>
                    <a:pt x="270" y="206"/>
                    <a:pt x="432" y="170"/>
                    <a:pt x="540" y="1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65" name="Freeform 472">
              <a:extLst>
                <a:ext uri="{FF2B5EF4-FFF2-40B4-BE49-F238E27FC236}">
                  <a16:creationId xmlns:a16="http://schemas.microsoft.com/office/drawing/2014/main" id="{3FACD87E-D1C0-684B-A4BC-734EFB15C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1445" y="9514124"/>
              <a:ext cx="60900" cy="89004"/>
            </a:xfrm>
            <a:custGeom>
              <a:avLst/>
              <a:gdLst>
                <a:gd name="T0" fmla="*/ 28 w 56"/>
                <a:gd name="T1" fmla="*/ 81 h 82"/>
                <a:gd name="T2" fmla="*/ 28 w 56"/>
                <a:gd name="T3" fmla="*/ 81 h 82"/>
                <a:gd name="T4" fmla="*/ 28 w 56"/>
                <a:gd name="T5" fmla="*/ 81 h 82"/>
                <a:gd name="T6" fmla="*/ 0 w 56"/>
                <a:gd name="T7" fmla="*/ 62 h 82"/>
                <a:gd name="T8" fmla="*/ 0 w 56"/>
                <a:gd name="T9" fmla="*/ 26 h 82"/>
                <a:gd name="T10" fmla="*/ 28 w 56"/>
                <a:gd name="T11" fmla="*/ 0 h 82"/>
                <a:gd name="T12" fmla="*/ 28 w 56"/>
                <a:gd name="T13" fmla="*/ 0 h 82"/>
                <a:gd name="T14" fmla="*/ 55 w 56"/>
                <a:gd name="T15" fmla="*/ 26 h 82"/>
                <a:gd name="T16" fmla="*/ 55 w 56"/>
                <a:gd name="T17" fmla="*/ 62 h 82"/>
                <a:gd name="T18" fmla="*/ 28 w 56"/>
                <a:gd name="T19" fmla="*/ 8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82">
                  <a:moveTo>
                    <a:pt x="28" y="81"/>
                  </a:moveTo>
                  <a:lnTo>
                    <a:pt x="28" y="81"/>
                  </a:lnTo>
                  <a:lnTo>
                    <a:pt x="28" y="81"/>
                  </a:lnTo>
                  <a:cubicBezTo>
                    <a:pt x="9" y="81"/>
                    <a:pt x="0" y="72"/>
                    <a:pt x="0" y="6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9"/>
                    <a:pt x="9" y="0"/>
                    <a:pt x="28" y="0"/>
                  </a:cubicBezTo>
                  <a:lnTo>
                    <a:pt x="28" y="0"/>
                  </a:lnTo>
                  <a:cubicBezTo>
                    <a:pt x="36" y="0"/>
                    <a:pt x="55" y="9"/>
                    <a:pt x="55" y="26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72"/>
                    <a:pt x="36" y="81"/>
                    <a:pt x="28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/>
            </a:p>
          </p:txBody>
        </p:sp>
        <p:sp>
          <p:nvSpPr>
            <p:cNvPr id="66" name="CuadroTexto 395">
              <a:extLst>
                <a:ext uri="{FF2B5EF4-FFF2-40B4-BE49-F238E27FC236}">
                  <a16:creationId xmlns:a16="http://schemas.microsoft.com/office/drawing/2014/main" id="{6B8907F4-3DA9-244B-A9F2-4D170C940D28}"/>
                </a:ext>
              </a:extLst>
            </p:cNvPr>
            <p:cNvSpPr txBox="1"/>
            <p:nvPr/>
          </p:nvSpPr>
          <p:spPr>
            <a:xfrm>
              <a:off x="2847606" y="11281369"/>
              <a:ext cx="5079886" cy="2677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 err="1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時程評估</a:t>
              </a:r>
              <a:r>
                <a:rPr lang="en-US" sz="27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&amp;</a:t>
              </a:r>
            </a:p>
            <a:p>
              <a:pPr algn="ctr"/>
              <a:r>
                <a:rPr lang="en-US" sz="2700" b="1" dirty="0" err="1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工作分配</a:t>
              </a:r>
              <a:endParaRPr lang="en-US" sz="27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  <a:p>
              <a:pPr algn="ctr"/>
              <a:r>
                <a:rPr lang="en-US" altLang="zh-TW" sz="27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2-Week/Phase</a:t>
              </a:r>
              <a:endParaRPr lang="en-US" sz="27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67" name="CuadroTexto 395">
              <a:extLst>
                <a:ext uri="{FF2B5EF4-FFF2-40B4-BE49-F238E27FC236}">
                  <a16:creationId xmlns:a16="http://schemas.microsoft.com/office/drawing/2014/main" id="{D86D3F51-61F0-3F40-AB27-C6AA42F0179F}"/>
                </a:ext>
              </a:extLst>
            </p:cNvPr>
            <p:cNvSpPr txBox="1"/>
            <p:nvPr/>
          </p:nvSpPr>
          <p:spPr>
            <a:xfrm>
              <a:off x="8561541" y="11281369"/>
              <a:ext cx="3094712" cy="1015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 err="1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專案規劃</a:t>
              </a:r>
              <a:endParaRPr lang="en-US" sz="27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68" name="CuadroTexto 395">
              <a:extLst>
                <a:ext uri="{FF2B5EF4-FFF2-40B4-BE49-F238E27FC236}">
                  <a16:creationId xmlns:a16="http://schemas.microsoft.com/office/drawing/2014/main" id="{0012C664-8F63-5743-ACB7-6AED39161F0B}"/>
                </a:ext>
              </a:extLst>
            </p:cNvPr>
            <p:cNvSpPr txBox="1"/>
            <p:nvPr/>
          </p:nvSpPr>
          <p:spPr>
            <a:xfrm>
              <a:off x="13520843" y="11281369"/>
              <a:ext cx="3094712" cy="1015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 err="1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專案執行</a:t>
              </a:r>
              <a:endParaRPr lang="en-US" sz="27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69" name="CuadroTexto 395">
              <a:extLst>
                <a:ext uri="{FF2B5EF4-FFF2-40B4-BE49-F238E27FC236}">
                  <a16:creationId xmlns:a16="http://schemas.microsoft.com/office/drawing/2014/main" id="{743B0AB7-EE08-AD43-B2BE-08BBA13239E2}"/>
                </a:ext>
              </a:extLst>
            </p:cNvPr>
            <p:cNvSpPr txBox="1"/>
            <p:nvPr/>
          </p:nvSpPr>
          <p:spPr>
            <a:xfrm>
              <a:off x="17857901" y="11281369"/>
              <a:ext cx="3094712" cy="1015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 err="1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專案驗收</a:t>
              </a:r>
              <a:endParaRPr lang="en-US" sz="27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01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664">
            <a:extLst>
              <a:ext uri="{FF2B5EF4-FFF2-40B4-BE49-F238E27FC236}">
                <a16:creationId xmlns:a16="http://schemas.microsoft.com/office/drawing/2014/main" id="{CCDFB9D2-ED19-BA45-98A2-F52BF27FB963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Operation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 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Model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grpSp>
        <p:nvGrpSpPr>
          <p:cNvPr id="10" name="Group 1">
            <a:extLst>
              <a:ext uri="{FF2B5EF4-FFF2-40B4-BE49-F238E27FC236}">
                <a16:creationId xmlns:a16="http://schemas.microsoft.com/office/drawing/2014/main" id="{AF82D400-EFEB-5B49-9A81-DB3C84FB51D8}"/>
              </a:ext>
            </a:extLst>
          </p:cNvPr>
          <p:cNvGrpSpPr/>
          <p:nvPr/>
        </p:nvGrpSpPr>
        <p:grpSpPr>
          <a:xfrm>
            <a:off x="338459" y="2154905"/>
            <a:ext cx="10285968" cy="3641888"/>
            <a:chOff x="1835966" y="5724774"/>
            <a:chExt cx="17459743" cy="5189224"/>
          </a:xfrm>
        </p:grpSpPr>
        <p:sp>
          <p:nvSpPr>
            <p:cNvPr id="11" name="CuadroTexto 395">
              <a:extLst>
                <a:ext uri="{FF2B5EF4-FFF2-40B4-BE49-F238E27FC236}">
                  <a16:creationId xmlns:a16="http://schemas.microsoft.com/office/drawing/2014/main" id="{83A4F57E-2F81-D741-89E9-5B30F3E402CC}"/>
                </a:ext>
              </a:extLst>
            </p:cNvPr>
            <p:cNvSpPr txBox="1"/>
            <p:nvPr/>
          </p:nvSpPr>
          <p:spPr>
            <a:xfrm>
              <a:off x="14744628" y="5724774"/>
              <a:ext cx="3951438" cy="789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0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Frequency</a:t>
              </a:r>
              <a:endParaRPr lang="en-US" sz="30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4" name="Rectangle 56">
              <a:extLst>
                <a:ext uri="{FF2B5EF4-FFF2-40B4-BE49-F238E27FC236}">
                  <a16:creationId xmlns:a16="http://schemas.microsoft.com/office/drawing/2014/main" id="{0E94E145-115E-7348-84DA-B55D074A3B7A}"/>
                </a:ext>
              </a:extLst>
            </p:cNvPr>
            <p:cNvSpPr/>
            <p:nvPr/>
          </p:nvSpPr>
          <p:spPr>
            <a:xfrm>
              <a:off x="14744628" y="6543726"/>
              <a:ext cx="4551081" cy="1096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2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THU</a:t>
              </a:r>
              <a:r>
                <a:rPr lang="zh-TW" altLang="en-US" sz="22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altLang="zh-TW" sz="22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Evening</a:t>
              </a:r>
              <a:r>
                <a:rPr lang="zh-TW" altLang="en-US" sz="22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，</a:t>
              </a:r>
              <a:endParaRPr lang="en-US" altLang="zh-TW" sz="2200" b="1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r>
                <a:rPr lang="zh-TW" altLang="en-US" sz="22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視需求增加次數</a:t>
              </a:r>
              <a:endParaRPr lang="en-US" sz="2200" b="1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16" name="CuadroTexto 395">
              <a:extLst>
                <a:ext uri="{FF2B5EF4-FFF2-40B4-BE49-F238E27FC236}">
                  <a16:creationId xmlns:a16="http://schemas.microsoft.com/office/drawing/2014/main" id="{A713910E-4E19-9E4E-9FE2-E2E24281D81F}"/>
                </a:ext>
              </a:extLst>
            </p:cNvPr>
            <p:cNvSpPr txBox="1"/>
            <p:nvPr/>
          </p:nvSpPr>
          <p:spPr>
            <a:xfrm>
              <a:off x="14744626" y="8805018"/>
              <a:ext cx="3664390" cy="789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0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Method</a:t>
              </a:r>
              <a:endParaRPr lang="en-US" sz="3000" b="1" dirty="0">
                <a:solidFill>
                  <a:schemeClr val="tx2"/>
                </a:solidFill>
                <a:latin typeface="Lato" charset="0"/>
                <a:ea typeface="Lato" charset="0"/>
                <a:cs typeface="Lato" charset="0"/>
              </a:endParaRPr>
            </a:p>
          </p:txBody>
        </p:sp>
        <p:sp>
          <p:nvSpPr>
            <p:cNvPr id="18" name="Rectangle 56">
              <a:extLst>
                <a:ext uri="{FF2B5EF4-FFF2-40B4-BE49-F238E27FC236}">
                  <a16:creationId xmlns:a16="http://schemas.microsoft.com/office/drawing/2014/main" id="{A3ED01E1-A26C-5A40-BF1A-3D2C91E9C207}"/>
                </a:ext>
              </a:extLst>
            </p:cNvPr>
            <p:cNvSpPr/>
            <p:nvPr/>
          </p:nvSpPr>
          <p:spPr>
            <a:xfrm>
              <a:off x="14744628" y="9598371"/>
              <a:ext cx="4551081" cy="1315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7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Google</a:t>
              </a:r>
              <a:r>
                <a:rPr lang="zh-TW" altLang="en-US" sz="27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 </a:t>
              </a:r>
              <a:r>
                <a:rPr lang="en-US" altLang="zh-TW" sz="27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Meet</a:t>
              </a:r>
            </a:p>
            <a:p>
              <a:r>
                <a:rPr lang="en-US" sz="2700" b="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Line</a:t>
              </a:r>
            </a:p>
          </p:txBody>
        </p:sp>
        <p:sp>
          <p:nvSpPr>
            <p:cNvPr id="19" name="CuadroTexto 395">
              <a:extLst>
                <a:ext uri="{FF2B5EF4-FFF2-40B4-BE49-F238E27FC236}">
                  <a16:creationId xmlns:a16="http://schemas.microsoft.com/office/drawing/2014/main" id="{81B2AA44-226A-154F-9D19-9847E9C8FE63}"/>
                </a:ext>
              </a:extLst>
            </p:cNvPr>
            <p:cNvSpPr txBox="1"/>
            <p:nvPr/>
          </p:nvSpPr>
          <p:spPr>
            <a:xfrm>
              <a:off x="4640428" y="5738394"/>
              <a:ext cx="2382675" cy="789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000" b="1" dirty="0">
                  <a:solidFill>
                    <a:schemeClr val="tx2"/>
                  </a:solidFill>
                  <a:latin typeface="Lato" charset="0"/>
                  <a:ea typeface="Lato" charset="0"/>
                  <a:cs typeface="Lato" charset="0"/>
                </a:rPr>
                <a:t>HOW</a:t>
              </a:r>
            </a:p>
          </p:txBody>
        </p:sp>
        <p:sp>
          <p:nvSpPr>
            <p:cNvPr id="20" name="Rectangle 56">
              <a:extLst>
                <a:ext uri="{FF2B5EF4-FFF2-40B4-BE49-F238E27FC236}">
                  <a16:creationId xmlns:a16="http://schemas.microsoft.com/office/drawing/2014/main" id="{F4423798-411C-BC4F-A071-EF9A11CC2305}"/>
                </a:ext>
              </a:extLst>
            </p:cNvPr>
            <p:cNvSpPr/>
            <p:nvPr/>
          </p:nvSpPr>
          <p:spPr>
            <a:xfrm>
              <a:off x="1835966" y="6598312"/>
              <a:ext cx="5393421" cy="2236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400" b="1" dirty="0" err="1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依老師建議&amp;小組討論工作分配，並定期會議報告進度與整合資料</a:t>
              </a:r>
              <a:endParaRPr lang="en-US" sz="2400" b="1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pic>
        <p:nvPicPr>
          <p:cNvPr id="21" name="圖形 20">
            <a:extLst>
              <a:ext uri="{FF2B5EF4-FFF2-40B4-BE49-F238E27FC236}">
                <a16:creationId xmlns:a16="http://schemas.microsoft.com/office/drawing/2014/main" id="{6F51B333-3AEE-4042-B548-AE4AFAB66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2701" y="2063072"/>
            <a:ext cx="3768530" cy="340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55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2020年最被忽略的公司！美國零售之王沃爾瑪，大變身反攻亞馬遜｜天下雜誌">
            <a:extLst>
              <a:ext uri="{FF2B5EF4-FFF2-40B4-BE49-F238E27FC236}">
                <a16:creationId xmlns:a16="http://schemas.microsoft.com/office/drawing/2014/main" id="{12A6E5A1-24C2-6749-B613-EACC48C7C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811" y="1208315"/>
            <a:ext cx="7367469" cy="493602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90;gcaeeafacf8_0_11">
            <a:extLst>
              <a:ext uri="{FF2B5EF4-FFF2-40B4-BE49-F238E27FC236}">
                <a16:creationId xmlns:a16="http://schemas.microsoft.com/office/drawing/2014/main" id="{D5C11481-5FB6-B84F-B524-25C01E9ACCAE}"/>
              </a:ext>
            </a:extLst>
          </p:cNvPr>
          <p:cNvSpPr txBox="1"/>
          <p:nvPr/>
        </p:nvSpPr>
        <p:spPr>
          <a:xfrm>
            <a:off x="276609" y="2482300"/>
            <a:ext cx="3336683" cy="157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spAutoFit/>
          </a:bodyPr>
          <a:lstStyle/>
          <a:p>
            <a:r>
              <a:rPr lang="zh-TW" altLang="en-US" sz="3300" b="1" dirty="0">
                <a:highlight>
                  <a:srgbClr val="FFFFFF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美國零售之王</a:t>
            </a:r>
            <a:endParaRPr lang="en-US" altLang="zh-TW" sz="3300" b="1" dirty="0">
              <a:highlight>
                <a:srgbClr val="FFFFFF"/>
              </a:highlight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5750" b="1" dirty="0">
                <a:highlight>
                  <a:srgbClr val="FFFFFF"/>
                </a:highlight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沃爾瑪</a:t>
            </a:r>
            <a:endParaRPr lang="zh-TW" altLang="en-US" sz="3300" b="1" dirty="0">
              <a:highlight>
                <a:srgbClr val="FFFFFF"/>
              </a:highlight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CuadroTexto 664">
            <a:extLst>
              <a:ext uri="{FF2B5EF4-FFF2-40B4-BE49-F238E27FC236}">
                <a16:creationId xmlns:a16="http://schemas.microsoft.com/office/drawing/2014/main" id="{128D2876-AD60-FB47-850B-AAA55E8FBC10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Case Study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46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圓角 12">
            <a:extLst>
              <a:ext uri="{FF2B5EF4-FFF2-40B4-BE49-F238E27FC236}">
                <a16:creationId xmlns:a16="http://schemas.microsoft.com/office/drawing/2014/main" id="{106039E7-6934-6542-8EFE-0BD8262E8EC4}"/>
              </a:ext>
            </a:extLst>
          </p:cNvPr>
          <p:cNvSpPr/>
          <p:nvPr/>
        </p:nvSpPr>
        <p:spPr>
          <a:xfrm>
            <a:off x="5836448" y="1584721"/>
            <a:ext cx="1706200" cy="5109101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2A5C91E-3F80-634D-A2D7-2DE4714CEA98}"/>
              </a:ext>
            </a:extLst>
          </p:cNvPr>
          <p:cNvSpPr/>
          <p:nvPr/>
        </p:nvSpPr>
        <p:spPr>
          <a:xfrm>
            <a:off x="488022" y="2550831"/>
            <a:ext cx="4821460" cy="3390084"/>
          </a:xfrm>
          <a:prstGeom prst="ellips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0D98C9-5D47-C248-87F4-450D35C8FC7C}"/>
              </a:ext>
            </a:extLst>
          </p:cNvPr>
          <p:cNvSpPr txBox="1"/>
          <p:nvPr/>
        </p:nvSpPr>
        <p:spPr>
          <a:xfrm>
            <a:off x="2276983" y="2700835"/>
            <a:ext cx="1107996" cy="461665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零售業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AD95299-4F31-A844-BF83-B417FB8E0EBB}"/>
              </a:ext>
            </a:extLst>
          </p:cNvPr>
          <p:cNvSpPr/>
          <p:nvPr/>
        </p:nvSpPr>
        <p:spPr>
          <a:xfrm>
            <a:off x="2211545" y="3296504"/>
            <a:ext cx="2871711" cy="2392400"/>
          </a:xfrm>
          <a:prstGeom prst="ellips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15FAD60-31D5-7841-8E8F-F315B641C4FF}"/>
              </a:ext>
            </a:extLst>
          </p:cNvPr>
          <p:cNvSpPr txBox="1"/>
          <p:nvPr/>
        </p:nvSpPr>
        <p:spPr>
          <a:xfrm>
            <a:off x="3194523" y="3478784"/>
            <a:ext cx="1107996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零售商店</a:t>
            </a:r>
          </a:p>
        </p:txBody>
      </p:sp>
      <p:sp>
        <p:nvSpPr>
          <p:cNvPr id="18" name="矩形: 圓角 7">
            <a:extLst>
              <a:ext uri="{FF2B5EF4-FFF2-40B4-BE49-F238E27FC236}">
                <a16:creationId xmlns:a16="http://schemas.microsoft.com/office/drawing/2014/main" id="{B17675F9-66DF-D242-B09D-E508564BF066}"/>
              </a:ext>
            </a:extLst>
          </p:cNvPr>
          <p:cNvSpPr/>
          <p:nvPr/>
        </p:nvSpPr>
        <p:spPr>
          <a:xfrm>
            <a:off x="2767214" y="3972582"/>
            <a:ext cx="914302" cy="301733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消費者</a:t>
            </a:r>
          </a:p>
        </p:txBody>
      </p:sp>
      <p:sp>
        <p:nvSpPr>
          <p:cNvPr id="19" name="矩形: 圓角 9">
            <a:extLst>
              <a:ext uri="{FF2B5EF4-FFF2-40B4-BE49-F238E27FC236}">
                <a16:creationId xmlns:a16="http://schemas.microsoft.com/office/drawing/2014/main" id="{832FAE2C-9D5F-5449-A2EB-C78B97AAE03B}"/>
              </a:ext>
            </a:extLst>
          </p:cNvPr>
          <p:cNvSpPr/>
          <p:nvPr/>
        </p:nvSpPr>
        <p:spPr>
          <a:xfrm>
            <a:off x="750122" y="4313713"/>
            <a:ext cx="961180" cy="401194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供應商</a:t>
            </a:r>
          </a:p>
        </p:txBody>
      </p:sp>
      <p:cxnSp>
        <p:nvCxnSpPr>
          <p:cNvPr id="20" name="直線單箭頭接點 11">
            <a:extLst>
              <a:ext uri="{FF2B5EF4-FFF2-40B4-BE49-F238E27FC236}">
                <a16:creationId xmlns:a16="http://schemas.microsoft.com/office/drawing/2014/main" id="{ECD3ACCA-1E16-6645-890C-866B18A84AB7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1711302" y="4514310"/>
            <a:ext cx="1055912" cy="722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: 圓角 15">
            <a:extLst>
              <a:ext uri="{FF2B5EF4-FFF2-40B4-BE49-F238E27FC236}">
                <a16:creationId xmlns:a16="http://schemas.microsoft.com/office/drawing/2014/main" id="{02A2E62A-B215-DC4F-B7B6-0C689869ACAF}"/>
              </a:ext>
            </a:extLst>
          </p:cNvPr>
          <p:cNvSpPr/>
          <p:nvPr/>
        </p:nvSpPr>
        <p:spPr>
          <a:xfrm>
            <a:off x="2767214" y="4431364"/>
            <a:ext cx="854619" cy="310466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商品</a:t>
            </a:r>
          </a:p>
        </p:txBody>
      </p:sp>
      <p:sp>
        <p:nvSpPr>
          <p:cNvPr id="22" name="矩形: 圓角 16">
            <a:extLst>
              <a:ext uri="{FF2B5EF4-FFF2-40B4-BE49-F238E27FC236}">
                <a16:creationId xmlns:a16="http://schemas.microsoft.com/office/drawing/2014/main" id="{78FEBFE5-3559-4347-9AC2-8CA2C9FBCD3A}"/>
              </a:ext>
            </a:extLst>
          </p:cNvPr>
          <p:cNvSpPr/>
          <p:nvPr/>
        </p:nvSpPr>
        <p:spPr>
          <a:xfrm>
            <a:off x="3935024" y="3967794"/>
            <a:ext cx="854619" cy="310466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人員</a:t>
            </a:r>
          </a:p>
        </p:txBody>
      </p:sp>
      <p:sp>
        <p:nvSpPr>
          <p:cNvPr id="23" name="矩形: 圓角 17">
            <a:extLst>
              <a:ext uri="{FF2B5EF4-FFF2-40B4-BE49-F238E27FC236}">
                <a16:creationId xmlns:a16="http://schemas.microsoft.com/office/drawing/2014/main" id="{09305965-EAFA-AE40-AC60-2FD0AF433C97}"/>
              </a:ext>
            </a:extLst>
          </p:cNvPr>
          <p:cNvSpPr/>
          <p:nvPr/>
        </p:nvSpPr>
        <p:spPr>
          <a:xfrm>
            <a:off x="2779406" y="4933500"/>
            <a:ext cx="854619" cy="310466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貨架</a:t>
            </a:r>
          </a:p>
        </p:txBody>
      </p:sp>
      <p:sp>
        <p:nvSpPr>
          <p:cNvPr id="24" name="矩形: 圓角 18">
            <a:extLst>
              <a:ext uri="{FF2B5EF4-FFF2-40B4-BE49-F238E27FC236}">
                <a16:creationId xmlns:a16="http://schemas.microsoft.com/office/drawing/2014/main" id="{9CBD8089-A699-3044-AFF9-460AD0E7E714}"/>
              </a:ext>
            </a:extLst>
          </p:cNvPr>
          <p:cNvSpPr/>
          <p:nvPr/>
        </p:nvSpPr>
        <p:spPr>
          <a:xfrm>
            <a:off x="3935021" y="4447261"/>
            <a:ext cx="854619" cy="310466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倉儲</a:t>
            </a:r>
          </a:p>
        </p:txBody>
      </p:sp>
      <p:sp>
        <p:nvSpPr>
          <p:cNvPr id="25" name="矩形: 圓角 22">
            <a:extLst>
              <a:ext uri="{FF2B5EF4-FFF2-40B4-BE49-F238E27FC236}">
                <a16:creationId xmlns:a16="http://schemas.microsoft.com/office/drawing/2014/main" id="{B9719D41-9C90-E041-B9AF-0FC6959619BE}"/>
              </a:ext>
            </a:extLst>
          </p:cNvPr>
          <p:cNvSpPr/>
          <p:nvPr/>
        </p:nvSpPr>
        <p:spPr>
          <a:xfrm>
            <a:off x="3935022" y="4933500"/>
            <a:ext cx="1028635" cy="310466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銷售策略</a:t>
            </a:r>
          </a:p>
        </p:txBody>
      </p:sp>
      <p:sp>
        <p:nvSpPr>
          <p:cNvPr id="27" name="矩形: 圓角 25">
            <a:extLst>
              <a:ext uri="{FF2B5EF4-FFF2-40B4-BE49-F238E27FC236}">
                <a16:creationId xmlns:a16="http://schemas.microsoft.com/office/drawing/2014/main" id="{EBECBC20-3CF9-8B46-A2DD-A3387BF3FC43}"/>
              </a:ext>
            </a:extLst>
          </p:cNvPr>
          <p:cNvSpPr/>
          <p:nvPr/>
        </p:nvSpPr>
        <p:spPr>
          <a:xfrm>
            <a:off x="750122" y="3644443"/>
            <a:ext cx="954146" cy="386191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競爭者</a:t>
            </a: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84C7261-50B1-EB42-843F-3027150EF3CB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1704268" y="3837539"/>
            <a:ext cx="572715" cy="30173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: 圓角 34">
            <a:extLst>
              <a:ext uri="{FF2B5EF4-FFF2-40B4-BE49-F238E27FC236}">
                <a16:creationId xmlns:a16="http://schemas.microsoft.com/office/drawing/2014/main" id="{42D8DA18-AB02-A945-81AF-CC746F761259}"/>
              </a:ext>
            </a:extLst>
          </p:cNvPr>
          <p:cNvSpPr/>
          <p:nvPr/>
        </p:nvSpPr>
        <p:spPr>
          <a:xfrm>
            <a:off x="8578493" y="2546126"/>
            <a:ext cx="2363237" cy="1070232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  <a:sym typeface="Calibri"/>
              </a:rPr>
              <a:t>持續提升商店</a:t>
            </a:r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  <a:sym typeface="Calibri"/>
            </a:endParaRPr>
          </a:p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  <a:sym typeface="Calibri"/>
              </a:rPr>
              <a:t>營業績效</a:t>
            </a:r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181AD8D-7C9C-014C-ACBC-2E05A4C6F291}"/>
              </a:ext>
            </a:extLst>
          </p:cNvPr>
          <p:cNvSpPr txBox="1"/>
          <p:nvPr/>
        </p:nvSpPr>
        <p:spPr>
          <a:xfrm>
            <a:off x="9347096" y="2561722"/>
            <a:ext cx="934595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Mission</a:t>
            </a:r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" name="矩形: 圓角 41">
            <a:extLst>
              <a:ext uri="{FF2B5EF4-FFF2-40B4-BE49-F238E27FC236}">
                <a16:creationId xmlns:a16="http://schemas.microsoft.com/office/drawing/2014/main" id="{528ECA6C-EE3B-6B4E-924F-6C00BF1F41DB}"/>
              </a:ext>
            </a:extLst>
          </p:cNvPr>
          <p:cNvSpPr/>
          <p:nvPr/>
        </p:nvSpPr>
        <p:spPr>
          <a:xfrm>
            <a:off x="8121770" y="749300"/>
            <a:ext cx="3162465" cy="1575949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57067BC-E466-224C-855C-F3EA52AD20F6}"/>
              </a:ext>
            </a:extLst>
          </p:cNvPr>
          <p:cNvSpPr txBox="1"/>
          <p:nvPr/>
        </p:nvSpPr>
        <p:spPr>
          <a:xfrm>
            <a:off x="8896032" y="821872"/>
            <a:ext cx="2388203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202124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關鍵績效指標</a:t>
            </a:r>
            <a:r>
              <a:rPr lang="en-US" altLang="zh-TW" b="1" dirty="0">
                <a:solidFill>
                  <a:srgbClr val="202124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(KPI)</a:t>
            </a:r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A4AE211-2ED8-8448-AA44-04793FF80771}"/>
              </a:ext>
            </a:extLst>
          </p:cNvPr>
          <p:cNvSpPr txBox="1"/>
          <p:nvPr/>
        </p:nvSpPr>
        <p:spPr>
          <a:xfrm>
            <a:off x="8681997" y="1143478"/>
            <a:ext cx="2705742" cy="1200329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marL="342815" indent="-342815">
              <a:buFont typeface="+mj-lt"/>
              <a:buAutoNum type="arabicPeriod"/>
            </a:pP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銷售額 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+20%</a:t>
            </a:r>
          </a:p>
          <a:p>
            <a:pPr marL="342815" indent="-342815">
              <a:buFont typeface="+mj-lt"/>
              <a:buAutoNum type="arabicPeriod"/>
            </a:pP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庫存成本 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-30%</a:t>
            </a:r>
          </a:p>
          <a:p>
            <a:pPr marL="342815" indent="-342815">
              <a:buFont typeface="+mj-lt"/>
              <a:buAutoNum type="arabicPeriod"/>
            </a:pP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消費者滿意度＋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20%</a:t>
            </a:r>
          </a:p>
          <a:p>
            <a:pPr marL="342815" indent="-342815">
              <a:buFont typeface="+mj-lt"/>
              <a:buAutoNum type="arabicPeriod"/>
            </a:pP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人力成本 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-10%</a:t>
            </a:r>
          </a:p>
        </p:txBody>
      </p:sp>
      <p:cxnSp>
        <p:nvCxnSpPr>
          <p:cNvPr id="34" name="直線單箭頭接點 45">
            <a:extLst>
              <a:ext uri="{FF2B5EF4-FFF2-40B4-BE49-F238E27FC236}">
                <a16:creationId xmlns:a16="http://schemas.microsoft.com/office/drawing/2014/main" id="{39444505-C465-5A48-AEAE-DE99D7ED5398}"/>
              </a:ext>
            </a:extLst>
          </p:cNvPr>
          <p:cNvCxnSpPr>
            <a:cxnSpLocks/>
            <a:stCxn id="29" idx="0"/>
            <a:endCxn id="33" idx="2"/>
          </p:cNvCxnSpPr>
          <p:nvPr/>
        </p:nvCxnSpPr>
        <p:spPr>
          <a:xfrm flipV="1">
            <a:off x="9760112" y="2343807"/>
            <a:ext cx="274756" cy="2023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矩形: 圓角 48">
            <a:extLst>
              <a:ext uri="{FF2B5EF4-FFF2-40B4-BE49-F238E27FC236}">
                <a16:creationId xmlns:a16="http://schemas.microsoft.com/office/drawing/2014/main" id="{8FF7AB3B-7946-6849-8D59-71588C31D325}"/>
              </a:ext>
            </a:extLst>
          </p:cNvPr>
          <p:cNvSpPr/>
          <p:nvPr/>
        </p:nvSpPr>
        <p:spPr>
          <a:xfrm>
            <a:off x="8121770" y="3859872"/>
            <a:ext cx="1707520" cy="56112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零售商店管理</a:t>
            </a:r>
          </a:p>
        </p:txBody>
      </p:sp>
      <p:sp>
        <p:nvSpPr>
          <p:cNvPr id="36" name="矩形: 圓角 55">
            <a:extLst>
              <a:ext uri="{FF2B5EF4-FFF2-40B4-BE49-F238E27FC236}">
                <a16:creationId xmlns:a16="http://schemas.microsoft.com/office/drawing/2014/main" id="{37C16CF1-7613-414F-A663-D8DAB8577A2E}"/>
              </a:ext>
            </a:extLst>
          </p:cNvPr>
          <p:cNvSpPr/>
          <p:nvPr/>
        </p:nvSpPr>
        <p:spPr>
          <a:xfrm>
            <a:off x="6022174" y="2899878"/>
            <a:ext cx="1330321" cy="455789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人員管理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排班</a:t>
            </a:r>
            <a:r>
              <a: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7" name="矩形: 圓角 74">
            <a:extLst>
              <a:ext uri="{FF2B5EF4-FFF2-40B4-BE49-F238E27FC236}">
                <a16:creationId xmlns:a16="http://schemas.microsoft.com/office/drawing/2014/main" id="{13FF2297-05BC-034C-944F-E2C6B9AABB4F}"/>
              </a:ext>
            </a:extLst>
          </p:cNvPr>
          <p:cNvSpPr/>
          <p:nvPr/>
        </p:nvSpPr>
        <p:spPr>
          <a:xfrm>
            <a:off x="6008921" y="5719540"/>
            <a:ext cx="1343574" cy="334206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商品擺放管理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" name="矩形: 圓角 108">
            <a:extLst>
              <a:ext uri="{FF2B5EF4-FFF2-40B4-BE49-F238E27FC236}">
                <a16:creationId xmlns:a16="http://schemas.microsoft.com/office/drawing/2014/main" id="{B052ACD7-63AE-344D-8DB3-63384C4C75D8}"/>
              </a:ext>
            </a:extLst>
          </p:cNvPr>
          <p:cNvSpPr/>
          <p:nvPr/>
        </p:nvSpPr>
        <p:spPr>
          <a:xfrm>
            <a:off x="6044226" y="3488019"/>
            <a:ext cx="1324224" cy="394452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商品管理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1337C3C-32DC-044D-A226-713D053994DA}"/>
              </a:ext>
            </a:extLst>
          </p:cNvPr>
          <p:cNvSpPr txBox="1"/>
          <p:nvPr/>
        </p:nvSpPr>
        <p:spPr>
          <a:xfrm>
            <a:off x="1797209" y="3671681"/>
            <a:ext cx="968205" cy="30777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競爭關係</a:t>
            </a:r>
          </a:p>
        </p:txBody>
      </p:sp>
      <p:cxnSp>
        <p:nvCxnSpPr>
          <p:cNvPr id="40" name="直線單箭頭接點 50">
            <a:extLst>
              <a:ext uri="{FF2B5EF4-FFF2-40B4-BE49-F238E27FC236}">
                <a16:creationId xmlns:a16="http://schemas.microsoft.com/office/drawing/2014/main" id="{625CAE47-2674-D242-ABDE-816D2F3F8C24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9027348" y="3616358"/>
            <a:ext cx="732764" cy="2208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: 圓角 53">
            <a:extLst>
              <a:ext uri="{FF2B5EF4-FFF2-40B4-BE49-F238E27FC236}">
                <a16:creationId xmlns:a16="http://schemas.microsoft.com/office/drawing/2014/main" id="{D655D83B-7612-6D47-94A8-442110EF1F16}"/>
              </a:ext>
            </a:extLst>
          </p:cNvPr>
          <p:cNvSpPr/>
          <p:nvPr/>
        </p:nvSpPr>
        <p:spPr>
          <a:xfrm>
            <a:off x="6028272" y="2292359"/>
            <a:ext cx="1330321" cy="455789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進銷存管理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2" name="矩形: 圓角 56">
            <a:extLst>
              <a:ext uri="{FF2B5EF4-FFF2-40B4-BE49-F238E27FC236}">
                <a16:creationId xmlns:a16="http://schemas.microsoft.com/office/drawing/2014/main" id="{736B676C-3F55-6749-B175-F83ACA7228C9}"/>
              </a:ext>
            </a:extLst>
          </p:cNvPr>
          <p:cNvSpPr/>
          <p:nvPr/>
        </p:nvSpPr>
        <p:spPr>
          <a:xfrm>
            <a:off x="6041525" y="1690063"/>
            <a:ext cx="1330321" cy="455789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銷售</a:t>
            </a:r>
            <a:r>
              <a: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需求預測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3" name="矩形: 圓角 62">
            <a:extLst>
              <a:ext uri="{FF2B5EF4-FFF2-40B4-BE49-F238E27FC236}">
                <a16:creationId xmlns:a16="http://schemas.microsoft.com/office/drawing/2014/main" id="{42084769-3703-A540-8756-5E2433A6ED23}"/>
              </a:ext>
            </a:extLst>
          </p:cNvPr>
          <p:cNvSpPr/>
          <p:nvPr/>
        </p:nvSpPr>
        <p:spPr>
          <a:xfrm>
            <a:off x="6044226" y="4038632"/>
            <a:ext cx="1324224" cy="394452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消費者管理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4" name="矩形: 圓角 66">
            <a:extLst>
              <a:ext uri="{FF2B5EF4-FFF2-40B4-BE49-F238E27FC236}">
                <a16:creationId xmlns:a16="http://schemas.microsoft.com/office/drawing/2014/main" id="{1652017A-C019-FE44-97C0-247F79CE4303}"/>
              </a:ext>
            </a:extLst>
          </p:cNvPr>
          <p:cNvSpPr/>
          <p:nvPr/>
        </p:nvSpPr>
        <p:spPr>
          <a:xfrm>
            <a:off x="6028271" y="4588212"/>
            <a:ext cx="1324224" cy="394452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倉儲管理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5" name="矩形: 圓角 71">
            <a:extLst>
              <a:ext uri="{FF2B5EF4-FFF2-40B4-BE49-F238E27FC236}">
                <a16:creationId xmlns:a16="http://schemas.microsoft.com/office/drawing/2014/main" id="{CFB54853-BE0E-174D-BE8A-16E2531FC879}"/>
              </a:ext>
            </a:extLst>
          </p:cNvPr>
          <p:cNvSpPr/>
          <p:nvPr/>
        </p:nvSpPr>
        <p:spPr>
          <a:xfrm>
            <a:off x="6008921" y="6215209"/>
            <a:ext cx="1330320" cy="334206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行銷活動</a:t>
            </a:r>
          </a:p>
        </p:txBody>
      </p:sp>
      <p:sp>
        <p:nvSpPr>
          <p:cNvPr id="46" name="矩形: 圓角 78">
            <a:extLst>
              <a:ext uri="{FF2B5EF4-FFF2-40B4-BE49-F238E27FC236}">
                <a16:creationId xmlns:a16="http://schemas.microsoft.com/office/drawing/2014/main" id="{B63EB65E-BC00-2C40-B14B-4FB867BF4148}"/>
              </a:ext>
            </a:extLst>
          </p:cNvPr>
          <p:cNvSpPr/>
          <p:nvPr/>
        </p:nvSpPr>
        <p:spPr>
          <a:xfrm>
            <a:off x="562035" y="1725609"/>
            <a:ext cx="1330321" cy="455789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政經社會情勢</a:t>
            </a:r>
            <a:r>
              <a: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事件</a:t>
            </a:r>
            <a:r>
              <a: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7" name="矩形: 圓角 79">
            <a:extLst>
              <a:ext uri="{FF2B5EF4-FFF2-40B4-BE49-F238E27FC236}">
                <a16:creationId xmlns:a16="http://schemas.microsoft.com/office/drawing/2014/main" id="{76B5D93A-00AC-734B-BCA3-8527F6A77A9B}"/>
              </a:ext>
            </a:extLst>
          </p:cNvPr>
          <p:cNvSpPr/>
          <p:nvPr/>
        </p:nvSpPr>
        <p:spPr>
          <a:xfrm>
            <a:off x="6022174" y="5115015"/>
            <a:ext cx="1330321" cy="455789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政經社會情勢掌握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48" name="直線單箭頭接點 68">
            <a:extLst>
              <a:ext uri="{FF2B5EF4-FFF2-40B4-BE49-F238E27FC236}">
                <a16:creationId xmlns:a16="http://schemas.microsoft.com/office/drawing/2014/main" id="{D789308F-49DF-6C40-B553-C8A021272A3C}"/>
              </a:ext>
            </a:extLst>
          </p:cNvPr>
          <p:cNvCxnSpPr>
            <a:stCxn id="46" idx="2"/>
          </p:cNvCxnSpPr>
          <p:nvPr/>
        </p:nvCxnSpPr>
        <p:spPr>
          <a:xfrm>
            <a:off x="1227195" y="2181398"/>
            <a:ext cx="272691" cy="7134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矩形: 圓角 82">
            <a:extLst>
              <a:ext uri="{FF2B5EF4-FFF2-40B4-BE49-F238E27FC236}">
                <a16:creationId xmlns:a16="http://schemas.microsoft.com/office/drawing/2014/main" id="{99A359EA-09BA-AF4D-B3DF-BA330B938FA6}"/>
              </a:ext>
            </a:extLst>
          </p:cNvPr>
          <p:cNvSpPr/>
          <p:nvPr/>
        </p:nvSpPr>
        <p:spPr>
          <a:xfrm>
            <a:off x="1072196" y="4961215"/>
            <a:ext cx="1139350" cy="395863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替代性商品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50" name="直線單箭頭接點 14">
            <a:extLst>
              <a:ext uri="{FF2B5EF4-FFF2-40B4-BE49-F238E27FC236}">
                <a16:creationId xmlns:a16="http://schemas.microsoft.com/office/drawing/2014/main" id="{E8E992DB-917F-374D-A1A0-F52C61C4E30E}"/>
              </a:ext>
            </a:extLst>
          </p:cNvPr>
          <p:cNvCxnSpPr>
            <a:stCxn id="35" idx="1"/>
            <a:endCxn id="8" idx="3"/>
          </p:cNvCxnSpPr>
          <p:nvPr/>
        </p:nvCxnSpPr>
        <p:spPr>
          <a:xfrm flipH="1" flipV="1">
            <a:off x="7542647" y="4139272"/>
            <a:ext cx="579122" cy="11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23">
            <a:extLst>
              <a:ext uri="{FF2B5EF4-FFF2-40B4-BE49-F238E27FC236}">
                <a16:creationId xmlns:a16="http://schemas.microsoft.com/office/drawing/2014/main" id="{A2258F41-56B4-6B4D-866B-02AA851F1580}"/>
              </a:ext>
            </a:extLst>
          </p:cNvPr>
          <p:cNvCxnSpPr>
            <a:stCxn id="8" idx="1"/>
          </p:cNvCxnSpPr>
          <p:nvPr/>
        </p:nvCxnSpPr>
        <p:spPr>
          <a:xfrm flipH="1">
            <a:off x="4997005" y="4139272"/>
            <a:ext cx="839442" cy="7420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CuadroTexto 664">
            <a:extLst>
              <a:ext uri="{FF2B5EF4-FFF2-40B4-BE49-F238E27FC236}">
                <a16:creationId xmlns:a16="http://schemas.microsoft.com/office/drawing/2014/main" id="{4BC2EB84-06F7-DA41-A23E-C44849D261C3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領域探討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-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零售業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04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E53C536-4030-ED40-B326-EA12B7301788}"/>
              </a:ext>
            </a:extLst>
          </p:cNvPr>
          <p:cNvGrpSpPr/>
          <p:nvPr/>
        </p:nvGrpSpPr>
        <p:grpSpPr>
          <a:xfrm>
            <a:off x="208345" y="436007"/>
            <a:ext cx="10223955" cy="6398040"/>
            <a:chOff x="630083" y="658436"/>
            <a:chExt cx="19437329" cy="12796079"/>
          </a:xfrm>
        </p:grpSpPr>
        <p:sp>
          <p:nvSpPr>
            <p:cNvPr id="10" name="矩形: 圓角 98">
              <a:extLst>
                <a:ext uri="{FF2B5EF4-FFF2-40B4-BE49-F238E27FC236}">
                  <a16:creationId xmlns:a16="http://schemas.microsoft.com/office/drawing/2014/main" id="{983BCA6D-D187-604F-950B-5D11EBC67025}"/>
                </a:ext>
              </a:extLst>
            </p:cNvPr>
            <p:cNvSpPr/>
            <p:nvPr/>
          </p:nvSpPr>
          <p:spPr>
            <a:xfrm>
              <a:off x="5293630" y="2440817"/>
              <a:ext cx="3412399" cy="10218202"/>
            </a:xfrm>
            <a:prstGeom prst="roundRect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1" name="矩形: 圓角 99">
              <a:extLst>
                <a:ext uri="{FF2B5EF4-FFF2-40B4-BE49-F238E27FC236}">
                  <a16:creationId xmlns:a16="http://schemas.microsoft.com/office/drawing/2014/main" id="{FBF3E5AE-EA97-AF4C-9BF7-9D669E707E43}"/>
                </a:ext>
              </a:extLst>
            </p:cNvPr>
            <p:cNvSpPr/>
            <p:nvPr/>
          </p:nvSpPr>
          <p:spPr>
            <a:xfrm>
              <a:off x="5665082" y="5071130"/>
              <a:ext cx="2660641" cy="911578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人員管理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排班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14" name="矩形: 圓角 100">
              <a:extLst>
                <a:ext uri="{FF2B5EF4-FFF2-40B4-BE49-F238E27FC236}">
                  <a16:creationId xmlns:a16="http://schemas.microsoft.com/office/drawing/2014/main" id="{7BF1C7B2-E6DC-2B44-8A3B-C1B43225B472}"/>
                </a:ext>
              </a:extLst>
            </p:cNvPr>
            <p:cNvSpPr/>
            <p:nvPr/>
          </p:nvSpPr>
          <p:spPr>
            <a:xfrm>
              <a:off x="5638576" y="10710454"/>
              <a:ext cx="2687148" cy="668412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商品擺放管理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" name="矩形: 圓角 101">
              <a:extLst>
                <a:ext uri="{FF2B5EF4-FFF2-40B4-BE49-F238E27FC236}">
                  <a16:creationId xmlns:a16="http://schemas.microsoft.com/office/drawing/2014/main" id="{BEA8B96D-FDAC-1843-B0A1-CC8D6D9B00A7}"/>
                </a:ext>
              </a:extLst>
            </p:cNvPr>
            <p:cNvSpPr/>
            <p:nvPr/>
          </p:nvSpPr>
          <p:spPr>
            <a:xfrm>
              <a:off x="5709186" y="6247412"/>
              <a:ext cx="2648448" cy="788903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商品管理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8" name="矩形: 圓角 102">
              <a:extLst>
                <a:ext uri="{FF2B5EF4-FFF2-40B4-BE49-F238E27FC236}">
                  <a16:creationId xmlns:a16="http://schemas.microsoft.com/office/drawing/2014/main" id="{33F6E17B-2AD1-164F-940E-2E1673448B47}"/>
                </a:ext>
              </a:extLst>
            </p:cNvPr>
            <p:cNvSpPr/>
            <p:nvPr/>
          </p:nvSpPr>
          <p:spPr>
            <a:xfrm>
              <a:off x="5677277" y="3856092"/>
              <a:ext cx="2660641" cy="911578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進銷存管理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" name="矩形: 圓角 103">
              <a:extLst>
                <a:ext uri="{FF2B5EF4-FFF2-40B4-BE49-F238E27FC236}">
                  <a16:creationId xmlns:a16="http://schemas.microsoft.com/office/drawing/2014/main" id="{DB3C8CE2-78A4-1F4F-A740-F8D329218AA1}"/>
                </a:ext>
              </a:extLst>
            </p:cNvPr>
            <p:cNvSpPr/>
            <p:nvPr/>
          </p:nvSpPr>
          <p:spPr>
            <a:xfrm>
              <a:off x="5703783" y="2651501"/>
              <a:ext cx="2660641" cy="911578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銷售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需求預測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" name="矩形: 圓角 104">
              <a:extLst>
                <a:ext uri="{FF2B5EF4-FFF2-40B4-BE49-F238E27FC236}">
                  <a16:creationId xmlns:a16="http://schemas.microsoft.com/office/drawing/2014/main" id="{E2687BFB-2CE6-7E47-8DCB-0DD4287FA2E2}"/>
                </a:ext>
              </a:extLst>
            </p:cNvPr>
            <p:cNvSpPr/>
            <p:nvPr/>
          </p:nvSpPr>
          <p:spPr>
            <a:xfrm>
              <a:off x="5709186" y="7348638"/>
              <a:ext cx="2648448" cy="788903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消費者管理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1" name="矩形: 圓角 105">
              <a:extLst>
                <a:ext uri="{FF2B5EF4-FFF2-40B4-BE49-F238E27FC236}">
                  <a16:creationId xmlns:a16="http://schemas.microsoft.com/office/drawing/2014/main" id="{A86806D7-8462-364D-A7B3-540CF5B516EC}"/>
                </a:ext>
              </a:extLst>
            </p:cNvPr>
            <p:cNvSpPr/>
            <p:nvPr/>
          </p:nvSpPr>
          <p:spPr>
            <a:xfrm>
              <a:off x="5677276" y="8447798"/>
              <a:ext cx="2648448" cy="788903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倉儲管理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2" name="矩形: 圓角 106">
              <a:extLst>
                <a:ext uri="{FF2B5EF4-FFF2-40B4-BE49-F238E27FC236}">
                  <a16:creationId xmlns:a16="http://schemas.microsoft.com/office/drawing/2014/main" id="{94AA0876-2888-0A41-9F4E-FC9596590CFF}"/>
                </a:ext>
              </a:extLst>
            </p:cNvPr>
            <p:cNvSpPr/>
            <p:nvPr/>
          </p:nvSpPr>
          <p:spPr>
            <a:xfrm>
              <a:off x="5638575" y="11701793"/>
              <a:ext cx="2660640" cy="668412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行銷活動</a:t>
              </a:r>
            </a:p>
          </p:txBody>
        </p:sp>
        <p:sp>
          <p:nvSpPr>
            <p:cNvPr id="23" name="矩形: 圓角 107">
              <a:extLst>
                <a:ext uri="{FF2B5EF4-FFF2-40B4-BE49-F238E27FC236}">
                  <a16:creationId xmlns:a16="http://schemas.microsoft.com/office/drawing/2014/main" id="{ED862DAF-B38F-B547-AC9E-0122270FCB6E}"/>
                </a:ext>
              </a:extLst>
            </p:cNvPr>
            <p:cNvSpPr/>
            <p:nvPr/>
          </p:nvSpPr>
          <p:spPr>
            <a:xfrm>
              <a:off x="5665082" y="9501405"/>
              <a:ext cx="2660641" cy="911578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政經社會情勢掌握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4" name="矩形: 圓角 109">
              <a:extLst>
                <a:ext uri="{FF2B5EF4-FFF2-40B4-BE49-F238E27FC236}">
                  <a16:creationId xmlns:a16="http://schemas.microsoft.com/office/drawing/2014/main" id="{49F6EED1-BBD3-CF4D-B9B1-A95870D68E7E}"/>
                </a:ext>
              </a:extLst>
            </p:cNvPr>
            <p:cNvSpPr/>
            <p:nvPr/>
          </p:nvSpPr>
          <p:spPr>
            <a:xfrm>
              <a:off x="630083" y="6988797"/>
              <a:ext cx="3415039" cy="1122242"/>
            </a:xfrm>
            <a:prstGeom prst="round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FF0000"/>
                  </a:solidFill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零售商店管理</a:t>
              </a:r>
            </a:p>
          </p:txBody>
        </p:sp>
        <p:cxnSp>
          <p:nvCxnSpPr>
            <p:cNvPr id="25" name="直線單箭頭接點 8">
              <a:extLst>
                <a:ext uri="{FF2B5EF4-FFF2-40B4-BE49-F238E27FC236}">
                  <a16:creationId xmlns:a16="http://schemas.microsoft.com/office/drawing/2014/main" id="{15949B63-6AB2-F34B-801D-0D30C0A967FB}"/>
                </a:ext>
              </a:extLst>
            </p:cNvPr>
            <p:cNvCxnSpPr>
              <a:cxnSpLocks/>
              <a:stCxn id="24" idx="3"/>
              <a:endCxn id="10" idx="1"/>
            </p:cNvCxnSpPr>
            <p:nvPr/>
          </p:nvCxnSpPr>
          <p:spPr>
            <a:xfrm>
              <a:off x="4045122" y="7549918"/>
              <a:ext cx="1248508" cy="0"/>
            </a:xfrm>
            <a:prstGeom prst="straightConnector1">
              <a:avLst/>
            </a:prstGeom>
            <a:ln w="38100">
              <a:headEnd w="lg" len="lg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: 圓角 110">
              <a:extLst>
                <a:ext uri="{FF2B5EF4-FFF2-40B4-BE49-F238E27FC236}">
                  <a16:creationId xmlns:a16="http://schemas.microsoft.com/office/drawing/2014/main" id="{BB3DDB5C-8DCF-124F-A367-B5BC873FFF6B}"/>
                </a:ext>
              </a:extLst>
            </p:cNvPr>
            <p:cNvSpPr/>
            <p:nvPr/>
          </p:nvSpPr>
          <p:spPr>
            <a:xfrm>
              <a:off x="16655013" y="863358"/>
              <a:ext cx="3412399" cy="7011001"/>
            </a:xfrm>
            <a:prstGeom prst="roundRect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8" name="矩形: 圓角 112">
              <a:extLst>
                <a:ext uri="{FF2B5EF4-FFF2-40B4-BE49-F238E27FC236}">
                  <a16:creationId xmlns:a16="http://schemas.microsoft.com/office/drawing/2014/main" id="{74B7190D-EDBD-644B-AC90-90E42C051210}"/>
                </a:ext>
              </a:extLst>
            </p:cNvPr>
            <p:cNvSpPr/>
            <p:nvPr/>
          </p:nvSpPr>
          <p:spPr>
            <a:xfrm>
              <a:off x="17030891" y="1536725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Descriptive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描述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9" name="矩形: 圓角 113">
              <a:extLst>
                <a:ext uri="{FF2B5EF4-FFF2-40B4-BE49-F238E27FC236}">
                  <a16:creationId xmlns:a16="http://schemas.microsoft.com/office/drawing/2014/main" id="{B637FB4B-B8F4-EC4B-B93D-2206B9F6DCA0}"/>
                </a:ext>
              </a:extLst>
            </p:cNvPr>
            <p:cNvSpPr/>
            <p:nvPr/>
          </p:nvSpPr>
          <p:spPr>
            <a:xfrm>
              <a:off x="17030891" y="2803862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Predictive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預測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0" name="矩形: 圓角 115">
              <a:extLst>
                <a:ext uri="{FF2B5EF4-FFF2-40B4-BE49-F238E27FC236}">
                  <a16:creationId xmlns:a16="http://schemas.microsoft.com/office/drawing/2014/main" id="{4CDA28A0-7EFF-9F42-9528-88CBE78E46F5}"/>
                </a:ext>
              </a:extLst>
            </p:cNvPr>
            <p:cNvSpPr/>
            <p:nvPr/>
          </p:nvSpPr>
          <p:spPr>
            <a:xfrm>
              <a:off x="17030890" y="4104136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Diagnostic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診斷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1" name="矩形: 圓角 116">
              <a:extLst>
                <a:ext uri="{FF2B5EF4-FFF2-40B4-BE49-F238E27FC236}">
                  <a16:creationId xmlns:a16="http://schemas.microsoft.com/office/drawing/2014/main" id="{E97066FA-56B9-8741-942E-E6E548EA1918}"/>
                </a:ext>
              </a:extLst>
            </p:cNvPr>
            <p:cNvSpPr/>
            <p:nvPr/>
          </p:nvSpPr>
          <p:spPr>
            <a:xfrm>
              <a:off x="17030891" y="5365340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Preventive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預防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2" name="矩形: 圓角 117">
              <a:extLst>
                <a:ext uri="{FF2B5EF4-FFF2-40B4-BE49-F238E27FC236}">
                  <a16:creationId xmlns:a16="http://schemas.microsoft.com/office/drawing/2014/main" id="{DE4D254A-2D80-2A43-882A-1D6692C240F9}"/>
                </a:ext>
              </a:extLst>
            </p:cNvPr>
            <p:cNvSpPr/>
            <p:nvPr/>
          </p:nvSpPr>
          <p:spPr>
            <a:xfrm>
              <a:off x="17030888" y="6701609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Prescriptive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處方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3FACD8EB-A648-8047-AAEC-61CF35279E9D}"/>
                </a:ext>
              </a:extLst>
            </p:cNvPr>
            <p:cNvSpPr txBox="1"/>
            <p:nvPr/>
          </p:nvSpPr>
          <p:spPr>
            <a:xfrm>
              <a:off x="16565936" y="899534"/>
              <a:ext cx="35014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6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Data Science</a:t>
              </a:r>
            </a:p>
          </p:txBody>
        </p:sp>
        <p:sp>
          <p:nvSpPr>
            <p:cNvPr id="34" name="矩形: 圓角 119">
              <a:extLst>
                <a:ext uri="{FF2B5EF4-FFF2-40B4-BE49-F238E27FC236}">
                  <a16:creationId xmlns:a16="http://schemas.microsoft.com/office/drawing/2014/main" id="{42180C09-CFB5-F847-BD3B-505F3E3B7FC8}"/>
                </a:ext>
              </a:extLst>
            </p:cNvPr>
            <p:cNvSpPr/>
            <p:nvPr/>
          </p:nvSpPr>
          <p:spPr>
            <a:xfrm>
              <a:off x="16655013" y="8037878"/>
              <a:ext cx="3412399" cy="5222645"/>
            </a:xfrm>
            <a:prstGeom prst="roundRect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5" name="矩形: 圓角 120">
              <a:extLst>
                <a:ext uri="{FF2B5EF4-FFF2-40B4-BE49-F238E27FC236}">
                  <a16:creationId xmlns:a16="http://schemas.microsoft.com/office/drawing/2014/main" id="{52601151-0EA1-9040-9E3F-F093477420AD}"/>
                </a:ext>
              </a:extLst>
            </p:cNvPr>
            <p:cNvSpPr/>
            <p:nvPr/>
          </p:nvSpPr>
          <p:spPr>
            <a:xfrm>
              <a:off x="17030889" y="8511587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err="1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Preception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6" name="矩形: 圓角 121">
              <a:extLst>
                <a:ext uri="{FF2B5EF4-FFF2-40B4-BE49-F238E27FC236}">
                  <a16:creationId xmlns:a16="http://schemas.microsoft.com/office/drawing/2014/main" id="{8B35A65D-5C85-DD4B-A776-0F53108E6EEE}"/>
                </a:ext>
              </a:extLst>
            </p:cNvPr>
            <p:cNvSpPr/>
            <p:nvPr/>
          </p:nvSpPr>
          <p:spPr>
            <a:xfrm>
              <a:off x="17030891" y="9734554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Decision making(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決策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7" name="矩形: 圓角 122">
              <a:extLst>
                <a:ext uri="{FF2B5EF4-FFF2-40B4-BE49-F238E27FC236}">
                  <a16:creationId xmlns:a16="http://schemas.microsoft.com/office/drawing/2014/main" id="{5A7FE9A5-A7B6-984E-AEB7-8E8F839432F0}"/>
                </a:ext>
              </a:extLst>
            </p:cNvPr>
            <p:cNvSpPr/>
            <p:nvPr/>
          </p:nvSpPr>
          <p:spPr>
            <a:xfrm>
              <a:off x="17030891" y="10957521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Learning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學習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8" name="矩形: 圓角 123">
              <a:extLst>
                <a:ext uri="{FF2B5EF4-FFF2-40B4-BE49-F238E27FC236}">
                  <a16:creationId xmlns:a16="http://schemas.microsoft.com/office/drawing/2014/main" id="{15623432-EC7F-6C41-958C-F5C31AEC404F}"/>
                </a:ext>
              </a:extLst>
            </p:cNvPr>
            <p:cNvSpPr/>
            <p:nvPr/>
          </p:nvSpPr>
          <p:spPr>
            <a:xfrm>
              <a:off x="17030891" y="12180488"/>
              <a:ext cx="2660641" cy="911578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Optimization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優化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38F4098-78AB-F845-8096-FDBD24033196}"/>
                </a:ext>
              </a:extLst>
            </p:cNvPr>
            <p:cNvSpPr txBox="1"/>
            <p:nvPr/>
          </p:nvSpPr>
          <p:spPr>
            <a:xfrm>
              <a:off x="16565936" y="8001837"/>
              <a:ext cx="35014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6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AI</a:t>
              </a:r>
            </a:p>
          </p:txBody>
        </p:sp>
        <p:sp>
          <p:nvSpPr>
            <p:cNvPr id="40" name="矩形: 圓角 50">
              <a:extLst>
                <a:ext uri="{FF2B5EF4-FFF2-40B4-BE49-F238E27FC236}">
                  <a16:creationId xmlns:a16="http://schemas.microsoft.com/office/drawing/2014/main" id="{2EC78A5E-507D-B347-9DB0-14885E5006B4}"/>
                </a:ext>
              </a:extLst>
            </p:cNvPr>
            <p:cNvSpPr/>
            <p:nvPr/>
          </p:nvSpPr>
          <p:spPr>
            <a:xfrm>
              <a:off x="11424138" y="5505402"/>
              <a:ext cx="2101358" cy="622899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商品組合分析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1" name="矩形: 圓角 51">
              <a:extLst>
                <a:ext uri="{FF2B5EF4-FFF2-40B4-BE49-F238E27FC236}">
                  <a16:creationId xmlns:a16="http://schemas.microsoft.com/office/drawing/2014/main" id="{761436CE-1026-5E49-815B-EC710E4E390F}"/>
                </a:ext>
              </a:extLst>
            </p:cNvPr>
            <p:cNvSpPr/>
            <p:nvPr/>
          </p:nvSpPr>
          <p:spPr>
            <a:xfrm>
              <a:off x="11417113" y="4172322"/>
              <a:ext cx="2101358" cy="1223486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熱賣商品與替代商品分析與預測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2" name="矩形: 圓角 53">
              <a:extLst>
                <a:ext uri="{FF2B5EF4-FFF2-40B4-BE49-F238E27FC236}">
                  <a16:creationId xmlns:a16="http://schemas.microsoft.com/office/drawing/2014/main" id="{ACD9C793-D8AD-364B-930E-252F02C81F30}"/>
                </a:ext>
              </a:extLst>
            </p:cNvPr>
            <p:cNvSpPr/>
            <p:nvPr/>
          </p:nvSpPr>
          <p:spPr>
            <a:xfrm>
              <a:off x="11414111" y="6312110"/>
              <a:ext cx="2101358" cy="622899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商品售價決策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F99F99B7-AED5-C54E-B05F-70B6E3B89B46}"/>
                </a:ext>
              </a:extLst>
            </p:cNvPr>
            <p:cNvCxnSpPr>
              <a:stCxn id="16" idx="3"/>
              <a:endCxn id="40" idx="1"/>
            </p:cNvCxnSpPr>
            <p:nvPr/>
          </p:nvCxnSpPr>
          <p:spPr>
            <a:xfrm flipV="1">
              <a:off x="8357634" y="5816852"/>
              <a:ext cx="3066504" cy="82501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83B58D41-2498-964B-BADB-D242B52FCED5}"/>
                </a:ext>
              </a:extLst>
            </p:cNvPr>
            <p:cNvCxnSpPr>
              <a:cxnSpLocks/>
              <a:stCxn id="16" idx="3"/>
              <a:endCxn id="41" idx="1"/>
            </p:cNvCxnSpPr>
            <p:nvPr/>
          </p:nvCxnSpPr>
          <p:spPr>
            <a:xfrm flipV="1">
              <a:off x="8357634" y="4784065"/>
              <a:ext cx="3059479" cy="18577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CDDC2F8D-68F6-9D41-B351-F1631B6F3054}"/>
                </a:ext>
              </a:extLst>
            </p:cNvPr>
            <p:cNvCxnSpPr>
              <a:cxnSpLocks/>
              <a:stCxn id="16" idx="3"/>
              <a:endCxn id="42" idx="1"/>
            </p:cNvCxnSpPr>
            <p:nvPr/>
          </p:nvCxnSpPr>
          <p:spPr>
            <a:xfrm flipV="1">
              <a:off x="8357634" y="6623560"/>
              <a:ext cx="3056477" cy="183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C637FB95-71FE-6842-B2D1-44882EEB9474}"/>
                </a:ext>
              </a:extLst>
            </p:cNvPr>
            <p:cNvCxnSpPr>
              <a:cxnSpLocks/>
              <a:stCxn id="40" idx="3"/>
              <a:endCxn id="30" idx="1"/>
            </p:cNvCxnSpPr>
            <p:nvPr/>
          </p:nvCxnSpPr>
          <p:spPr>
            <a:xfrm flipV="1">
              <a:off x="13525496" y="4559925"/>
              <a:ext cx="3505394" cy="125692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DD480EC9-20E2-DF40-AEF1-4F9DFF3C4CEB}"/>
                </a:ext>
              </a:extLst>
            </p:cNvPr>
            <p:cNvCxnSpPr>
              <a:cxnSpLocks/>
              <a:stCxn id="41" idx="3"/>
              <a:endCxn id="29" idx="1"/>
            </p:cNvCxnSpPr>
            <p:nvPr/>
          </p:nvCxnSpPr>
          <p:spPr>
            <a:xfrm flipV="1">
              <a:off x="13518471" y="3259651"/>
              <a:ext cx="3512420" cy="152441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27E267C5-9058-A54D-9092-4A06F8173E39}"/>
                </a:ext>
              </a:extLst>
            </p:cNvPr>
            <p:cNvCxnSpPr>
              <a:cxnSpLocks/>
              <a:stCxn id="42" idx="3"/>
              <a:endCxn id="36" idx="1"/>
            </p:cNvCxnSpPr>
            <p:nvPr/>
          </p:nvCxnSpPr>
          <p:spPr>
            <a:xfrm>
              <a:off x="13515469" y="6623560"/>
              <a:ext cx="3515422" cy="356678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: 圓角 89">
              <a:extLst>
                <a:ext uri="{FF2B5EF4-FFF2-40B4-BE49-F238E27FC236}">
                  <a16:creationId xmlns:a16="http://schemas.microsoft.com/office/drawing/2014/main" id="{563D2DC1-A569-5E4A-B434-AA47723CBD33}"/>
                </a:ext>
              </a:extLst>
            </p:cNvPr>
            <p:cNvSpPr/>
            <p:nvPr/>
          </p:nvSpPr>
          <p:spPr>
            <a:xfrm>
              <a:off x="11441190" y="7111189"/>
              <a:ext cx="210135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消費者樣貌與喜好掌握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6AA199E5-9D28-A74C-ACA5-C1DDB3492469}"/>
                </a:ext>
              </a:extLst>
            </p:cNvPr>
            <p:cNvCxnSpPr>
              <a:cxnSpLocks/>
              <a:stCxn id="49" idx="3"/>
              <a:endCxn id="28" idx="1"/>
            </p:cNvCxnSpPr>
            <p:nvPr/>
          </p:nvCxnSpPr>
          <p:spPr>
            <a:xfrm flipV="1">
              <a:off x="13542548" y="1992514"/>
              <a:ext cx="3488343" cy="549178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矩形: 圓角 108">
              <a:extLst>
                <a:ext uri="{FF2B5EF4-FFF2-40B4-BE49-F238E27FC236}">
                  <a16:creationId xmlns:a16="http://schemas.microsoft.com/office/drawing/2014/main" id="{D1208AE4-9491-6A49-9F14-4AD0AD3ED9EF}"/>
                </a:ext>
              </a:extLst>
            </p:cNvPr>
            <p:cNvSpPr/>
            <p:nvPr/>
          </p:nvSpPr>
          <p:spPr>
            <a:xfrm>
              <a:off x="11438188" y="8057251"/>
              <a:ext cx="210135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消費者口碑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趨勢預測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C67FD59B-F9A2-EF48-9F4E-BD5F7B70E7FC}"/>
                </a:ext>
              </a:extLst>
            </p:cNvPr>
            <p:cNvCxnSpPr>
              <a:cxnSpLocks/>
              <a:stCxn id="51" idx="3"/>
              <a:endCxn id="29" idx="1"/>
            </p:cNvCxnSpPr>
            <p:nvPr/>
          </p:nvCxnSpPr>
          <p:spPr>
            <a:xfrm flipV="1">
              <a:off x="13539546" y="3259651"/>
              <a:ext cx="3491345" cy="517071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28C9DD3E-14D8-E54E-A68F-AE19876421B1}"/>
                </a:ext>
              </a:extLst>
            </p:cNvPr>
            <p:cNvCxnSpPr>
              <a:cxnSpLocks/>
              <a:stCxn id="20" idx="3"/>
              <a:endCxn id="49" idx="1"/>
            </p:cNvCxnSpPr>
            <p:nvPr/>
          </p:nvCxnSpPr>
          <p:spPr>
            <a:xfrm flipV="1">
              <a:off x="8357634" y="7484301"/>
              <a:ext cx="3083556" cy="2587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A5EBEB1C-B520-8C4D-84BD-17934B8D1118}"/>
                </a:ext>
              </a:extLst>
            </p:cNvPr>
            <p:cNvCxnSpPr>
              <a:cxnSpLocks/>
              <a:stCxn id="20" idx="3"/>
              <a:endCxn id="51" idx="1"/>
            </p:cNvCxnSpPr>
            <p:nvPr/>
          </p:nvCxnSpPr>
          <p:spPr>
            <a:xfrm>
              <a:off x="8357634" y="7743090"/>
              <a:ext cx="3080554" cy="68727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81BC2B83-0DBD-7F4C-B1F8-C7FA08CC792D}"/>
                </a:ext>
              </a:extLst>
            </p:cNvPr>
            <p:cNvCxnSpPr>
              <a:cxnSpLocks/>
              <a:stCxn id="41" idx="3"/>
              <a:endCxn id="28" idx="1"/>
            </p:cNvCxnSpPr>
            <p:nvPr/>
          </p:nvCxnSpPr>
          <p:spPr>
            <a:xfrm flipV="1">
              <a:off x="13518471" y="1992514"/>
              <a:ext cx="3512420" cy="279155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矩形: 圓角 134">
              <a:extLst>
                <a:ext uri="{FF2B5EF4-FFF2-40B4-BE49-F238E27FC236}">
                  <a16:creationId xmlns:a16="http://schemas.microsoft.com/office/drawing/2014/main" id="{F8EE2738-0A17-CC4E-80E6-104F36280C7F}"/>
                </a:ext>
              </a:extLst>
            </p:cNvPr>
            <p:cNvSpPr/>
            <p:nvPr/>
          </p:nvSpPr>
          <p:spPr>
            <a:xfrm>
              <a:off x="11469119" y="8945361"/>
              <a:ext cx="210135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倉儲狀況掌握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C2D9CDFE-C698-D44D-96D4-60556202B1AE}"/>
                </a:ext>
              </a:extLst>
            </p:cNvPr>
            <p:cNvCxnSpPr>
              <a:cxnSpLocks/>
              <a:stCxn id="21" idx="3"/>
              <a:endCxn id="56" idx="1"/>
            </p:cNvCxnSpPr>
            <p:nvPr/>
          </p:nvCxnSpPr>
          <p:spPr>
            <a:xfrm>
              <a:off x="8325724" y="8842250"/>
              <a:ext cx="3143395" cy="4762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18A84D10-B7B1-7B4B-BEFA-C5B7C0A17B85}"/>
                </a:ext>
              </a:extLst>
            </p:cNvPr>
            <p:cNvCxnSpPr>
              <a:cxnSpLocks/>
              <a:stCxn id="56" idx="3"/>
              <a:endCxn id="28" idx="1"/>
            </p:cNvCxnSpPr>
            <p:nvPr/>
          </p:nvCxnSpPr>
          <p:spPr>
            <a:xfrm flipV="1">
              <a:off x="13570477" y="1992514"/>
              <a:ext cx="3460414" cy="732595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矩形: 圓角 140">
              <a:extLst>
                <a:ext uri="{FF2B5EF4-FFF2-40B4-BE49-F238E27FC236}">
                  <a16:creationId xmlns:a16="http://schemas.microsoft.com/office/drawing/2014/main" id="{A01CE233-2C0D-084F-A442-68B13CF979BB}"/>
                </a:ext>
              </a:extLst>
            </p:cNvPr>
            <p:cNvSpPr/>
            <p:nvPr/>
          </p:nvSpPr>
          <p:spPr>
            <a:xfrm>
              <a:off x="11469119" y="9872523"/>
              <a:ext cx="210135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進出貨與揀貨優化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60" name="直線接點 59">
              <a:extLst>
                <a:ext uri="{FF2B5EF4-FFF2-40B4-BE49-F238E27FC236}">
                  <a16:creationId xmlns:a16="http://schemas.microsoft.com/office/drawing/2014/main" id="{2B81D86A-FDCB-404C-9297-D2ABCAE3F2FB}"/>
                </a:ext>
              </a:extLst>
            </p:cNvPr>
            <p:cNvCxnSpPr>
              <a:cxnSpLocks/>
              <a:stCxn id="21" idx="3"/>
              <a:endCxn id="59" idx="1"/>
            </p:cNvCxnSpPr>
            <p:nvPr/>
          </p:nvCxnSpPr>
          <p:spPr>
            <a:xfrm>
              <a:off x="8325724" y="8842250"/>
              <a:ext cx="3143395" cy="1403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501EB581-2F63-DA42-94CA-2B5FFF59E89B}"/>
                </a:ext>
              </a:extLst>
            </p:cNvPr>
            <p:cNvCxnSpPr>
              <a:cxnSpLocks/>
              <a:stCxn id="62" idx="3"/>
              <a:endCxn id="36" idx="1"/>
            </p:cNvCxnSpPr>
            <p:nvPr/>
          </p:nvCxnSpPr>
          <p:spPr>
            <a:xfrm flipV="1">
              <a:off x="13618492" y="10190343"/>
              <a:ext cx="3412399" cy="100211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矩形: 圓角 147">
              <a:extLst>
                <a:ext uri="{FF2B5EF4-FFF2-40B4-BE49-F238E27FC236}">
                  <a16:creationId xmlns:a16="http://schemas.microsoft.com/office/drawing/2014/main" id="{AF8B4B1D-E2C5-D74C-801E-1C69D57C3332}"/>
                </a:ext>
              </a:extLst>
            </p:cNvPr>
            <p:cNvSpPr/>
            <p:nvPr/>
          </p:nvSpPr>
          <p:spPr>
            <a:xfrm>
              <a:off x="11517134" y="10819345"/>
              <a:ext cx="210135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事件掌握與決策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63" name="直線接點 62">
              <a:extLst>
                <a:ext uri="{FF2B5EF4-FFF2-40B4-BE49-F238E27FC236}">
                  <a16:creationId xmlns:a16="http://schemas.microsoft.com/office/drawing/2014/main" id="{B5673CF3-018E-1C4D-B6ED-E948EEE85BEF}"/>
                </a:ext>
              </a:extLst>
            </p:cNvPr>
            <p:cNvCxnSpPr>
              <a:cxnSpLocks/>
              <a:stCxn id="23" idx="3"/>
              <a:endCxn id="62" idx="1"/>
            </p:cNvCxnSpPr>
            <p:nvPr/>
          </p:nvCxnSpPr>
          <p:spPr>
            <a:xfrm>
              <a:off x="8325723" y="9957194"/>
              <a:ext cx="3191411" cy="12352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接點 63">
              <a:extLst>
                <a:ext uri="{FF2B5EF4-FFF2-40B4-BE49-F238E27FC236}">
                  <a16:creationId xmlns:a16="http://schemas.microsoft.com/office/drawing/2014/main" id="{9C040FB7-5DCF-114F-B1A5-1837A1E4FCEB}"/>
                </a:ext>
              </a:extLst>
            </p:cNvPr>
            <p:cNvCxnSpPr>
              <a:cxnSpLocks/>
              <a:stCxn id="62" idx="3"/>
              <a:endCxn id="38" idx="1"/>
            </p:cNvCxnSpPr>
            <p:nvPr/>
          </p:nvCxnSpPr>
          <p:spPr>
            <a:xfrm>
              <a:off x="13618492" y="11192457"/>
              <a:ext cx="3412399" cy="144382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410F102B-BBCF-E24B-8571-0C1C825B1BB9}"/>
                </a:ext>
              </a:extLst>
            </p:cNvPr>
            <p:cNvCxnSpPr>
              <a:cxnSpLocks/>
              <a:stCxn id="62" idx="3"/>
              <a:endCxn id="30" idx="1"/>
            </p:cNvCxnSpPr>
            <p:nvPr/>
          </p:nvCxnSpPr>
          <p:spPr>
            <a:xfrm flipV="1">
              <a:off x="13618492" y="4559925"/>
              <a:ext cx="3412398" cy="6632532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矩形: 圓角 158">
              <a:extLst>
                <a:ext uri="{FF2B5EF4-FFF2-40B4-BE49-F238E27FC236}">
                  <a16:creationId xmlns:a16="http://schemas.microsoft.com/office/drawing/2014/main" id="{AA79A741-E5CD-7041-A7F3-C2437F013E65}"/>
                </a:ext>
              </a:extLst>
            </p:cNvPr>
            <p:cNvSpPr/>
            <p:nvPr/>
          </p:nvSpPr>
          <p:spPr>
            <a:xfrm>
              <a:off x="11528407" y="11763818"/>
              <a:ext cx="210135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商品擺放位置分析與決策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9788EE66-9B85-6F46-BC4B-5E5C9AF8979B}"/>
                </a:ext>
              </a:extLst>
            </p:cNvPr>
            <p:cNvCxnSpPr>
              <a:cxnSpLocks/>
              <a:stCxn id="62" idx="3"/>
              <a:endCxn id="32" idx="1"/>
            </p:cNvCxnSpPr>
            <p:nvPr/>
          </p:nvCxnSpPr>
          <p:spPr>
            <a:xfrm flipV="1">
              <a:off x="13618492" y="7157398"/>
              <a:ext cx="3412396" cy="403505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E4BEDAAB-5683-554E-B9E0-EFE953D1F34E}"/>
                </a:ext>
              </a:extLst>
            </p:cNvPr>
            <p:cNvCxnSpPr>
              <a:cxnSpLocks/>
              <a:stCxn id="14" idx="3"/>
              <a:endCxn id="66" idx="1"/>
            </p:cNvCxnSpPr>
            <p:nvPr/>
          </p:nvCxnSpPr>
          <p:spPr>
            <a:xfrm>
              <a:off x="8325724" y="11044660"/>
              <a:ext cx="3202683" cy="1092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BCF27103-4233-F148-A1DD-668D9C482020}"/>
                </a:ext>
              </a:extLst>
            </p:cNvPr>
            <p:cNvCxnSpPr>
              <a:cxnSpLocks/>
              <a:stCxn id="66" idx="3"/>
              <a:endCxn id="28" idx="1"/>
            </p:cNvCxnSpPr>
            <p:nvPr/>
          </p:nvCxnSpPr>
          <p:spPr>
            <a:xfrm flipV="1">
              <a:off x="13629765" y="1992514"/>
              <a:ext cx="3401126" cy="1014441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0F8AFCF5-1F44-634A-ABF0-1D3B1D6685B8}"/>
                </a:ext>
              </a:extLst>
            </p:cNvPr>
            <p:cNvCxnSpPr>
              <a:cxnSpLocks/>
              <a:stCxn id="66" idx="3"/>
              <a:endCxn id="36" idx="1"/>
            </p:cNvCxnSpPr>
            <p:nvPr/>
          </p:nvCxnSpPr>
          <p:spPr>
            <a:xfrm flipV="1">
              <a:off x="13629765" y="10190343"/>
              <a:ext cx="3401126" cy="194658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矩形: 圓角 173">
              <a:extLst>
                <a:ext uri="{FF2B5EF4-FFF2-40B4-BE49-F238E27FC236}">
                  <a16:creationId xmlns:a16="http://schemas.microsoft.com/office/drawing/2014/main" id="{103FD658-4211-F84C-9303-F4943BC7ECD4}"/>
                </a:ext>
              </a:extLst>
            </p:cNvPr>
            <p:cNvSpPr/>
            <p:nvPr/>
          </p:nvSpPr>
          <p:spPr>
            <a:xfrm>
              <a:off x="11517134" y="12708291"/>
              <a:ext cx="210135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行銷文案分析與決策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6B0046C8-91EC-684E-B4C4-C7B34B1BDE58}"/>
                </a:ext>
              </a:extLst>
            </p:cNvPr>
            <p:cNvCxnSpPr>
              <a:cxnSpLocks/>
              <a:stCxn id="22" idx="3"/>
              <a:endCxn id="71" idx="1"/>
            </p:cNvCxnSpPr>
            <p:nvPr/>
          </p:nvCxnSpPr>
          <p:spPr>
            <a:xfrm>
              <a:off x="8299215" y="12035999"/>
              <a:ext cx="3217919" cy="10454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8D7395F2-BF75-1440-A4E5-F8FC11C91530}"/>
                </a:ext>
              </a:extLst>
            </p:cNvPr>
            <p:cNvCxnSpPr>
              <a:cxnSpLocks/>
              <a:stCxn id="71" idx="3"/>
              <a:endCxn id="28" idx="1"/>
            </p:cNvCxnSpPr>
            <p:nvPr/>
          </p:nvCxnSpPr>
          <p:spPr>
            <a:xfrm flipV="1">
              <a:off x="13618492" y="1992514"/>
              <a:ext cx="3412399" cy="11088889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C46D01F0-67DC-404A-AA17-6764A3DA9F9D}"/>
                </a:ext>
              </a:extLst>
            </p:cNvPr>
            <p:cNvCxnSpPr>
              <a:cxnSpLocks/>
              <a:stCxn id="71" idx="3"/>
              <a:endCxn id="36" idx="1"/>
            </p:cNvCxnSpPr>
            <p:nvPr/>
          </p:nvCxnSpPr>
          <p:spPr>
            <a:xfrm flipV="1">
              <a:off x="13618492" y="10190343"/>
              <a:ext cx="3412399" cy="289106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FEC02E21-19D8-5A4D-A522-280E92850E4B}"/>
                </a:ext>
              </a:extLst>
            </p:cNvPr>
            <p:cNvCxnSpPr>
              <a:cxnSpLocks/>
              <a:stCxn id="71" idx="3"/>
              <a:endCxn id="38" idx="1"/>
            </p:cNvCxnSpPr>
            <p:nvPr/>
          </p:nvCxnSpPr>
          <p:spPr>
            <a:xfrm flipV="1">
              <a:off x="13618492" y="12636277"/>
              <a:ext cx="3412399" cy="44512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矩形: 圓角 189">
              <a:extLst>
                <a:ext uri="{FF2B5EF4-FFF2-40B4-BE49-F238E27FC236}">
                  <a16:creationId xmlns:a16="http://schemas.microsoft.com/office/drawing/2014/main" id="{28DC0864-3C02-FB48-9A9C-50D6968BC415}"/>
                </a:ext>
              </a:extLst>
            </p:cNvPr>
            <p:cNvSpPr/>
            <p:nvPr/>
          </p:nvSpPr>
          <p:spPr>
            <a:xfrm>
              <a:off x="11424138" y="658436"/>
              <a:ext cx="2101358" cy="941744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商品銷售量預測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49E71E9B-69E3-DC48-80D8-0C534CA95718}"/>
                </a:ext>
              </a:extLst>
            </p:cNvPr>
            <p:cNvCxnSpPr>
              <a:cxnSpLocks/>
              <a:stCxn id="19" idx="3"/>
              <a:endCxn id="76" idx="1"/>
            </p:cNvCxnSpPr>
            <p:nvPr/>
          </p:nvCxnSpPr>
          <p:spPr>
            <a:xfrm flipV="1">
              <a:off x="8364424" y="1129308"/>
              <a:ext cx="3059714" cy="19779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接點 77">
              <a:extLst>
                <a:ext uri="{FF2B5EF4-FFF2-40B4-BE49-F238E27FC236}">
                  <a16:creationId xmlns:a16="http://schemas.microsoft.com/office/drawing/2014/main" id="{51B71ACC-6BA4-0546-9D65-5CD756047526}"/>
                </a:ext>
              </a:extLst>
            </p:cNvPr>
            <p:cNvCxnSpPr>
              <a:cxnSpLocks/>
              <a:stCxn id="76" idx="3"/>
              <a:endCxn id="29" idx="1"/>
            </p:cNvCxnSpPr>
            <p:nvPr/>
          </p:nvCxnSpPr>
          <p:spPr>
            <a:xfrm>
              <a:off x="13525496" y="1129308"/>
              <a:ext cx="3505395" cy="21303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: 圓角 203">
              <a:extLst>
                <a:ext uri="{FF2B5EF4-FFF2-40B4-BE49-F238E27FC236}">
                  <a16:creationId xmlns:a16="http://schemas.microsoft.com/office/drawing/2014/main" id="{3CB82167-307A-9B40-A6C0-1E55D4566376}"/>
                </a:ext>
              </a:extLst>
            </p:cNvPr>
            <p:cNvSpPr/>
            <p:nvPr/>
          </p:nvSpPr>
          <p:spPr>
            <a:xfrm>
              <a:off x="11431163" y="3100166"/>
              <a:ext cx="2101358" cy="94174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排班方案最佳化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0" name="矩形: 圓角 204">
              <a:extLst>
                <a:ext uri="{FF2B5EF4-FFF2-40B4-BE49-F238E27FC236}">
                  <a16:creationId xmlns:a16="http://schemas.microsoft.com/office/drawing/2014/main" id="{A15E1AB0-D5E4-F748-8442-C9A1F89BF19F}"/>
                </a:ext>
              </a:extLst>
            </p:cNvPr>
            <p:cNvSpPr/>
            <p:nvPr/>
          </p:nvSpPr>
          <p:spPr>
            <a:xfrm>
              <a:off x="11445112" y="2378437"/>
              <a:ext cx="2101358" cy="621240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訂單數據分析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1" name="矩形: 圓角 205">
              <a:extLst>
                <a:ext uri="{FF2B5EF4-FFF2-40B4-BE49-F238E27FC236}">
                  <a16:creationId xmlns:a16="http://schemas.microsoft.com/office/drawing/2014/main" id="{D4865F35-8712-D84A-886A-335B98180A59}"/>
                </a:ext>
              </a:extLst>
            </p:cNvPr>
            <p:cNvSpPr/>
            <p:nvPr/>
          </p:nvSpPr>
          <p:spPr>
            <a:xfrm>
              <a:off x="11429938" y="1696944"/>
              <a:ext cx="2101358" cy="621240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出貨量預測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C05DC5F6-6360-D248-91F1-3DD0D6374CB2}"/>
                </a:ext>
              </a:extLst>
            </p:cNvPr>
            <p:cNvCxnSpPr>
              <a:cxnSpLocks/>
              <a:stCxn id="18" idx="3"/>
              <a:endCxn id="81" idx="1"/>
            </p:cNvCxnSpPr>
            <p:nvPr/>
          </p:nvCxnSpPr>
          <p:spPr>
            <a:xfrm flipV="1">
              <a:off x="8337918" y="2007564"/>
              <a:ext cx="3092020" cy="23043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C5B66011-8F1C-5B43-A717-4C2FAB1F15A8}"/>
                </a:ext>
              </a:extLst>
            </p:cNvPr>
            <p:cNvCxnSpPr>
              <a:cxnSpLocks/>
              <a:stCxn id="18" idx="3"/>
              <a:endCxn id="80" idx="1"/>
            </p:cNvCxnSpPr>
            <p:nvPr/>
          </p:nvCxnSpPr>
          <p:spPr>
            <a:xfrm flipV="1">
              <a:off x="8337918" y="2689057"/>
              <a:ext cx="3107194" cy="16228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接點 83">
              <a:extLst>
                <a:ext uri="{FF2B5EF4-FFF2-40B4-BE49-F238E27FC236}">
                  <a16:creationId xmlns:a16="http://schemas.microsoft.com/office/drawing/2014/main" id="{0BFC765F-511D-CC47-86C5-7F122BE2F836}"/>
                </a:ext>
              </a:extLst>
            </p:cNvPr>
            <p:cNvCxnSpPr>
              <a:cxnSpLocks/>
              <a:stCxn id="11" idx="3"/>
              <a:endCxn id="79" idx="1"/>
            </p:cNvCxnSpPr>
            <p:nvPr/>
          </p:nvCxnSpPr>
          <p:spPr>
            <a:xfrm flipV="1">
              <a:off x="8325723" y="3571038"/>
              <a:ext cx="3105440" cy="19558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接點 84">
              <a:extLst>
                <a:ext uri="{FF2B5EF4-FFF2-40B4-BE49-F238E27FC236}">
                  <a16:creationId xmlns:a16="http://schemas.microsoft.com/office/drawing/2014/main" id="{C786564A-7C2E-5748-830A-79383E41A72B}"/>
                </a:ext>
              </a:extLst>
            </p:cNvPr>
            <p:cNvCxnSpPr>
              <a:cxnSpLocks/>
              <a:stCxn id="81" idx="3"/>
              <a:endCxn id="29" idx="1"/>
            </p:cNvCxnSpPr>
            <p:nvPr/>
          </p:nvCxnSpPr>
          <p:spPr>
            <a:xfrm>
              <a:off x="13531296" y="2007564"/>
              <a:ext cx="3499595" cy="125208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接點 85">
              <a:extLst>
                <a:ext uri="{FF2B5EF4-FFF2-40B4-BE49-F238E27FC236}">
                  <a16:creationId xmlns:a16="http://schemas.microsoft.com/office/drawing/2014/main" id="{98A3CB20-08F5-6A43-89C1-9CB4B098C200}"/>
                </a:ext>
              </a:extLst>
            </p:cNvPr>
            <p:cNvCxnSpPr>
              <a:cxnSpLocks/>
              <a:stCxn id="80" idx="3"/>
              <a:endCxn id="28" idx="1"/>
            </p:cNvCxnSpPr>
            <p:nvPr/>
          </p:nvCxnSpPr>
          <p:spPr>
            <a:xfrm flipV="1">
              <a:off x="13546470" y="1992514"/>
              <a:ext cx="3484421" cy="6965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線接點 86">
              <a:extLst>
                <a:ext uri="{FF2B5EF4-FFF2-40B4-BE49-F238E27FC236}">
                  <a16:creationId xmlns:a16="http://schemas.microsoft.com/office/drawing/2014/main" id="{EBEADCB3-2884-0345-A384-905046B5B49B}"/>
                </a:ext>
              </a:extLst>
            </p:cNvPr>
            <p:cNvCxnSpPr>
              <a:cxnSpLocks/>
              <a:stCxn id="79" idx="3"/>
            </p:cNvCxnSpPr>
            <p:nvPr/>
          </p:nvCxnSpPr>
          <p:spPr>
            <a:xfrm>
              <a:off x="13532521" y="3571038"/>
              <a:ext cx="3498367" cy="896482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BCCFE08A-5397-A442-BE95-FC61C7B0BEB3}"/>
                </a:ext>
              </a:extLst>
            </p:cNvPr>
            <p:cNvCxnSpPr>
              <a:cxnSpLocks/>
              <a:stCxn id="79" idx="3"/>
              <a:endCxn id="36" idx="1"/>
            </p:cNvCxnSpPr>
            <p:nvPr/>
          </p:nvCxnSpPr>
          <p:spPr>
            <a:xfrm>
              <a:off x="13532521" y="3571038"/>
              <a:ext cx="3498370" cy="661930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78E7D511-F313-1547-951F-AAB5A62FB9F1}"/>
                </a:ext>
              </a:extLst>
            </p:cNvPr>
            <p:cNvCxnSpPr>
              <a:cxnSpLocks/>
              <a:stCxn id="62" idx="3"/>
              <a:endCxn id="31" idx="1"/>
            </p:cNvCxnSpPr>
            <p:nvPr/>
          </p:nvCxnSpPr>
          <p:spPr>
            <a:xfrm flipV="1">
              <a:off x="13618492" y="5821129"/>
              <a:ext cx="3412399" cy="5371328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0" name="CuadroTexto 664">
            <a:extLst>
              <a:ext uri="{FF2B5EF4-FFF2-40B4-BE49-F238E27FC236}">
                <a16:creationId xmlns:a16="http://schemas.microsoft.com/office/drawing/2014/main" id="{D4A05001-AABC-A24D-918E-1CE7AAA3D24F}"/>
              </a:ext>
            </a:extLst>
          </p:cNvPr>
          <p:cNvSpPr txBox="1"/>
          <p:nvPr/>
        </p:nvSpPr>
        <p:spPr>
          <a:xfrm>
            <a:off x="192156" y="180821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資料科學與AI應用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34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1">
            <a:extLst>
              <a:ext uri="{FF2B5EF4-FFF2-40B4-BE49-F238E27FC236}">
                <a16:creationId xmlns:a16="http://schemas.microsoft.com/office/drawing/2014/main" id="{9E6F8C61-68DB-AE4E-8F68-B0C60499A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914" y="3154576"/>
            <a:ext cx="3238841" cy="2964926"/>
          </a:xfrm>
          <a:custGeom>
            <a:avLst/>
            <a:gdLst>
              <a:gd name="T0" fmla="*/ 2652 w 6336"/>
              <a:gd name="T1" fmla="*/ 7364 h 7365"/>
              <a:gd name="T2" fmla="*/ 2652 w 6336"/>
              <a:gd name="T3" fmla="*/ 7364 h 7365"/>
              <a:gd name="T4" fmla="*/ 779 w 6336"/>
              <a:gd name="T5" fmla="*/ 7364 h 7365"/>
              <a:gd name="T6" fmla="*/ 0 w 6336"/>
              <a:gd name="T7" fmla="*/ 6585 h 7365"/>
              <a:gd name="T8" fmla="*/ 0 w 6336"/>
              <a:gd name="T9" fmla="*/ 779 h 7365"/>
              <a:gd name="T10" fmla="*/ 779 w 6336"/>
              <a:gd name="T11" fmla="*/ 0 h 7365"/>
              <a:gd name="T12" fmla="*/ 2652 w 6336"/>
              <a:gd name="T13" fmla="*/ 0 h 7365"/>
              <a:gd name="T14" fmla="*/ 6335 w 6336"/>
              <a:gd name="T15" fmla="*/ 3681 h 7365"/>
              <a:gd name="T16" fmla="*/ 6335 w 6336"/>
              <a:gd name="T17" fmla="*/ 3681 h 7365"/>
              <a:gd name="T18" fmla="*/ 2652 w 6336"/>
              <a:gd name="T19" fmla="*/ 7364 h 7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336" h="7365">
                <a:moveTo>
                  <a:pt x="2652" y="7364"/>
                </a:moveTo>
                <a:lnTo>
                  <a:pt x="2652" y="7364"/>
                </a:lnTo>
                <a:cubicBezTo>
                  <a:pt x="779" y="7364"/>
                  <a:pt x="779" y="7364"/>
                  <a:pt x="779" y="7364"/>
                </a:cubicBezTo>
                <a:cubicBezTo>
                  <a:pt x="349" y="7364"/>
                  <a:pt x="0" y="7015"/>
                  <a:pt x="0" y="6585"/>
                </a:cubicBezTo>
                <a:cubicBezTo>
                  <a:pt x="0" y="779"/>
                  <a:pt x="0" y="779"/>
                  <a:pt x="0" y="779"/>
                </a:cubicBezTo>
                <a:cubicBezTo>
                  <a:pt x="0" y="349"/>
                  <a:pt x="349" y="0"/>
                  <a:pt x="779" y="0"/>
                </a:cubicBezTo>
                <a:cubicBezTo>
                  <a:pt x="2652" y="0"/>
                  <a:pt x="2652" y="0"/>
                  <a:pt x="2652" y="0"/>
                </a:cubicBezTo>
                <a:cubicBezTo>
                  <a:pt x="4686" y="0"/>
                  <a:pt x="6335" y="1648"/>
                  <a:pt x="6335" y="3681"/>
                </a:cubicBezTo>
                <a:lnTo>
                  <a:pt x="6335" y="3681"/>
                </a:lnTo>
                <a:cubicBezTo>
                  <a:pt x="6335" y="5716"/>
                  <a:pt x="4686" y="7364"/>
                  <a:pt x="2652" y="7364"/>
                </a:cubicBezTo>
              </a:path>
            </a:pathLst>
          </a:custGeom>
          <a:noFill/>
          <a:ln w="63500" cap="flat">
            <a:solidFill>
              <a:schemeClr val="bg1">
                <a:lumMod val="50000"/>
                <a:alpha val="1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sz="90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FE38BDFB-8C36-814F-97FB-F576C24BC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432" y="3174522"/>
            <a:ext cx="2553658" cy="3014374"/>
          </a:xfrm>
          <a:custGeom>
            <a:avLst/>
            <a:gdLst>
              <a:gd name="T0" fmla="*/ 5556 w 6346"/>
              <a:gd name="T1" fmla="*/ 7364 h 7365"/>
              <a:gd name="T2" fmla="*/ 5556 w 6346"/>
              <a:gd name="T3" fmla="*/ 7364 h 7365"/>
              <a:gd name="T4" fmla="*/ 3683 w 6346"/>
              <a:gd name="T5" fmla="*/ 7364 h 7365"/>
              <a:gd name="T6" fmla="*/ 0 w 6346"/>
              <a:gd name="T7" fmla="*/ 3681 h 7365"/>
              <a:gd name="T8" fmla="*/ 0 w 6346"/>
              <a:gd name="T9" fmla="*/ 3681 h 7365"/>
              <a:gd name="T10" fmla="*/ 3683 w 6346"/>
              <a:gd name="T11" fmla="*/ 0 h 7365"/>
              <a:gd name="T12" fmla="*/ 5556 w 6346"/>
              <a:gd name="T13" fmla="*/ 0 h 7365"/>
              <a:gd name="T14" fmla="*/ 6345 w 6346"/>
              <a:gd name="T15" fmla="*/ 779 h 7365"/>
              <a:gd name="T16" fmla="*/ 6345 w 6346"/>
              <a:gd name="T17" fmla="*/ 6585 h 7365"/>
              <a:gd name="T18" fmla="*/ 5556 w 6346"/>
              <a:gd name="T19" fmla="*/ 7364 h 7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346" h="7365">
                <a:moveTo>
                  <a:pt x="5556" y="7364"/>
                </a:moveTo>
                <a:lnTo>
                  <a:pt x="5556" y="7364"/>
                </a:lnTo>
                <a:cubicBezTo>
                  <a:pt x="3683" y="7364"/>
                  <a:pt x="3683" y="7364"/>
                  <a:pt x="3683" y="7364"/>
                </a:cubicBezTo>
                <a:cubicBezTo>
                  <a:pt x="1649" y="7364"/>
                  <a:pt x="0" y="5716"/>
                  <a:pt x="0" y="3681"/>
                </a:cubicBezTo>
                <a:lnTo>
                  <a:pt x="0" y="3681"/>
                </a:lnTo>
                <a:cubicBezTo>
                  <a:pt x="0" y="1648"/>
                  <a:pt x="1649" y="0"/>
                  <a:pt x="3683" y="0"/>
                </a:cubicBezTo>
                <a:cubicBezTo>
                  <a:pt x="5556" y="0"/>
                  <a:pt x="5556" y="0"/>
                  <a:pt x="5556" y="0"/>
                </a:cubicBezTo>
                <a:cubicBezTo>
                  <a:pt x="5986" y="0"/>
                  <a:pt x="6345" y="349"/>
                  <a:pt x="6345" y="779"/>
                </a:cubicBezTo>
                <a:cubicBezTo>
                  <a:pt x="6345" y="6585"/>
                  <a:pt x="6345" y="6585"/>
                  <a:pt x="6345" y="6585"/>
                </a:cubicBezTo>
                <a:cubicBezTo>
                  <a:pt x="6345" y="7015"/>
                  <a:pt x="5986" y="7364"/>
                  <a:pt x="5556" y="7364"/>
                </a:cubicBezTo>
              </a:path>
            </a:pathLst>
          </a:custGeom>
          <a:noFill/>
          <a:ln w="63500" cap="flat">
            <a:solidFill>
              <a:schemeClr val="bg1">
                <a:lumMod val="50000"/>
                <a:alpha val="1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sz="90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F8E4FA75-43CB-154E-A382-3F9CB4C00F4C}"/>
              </a:ext>
            </a:extLst>
          </p:cNvPr>
          <p:cNvGrpSpPr/>
          <p:nvPr/>
        </p:nvGrpSpPr>
        <p:grpSpPr>
          <a:xfrm>
            <a:off x="4700042" y="3483470"/>
            <a:ext cx="3172667" cy="2207035"/>
            <a:chOff x="7607163" y="5370263"/>
            <a:chExt cx="8424193" cy="6202065"/>
          </a:xfrm>
        </p:grpSpPr>
        <p:sp>
          <p:nvSpPr>
            <p:cNvPr id="14" name="Freeform 541">
              <a:extLst>
                <a:ext uri="{FF2B5EF4-FFF2-40B4-BE49-F238E27FC236}">
                  <a16:creationId xmlns:a16="http://schemas.microsoft.com/office/drawing/2014/main" id="{9DC7C0B8-A0DC-DF4C-B4C6-541A49794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7163" y="5370263"/>
              <a:ext cx="8424193" cy="6202065"/>
            </a:xfrm>
            <a:custGeom>
              <a:avLst/>
              <a:gdLst>
                <a:gd name="T0" fmla="*/ 7616 w 7842"/>
                <a:gd name="T1" fmla="*/ 5770 h 5771"/>
                <a:gd name="T2" fmla="*/ 7616 w 7842"/>
                <a:gd name="T3" fmla="*/ 5770 h 5771"/>
                <a:gd name="T4" fmla="*/ 215 w 7842"/>
                <a:gd name="T5" fmla="*/ 5770 h 5771"/>
                <a:gd name="T6" fmla="*/ 0 w 7842"/>
                <a:gd name="T7" fmla="*/ 5555 h 5771"/>
                <a:gd name="T8" fmla="*/ 0 w 7842"/>
                <a:gd name="T9" fmla="*/ 215 h 5771"/>
                <a:gd name="T10" fmla="*/ 215 w 7842"/>
                <a:gd name="T11" fmla="*/ 0 h 5771"/>
                <a:gd name="T12" fmla="*/ 7616 w 7842"/>
                <a:gd name="T13" fmla="*/ 0 h 5771"/>
                <a:gd name="T14" fmla="*/ 7841 w 7842"/>
                <a:gd name="T15" fmla="*/ 215 h 5771"/>
                <a:gd name="T16" fmla="*/ 7841 w 7842"/>
                <a:gd name="T17" fmla="*/ 5555 h 5771"/>
                <a:gd name="T18" fmla="*/ 7616 w 7842"/>
                <a:gd name="T19" fmla="*/ 5770 h 5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42" h="5771">
                  <a:moveTo>
                    <a:pt x="7616" y="5770"/>
                  </a:moveTo>
                  <a:lnTo>
                    <a:pt x="7616" y="5770"/>
                  </a:lnTo>
                  <a:cubicBezTo>
                    <a:pt x="215" y="5770"/>
                    <a:pt x="215" y="5770"/>
                    <a:pt x="215" y="5770"/>
                  </a:cubicBezTo>
                  <a:cubicBezTo>
                    <a:pt x="99" y="5770"/>
                    <a:pt x="0" y="5671"/>
                    <a:pt x="0" y="555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98"/>
                    <a:pt x="99" y="0"/>
                    <a:pt x="215" y="0"/>
                  </a:cubicBezTo>
                  <a:cubicBezTo>
                    <a:pt x="7616" y="0"/>
                    <a:pt x="7616" y="0"/>
                    <a:pt x="7616" y="0"/>
                  </a:cubicBezTo>
                  <a:cubicBezTo>
                    <a:pt x="7742" y="0"/>
                    <a:pt x="7841" y="98"/>
                    <a:pt x="7841" y="215"/>
                  </a:cubicBezTo>
                  <a:cubicBezTo>
                    <a:pt x="7841" y="5555"/>
                    <a:pt x="7841" y="5555"/>
                    <a:pt x="7841" y="5555"/>
                  </a:cubicBezTo>
                  <a:cubicBezTo>
                    <a:pt x="7841" y="5671"/>
                    <a:pt x="7742" y="5770"/>
                    <a:pt x="7616" y="5770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6" name="Freeform 542">
              <a:extLst>
                <a:ext uri="{FF2B5EF4-FFF2-40B4-BE49-F238E27FC236}">
                  <a16:creationId xmlns:a16="http://schemas.microsoft.com/office/drawing/2014/main" id="{4EE7748B-A286-F041-AA49-4306DE54E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4609" y="5649808"/>
              <a:ext cx="156356" cy="156353"/>
            </a:xfrm>
            <a:custGeom>
              <a:avLst/>
              <a:gdLst>
                <a:gd name="T0" fmla="*/ 143 w 144"/>
                <a:gd name="T1" fmla="*/ 71 h 144"/>
                <a:gd name="T2" fmla="*/ 143 w 144"/>
                <a:gd name="T3" fmla="*/ 71 h 144"/>
                <a:gd name="T4" fmla="*/ 72 w 144"/>
                <a:gd name="T5" fmla="*/ 143 h 144"/>
                <a:gd name="T6" fmla="*/ 0 w 144"/>
                <a:gd name="T7" fmla="*/ 71 h 144"/>
                <a:gd name="T8" fmla="*/ 72 w 144"/>
                <a:gd name="T9" fmla="*/ 0 h 144"/>
                <a:gd name="T10" fmla="*/ 143 w 144"/>
                <a:gd name="T11" fmla="*/ 7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" h="144">
                  <a:moveTo>
                    <a:pt x="143" y="71"/>
                  </a:moveTo>
                  <a:lnTo>
                    <a:pt x="143" y="71"/>
                  </a:lnTo>
                  <a:cubicBezTo>
                    <a:pt x="143" y="116"/>
                    <a:pt x="107" y="143"/>
                    <a:pt x="72" y="143"/>
                  </a:cubicBezTo>
                  <a:cubicBezTo>
                    <a:pt x="27" y="143"/>
                    <a:pt x="0" y="116"/>
                    <a:pt x="0" y="71"/>
                  </a:cubicBezTo>
                  <a:cubicBezTo>
                    <a:pt x="0" y="36"/>
                    <a:pt x="27" y="0"/>
                    <a:pt x="72" y="0"/>
                  </a:cubicBezTo>
                  <a:cubicBezTo>
                    <a:pt x="107" y="0"/>
                    <a:pt x="143" y="36"/>
                    <a:pt x="143" y="71"/>
                  </a:cubicBezTo>
                </a:path>
              </a:pathLst>
            </a:custGeom>
            <a:solidFill>
              <a:srgbClr val="D1635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8" name="Freeform 543">
              <a:extLst>
                <a:ext uri="{FF2B5EF4-FFF2-40B4-BE49-F238E27FC236}">
                  <a16:creationId xmlns:a16="http://schemas.microsoft.com/office/drawing/2014/main" id="{19A70AE1-EB01-1847-B3C2-832C776E3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3629" y="5649808"/>
              <a:ext cx="156353" cy="156353"/>
            </a:xfrm>
            <a:custGeom>
              <a:avLst/>
              <a:gdLst>
                <a:gd name="T0" fmla="*/ 143 w 144"/>
                <a:gd name="T1" fmla="*/ 71 h 144"/>
                <a:gd name="T2" fmla="*/ 143 w 144"/>
                <a:gd name="T3" fmla="*/ 71 h 144"/>
                <a:gd name="T4" fmla="*/ 72 w 144"/>
                <a:gd name="T5" fmla="*/ 143 h 144"/>
                <a:gd name="T6" fmla="*/ 0 w 144"/>
                <a:gd name="T7" fmla="*/ 71 h 144"/>
                <a:gd name="T8" fmla="*/ 72 w 144"/>
                <a:gd name="T9" fmla="*/ 0 h 144"/>
                <a:gd name="T10" fmla="*/ 143 w 144"/>
                <a:gd name="T11" fmla="*/ 7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" h="144">
                  <a:moveTo>
                    <a:pt x="143" y="71"/>
                  </a:moveTo>
                  <a:lnTo>
                    <a:pt x="143" y="71"/>
                  </a:lnTo>
                  <a:cubicBezTo>
                    <a:pt x="143" y="116"/>
                    <a:pt x="116" y="143"/>
                    <a:pt x="72" y="143"/>
                  </a:cubicBezTo>
                  <a:cubicBezTo>
                    <a:pt x="36" y="143"/>
                    <a:pt x="0" y="116"/>
                    <a:pt x="0" y="71"/>
                  </a:cubicBezTo>
                  <a:cubicBezTo>
                    <a:pt x="0" y="36"/>
                    <a:pt x="36" y="0"/>
                    <a:pt x="72" y="0"/>
                  </a:cubicBezTo>
                  <a:cubicBezTo>
                    <a:pt x="116" y="0"/>
                    <a:pt x="143" y="36"/>
                    <a:pt x="143" y="71"/>
                  </a:cubicBezTo>
                </a:path>
              </a:pathLst>
            </a:custGeom>
            <a:solidFill>
              <a:srgbClr val="EFC05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" name="Freeform 544">
              <a:extLst>
                <a:ext uri="{FF2B5EF4-FFF2-40B4-BE49-F238E27FC236}">
                  <a16:creationId xmlns:a16="http://schemas.microsoft.com/office/drawing/2014/main" id="{E24D4342-8C2E-B241-B25A-8DE2050AD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2123" y="5649808"/>
              <a:ext cx="156356" cy="156353"/>
            </a:xfrm>
            <a:custGeom>
              <a:avLst/>
              <a:gdLst>
                <a:gd name="T0" fmla="*/ 143 w 144"/>
                <a:gd name="T1" fmla="*/ 71 h 144"/>
                <a:gd name="T2" fmla="*/ 143 w 144"/>
                <a:gd name="T3" fmla="*/ 71 h 144"/>
                <a:gd name="T4" fmla="*/ 71 w 144"/>
                <a:gd name="T5" fmla="*/ 143 h 144"/>
                <a:gd name="T6" fmla="*/ 0 w 144"/>
                <a:gd name="T7" fmla="*/ 71 h 144"/>
                <a:gd name="T8" fmla="*/ 71 w 144"/>
                <a:gd name="T9" fmla="*/ 0 h 144"/>
                <a:gd name="T10" fmla="*/ 143 w 144"/>
                <a:gd name="T11" fmla="*/ 7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" h="144">
                  <a:moveTo>
                    <a:pt x="143" y="71"/>
                  </a:moveTo>
                  <a:lnTo>
                    <a:pt x="143" y="71"/>
                  </a:lnTo>
                  <a:cubicBezTo>
                    <a:pt x="143" y="116"/>
                    <a:pt x="107" y="143"/>
                    <a:pt x="71" y="143"/>
                  </a:cubicBezTo>
                  <a:cubicBezTo>
                    <a:pt x="26" y="143"/>
                    <a:pt x="0" y="116"/>
                    <a:pt x="0" y="71"/>
                  </a:cubicBezTo>
                  <a:cubicBezTo>
                    <a:pt x="0" y="36"/>
                    <a:pt x="26" y="0"/>
                    <a:pt x="71" y="0"/>
                  </a:cubicBezTo>
                  <a:cubicBezTo>
                    <a:pt x="107" y="0"/>
                    <a:pt x="143" y="36"/>
                    <a:pt x="143" y="71"/>
                  </a:cubicBezTo>
                </a:path>
              </a:pathLst>
            </a:custGeom>
            <a:solidFill>
              <a:srgbClr val="94C5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0" name="Freeform 545">
              <a:extLst>
                <a:ext uri="{FF2B5EF4-FFF2-40B4-BE49-F238E27FC236}">
                  <a16:creationId xmlns:a16="http://schemas.microsoft.com/office/drawing/2014/main" id="{444390DF-2AF5-854C-9A80-DCC53D84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6705" y="5948301"/>
              <a:ext cx="7921963" cy="156356"/>
            </a:xfrm>
            <a:custGeom>
              <a:avLst/>
              <a:gdLst>
                <a:gd name="T0" fmla="*/ 7374 w 7375"/>
                <a:gd name="T1" fmla="*/ 144 h 145"/>
                <a:gd name="T2" fmla="*/ 0 w 7375"/>
                <a:gd name="T3" fmla="*/ 144 h 145"/>
                <a:gd name="T4" fmla="*/ 0 w 7375"/>
                <a:gd name="T5" fmla="*/ 0 h 145"/>
                <a:gd name="T6" fmla="*/ 7374 w 7375"/>
                <a:gd name="T7" fmla="*/ 0 h 145"/>
                <a:gd name="T8" fmla="*/ 7374 w 7375"/>
                <a:gd name="T9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75" h="145">
                  <a:moveTo>
                    <a:pt x="7374" y="144"/>
                  </a:moveTo>
                  <a:lnTo>
                    <a:pt x="0" y="144"/>
                  </a:lnTo>
                  <a:lnTo>
                    <a:pt x="0" y="0"/>
                  </a:lnTo>
                  <a:lnTo>
                    <a:pt x="7374" y="0"/>
                  </a:lnTo>
                  <a:lnTo>
                    <a:pt x="7374" y="1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1" name="Freeform 546">
              <a:extLst>
                <a:ext uri="{FF2B5EF4-FFF2-40B4-BE49-F238E27FC236}">
                  <a16:creationId xmlns:a16="http://schemas.microsoft.com/office/drawing/2014/main" id="{79FA9A9E-F133-B845-8D28-A2B3C7BD9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6705" y="6218370"/>
              <a:ext cx="7888799" cy="5112318"/>
            </a:xfrm>
            <a:custGeom>
              <a:avLst/>
              <a:gdLst>
                <a:gd name="T0" fmla="*/ 7195 w 7340"/>
                <a:gd name="T1" fmla="*/ 4756 h 4757"/>
                <a:gd name="T2" fmla="*/ 7195 w 7340"/>
                <a:gd name="T3" fmla="*/ 4756 h 4757"/>
                <a:gd name="T4" fmla="*/ 135 w 7340"/>
                <a:gd name="T5" fmla="*/ 4756 h 4757"/>
                <a:gd name="T6" fmla="*/ 0 w 7340"/>
                <a:gd name="T7" fmla="*/ 4622 h 4757"/>
                <a:gd name="T8" fmla="*/ 0 w 7340"/>
                <a:gd name="T9" fmla="*/ 0 h 4757"/>
                <a:gd name="T10" fmla="*/ 7339 w 7340"/>
                <a:gd name="T11" fmla="*/ 0 h 4757"/>
                <a:gd name="T12" fmla="*/ 7339 w 7340"/>
                <a:gd name="T13" fmla="*/ 4622 h 4757"/>
                <a:gd name="T14" fmla="*/ 7195 w 7340"/>
                <a:gd name="T15" fmla="*/ 4756 h 4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40" h="4757">
                  <a:moveTo>
                    <a:pt x="7195" y="4756"/>
                  </a:moveTo>
                  <a:lnTo>
                    <a:pt x="7195" y="4756"/>
                  </a:lnTo>
                  <a:cubicBezTo>
                    <a:pt x="135" y="4756"/>
                    <a:pt x="135" y="4756"/>
                    <a:pt x="135" y="4756"/>
                  </a:cubicBezTo>
                  <a:cubicBezTo>
                    <a:pt x="63" y="4756"/>
                    <a:pt x="0" y="4703"/>
                    <a:pt x="0" y="46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339" y="0"/>
                    <a:pt x="7339" y="0"/>
                    <a:pt x="7339" y="0"/>
                  </a:cubicBezTo>
                  <a:cubicBezTo>
                    <a:pt x="7339" y="4622"/>
                    <a:pt x="7339" y="4622"/>
                    <a:pt x="7339" y="4622"/>
                  </a:cubicBezTo>
                  <a:cubicBezTo>
                    <a:pt x="7339" y="4703"/>
                    <a:pt x="7276" y="4756"/>
                    <a:pt x="7195" y="47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2" name="Freeform 547">
              <a:extLst>
                <a:ext uri="{FF2B5EF4-FFF2-40B4-BE49-F238E27FC236}">
                  <a16:creationId xmlns:a16="http://schemas.microsoft.com/office/drawing/2014/main" id="{F63F1962-4CEE-8444-9ACE-7171A889A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2647" y="6881692"/>
              <a:ext cx="6623747" cy="3657749"/>
            </a:xfrm>
            <a:custGeom>
              <a:avLst/>
              <a:gdLst>
                <a:gd name="T0" fmla="*/ 0 w 6165"/>
                <a:gd name="T1" fmla="*/ 3405 h 3406"/>
                <a:gd name="T2" fmla="*/ 815 w 6165"/>
                <a:gd name="T3" fmla="*/ 2258 h 3406"/>
                <a:gd name="T4" fmla="*/ 1523 w 6165"/>
                <a:gd name="T5" fmla="*/ 2831 h 3406"/>
                <a:gd name="T6" fmla="*/ 1908 w 6165"/>
                <a:gd name="T7" fmla="*/ 1944 h 3406"/>
                <a:gd name="T8" fmla="*/ 3118 w 6165"/>
                <a:gd name="T9" fmla="*/ 833 h 3406"/>
                <a:gd name="T10" fmla="*/ 3467 w 6165"/>
                <a:gd name="T11" fmla="*/ 1272 h 3406"/>
                <a:gd name="T12" fmla="*/ 4094 w 6165"/>
                <a:gd name="T13" fmla="*/ 833 h 3406"/>
                <a:gd name="T14" fmla="*/ 5196 w 6165"/>
                <a:gd name="T15" fmla="*/ 1819 h 3406"/>
                <a:gd name="T16" fmla="*/ 6164 w 6165"/>
                <a:gd name="T17" fmla="*/ 0 h 3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65" h="3406">
                  <a:moveTo>
                    <a:pt x="0" y="3405"/>
                  </a:moveTo>
                  <a:lnTo>
                    <a:pt x="815" y="2258"/>
                  </a:lnTo>
                  <a:lnTo>
                    <a:pt x="1523" y="2831"/>
                  </a:lnTo>
                  <a:lnTo>
                    <a:pt x="1908" y="1944"/>
                  </a:lnTo>
                  <a:lnTo>
                    <a:pt x="3118" y="833"/>
                  </a:lnTo>
                  <a:lnTo>
                    <a:pt x="3467" y="1272"/>
                  </a:lnTo>
                  <a:lnTo>
                    <a:pt x="4094" y="833"/>
                  </a:lnTo>
                  <a:lnTo>
                    <a:pt x="5196" y="1819"/>
                  </a:lnTo>
                  <a:lnTo>
                    <a:pt x="6164" y="0"/>
                  </a:lnTo>
                </a:path>
              </a:pathLst>
            </a:custGeom>
            <a:noFill/>
            <a:ln w="63500" cap="flat">
              <a:solidFill>
                <a:schemeClr val="bg1">
                  <a:lumMod val="50000"/>
                  <a:alpha val="1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3" name="Freeform 548">
              <a:extLst>
                <a:ext uri="{FF2B5EF4-FFF2-40B4-BE49-F238E27FC236}">
                  <a16:creationId xmlns:a16="http://schemas.microsoft.com/office/drawing/2014/main" id="{DB54DA54-80B6-984F-BF22-7D8171FD0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2114" y="7554490"/>
              <a:ext cx="2207916" cy="1222408"/>
            </a:xfrm>
            <a:custGeom>
              <a:avLst/>
              <a:gdLst>
                <a:gd name="T0" fmla="*/ 2034 w 2053"/>
                <a:gd name="T1" fmla="*/ 27 h 1139"/>
                <a:gd name="T2" fmla="*/ 2034 w 2053"/>
                <a:gd name="T3" fmla="*/ 27 h 1139"/>
                <a:gd name="T4" fmla="*/ 1989 w 2053"/>
                <a:gd name="T5" fmla="*/ 0 h 1139"/>
                <a:gd name="T6" fmla="*/ 63 w 2053"/>
                <a:gd name="T7" fmla="*/ 0 h 1139"/>
                <a:gd name="T8" fmla="*/ 18 w 2053"/>
                <a:gd name="T9" fmla="*/ 27 h 1139"/>
                <a:gd name="T10" fmla="*/ 0 w 2053"/>
                <a:gd name="T11" fmla="*/ 72 h 1139"/>
                <a:gd name="T12" fmla="*/ 224 w 2053"/>
                <a:gd name="T13" fmla="*/ 1093 h 1139"/>
                <a:gd name="T14" fmla="*/ 287 w 2053"/>
                <a:gd name="T15" fmla="*/ 1138 h 1139"/>
                <a:gd name="T16" fmla="*/ 287 w 2053"/>
                <a:gd name="T17" fmla="*/ 1138 h 1139"/>
                <a:gd name="T18" fmla="*/ 1729 w 2053"/>
                <a:gd name="T19" fmla="*/ 1138 h 1139"/>
                <a:gd name="T20" fmla="*/ 1783 w 2053"/>
                <a:gd name="T21" fmla="*/ 1093 h 1139"/>
                <a:gd name="T22" fmla="*/ 2042 w 2053"/>
                <a:gd name="T23" fmla="*/ 81 h 1139"/>
                <a:gd name="T24" fmla="*/ 2034 w 2053"/>
                <a:gd name="T25" fmla="*/ 27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3" h="1139">
                  <a:moveTo>
                    <a:pt x="2034" y="27"/>
                  </a:moveTo>
                  <a:lnTo>
                    <a:pt x="2034" y="27"/>
                  </a:lnTo>
                  <a:cubicBezTo>
                    <a:pt x="2025" y="9"/>
                    <a:pt x="2007" y="0"/>
                    <a:pt x="198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45" y="0"/>
                    <a:pt x="27" y="9"/>
                    <a:pt x="18" y="27"/>
                  </a:cubicBezTo>
                  <a:cubicBezTo>
                    <a:pt x="0" y="36"/>
                    <a:pt x="0" y="54"/>
                    <a:pt x="0" y="72"/>
                  </a:cubicBezTo>
                  <a:cubicBezTo>
                    <a:pt x="224" y="1093"/>
                    <a:pt x="224" y="1093"/>
                    <a:pt x="224" y="1093"/>
                  </a:cubicBezTo>
                  <a:cubicBezTo>
                    <a:pt x="233" y="1120"/>
                    <a:pt x="260" y="1138"/>
                    <a:pt x="287" y="1138"/>
                  </a:cubicBezTo>
                  <a:lnTo>
                    <a:pt x="287" y="1138"/>
                  </a:lnTo>
                  <a:cubicBezTo>
                    <a:pt x="1729" y="1138"/>
                    <a:pt x="1729" y="1138"/>
                    <a:pt x="1729" y="1138"/>
                  </a:cubicBezTo>
                  <a:cubicBezTo>
                    <a:pt x="1756" y="1138"/>
                    <a:pt x="1783" y="1120"/>
                    <a:pt x="1783" y="1093"/>
                  </a:cubicBezTo>
                  <a:cubicBezTo>
                    <a:pt x="2042" y="81"/>
                    <a:pt x="2042" y="81"/>
                    <a:pt x="2042" y="81"/>
                  </a:cubicBezTo>
                  <a:cubicBezTo>
                    <a:pt x="2052" y="63"/>
                    <a:pt x="2042" y="36"/>
                    <a:pt x="2034" y="27"/>
                  </a:cubicBezTo>
                </a:path>
              </a:pathLst>
            </a:custGeom>
            <a:solidFill>
              <a:srgbClr val="D1635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4" name="Freeform 549">
              <a:extLst>
                <a:ext uri="{FF2B5EF4-FFF2-40B4-BE49-F238E27FC236}">
                  <a16:creationId xmlns:a16="http://schemas.microsoft.com/office/drawing/2014/main" id="{36326422-F695-C741-9E20-8D8B12D41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6695" y="7246518"/>
              <a:ext cx="1023412" cy="1573021"/>
            </a:xfrm>
            <a:custGeom>
              <a:avLst/>
              <a:gdLst>
                <a:gd name="T0" fmla="*/ 878 w 951"/>
                <a:gd name="T1" fmla="*/ 1461 h 1462"/>
                <a:gd name="T2" fmla="*/ 878 w 951"/>
                <a:gd name="T3" fmla="*/ 1461 h 1462"/>
                <a:gd name="T4" fmla="*/ 824 w 951"/>
                <a:gd name="T5" fmla="*/ 1416 h 1462"/>
                <a:gd name="T6" fmla="*/ 529 w 951"/>
                <a:gd name="T7" fmla="*/ 126 h 1462"/>
                <a:gd name="T8" fmla="*/ 63 w 951"/>
                <a:gd name="T9" fmla="*/ 126 h 1462"/>
                <a:gd name="T10" fmla="*/ 0 w 951"/>
                <a:gd name="T11" fmla="*/ 63 h 1462"/>
                <a:gd name="T12" fmla="*/ 63 w 951"/>
                <a:gd name="T13" fmla="*/ 0 h 1462"/>
                <a:gd name="T14" fmla="*/ 582 w 951"/>
                <a:gd name="T15" fmla="*/ 0 h 1462"/>
                <a:gd name="T16" fmla="*/ 636 w 951"/>
                <a:gd name="T17" fmla="*/ 45 h 1462"/>
                <a:gd name="T18" fmla="*/ 941 w 951"/>
                <a:gd name="T19" fmla="*/ 1380 h 1462"/>
                <a:gd name="T20" fmla="*/ 896 w 951"/>
                <a:gd name="T21" fmla="*/ 1461 h 1462"/>
                <a:gd name="T22" fmla="*/ 878 w 951"/>
                <a:gd name="T23" fmla="*/ 1461 h 1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51" h="1462">
                  <a:moveTo>
                    <a:pt x="878" y="1461"/>
                  </a:moveTo>
                  <a:lnTo>
                    <a:pt x="878" y="1461"/>
                  </a:lnTo>
                  <a:cubicBezTo>
                    <a:pt x="851" y="1461"/>
                    <a:pt x="824" y="1443"/>
                    <a:pt x="824" y="1416"/>
                  </a:cubicBezTo>
                  <a:cubicBezTo>
                    <a:pt x="529" y="126"/>
                    <a:pt x="529" y="126"/>
                    <a:pt x="529" y="126"/>
                  </a:cubicBezTo>
                  <a:cubicBezTo>
                    <a:pt x="63" y="126"/>
                    <a:pt x="63" y="126"/>
                    <a:pt x="63" y="126"/>
                  </a:cubicBezTo>
                  <a:cubicBezTo>
                    <a:pt x="27" y="126"/>
                    <a:pt x="0" y="99"/>
                    <a:pt x="0" y="63"/>
                  </a:cubicBezTo>
                  <a:cubicBezTo>
                    <a:pt x="0" y="27"/>
                    <a:pt x="27" y="0"/>
                    <a:pt x="63" y="0"/>
                  </a:cubicBezTo>
                  <a:cubicBezTo>
                    <a:pt x="582" y="0"/>
                    <a:pt x="582" y="0"/>
                    <a:pt x="582" y="0"/>
                  </a:cubicBezTo>
                  <a:cubicBezTo>
                    <a:pt x="609" y="0"/>
                    <a:pt x="636" y="18"/>
                    <a:pt x="636" y="45"/>
                  </a:cubicBezTo>
                  <a:cubicBezTo>
                    <a:pt x="941" y="1380"/>
                    <a:pt x="941" y="1380"/>
                    <a:pt x="941" y="1380"/>
                  </a:cubicBezTo>
                  <a:cubicBezTo>
                    <a:pt x="950" y="1416"/>
                    <a:pt x="932" y="1452"/>
                    <a:pt x="896" y="1461"/>
                  </a:cubicBezTo>
                  <a:cubicBezTo>
                    <a:pt x="887" y="1461"/>
                    <a:pt x="887" y="1461"/>
                    <a:pt x="878" y="1461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5" name="Freeform 550">
              <a:extLst>
                <a:ext uri="{FF2B5EF4-FFF2-40B4-BE49-F238E27FC236}">
                  <a16:creationId xmlns:a16="http://schemas.microsoft.com/office/drawing/2014/main" id="{D0519757-29A5-DC49-9A8B-B4165E23A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2703" y="9198581"/>
              <a:ext cx="502230" cy="492754"/>
            </a:xfrm>
            <a:custGeom>
              <a:avLst/>
              <a:gdLst>
                <a:gd name="T0" fmla="*/ 233 w 467"/>
                <a:gd name="T1" fmla="*/ 457 h 458"/>
                <a:gd name="T2" fmla="*/ 233 w 467"/>
                <a:gd name="T3" fmla="*/ 457 h 458"/>
                <a:gd name="T4" fmla="*/ 0 w 467"/>
                <a:gd name="T5" fmla="*/ 233 h 458"/>
                <a:gd name="T6" fmla="*/ 233 w 467"/>
                <a:gd name="T7" fmla="*/ 0 h 458"/>
                <a:gd name="T8" fmla="*/ 466 w 467"/>
                <a:gd name="T9" fmla="*/ 233 h 458"/>
                <a:gd name="T10" fmla="*/ 233 w 467"/>
                <a:gd name="T11" fmla="*/ 457 h 458"/>
                <a:gd name="T12" fmla="*/ 233 w 467"/>
                <a:gd name="T13" fmla="*/ 126 h 458"/>
                <a:gd name="T14" fmla="*/ 233 w 467"/>
                <a:gd name="T15" fmla="*/ 126 h 458"/>
                <a:gd name="T16" fmla="*/ 126 w 467"/>
                <a:gd name="T17" fmla="*/ 233 h 458"/>
                <a:gd name="T18" fmla="*/ 233 w 467"/>
                <a:gd name="T19" fmla="*/ 341 h 458"/>
                <a:gd name="T20" fmla="*/ 341 w 467"/>
                <a:gd name="T21" fmla="*/ 233 h 458"/>
                <a:gd name="T22" fmla="*/ 233 w 467"/>
                <a:gd name="T23" fmla="*/ 12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7" h="458">
                  <a:moveTo>
                    <a:pt x="233" y="457"/>
                  </a:moveTo>
                  <a:lnTo>
                    <a:pt x="233" y="457"/>
                  </a:lnTo>
                  <a:cubicBezTo>
                    <a:pt x="108" y="457"/>
                    <a:pt x="0" y="359"/>
                    <a:pt x="0" y="233"/>
                  </a:cubicBezTo>
                  <a:cubicBezTo>
                    <a:pt x="0" y="99"/>
                    <a:pt x="108" y="0"/>
                    <a:pt x="233" y="0"/>
                  </a:cubicBezTo>
                  <a:cubicBezTo>
                    <a:pt x="359" y="0"/>
                    <a:pt x="466" y="99"/>
                    <a:pt x="466" y="233"/>
                  </a:cubicBezTo>
                  <a:cubicBezTo>
                    <a:pt x="466" y="359"/>
                    <a:pt x="359" y="457"/>
                    <a:pt x="233" y="457"/>
                  </a:cubicBezTo>
                  <a:close/>
                  <a:moveTo>
                    <a:pt x="233" y="126"/>
                  </a:moveTo>
                  <a:lnTo>
                    <a:pt x="233" y="126"/>
                  </a:lnTo>
                  <a:cubicBezTo>
                    <a:pt x="179" y="126"/>
                    <a:pt x="126" y="171"/>
                    <a:pt x="126" y="233"/>
                  </a:cubicBezTo>
                  <a:cubicBezTo>
                    <a:pt x="126" y="287"/>
                    <a:pt x="179" y="341"/>
                    <a:pt x="233" y="341"/>
                  </a:cubicBezTo>
                  <a:cubicBezTo>
                    <a:pt x="296" y="341"/>
                    <a:pt x="341" y="287"/>
                    <a:pt x="341" y="233"/>
                  </a:cubicBezTo>
                  <a:cubicBezTo>
                    <a:pt x="341" y="171"/>
                    <a:pt x="296" y="126"/>
                    <a:pt x="233" y="12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7" name="Freeform 551">
              <a:extLst>
                <a:ext uri="{FF2B5EF4-FFF2-40B4-BE49-F238E27FC236}">
                  <a16:creationId xmlns:a16="http://schemas.microsoft.com/office/drawing/2014/main" id="{3E4668C4-5866-4249-BD13-7278E1577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8779" y="9198581"/>
              <a:ext cx="492754" cy="492754"/>
            </a:xfrm>
            <a:custGeom>
              <a:avLst/>
              <a:gdLst>
                <a:gd name="T0" fmla="*/ 223 w 457"/>
                <a:gd name="T1" fmla="*/ 457 h 458"/>
                <a:gd name="T2" fmla="*/ 223 w 457"/>
                <a:gd name="T3" fmla="*/ 457 h 458"/>
                <a:gd name="T4" fmla="*/ 0 w 457"/>
                <a:gd name="T5" fmla="*/ 233 h 458"/>
                <a:gd name="T6" fmla="*/ 223 w 457"/>
                <a:gd name="T7" fmla="*/ 0 h 458"/>
                <a:gd name="T8" fmla="*/ 456 w 457"/>
                <a:gd name="T9" fmla="*/ 233 h 458"/>
                <a:gd name="T10" fmla="*/ 223 w 457"/>
                <a:gd name="T11" fmla="*/ 457 h 458"/>
                <a:gd name="T12" fmla="*/ 223 w 457"/>
                <a:gd name="T13" fmla="*/ 126 h 458"/>
                <a:gd name="T14" fmla="*/ 223 w 457"/>
                <a:gd name="T15" fmla="*/ 126 h 458"/>
                <a:gd name="T16" fmla="*/ 116 w 457"/>
                <a:gd name="T17" fmla="*/ 233 h 458"/>
                <a:gd name="T18" fmla="*/ 223 w 457"/>
                <a:gd name="T19" fmla="*/ 341 h 458"/>
                <a:gd name="T20" fmla="*/ 330 w 457"/>
                <a:gd name="T21" fmla="*/ 233 h 458"/>
                <a:gd name="T22" fmla="*/ 223 w 457"/>
                <a:gd name="T23" fmla="*/ 12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" h="458">
                  <a:moveTo>
                    <a:pt x="223" y="457"/>
                  </a:moveTo>
                  <a:lnTo>
                    <a:pt x="223" y="457"/>
                  </a:lnTo>
                  <a:cubicBezTo>
                    <a:pt x="98" y="457"/>
                    <a:pt x="0" y="359"/>
                    <a:pt x="0" y="233"/>
                  </a:cubicBezTo>
                  <a:cubicBezTo>
                    <a:pt x="0" y="99"/>
                    <a:pt x="98" y="0"/>
                    <a:pt x="223" y="0"/>
                  </a:cubicBezTo>
                  <a:cubicBezTo>
                    <a:pt x="348" y="0"/>
                    <a:pt x="456" y="99"/>
                    <a:pt x="456" y="233"/>
                  </a:cubicBezTo>
                  <a:cubicBezTo>
                    <a:pt x="456" y="359"/>
                    <a:pt x="348" y="457"/>
                    <a:pt x="223" y="457"/>
                  </a:cubicBezTo>
                  <a:close/>
                  <a:moveTo>
                    <a:pt x="223" y="126"/>
                  </a:moveTo>
                  <a:lnTo>
                    <a:pt x="223" y="126"/>
                  </a:lnTo>
                  <a:cubicBezTo>
                    <a:pt x="170" y="126"/>
                    <a:pt x="116" y="171"/>
                    <a:pt x="116" y="233"/>
                  </a:cubicBezTo>
                  <a:cubicBezTo>
                    <a:pt x="116" y="287"/>
                    <a:pt x="170" y="341"/>
                    <a:pt x="223" y="341"/>
                  </a:cubicBezTo>
                  <a:cubicBezTo>
                    <a:pt x="285" y="341"/>
                    <a:pt x="330" y="287"/>
                    <a:pt x="330" y="233"/>
                  </a:cubicBezTo>
                  <a:cubicBezTo>
                    <a:pt x="330" y="171"/>
                    <a:pt x="285" y="126"/>
                    <a:pt x="223" y="12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8" name="Freeform 552">
              <a:extLst>
                <a:ext uri="{FF2B5EF4-FFF2-40B4-BE49-F238E27FC236}">
                  <a16:creationId xmlns:a16="http://schemas.microsoft.com/office/drawing/2014/main" id="{BB9AFB69-DB08-9245-85A9-6AF960609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6350" y="8677399"/>
              <a:ext cx="1847826" cy="511706"/>
            </a:xfrm>
            <a:custGeom>
              <a:avLst/>
              <a:gdLst>
                <a:gd name="T0" fmla="*/ 1657 w 1720"/>
                <a:gd name="T1" fmla="*/ 475 h 476"/>
                <a:gd name="T2" fmla="*/ 1657 w 1720"/>
                <a:gd name="T3" fmla="*/ 475 h 476"/>
                <a:gd name="T4" fmla="*/ 242 w 1720"/>
                <a:gd name="T5" fmla="*/ 475 h 476"/>
                <a:gd name="T6" fmla="*/ 0 w 1720"/>
                <a:gd name="T7" fmla="*/ 233 h 476"/>
                <a:gd name="T8" fmla="*/ 242 w 1720"/>
                <a:gd name="T9" fmla="*/ 0 h 476"/>
                <a:gd name="T10" fmla="*/ 1657 w 1720"/>
                <a:gd name="T11" fmla="*/ 0 h 476"/>
                <a:gd name="T12" fmla="*/ 1719 w 1720"/>
                <a:gd name="T13" fmla="*/ 63 h 476"/>
                <a:gd name="T14" fmla="*/ 1657 w 1720"/>
                <a:gd name="T15" fmla="*/ 126 h 476"/>
                <a:gd name="T16" fmla="*/ 242 w 1720"/>
                <a:gd name="T17" fmla="*/ 126 h 476"/>
                <a:gd name="T18" fmla="*/ 125 w 1720"/>
                <a:gd name="T19" fmla="*/ 233 h 476"/>
                <a:gd name="T20" fmla="*/ 242 w 1720"/>
                <a:gd name="T21" fmla="*/ 350 h 476"/>
                <a:gd name="T22" fmla="*/ 1657 w 1720"/>
                <a:gd name="T23" fmla="*/ 350 h 476"/>
                <a:gd name="T24" fmla="*/ 1719 w 1720"/>
                <a:gd name="T25" fmla="*/ 413 h 476"/>
                <a:gd name="T26" fmla="*/ 1657 w 1720"/>
                <a:gd name="T27" fmla="*/ 475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20" h="476">
                  <a:moveTo>
                    <a:pt x="1657" y="475"/>
                  </a:moveTo>
                  <a:lnTo>
                    <a:pt x="1657" y="475"/>
                  </a:lnTo>
                  <a:cubicBezTo>
                    <a:pt x="242" y="475"/>
                    <a:pt x="242" y="475"/>
                    <a:pt x="242" y="475"/>
                  </a:cubicBezTo>
                  <a:cubicBezTo>
                    <a:pt x="107" y="475"/>
                    <a:pt x="0" y="368"/>
                    <a:pt x="0" y="233"/>
                  </a:cubicBezTo>
                  <a:cubicBezTo>
                    <a:pt x="0" y="108"/>
                    <a:pt x="107" y="0"/>
                    <a:pt x="242" y="0"/>
                  </a:cubicBezTo>
                  <a:cubicBezTo>
                    <a:pt x="1657" y="0"/>
                    <a:pt x="1657" y="0"/>
                    <a:pt x="1657" y="0"/>
                  </a:cubicBezTo>
                  <a:cubicBezTo>
                    <a:pt x="1693" y="0"/>
                    <a:pt x="1719" y="27"/>
                    <a:pt x="1719" y="63"/>
                  </a:cubicBezTo>
                  <a:cubicBezTo>
                    <a:pt x="1719" y="99"/>
                    <a:pt x="1693" y="126"/>
                    <a:pt x="1657" y="126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179" y="126"/>
                    <a:pt x="125" y="171"/>
                    <a:pt x="125" y="233"/>
                  </a:cubicBezTo>
                  <a:cubicBezTo>
                    <a:pt x="125" y="296"/>
                    <a:pt x="179" y="350"/>
                    <a:pt x="242" y="350"/>
                  </a:cubicBezTo>
                  <a:cubicBezTo>
                    <a:pt x="1657" y="350"/>
                    <a:pt x="1657" y="350"/>
                    <a:pt x="1657" y="350"/>
                  </a:cubicBezTo>
                  <a:cubicBezTo>
                    <a:pt x="1693" y="350"/>
                    <a:pt x="1719" y="377"/>
                    <a:pt x="1719" y="413"/>
                  </a:cubicBezTo>
                  <a:cubicBezTo>
                    <a:pt x="1719" y="448"/>
                    <a:pt x="1693" y="475"/>
                    <a:pt x="1657" y="475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9" name="Freeform 553">
              <a:extLst>
                <a:ext uri="{FF2B5EF4-FFF2-40B4-BE49-F238E27FC236}">
                  <a16:creationId xmlns:a16="http://schemas.microsoft.com/office/drawing/2014/main" id="{8189A855-6E4C-104C-8F93-A29F1D4AC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2357" y="8189385"/>
              <a:ext cx="108976" cy="71069"/>
            </a:xfrm>
            <a:custGeom>
              <a:avLst/>
              <a:gdLst>
                <a:gd name="T0" fmla="*/ 99 w 100"/>
                <a:gd name="T1" fmla="*/ 63 h 64"/>
                <a:gd name="T2" fmla="*/ 0 w 100"/>
                <a:gd name="T3" fmla="*/ 63 h 64"/>
                <a:gd name="T4" fmla="*/ 0 w 100"/>
                <a:gd name="T5" fmla="*/ 0 h 64"/>
                <a:gd name="T6" fmla="*/ 99 w 100"/>
                <a:gd name="T7" fmla="*/ 0 h 64"/>
                <a:gd name="T8" fmla="*/ 99 w 100"/>
                <a:gd name="T9" fmla="*/ 6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64">
                  <a:moveTo>
                    <a:pt x="99" y="63"/>
                  </a:moveTo>
                  <a:lnTo>
                    <a:pt x="0" y="63"/>
                  </a:lnTo>
                  <a:lnTo>
                    <a:pt x="0" y="0"/>
                  </a:lnTo>
                  <a:lnTo>
                    <a:pt x="99" y="0"/>
                  </a:lnTo>
                  <a:lnTo>
                    <a:pt x="99" y="63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0" name="Freeform 554">
              <a:extLst>
                <a:ext uri="{FF2B5EF4-FFF2-40B4-BE49-F238E27FC236}">
                  <a16:creationId xmlns:a16="http://schemas.microsoft.com/office/drawing/2014/main" id="{DD9AFDBD-6839-E44B-9AB4-48B5B280D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8100" y="7957220"/>
              <a:ext cx="222685" cy="232164"/>
            </a:xfrm>
            <a:custGeom>
              <a:avLst/>
              <a:gdLst>
                <a:gd name="T0" fmla="*/ 206 w 207"/>
                <a:gd name="T1" fmla="*/ 215 h 216"/>
                <a:gd name="T2" fmla="*/ 206 w 207"/>
                <a:gd name="T3" fmla="*/ 215 h 216"/>
                <a:gd name="T4" fmla="*/ 108 w 207"/>
                <a:gd name="T5" fmla="*/ 215 h 216"/>
                <a:gd name="T6" fmla="*/ 0 w 207"/>
                <a:gd name="T7" fmla="*/ 108 h 216"/>
                <a:gd name="T8" fmla="*/ 0 w 207"/>
                <a:gd name="T9" fmla="*/ 108 h 216"/>
                <a:gd name="T10" fmla="*/ 108 w 207"/>
                <a:gd name="T11" fmla="*/ 0 h 216"/>
                <a:gd name="T12" fmla="*/ 206 w 207"/>
                <a:gd name="T13" fmla="*/ 0 h 216"/>
                <a:gd name="T14" fmla="*/ 206 w 207"/>
                <a:gd name="T15" fmla="*/ 21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7" h="216">
                  <a:moveTo>
                    <a:pt x="206" y="215"/>
                  </a:moveTo>
                  <a:lnTo>
                    <a:pt x="206" y="215"/>
                  </a:lnTo>
                  <a:cubicBezTo>
                    <a:pt x="108" y="215"/>
                    <a:pt x="108" y="215"/>
                    <a:pt x="108" y="215"/>
                  </a:cubicBezTo>
                  <a:cubicBezTo>
                    <a:pt x="45" y="215"/>
                    <a:pt x="0" y="161"/>
                    <a:pt x="0" y="108"/>
                  </a:cubicBezTo>
                  <a:lnTo>
                    <a:pt x="0" y="108"/>
                  </a:lnTo>
                  <a:cubicBezTo>
                    <a:pt x="0" y="45"/>
                    <a:pt x="45" y="0"/>
                    <a:pt x="108" y="0"/>
                  </a:cubicBezTo>
                  <a:cubicBezTo>
                    <a:pt x="206" y="0"/>
                    <a:pt x="206" y="0"/>
                    <a:pt x="206" y="0"/>
                  </a:cubicBezTo>
                  <a:lnTo>
                    <a:pt x="206" y="215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1" name="Freeform 555">
              <a:extLst>
                <a:ext uri="{FF2B5EF4-FFF2-40B4-BE49-F238E27FC236}">
                  <a16:creationId xmlns:a16="http://schemas.microsoft.com/office/drawing/2014/main" id="{B4A67BFB-405E-874E-A24A-F1AE7BBC7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0786" y="7824556"/>
              <a:ext cx="445374" cy="502230"/>
            </a:xfrm>
            <a:custGeom>
              <a:avLst/>
              <a:gdLst>
                <a:gd name="T0" fmla="*/ 359 w 413"/>
                <a:gd name="T1" fmla="*/ 457 h 467"/>
                <a:gd name="T2" fmla="*/ 359 w 413"/>
                <a:gd name="T3" fmla="*/ 457 h 467"/>
                <a:gd name="T4" fmla="*/ 0 w 413"/>
                <a:gd name="T5" fmla="*/ 340 h 467"/>
                <a:gd name="T6" fmla="*/ 0 w 413"/>
                <a:gd name="T7" fmla="*/ 125 h 467"/>
                <a:gd name="T8" fmla="*/ 359 w 413"/>
                <a:gd name="T9" fmla="*/ 9 h 467"/>
                <a:gd name="T10" fmla="*/ 412 w 413"/>
                <a:gd name="T11" fmla="*/ 54 h 467"/>
                <a:gd name="T12" fmla="*/ 412 w 413"/>
                <a:gd name="T13" fmla="*/ 412 h 467"/>
                <a:gd name="T14" fmla="*/ 359 w 413"/>
                <a:gd name="T15" fmla="*/ 45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3" h="467">
                  <a:moveTo>
                    <a:pt x="359" y="457"/>
                  </a:moveTo>
                  <a:lnTo>
                    <a:pt x="359" y="457"/>
                  </a:lnTo>
                  <a:cubicBezTo>
                    <a:pt x="0" y="340"/>
                    <a:pt x="0" y="340"/>
                    <a:pt x="0" y="340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359" y="9"/>
                    <a:pt x="359" y="9"/>
                    <a:pt x="359" y="9"/>
                  </a:cubicBezTo>
                  <a:cubicBezTo>
                    <a:pt x="386" y="0"/>
                    <a:pt x="412" y="18"/>
                    <a:pt x="412" y="54"/>
                  </a:cubicBezTo>
                  <a:cubicBezTo>
                    <a:pt x="412" y="412"/>
                    <a:pt x="412" y="412"/>
                    <a:pt x="412" y="412"/>
                  </a:cubicBezTo>
                  <a:cubicBezTo>
                    <a:pt x="412" y="439"/>
                    <a:pt x="386" y="466"/>
                    <a:pt x="359" y="457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2" name="Freeform 556">
              <a:extLst>
                <a:ext uri="{FF2B5EF4-FFF2-40B4-BE49-F238E27FC236}">
                  <a16:creationId xmlns:a16="http://schemas.microsoft.com/office/drawing/2014/main" id="{54D95FE1-E090-8A4B-A7A5-C120BAADF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4453" y="7957220"/>
              <a:ext cx="71072" cy="445374"/>
            </a:xfrm>
            <a:custGeom>
              <a:avLst/>
              <a:gdLst>
                <a:gd name="T0" fmla="*/ 36 w 64"/>
                <a:gd name="T1" fmla="*/ 412 h 413"/>
                <a:gd name="T2" fmla="*/ 36 w 64"/>
                <a:gd name="T3" fmla="*/ 412 h 413"/>
                <a:gd name="T4" fmla="*/ 36 w 64"/>
                <a:gd name="T5" fmla="*/ 412 h 413"/>
                <a:gd name="T6" fmla="*/ 63 w 64"/>
                <a:gd name="T7" fmla="*/ 377 h 413"/>
                <a:gd name="T8" fmla="*/ 63 w 64"/>
                <a:gd name="T9" fmla="*/ 0 h 413"/>
                <a:gd name="T10" fmla="*/ 0 w 64"/>
                <a:gd name="T11" fmla="*/ 0 h 413"/>
                <a:gd name="T12" fmla="*/ 0 w 64"/>
                <a:gd name="T13" fmla="*/ 377 h 413"/>
                <a:gd name="T14" fmla="*/ 36 w 64"/>
                <a:gd name="T15" fmla="*/ 412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413">
                  <a:moveTo>
                    <a:pt x="36" y="412"/>
                  </a:moveTo>
                  <a:lnTo>
                    <a:pt x="36" y="412"/>
                  </a:lnTo>
                  <a:lnTo>
                    <a:pt x="36" y="412"/>
                  </a:lnTo>
                  <a:cubicBezTo>
                    <a:pt x="54" y="412"/>
                    <a:pt x="63" y="395"/>
                    <a:pt x="63" y="377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0" y="395"/>
                    <a:pt x="19" y="412"/>
                    <a:pt x="36" y="412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5D30BF9-5D7E-C447-A328-EC2CB516345E}"/>
              </a:ext>
            </a:extLst>
          </p:cNvPr>
          <p:cNvGrpSpPr/>
          <p:nvPr/>
        </p:nvGrpSpPr>
        <p:grpSpPr>
          <a:xfrm>
            <a:off x="8412938" y="5346458"/>
            <a:ext cx="665692" cy="665691"/>
            <a:chOff x="16415134" y="11164859"/>
            <a:chExt cx="1331384" cy="1331381"/>
          </a:xfrm>
        </p:grpSpPr>
        <p:sp>
          <p:nvSpPr>
            <p:cNvPr id="34" name="Freeform 560">
              <a:extLst>
                <a:ext uri="{FF2B5EF4-FFF2-40B4-BE49-F238E27FC236}">
                  <a16:creationId xmlns:a16="http://schemas.microsoft.com/office/drawing/2014/main" id="{ADE01E7E-FC18-3B43-8011-79584B552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5134" y="11164859"/>
              <a:ext cx="1331384" cy="1331381"/>
            </a:xfrm>
            <a:custGeom>
              <a:avLst/>
              <a:gdLst>
                <a:gd name="T0" fmla="*/ 1237 w 1238"/>
                <a:gd name="T1" fmla="*/ 618 h 1238"/>
                <a:gd name="T2" fmla="*/ 1237 w 1238"/>
                <a:gd name="T3" fmla="*/ 618 h 1238"/>
                <a:gd name="T4" fmla="*/ 618 w 1238"/>
                <a:gd name="T5" fmla="*/ 1237 h 1238"/>
                <a:gd name="T6" fmla="*/ 0 w 1238"/>
                <a:gd name="T7" fmla="*/ 618 h 1238"/>
                <a:gd name="T8" fmla="*/ 618 w 1238"/>
                <a:gd name="T9" fmla="*/ 0 h 1238"/>
                <a:gd name="T10" fmla="*/ 1237 w 1238"/>
                <a:gd name="T11" fmla="*/ 618 h 1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8" h="1238">
                  <a:moveTo>
                    <a:pt x="1237" y="618"/>
                  </a:moveTo>
                  <a:lnTo>
                    <a:pt x="1237" y="618"/>
                  </a:lnTo>
                  <a:cubicBezTo>
                    <a:pt x="1237" y="959"/>
                    <a:pt x="959" y="1237"/>
                    <a:pt x="618" y="1237"/>
                  </a:cubicBezTo>
                  <a:cubicBezTo>
                    <a:pt x="278" y="1237"/>
                    <a:pt x="0" y="959"/>
                    <a:pt x="0" y="618"/>
                  </a:cubicBezTo>
                  <a:cubicBezTo>
                    <a:pt x="0" y="278"/>
                    <a:pt x="278" y="0"/>
                    <a:pt x="618" y="0"/>
                  </a:cubicBezTo>
                  <a:cubicBezTo>
                    <a:pt x="959" y="0"/>
                    <a:pt x="1237" y="278"/>
                    <a:pt x="1237" y="61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5" name="Freeform 563">
              <a:extLst>
                <a:ext uri="{FF2B5EF4-FFF2-40B4-BE49-F238E27FC236}">
                  <a16:creationId xmlns:a16="http://schemas.microsoft.com/office/drawing/2014/main" id="{5D9E9263-C134-4D4A-BE28-9BF1C5D4F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3696" y="11548637"/>
              <a:ext cx="194260" cy="483278"/>
            </a:xfrm>
            <a:custGeom>
              <a:avLst/>
              <a:gdLst>
                <a:gd name="T0" fmla="*/ 143 w 180"/>
                <a:gd name="T1" fmla="*/ 448 h 449"/>
                <a:gd name="T2" fmla="*/ 143 w 180"/>
                <a:gd name="T3" fmla="*/ 448 h 449"/>
                <a:gd name="T4" fmla="*/ 36 w 180"/>
                <a:gd name="T5" fmla="*/ 448 h 449"/>
                <a:gd name="T6" fmla="*/ 18 w 180"/>
                <a:gd name="T7" fmla="*/ 439 h 449"/>
                <a:gd name="T8" fmla="*/ 9 w 180"/>
                <a:gd name="T9" fmla="*/ 304 h 449"/>
                <a:gd name="T10" fmla="*/ 71 w 180"/>
                <a:gd name="T11" fmla="*/ 27 h 449"/>
                <a:gd name="T12" fmla="*/ 81 w 180"/>
                <a:gd name="T13" fmla="*/ 0 h 449"/>
                <a:gd name="T14" fmla="*/ 89 w 180"/>
                <a:gd name="T15" fmla="*/ 0 h 449"/>
                <a:gd name="T16" fmla="*/ 98 w 180"/>
                <a:gd name="T17" fmla="*/ 0 h 449"/>
                <a:gd name="T18" fmla="*/ 98 w 180"/>
                <a:gd name="T19" fmla="*/ 9 h 449"/>
                <a:gd name="T20" fmla="*/ 170 w 180"/>
                <a:gd name="T21" fmla="*/ 313 h 449"/>
                <a:gd name="T22" fmla="*/ 161 w 180"/>
                <a:gd name="T23" fmla="*/ 439 h 449"/>
                <a:gd name="T24" fmla="*/ 143 w 180"/>
                <a:gd name="T25" fmla="*/ 448 h 449"/>
                <a:gd name="T26" fmla="*/ 45 w 180"/>
                <a:gd name="T27" fmla="*/ 421 h 449"/>
                <a:gd name="T28" fmla="*/ 45 w 180"/>
                <a:gd name="T29" fmla="*/ 421 h 449"/>
                <a:gd name="T30" fmla="*/ 134 w 180"/>
                <a:gd name="T31" fmla="*/ 421 h 449"/>
                <a:gd name="T32" fmla="*/ 143 w 180"/>
                <a:gd name="T33" fmla="*/ 313 h 449"/>
                <a:gd name="T34" fmla="*/ 161 w 180"/>
                <a:gd name="T35" fmla="*/ 313 h 449"/>
                <a:gd name="T36" fmla="*/ 143 w 180"/>
                <a:gd name="T37" fmla="*/ 313 h 449"/>
                <a:gd name="T38" fmla="*/ 89 w 180"/>
                <a:gd name="T39" fmla="*/ 35 h 449"/>
                <a:gd name="T40" fmla="*/ 36 w 180"/>
                <a:gd name="T41" fmla="*/ 295 h 449"/>
                <a:gd name="T42" fmla="*/ 45 w 180"/>
                <a:gd name="T43" fmla="*/ 421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0" h="449">
                  <a:moveTo>
                    <a:pt x="143" y="448"/>
                  </a:moveTo>
                  <a:lnTo>
                    <a:pt x="143" y="448"/>
                  </a:lnTo>
                  <a:cubicBezTo>
                    <a:pt x="36" y="448"/>
                    <a:pt x="36" y="448"/>
                    <a:pt x="36" y="448"/>
                  </a:cubicBezTo>
                  <a:cubicBezTo>
                    <a:pt x="27" y="448"/>
                    <a:pt x="18" y="439"/>
                    <a:pt x="18" y="439"/>
                  </a:cubicBezTo>
                  <a:cubicBezTo>
                    <a:pt x="9" y="304"/>
                    <a:pt x="9" y="304"/>
                    <a:pt x="9" y="304"/>
                  </a:cubicBezTo>
                  <a:cubicBezTo>
                    <a:pt x="0" y="206"/>
                    <a:pt x="18" y="116"/>
                    <a:pt x="71" y="27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9" y="0"/>
                  </a:cubicBezTo>
                  <a:lnTo>
                    <a:pt x="98" y="0"/>
                  </a:lnTo>
                  <a:cubicBezTo>
                    <a:pt x="98" y="9"/>
                    <a:pt x="98" y="9"/>
                    <a:pt x="98" y="9"/>
                  </a:cubicBezTo>
                  <a:cubicBezTo>
                    <a:pt x="161" y="107"/>
                    <a:pt x="179" y="206"/>
                    <a:pt x="170" y="313"/>
                  </a:cubicBezTo>
                  <a:cubicBezTo>
                    <a:pt x="161" y="439"/>
                    <a:pt x="161" y="439"/>
                    <a:pt x="161" y="439"/>
                  </a:cubicBezTo>
                  <a:cubicBezTo>
                    <a:pt x="161" y="439"/>
                    <a:pt x="152" y="448"/>
                    <a:pt x="143" y="448"/>
                  </a:cubicBezTo>
                  <a:close/>
                  <a:moveTo>
                    <a:pt x="45" y="421"/>
                  </a:moveTo>
                  <a:lnTo>
                    <a:pt x="45" y="421"/>
                  </a:lnTo>
                  <a:cubicBezTo>
                    <a:pt x="134" y="421"/>
                    <a:pt x="134" y="421"/>
                    <a:pt x="134" y="421"/>
                  </a:cubicBezTo>
                  <a:cubicBezTo>
                    <a:pt x="143" y="313"/>
                    <a:pt x="143" y="313"/>
                    <a:pt x="143" y="313"/>
                  </a:cubicBezTo>
                  <a:cubicBezTo>
                    <a:pt x="161" y="313"/>
                    <a:pt x="161" y="313"/>
                    <a:pt x="161" y="313"/>
                  </a:cubicBezTo>
                  <a:cubicBezTo>
                    <a:pt x="143" y="313"/>
                    <a:pt x="143" y="313"/>
                    <a:pt x="143" y="313"/>
                  </a:cubicBezTo>
                  <a:cubicBezTo>
                    <a:pt x="152" y="215"/>
                    <a:pt x="134" y="125"/>
                    <a:pt x="89" y="35"/>
                  </a:cubicBezTo>
                  <a:cubicBezTo>
                    <a:pt x="45" y="125"/>
                    <a:pt x="27" y="215"/>
                    <a:pt x="36" y="295"/>
                  </a:cubicBezTo>
                  <a:lnTo>
                    <a:pt x="45" y="42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6" name="Freeform 564">
              <a:extLst>
                <a:ext uri="{FF2B5EF4-FFF2-40B4-BE49-F238E27FC236}">
                  <a16:creationId xmlns:a16="http://schemas.microsoft.com/office/drawing/2014/main" id="{BDE4D696-899C-A743-9639-9FA5A8F33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5836" y="11894513"/>
              <a:ext cx="99500" cy="213209"/>
            </a:xfrm>
            <a:custGeom>
              <a:avLst/>
              <a:gdLst>
                <a:gd name="T0" fmla="*/ 72 w 91"/>
                <a:gd name="T1" fmla="*/ 198 h 199"/>
                <a:gd name="T2" fmla="*/ 72 w 91"/>
                <a:gd name="T3" fmla="*/ 198 h 199"/>
                <a:gd name="T4" fmla="*/ 63 w 91"/>
                <a:gd name="T5" fmla="*/ 198 h 199"/>
                <a:gd name="T6" fmla="*/ 0 w 91"/>
                <a:gd name="T7" fmla="*/ 117 h 199"/>
                <a:gd name="T8" fmla="*/ 9 w 91"/>
                <a:gd name="T9" fmla="*/ 99 h 199"/>
                <a:gd name="T10" fmla="*/ 18 w 91"/>
                <a:gd name="T11" fmla="*/ 99 h 199"/>
                <a:gd name="T12" fmla="*/ 63 w 91"/>
                <a:gd name="T13" fmla="*/ 152 h 199"/>
                <a:gd name="T14" fmla="*/ 63 w 91"/>
                <a:gd name="T15" fmla="*/ 126 h 199"/>
                <a:gd name="T16" fmla="*/ 9 w 91"/>
                <a:gd name="T17" fmla="*/ 18 h 199"/>
                <a:gd name="T18" fmla="*/ 18 w 91"/>
                <a:gd name="T19" fmla="*/ 9 h 199"/>
                <a:gd name="T20" fmla="*/ 36 w 91"/>
                <a:gd name="T21" fmla="*/ 9 h 199"/>
                <a:gd name="T22" fmla="*/ 90 w 91"/>
                <a:gd name="T23" fmla="*/ 117 h 199"/>
                <a:gd name="T24" fmla="*/ 90 w 91"/>
                <a:gd name="T25" fmla="*/ 126 h 199"/>
                <a:gd name="T26" fmla="*/ 90 w 91"/>
                <a:gd name="T27" fmla="*/ 188 h 199"/>
                <a:gd name="T28" fmla="*/ 81 w 91"/>
                <a:gd name="T29" fmla="*/ 198 h 199"/>
                <a:gd name="T30" fmla="*/ 72 w 91"/>
                <a:gd name="T31" fmla="*/ 19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" h="199">
                  <a:moveTo>
                    <a:pt x="72" y="198"/>
                  </a:moveTo>
                  <a:lnTo>
                    <a:pt x="72" y="198"/>
                  </a:lnTo>
                  <a:cubicBezTo>
                    <a:pt x="72" y="198"/>
                    <a:pt x="72" y="198"/>
                    <a:pt x="63" y="198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08"/>
                    <a:pt x="0" y="99"/>
                    <a:pt x="9" y="99"/>
                  </a:cubicBezTo>
                  <a:cubicBezTo>
                    <a:pt x="9" y="90"/>
                    <a:pt x="18" y="90"/>
                    <a:pt x="18" y="99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63" y="126"/>
                    <a:pt x="63" y="126"/>
                    <a:pt x="63" y="126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9"/>
                    <a:pt x="18" y="9"/>
                  </a:cubicBezTo>
                  <a:cubicBezTo>
                    <a:pt x="18" y="0"/>
                    <a:pt x="27" y="9"/>
                    <a:pt x="36" y="9"/>
                  </a:cubicBezTo>
                  <a:cubicBezTo>
                    <a:pt x="90" y="117"/>
                    <a:pt x="90" y="117"/>
                    <a:pt x="90" y="117"/>
                  </a:cubicBezTo>
                  <a:cubicBezTo>
                    <a:pt x="90" y="126"/>
                    <a:pt x="90" y="126"/>
                    <a:pt x="90" y="126"/>
                  </a:cubicBezTo>
                  <a:cubicBezTo>
                    <a:pt x="90" y="188"/>
                    <a:pt x="90" y="188"/>
                    <a:pt x="90" y="188"/>
                  </a:cubicBezTo>
                  <a:lnTo>
                    <a:pt x="81" y="198"/>
                  </a:lnTo>
                  <a:cubicBezTo>
                    <a:pt x="81" y="198"/>
                    <a:pt x="81" y="198"/>
                    <a:pt x="72" y="19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7" name="Freeform 565">
              <a:extLst>
                <a:ext uri="{FF2B5EF4-FFF2-40B4-BE49-F238E27FC236}">
                  <a16:creationId xmlns:a16="http://schemas.microsoft.com/office/drawing/2014/main" id="{535C66BC-B65A-594B-9663-95D9912A2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36316" y="11903989"/>
              <a:ext cx="99500" cy="203733"/>
            </a:xfrm>
            <a:custGeom>
              <a:avLst/>
              <a:gdLst>
                <a:gd name="T0" fmla="*/ 18 w 91"/>
                <a:gd name="T1" fmla="*/ 189 h 190"/>
                <a:gd name="T2" fmla="*/ 18 w 91"/>
                <a:gd name="T3" fmla="*/ 189 h 190"/>
                <a:gd name="T4" fmla="*/ 9 w 91"/>
                <a:gd name="T5" fmla="*/ 189 h 190"/>
                <a:gd name="T6" fmla="*/ 0 w 91"/>
                <a:gd name="T7" fmla="*/ 179 h 190"/>
                <a:gd name="T8" fmla="*/ 0 w 91"/>
                <a:gd name="T9" fmla="*/ 117 h 190"/>
                <a:gd name="T10" fmla="*/ 9 w 91"/>
                <a:gd name="T11" fmla="*/ 108 h 190"/>
                <a:gd name="T12" fmla="*/ 63 w 91"/>
                <a:gd name="T13" fmla="*/ 9 h 190"/>
                <a:gd name="T14" fmla="*/ 72 w 91"/>
                <a:gd name="T15" fmla="*/ 0 h 190"/>
                <a:gd name="T16" fmla="*/ 81 w 91"/>
                <a:gd name="T17" fmla="*/ 18 h 190"/>
                <a:gd name="T18" fmla="*/ 27 w 91"/>
                <a:gd name="T19" fmla="*/ 117 h 190"/>
                <a:gd name="T20" fmla="*/ 27 w 91"/>
                <a:gd name="T21" fmla="*/ 143 h 190"/>
                <a:gd name="T22" fmla="*/ 63 w 91"/>
                <a:gd name="T23" fmla="*/ 90 h 190"/>
                <a:gd name="T24" fmla="*/ 81 w 91"/>
                <a:gd name="T25" fmla="*/ 90 h 190"/>
                <a:gd name="T26" fmla="*/ 81 w 91"/>
                <a:gd name="T27" fmla="*/ 108 h 190"/>
                <a:gd name="T28" fmla="*/ 27 w 91"/>
                <a:gd name="T29" fmla="*/ 189 h 190"/>
                <a:gd name="T30" fmla="*/ 18 w 91"/>
                <a:gd name="T31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" h="190">
                  <a:moveTo>
                    <a:pt x="18" y="189"/>
                  </a:moveTo>
                  <a:lnTo>
                    <a:pt x="18" y="189"/>
                  </a:lnTo>
                  <a:cubicBezTo>
                    <a:pt x="18" y="189"/>
                    <a:pt x="18" y="189"/>
                    <a:pt x="9" y="189"/>
                  </a:cubicBezTo>
                  <a:lnTo>
                    <a:pt x="0" y="179"/>
                  </a:lnTo>
                  <a:cubicBezTo>
                    <a:pt x="0" y="117"/>
                    <a:pt x="0" y="117"/>
                    <a:pt x="0" y="117"/>
                  </a:cubicBezTo>
                  <a:cubicBezTo>
                    <a:pt x="0" y="117"/>
                    <a:pt x="0" y="117"/>
                    <a:pt x="9" y="108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0"/>
                    <a:pt x="72" y="0"/>
                    <a:pt x="72" y="0"/>
                  </a:cubicBezTo>
                  <a:cubicBezTo>
                    <a:pt x="81" y="0"/>
                    <a:pt x="81" y="9"/>
                    <a:pt x="81" y="18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63" y="90"/>
                    <a:pt x="63" y="90"/>
                    <a:pt x="63" y="90"/>
                  </a:cubicBezTo>
                  <a:cubicBezTo>
                    <a:pt x="72" y="90"/>
                    <a:pt x="81" y="90"/>
                    <a:pt x="81" y="90"/>
                  </a:cubicBezTo>
                  <a:cubicBezTo>
                    <a:pt x="90" y="99"/>
                    <a:pt x="90" y="108"/>
                    <a:pt x="81" y="108"/>
                  </a:cubicBezTo>
                  <a:cubicBezTo>
                    <a:pt x="27" y="189"/>
                    <a:pt x="27" y="189"/>
                    <a:pt x="27" y="189"/>
                  </a:cubicBezTo>
                  <a:lnTo>
                    <a:pt x="18" y="189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8" name="Freeform 566">
              <a:extLst>
                <a:ext uri="{FF2B5EF4-FFF2-40B4-BE49-F238E27FC236}">
                  <a16:creationId xmlns:a16="http://schemas.microsoft.com/office/drawing/2014/main" id="{13A77C62-6F8D-354B-AECF-82E8B3943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0552" y="12003486"/>
              <a:ext cx="75808" cy="56856"/>
            </a:xfrm>
            <a:custGeom>
              <a:avLst/>
              <a:gdLst>
                <a:gd name="T0" fmla="*/ 62 w 72"/>
                <a:gd name="T1" fmla="*/ 53 h 54"/>
                <a:gd name="T2" fmla="*/ 62 w 72"/>
                <a:gd name="T3" fmla="*/ 53 h 54"/>
                <a:gd name="T4" fmla="*/ 8 w 72"/>
                <a:gd name="T5" fmla="*/ 53 h 54"/>
                <a:gd name="T6" fmla="*/ 0 w 72"/>
                <a:gd name="T7" fmla="*/ 36 h 54"/>
                <a:gd name="T8" fmla="*/ 0 w 72"/>
                <a:gd name="T9" fmla="*/ 9 h 54"/>
                <a:gd name="T10" fmla="*/ 8 w 72"/>
                <a:gd name="T11" fmla="*/ 0 h 54"/>
                <a:gd name="T12" fmla="*/ 62 w 72"/>
                <a:gd name="T13" fmla="*/ 0 h 54"/>
                <a:gd name="T14" fmla="*/ 71 w 72"/>
                <a:gd name="T15" fmla="*/ 9 h 54"/>
                <a:gd name="T16" fmla="*/ 71 w 72"/>
                <a:gd name="T17" fmla="*/ 36 h 54"/>
                <a:gd name="T18" fmla="*/ 62 w 72"/>
                <a:gd name="T19" fmla="*/ 53 h 54"/>
                <a:gd name="T20" fmla="*/ 17 w 72"/>
                <a:gd name="T21" fmla="*/ 27 h 54"/>
                <a:gd name="T22" fmla="*/ 17 w 72"/>
                <a:gd name="T23" fmla="*/ 27 h 54"/>
                <a:gd name="T24" fmla="*/ 53 w 72"/>
                <a:gd name="T25" fmla="*/ 27 h 54"/>
                <a:gd name="T26" fmla="*/ 53 w 72"/>
                <a:gd name="T27" fmla="*/ 27 h 54"/>
                <a:gd name="T28" fmla="*/ 17 w 72"/>
                <a:gd name="T29" fmla="*/ 2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" h="54">
                  <a:moveTo>
                    <a:pt x="62" y="53"/>
                  </a:moveTo>
                  <a:lnTo>
                    <a:pt x="62" y="53"/>
                  </a:ln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45"/>
                    <a:pt x="0" y="3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0"/>
                    <a:pt x="8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71" y="0"/>
                    <a:pt x="71" y="9"/>
                    <a:pt x="71" y="9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71" y="45"/>
                    <a:pt x="71" y="53"/>
                    <a:pt x="62" y="53"/>
                  </a:cubicBezTo>
                  <a:close/>
                  <a:moveTo>
                    <a:pt x="17" y="27"/>
                  </a:moveTo>
                  <a:lnTo>
                    <a:pt x="17" y="27"/>
                  </a:lnTo>
                  <a:cubicBezTo>
                    <a:pt x="53" y="27"/>
                    <a:pt x="53" y="27"/>
                    <a:pt x="53" y="27"/>
                  </a:cubicBezTo>
                  <a:lnTo>
                    <a:pt x="53" y="27"/>
                  </a:lnTo>
                  <a:cubicBezTo>
                    <a:pt x="17" y="27"/>
                    <a:pt x="17" y="27"/>
                    <a:pt x="17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9" name="Freeform 567">
              <a:extLst>
                <a:ext uri="{FF2B5EF4-FFF2-40B4-BE49-F238E27FC236}">
                  <a16:creationId xmlns:a16="http://schemas.microsoft.com/office/drawing/2014/main" id="{3BDC5B38-CA5F-EE43-A546-7BE735C3E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0552" y="11686041"/>
              <a:ext cx="75808" cy="80545"/>
            </a:xfrm>
            <a:custGeom>
              <a:avLst/>
              <a:gdLst>
                <a:gd name="T0" fmla="*/ 35 w 72"/>
                <a:gd name="T1" fmla="*/ 72 h 73"/>
                <a:gd name="T2" fmla="*/ 35 w 72"/>
                <a:gd name="T3" fmla="*/ 72 h 73"/>
                <a:gd name="T4" fmla="*/ 0 w 72"/>
                <a:gd name="T5" fmla="*/ 36 h 73"/>
                <a:gd name="T6" fmla="*/ 35 w 72"/>
                <a:gd name="T7" fmla="*/ 0 h 73"/>
                <a:gd name="T8" fmla="*/ 71 w 72"/>
                <a:gd name="T9" fmla="*/ 36 h 73"/>
                <a:gd name="T10" fmla="*/ 35 w 72"/>
                <a:gd name="T11" fmla="*/ 72 h 73"/>
                <a:gd name="T12" fmla="*/ 35 w 72"/>
                <a:gd name="T13" fmla="*/ 27 h 73"/>
                <a:gd name="T14" fmla="*/ 35 w 72"/>
                <a:gd name="T15" fmla="*/ 27 h 73"/>
                <a:gd name="T16" fmla="*/ 27 w 72"/>
                <a:gd name="T17" fmla="*/ 36 h 73"/>
                <a:gd name="T18" fmla="*/ 35 w 72"/>
                <a:gd name="T19" fmla="*/ 54 h 73"/>
                <a:gd name="T20" fmla="*/ 44 w 72"/>
                <a:gd name="T21" fmla="*/ 36 h 73"/>
                <a:gd name="T22" fmla="*/ 35 w 72"/>
                <a:gd name="T23" fmla="*/ 2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73">
                  <a:moveTo>
                    <a:pt x="35" y="72"/>
                  </a:moveTo>
                  <a:lnTo>
                    <a:pt x="35" y="72"/>
                  </a:lnTo>
                  <a:cubicBezTo>
                    <a:pt x="17" y="72"/>
                    <a:pt x="0" y="63"/>
                    <a:pt x="0" y="36"/>
                  </a:cubicBezTo>
                  <a:cubicBezTo>
                    <a:pt x="0" y="18"/>
                    <a:pt x="17" y="0"/>
                    <a:pt x="35" y="0"/>
                  </a:cubicBezTo>
                  <a:cubicBezTo>
                    <a:pt x="53" y="0"/>
                    <a:pt x="71" y="18"/>
                    <a:pt x="71" y="36"/>
                  </a:cubicBezTo>
                  <a:cubicBezTo>
                    <a:pt x="71" y="63"/>
                    <a:pt x="53" y="72"/>
                    <a:pt x="35" y="72"/>
                  </a:cubicBezTo>
                  <a:close/>
                  <a:moveTo>
                    <a:pt x="35" y="27"/>
                  </a:moveTo>
                  <a:lnTo>
                    <a:pt x="35" y="27"/>
                  </a:lnTo>
                  <a:cubicBezTo>
                    <a:pt x="27" y="27"/>
                    <a:pt x="27" y="36"/>
                    <a:pt x="27" y="36"/>
                  </a:cubicBezTo>
                  <a:cubicBezTo>
                    <a:pt x="27" y="45"/>
                    <a:pt x="27" y="54"/>
                    <a:pt x="35" y="54"/>
                  </a:cubicBezTo>
                  <a:cubicBezTo>
                    <a:pt x="44" y="54"/>
                    <a:pt x="44" y="45"/>
                    <a:pt x="44" y="36"/>
                  </a:cubicBezTo>
                  <a:cubicBezTo>
                    <a:pt x="44" y="36"/>
                    <a:pt x="44" y="27"/>
                    <a:pt x="35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0" name="Freeform 568">
              <a:extLst>
                <a:ext uri="{FF2B5EF4-FFF2-40B4-BE49-F238E27FC236}">
                  <a16:creationId xmlns:a16="http://schemas.microsoft.com/office/drawing/2014/main" id="{F3BC1B5D-60FE-CD49-8E30-E71380D4C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68980" y="11903989"/>
              <a:ext cx="18952" cy="203733"/>
            </a:xfrm>
            <a:custGeom>
              <a:avLst/>
              <a:gdLst>
                <a:gd name="T0" fmla="*/ 8 w 18"/>
                <a:gd name="T1" fmla="*/ 189 h 190"/>
                <a:gd name="T2" fmla="*/ 8 w 18"/>
                <a:gd name="T3" fmla="*/ 189 h 190"/>
                <a:gd name="T4" fmla="*/ 0 w 18"/>
                <a:gd name="T5" fmla="*/ 179 h 190"/>
                <a:gd name="T6" fmla="*/ 0 w 18"/>
                <a:gd name="T7" fmla="*/ 9 h 190"/>
                <a:gd name="T8" fmla="*/ 8 w 18"/>
                <a:gd name="T9" fmla="*/ 0 h 190"/>
                <a:gd name="T10" fmla="*/ 17 w 18"/>
                <a:gd name="T11" fmla="*/ 9 h 190"/>
                <a:gd name="T12" fmla="*/ 17 w 18"/>
                <a:gd name="T13" fmla="*/ 179 h 190"/>
                <a:gd name="T14" fmla="*/ 8 w 18"/>
                <a:gd name="T15" fmla="*/ 18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90">
                  <a:moveTo>
                    <a:pt x="8" y="189"/>
                  </a:moveTo>
                  <a:lnTo>
                    <a:pt x="8" y="189"/>
                  </a:lnTo>
                  <a:cubicBezTo>
                    <a:pt x="0" y="189"/>
                    <a:pt x="0" y="179"/>
                    <a:pt x="0" y="17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0"/>
                    <a:pt x="8" y="0"/>
                  </a:cubicBezTo>
                  <a:cubicBezTo>
                    <a:pt x="17" y="0"/>
                    <a:pt x="17" y="9"/>
                    <a:pt x="17" y="9"/>
                  </a:cubicBezTo>
                  <a:cubicBezTo>
                    <a:pt x="17" y="179"/>
                    <a:pt x="17" y="179"/>
                    <a:pt x="17" y="179"/>
                  </a:cubicBezTo>
                  <a:cubicBezTo>
                    <a:pt x="17" y="179"/>
                    <a:pt x="17" y="189"/>
                    <a:pt x="8" y="189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1" name="Freeform 569">
              <a:extLst>
                <a:ext uri="{FF2B5EF4-FFF2-40B4-BE49-F238E27FC236}">
                  <a16:creationId xmlns:a16="http://schemas.microsoft.com/office/drawing/2014/main" id="{E990AC38-7A97-754B-9CDE-3BBED301F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32583" y="11577065"/>
              <a:ext cx="127925" cy="502230"/>
            </a:xfrm>
            <a:custGeom>
              <a:avLst/>
              <a:gdLst>
                <a:gd name="T0" fmla="*/ 98 w 117"/>
                <a:gd name="T1" fmla="*/ 466 h 467"/>
                <a:gd name="T2" fmla="*/ 98 w 117"/>
                <a:gd name="T3" fmla="*/ 466 h 467"/>
                <a:gd name="T4" fmla="*/ 89 w 117"/>
                <a:gd name="T5" fmla="*/ 457 h 467"/>
                <a:gd name="T6" fmla="*/ 0 w 117"/>
                <a:gd name="T7" fmla="*/ 242 h 467"/>
                <a:gd name="T8" fmla="*/ 36 w 117"/>
                <a:gd name="T9" fmla="*/ 80 h 467"/>
                <a:gd name="T10" fmla="*/ 89 w 117"/>
                <a:gd name="T11" fmla="*/ 0 h 467"/>
                <a:gd name="T12" fmla="*/ 107 w 117"/>
                <a:gd name="T13" fmla="*/ 0 h 467"/>
                <a:gd name="T14" fmla="*/ 107 w 117"/>
                <a:gd name="T15" fmla="*/ 17 h 467"/>
                <a:gd name="T16" fmla="*/ 63 w 117"/>
                <a:gd name="T17" fmla="*/ 89 h 467"/>
                <a:gd name="T18" fmla="*/ 27 w 117"/>
                <a:gd name="T19" fmla="*/ 242 h 467"/>
                <a:gd name="T20" fmla="*/ 107 w 117"/>
                <a:gd name="T21" fmla="*/ 439 h 467"/>
                <a:gd name="T22" fmla="*/ 107 w 117"/>
                <a:gd name="T23" fmla="*/ 457 h 467"/>
                <a:gd name="T24" fmla="*/ 98 w 117"/>
                <a:gd name="T25" fmla="*/ 466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467">
                  <a:moveTo>
                    <a:pt x="98" y="466"/>
                  </a:moveTo>
                  <a:lnTo>
                    <a:pt x="98" y="466"/>
                  </a:lnTo>
                  <a:cubicBezTo>
                    <a:pt x="98" y="466"/>
                    <a:pt x="98" y="466"/>
                    <a:pt x="89" y="457"/>
                  </a:cubicBezTo>
                  <a:cubicBezTo>
                    <a:pt x="63" y="430"/>
                    <a:pt x="0" y="358"/>
                    <a:pt x="0" y="242"/>
                  </a:cubicBezTo>
                  <a:cubicBezTo>
                    <a:pt x="0" y="179"/>
                    <a:pt x="9" y="125"/>
                    <a:pt x="36" y="80"/>
                  </a:cubicBezTo>
                  <a:cubicBezTo>
                    <a:pt x="53" y="53"/>
                    <a:pt x="71" y="27"/>
                    <a:pt x="89" y="0"/>
                  </a:cubicBezTo>
                  <a:cubicBezTo>
                    <a:pt x="98" y="0"/>
                    <a:pt x="107" y="0"/>
                    <a:pt x="107" y="0"/>
                  </a:cubicBezTo>
                  <a:cubicBezTo>
                    <a:pt x="116" y="8"/>
                    <a:pt x="116" y="17"/>
                    <a:pt x="107" y="17"/>
                  </a:cubicBezTo>
                  <a:cubicBezTo>
                    <a:pt x="89" y="35"/>
                    <a:pt x="71" y="62"/>
                    <a:pt x="63" y="89"/>
                  </a:cubicBezTo>
                  <a:cubicBezTo>
                    <a:pt x="36" y="134"/>
                    <a:pt x="27" y="188"/>
                    <a:pt x="27" y="242"/>
                  </a:cubicBezTo>
                  <a:cubicBezTo>
                    <a:pt x="27" y="349"/>
                    <a:pt x="89" y="421"/>
                    <a:pt x="107" y="439"/>
                  </a:cubicBezTo>
                  <a:cubicBezTo>
                    <a:pt x="116" y="447"/>
                    <a:pt x="116" y="457"/>
                    <a:pt x="107" y="457"/>
                  </a:cubicBezTo>
                  <a:cubicBezTo>
                    <a:pt x="107" y="466"/>
                    <a:pt x="107" y="466"/>
                    <a:pt x="98" y="466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2" name="Freeform 570">
              <a:extLst>
                <a:ext uri="{FF2B5EF4-FFF2-40B4-BE49-F238E27FC236}">
                  <a16:creationId xmlns:a16="http://schemas.microsoft.com/office/drawing/2014/main" id="{A6D64D2E-321C-1749-BB1F-3F7FCA3C9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1145" y="11577065"/>
              <a:ext cx="127925" cy="502230"/>
            </a:xfrm>
            <a:custGeom>
              <a:avLst/>
              <a:gdLst>
                <a:gd name="T0" fmla="*/ 17 w 117"/>
                <a:gd name="T1" fmla="*/ 466 h 467"/>
                <a:gd name="T2" fmla="*/ 17 w 117"/>
                <a:gd name="T3" fmla="*/ 466 h 467"/>
                <a:gd name="T4" fmla="*/ 8 w 117"/>
                <a:gd name="T5" fmla="*/ 457 h 467"/>
                <a:gd name="T6" fmla="*/ 8 w 117"/>
                <a:gd name="T7" fmla="*/ 447 h 467"/>
                <a:gd name="T8" fmla="*/ 53 w 117"/>
                <a:gd name="T9" fmla="*/ 376 h 467"/>
                <a:gd name="T10" fmla="*/ 89 w 117"/>
                <a:gd name="T11" fmla="*/ 224 h 467"/>
                <a:gd name="T12" fmla="*/ 8 w 117"/>
                <a:gd name="T13" fmla="*/ 17 h 467"/>
                <a:gd name="T14" fmla="*/ 8 w 117"/>
                <a:gd name="T15" fmla="*/ 0 h 467"/>
                <a:gd name="T16" fmla="*/ 26 w 117"/>
                <a:gd name="T17" fmla="*/ 0 h 467"/>
                <a:gd name="T18" fmla="*/ 116 w 117"/>
                <a:gd name="T19" fmla="*/ 224 h 467"/>
                <a:gd name="T20" fmla="*/ 80 w 117"/>
                <a:gd name="T21" fmla="*/ 385 h 467"/>
                <a:gd name="T22" fmla="*/ 26 w 117"/>
                <a:gd name="T23" fmla="*/ 457 h 467"/>
                <a:gd name="T24" fmla="*/ 17 w 117"/>
                <a:gd name="T25" fmla="*/ 466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467">
                  <a:moveTo>
                    <a:pt x="17" y="466"/>
                  </a:moveTo>
                  <a:lnTo>
                    <a:pt x="17" y="466"/>
                  </a:lnTo>
                  <a:cubicBezTo>
                    <a:pt x="8" y="466"/>
                    <a:pt x="8" y="466"/>
                    <a:pt x="8" y="457"/>
                  </a:cubicBezTo>
                  <a:cubicBezTo>
                    <a:pt x="0" y="457"/>
                    <a:pt x="0" y="447"/>
                    <a:pt x="8" y="447"/>
                  </a:cubicBezTo>
                  <a:cubicBezTo>
                    <a:pt x="26" y="421"/>
                    <a:pt x="44" y="403"/>
                    <a:pt x="53" y="376"/>
                  </a:cubicBezTo>
                  <a:cubicBezTo>
                    <a:pt x="80" y="331"/>
                    <a:pt x="89" y="277"/>
                    <a:pt x="89" y="224"/>
                  </a:cubicBezTo>
                  <a:cubicBezTo>
                    <a:pt x="89" y="116"/>
                    <a:pt x="35" y="44"/>
                    <a:pt x="8" y="17"/>
                  </a:cubicBezTo>
                  <a:cubicBezTo>
                    <a:pt x="0" y="17"/>
                    <a:pt x="0" y="8"/>
                    <a:pt x="8" y="0"/>
                  </a:cubicBezTo>
                  <a:cubicBezTo>
                    <a:pt x="8" y="0"/>
                    <a:pt x="17" y="0"/>
                    <a:pt x="26" y="0"/>
                  </a:cubicBezTo>
                  <a:cubicBezTo>
                    <a:pt x="53" y="35"/>
                    <a:pt x="116" y="107"/>
                    <a:pt x="116" y="224"/>
                  </a:cubicBezTo>
                  <a:cubicBezTo>
                    <a:pt x="116" y="277"/>
                    <a:pt x="107" y="340"/>
                    <a:pt x="80" y="385"/>
                  </a:cubicBezTo>
                  <a:cubicBezTo>
                    <a:pt x="62" y="412"/>
                    <a:pt x="44" y="439"/>
                    <a:pt x="26" y="457"/>
                  </a:cubicBezTo>
                  <a:cubicBezTo>
                    <a:pt x="17" y="466"/>
                    <a:pt x="17" y="466"/>
                    <a:pt x="17" y="466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52815B72-965B-1E4F-AA4E-2E7E3720FD4A}"/>
              </a:ext>
            </a:extLst>
          </p:cNvPr>
          <p:cNvGrpSpPr/>
          <p:nvPr/>
        </p:nvGrpSpPr>
        <p:grpSpPr>
          <a:xfrm>
            <a:off x="8891667" y="4074865"/>
            <a:ext cx="670430" cy="665691"/>
            <a:chOff x="18679906" y="7649251"/>
            <a:chExt cx="1340860" cy="1331381"/>
          </a:xfrm>
        </p:grpSpPr>
        <p:sp>
          <p:nvSpPr>
            <p:cNvPr id="44" name="Freeform 558">
              <a:extLst>
                <a:ext uri="{FF2B5EF4-FFF2-40B4-BE49-F238E27FC236}">
                  <a16:creationId xmlns:a16="http://schemas.microsoft.com/office/drawing/2014/main" id="{2BD1132E-0C8D-A34C-B5DD-CC88F842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79906" y="7649251"/>
              <a:ext cx="1340860" cy="1331381"/>
            </a:xfrm>
            <a:custGeom>
              <a:avLst/>
              <a:gdLst>
                <a:gd name="T0" fmla="*/ 1246 w 1247"/>
                <a:gd name="T1" fmla="*/ 618 h 1237"/>
                <a:gd name="T2" fmla="*/ 1246 w 1247"/>
                <a:gd name="T3" fmla="*/ 618 h 1237"/>
                <a:gd name="T4" fmla="*/ 618 w 1247"/>
                <a:gd name="T5" fmla="*/ 1236 h 1237"/>
                <a:gd name="T6" fmla="*/ 0 w 1247"/>
                <a:gd name="T7" fmla="*/ 618 h 1237"/>
                <a:gd name="T8" fmla="*/ 618 w 1247"/>
                <a:gd name="T9" fmla="*/ 0 h 1237"/>
                <a:gd name="T10" fmla="*/ 1246 w 1247"/>
                <a:gd name="T11" fmla="*/ 618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7" h="1237">
                  <a:moveTo>
                    <a:pt x="1246" y="618"/>
                  </a:moveTo>
                  <a:lnTo>
                    <a:pt x="1246" y="618"/>
                  </a:lnTo>
                  <a:cubicBezTo>
                    <a:pt x="1246" y="958"/>
                    <a:pt x="968" y="1236"/>
                    <a:pt x="618" y="1236"/>
                  </a:cubicBezTo>
                  <a:cubicBezTo>
                    <a:pt x="278" y="1236"/>
                    <a:pt x="0" y="958"/>
                    <a:pt x="0" y="618"/>
                  </a:cubicBezTo>
                  <a:cubicBezTo>
                    <a:pt x="0" y="277"/>
                    <a:pt x="278" y="0"/>
                    <a:pt x="618" y="0"/>
                  </a:cubicBezTo>
                  <a:cubicBezTo>
                    <a:pt x="968" y="0"/>
                    <a:pt x="1246" y="277"/>
                    <a:pt x="1246" y="618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5" name="Freeform 571">
              <a:extLst>
                <a:ext uri="{FF2B5EF4-FFF2-40B4-BE49-F238E27FC236}">
                  <a16:creationId xmlns:a16="http://schemas.microsoft.com/office/drawing/2014/main" id="{DD3935FF-F2AA-FB49-8736-F75B57ADC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15303" y="8189385"/>
              <a:ext cx="393254" cy="397993"/>
            </a:xfrm>
            <a:custGeom>
              <a:avLst/>
              <a:gdLst>
                <a:gd name="T0" fmla="*/ 332 w 368"/>
                <a:gd name="T1" fmla="*/ 99 h 369"/>
                <a:gd name="T2" fmla="*/ 269 w 368"/>
                <a:gd name="T3" fmla="*/ 99 h 369"/>
                <a:gd name="T4" fmla="*/ 233 w 368"/>
                <a:gd name="T5" fmla="*/ 135 h 369"/>
                <a:gd name="T6" fmla="*/ 197 w 368"/>
                <a:gd name="T7" fmla="*/ 233 h 369"/>
                <a:gd name="T8" fmla="*/ 179 w 368"/>
                <a:gd name="T9" fmla="*/ 233 h 369"/>
                <a:gd name="T10" fmla="*/ 179 w 368"/>
                <a:gd name="T11" fmla="*/ 260 h 369"/>
                <a:gd name="T12" fmla="*/ 179 w 368"/>
                <a:gd name="T13" fmla="*/ 269 h 369"/>
                <a:gd name="T14" fmla="*/ 116 w 368"/>
                <a:gd name="T15" fmla="*/ 332 h 369"/>
                <a:gd name="T16" fmla="*/ 89 w 368"/>
                <a:gd name="T17" fmla="*/ 314 h 369"/>
                <a:gd name="T18" fmla="*/ 81 w 368"/>
                <a:gd name="T19" fmla="*/ 305 h 369"/>
                <a:gd name="T20" fmla="*/ 71 w 368"/>
                <a:gd name="T21" fmla="*/ 296 h 369"/>
                <a:gd name="T22" fmla="*/ 63 w 368"/>
                <a:gd name="T23" fmla="*/ 287 h 369"/>
                <a:gd name="T24" fmla="*/ 45 w 368"/>
                <a:gd name="T25" fmla="*/ 305 h 369"/>
                <a:gd name="T26" fmla="*/ 54 w 368"/>
                <a:gd name="T27" fmla="*/ 323 h 369"/>
                <a:gd name="T28" fmla="*/ 27 w 368"/>
                <a:gd name="T29" fmla="*/ 314 h 369"/>
                <a:gd name="T30" fmla="*/ 0 w 368"/>
                <a:gd name="T31" fmla="*/ 332 h 369"/>
                <a:gd name="T32" fmla="*/ 107 w 368"/>
                <a:gd name="T33" fmla="*/ 368 h 369"/>
                <a:gd name="T34" fmla="*/ 107 w 368"/>
                <a:gd name="T35" fmla="*/ 368 h 369"/>
                <a:gd name="T36" fmla="*/ 116 w 368"/>
                <a:gd name="T37" fmla="*/ 368 h 369"/>
                <a:gd name="T38" fmla="*/ 286 w 368"/>
                <a:gd name="T39" fmla="*/ 305 h 369"/>
                <a:gd name="T40" fmla="*/ 296 w 368"/>
                <a:gd name="T41" fmla="*/ 296 h 369"/>
                <a:gd name="T42" fmla="*/ 296 w 368"/>
                <a:gd name="T43" fmla="*/ 296 h 369"/>
                <a:gd name="T44" fmla="*/ 340 w 368"/>
                <a:gd name="T45" fmla="*/ 0 h 369"/>
                <a:gd name="T46" fmla="*/ 322 w 368"/>
                <a:gd name="T47" fmla="*/ 27 h 369"/>
                <a:gd name="T48" fmla="*/ 340 w 368"/>
                <a:gd name="T49" fmla="*/ 99 h 369"/>
                <a:gd name="T50" fmla="*/ 179 w 368"/>
                <a:gd name="T51" fmla="*/ 323 h 369"/>
                <a:gd name="T52" fmla="*/ 215 w 368"/>
                <a:gd name="T53" fmla="*/ 278 h 369"/>
                <a:gd name="T54" fmla="*/ 251 w 368"/>
                <a:gd name="T55" fmla="*/ 287 h 369"/>
                <a:gd name="T56" fmla="*/ 179 w 368"/>
                <a:gd name="T57" fmla="*/ 323 h 369"/>
                <a:gd name="T58" fmla="*/ 278 w 368"/>
                <a:gd name="T59" fmla="*/ 269 h 369"/>
                <a:gd name="T60" fmla="*/ 233 w 368"/>
                <a:gd name="T61" fmla="*/ 242 h 369"/>
                <a:gd name="T62" fmla="*/ 269 w 368"/>
                <a:gd name="T63" fmla="*/ 135 h 369"/>
                <a:gd name="T64" fmla="*/ 340 w 368"/>
                <a:gd name="T65" fmla="*/ 135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8" h="369">
                  <a:moveTo>
                    <a:pt x="332" y="99"/>
                  </a:moveTo>
                  <a:lnTo>
                    <a:pt x="332" y="99"/>
                  </a:lnTo>
                  <a:cubicBezTo>
                    <a:pt x="269" y="99"/>
                    <a:pt x="269" y="99"/>
                    <a:pt x="269" y="99"/>
                  </a:cubicBezTo>
                  <a:lnTo>
                    <a:pt x="269" y="99"/>
                  </a:lnTo>
                  <a:cubicBezTo>
                    <a:pt x="260" y="117"/>
                    <a:pt x="251" y="126"/>
                    <a:pt x="233" y="135"/>
                  </a:cubicBezTo>
                  <a:lnTo>
                    <a:pt x="233" y="135"/>
                  </a:lnTo>
                  <a:cubicBezTo>
                    <a:pt x="233" y="171"/>
                    <a:pt x="224" y="197"/>
                    <a:pt x="206" y="233"/>
                  </a:cubicBezTo>
                  <a:lnTo>
                    <a:pt x="197" y="233"/>
                  </a:lnTo>
                  <a:lnTo>
                    <a:pt x="188" y="233"/>
                  </a:lnTo>
                  <a:cubicBezTo>
                    <a:pt x="179" y="233"/>
                    <a:pt x="179" y="233"/>
                    <a:pt x="179" y="233"/>
                  </a:cubicBezTo>
                  <a:cubicBezTo>
                    <a:pt x="170" y="251"/>
                    <a:pt x="170" y="251"/>
                    <a:pt x="170" y="251"/>
                  </a:cubicBezTo>
                  <a:cubicBezTo>
                    <a:pt x="170" y="260"/>
                    <a:pt x="170" y="260"/>
                    <a:pt x="179" y="260"/>
                  </a:cubicBezTo>
                  <a:lnTo>
                    <a:pt x="179" y="260"/>
                  </a:lnTo>
                  <a:cubicBezTo>
                    <a:pt x="179" y="260"/>
                    <a:pt x="179" y="260"/>
                    <a:pt x="179" y="269"/>
                  </a:cubicBezTo>
                  <a:cubicBezTo>
                    <a:pt x="161" y="287"/>
                    <a:pt x="143" y="314"/>
                    <a:pt x="116" y="332"/>
                  </a:cubicBezTo>
                  <a:lnTo>
                    <a:pt x="116" y="332"/>
                  </a:lnTo>
                  <a:cubicBezTo>
                    <a:pt x="107" y="323"/>
                    <a:pt x="98" y="323"/>
                    <a:pt x="98" y="314"/>
                  </a:cubicBezTo>
                  <a:cubicBezTo>
                    <a:pt x="89" y="314"/>
                    <a:pt x="89" y="314"/>
                    <a:pt x="89" y="314"/>
                  </a:cubicBezTo>
                  <a:lnTo>
                    <a:pt x="89" y="314"/>
                  </a:lnTo>
                  <a:cubicBezTo>
                    <a:pt x="89" y="314"/>
                    <a:pt x="89" y="314"/>
                    <a:pt x="81" y="305"/>
                  </a:cubicBezTo>
                  <a:cubicBezTo>
                    <a:pt x="81" y="305"/>
                    <a:pt x="81" y="305"/>
                    <a:pt x="71" y="296"/>
                  </a:cubicBezTo>
                  <a:lnTo>
                    <a:pt x="71" y="296"/>
                  </a:lnTo>
                  <a:lnTo>
                    <a:pt x="71" y="287"/>
                  </a:lnTo>
                  <a:cubicBezTo>
                    <a:pt x="63" y="287"/>
                    <a:pt x="63" y="287"/>
                    <a:pt x="63" y="287"/>
                  </a:cubicBezTo>
                  <a:cubicBezTo>
                    <a:pt x="54" y="287"/>
                    <a:pt x="54" y="296"/>
                    <a:pt x="45" y="296"/>
                  </a:cubicBezTo>
                  <a:cubicBezTo>
                    <a:pt x="45" y="305"/>
                    <a:pt x="45" y="305"/>
                    <a:pt x="45" y="305"/>
                  </a:cubicBezTo>
                  <a:cubicBezTo>
                    <a:pt x="45" y="314"/>
                    <a:pt x="54" y="314"/>
                    <a:pt x="54" y="314"/>
                  </a:cubicBezTo>
                  <a:cubicBezTo>
                    <a:pt x="54" y="323"/>
                    <a:pt x="54" y="323"/>
                    <a:pt x="54" y="323"/>
                  </a:cubicBezTo>
                  <a:cubicBezTo>
                    <a:pt x="45" y="323"/>
                    <a:pt x="36" y="314"/>
                    <a:pt x="27" y="314"/>
                  </a:cubicBezTo>
                  <a:lnTo>
                    <a:pt x="27" y="314"/>
                  </a:lnTo>
                  <a:cubicBezTo>
                    <a:pt x="18" y="314"/>
                    <a:pt x="9" y="323"/>
                    <a:pt x="9" y="323"/>
                  </a:cubicBezTo>
                  <a:cubicBezTo>
                    <a:pt x="0" y="323"/>
                    <a:pt x="0" y="323"/>
                    <a:pt x="0" y="332"/>
                  </a:cubicBezTo>
                  <a:lnTo>
                    <a:pt x="0" y="332"/>
                  </a:lnTo>
                  <a:cubicBezTo>
                    <a:pt x="36" y="350"/>
                    <a:pt x="71" y="368"/>
                    <a:pt x="107" y="368"/>
                  </a:cubicBezTo>
                  <a:lnTo>
                    <a:pt x="107" y="368"/>
                  </a:lnTo>
                  <a:lnTo>
                    <a:pt x="107" y="368"/>
                  </a:lnTo>
                  <a:lnTo>
                    <a:pt x="107" y="368"/>
                  </a:lnTo>
                  <a:cubicBezTo>
                    <a:pt x="116" y="368"/>
                    <a:pt x="116" y="368"/>
                    <a:pt x="116" y="368"/>
                  </a:cubicBezTo>
                  <a:cubicBezTo>
                    <a:pt x="179" y="368"/>
                    <a:pt x="242" y="341"/>
                    <a:pt x="286" y="305"/>
                  </a:cubicBezTo>
                  <a:lnTo>
                    <a:pt x="286" y="305"/>
                  </a:lnTo>
                  <a:lnTo>
                    <a:pt x="286" y="296"/>
                  </a:lnTo>
                  <a:lnTo>
                    <a:pt x="296" y="296"/>
                  </a:lnTo>
                  <a:lnTo>
                    <a:pt x="296" y="296"/>
                  </a:lnTo>
                  <a:lnTo>
                    <a:pt x="296" y="296"/>
                  </a:lnTo>
                  <a:cubicBezTo>
                    <a:pt x="340" y="242"/>
                    <a:pt x="367" y="180"/>
                    <a:pt x="367" y="117"/>
                  </a:cubicBezTo>
                  <a:cubicBezTo>
                    <a:pt x="367" y="72"/>
                    <a:pt x="358" y="36"/>
                    <a:pt x="340" y="0"/>
                  </a:cubicBezTo>
                  <a:lnTo>
                    <a:pt x="332" y="0"/>
                  </a:lnTo>
                  <a:cubicBezTo>
                    <a:pt x="332" y="9"/>
                    <a:pt x="322" y="18"/>
                    <a:pt x="322" y="27"/>
                  </a:cubicBezTo>
                  <a:lnTo>
                    <a:pt x="322" y="27"/>
                  </a:lnTo>
                  <a:cubicBezTo>
                    <a:pt x="332" y="54"/>
                    <a:pt x="332" y="72"/>
                    <a:pt x="340" y="99"/>
                  </a:cubicBezTo>
                  <a:cubicBezTo>
                    <a:pt x="340" y="99"/>
                    <a:pt x="340" y="99"/>
                    <a:pt x="332" y="99"/>
                  </a:cubicBezTo>
                  <a:close/>
                  <a:moveTo>
                    <a:pt x="179" y="323"/>
                  </a:moveTo>
                  <a:lnTo>
                    <a:pt x="179" y="323"/>
                  </a:lnTo>
                  <a:cubicBezTo>
                    <a:pt x="188" y="305"/>
                    <a:pt x="206" y="287"/>
                    <a:pt x="215" y="278"/>
                  </a:cubicBezTo>
                  <a:cubicBezTo>
                    <a:pt x="215" y="269"/>
                    <a:pt x="215" y="269"/>
                    <a:pt x="215" y="269"/>
                  </a:cubicBezTo>
                  <a:cubicBezTo>
                    <a:pt x="224" y="278"/>
                    <a:pt x="242" y="278"/>
                    <a:pt x="251" y="287"/>
                  </a:cubicBezTo>
                  <a:lnTo>
                    <a:pt x="251" y="296"/>
                  </a:lnTo>
                  <a:cubicBezTo>
                    <a:pt x="224" y="305"/>
                    <a:pt x="206" y="323"/>
                    <a:pt x="179" y="323"/>
                  </a:cubicBezTo>
                  <a:close/>
                  <a:moveTo>
                    <a:pt x="278" y="269"/>
                  </a:moveTo>
                  <a:lnTo>
                    <a:pt x="278" y="269"/>
                  </a:lnTo>
                  <a:cubicBezTo>
                    <a:pt x="260" y="260"/>
                    <a:pt x="251" y="251"/>
                    <a:pt x="233" y="251"/>
                  </a:cubicBezTo>
                  <a:cubicBezTo>
                    <a:pt x="233" y="242"/>
                    <a:pt x="233" y="242"/>
                    <a:pt x="233" y="242"/>
                  </a:cubicBezTo>
                  <a:cubicBezTo>
                    <a:pt x="251" y="207"/>
                    <a:pt x="260" y="171"/>
                    <a:pt x="269" y="135"/>
                  </a:cubicBezTo>
                  <a:lnTo>
                    <a:pt x="269" y="135"/>
                  </a:lnTo>
                  <a:cubicBezTo>
                    <a:pt x="332" y="135"/>
                    <a:pt x="332" y="135"/>
                    <a:pt x="332" y="135"/>
                  </a:cubicBezTo>
                  <a:cubicBezTo>
                    <a:pt x="340" y="135"/>
                    <a:pt x="340" y="135"/>
                    <a:pt x="340" y="135"/>
                  </a:cubicBezTo>
                  <a:cubicBezTo>
                    <a:pt x="332" y="189"/>
                    <a:pt x="313" y="233"/>
                    <a:pt x="278" y="26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6" name="Freeform 572">
              <a:extLst>
                <a:ext uri="{FF2B5EF4-FFF2-40B4-BE49-F238E27FC236}">
                  <a16:creationId xmlns:a16="http://schemas.microsoft.com/office/drawing/2014/main" id="{B812DF86-669F-3540-BBEF-194AEB1F8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3163" y="8042505"/>
              <a:ext cx="402730" cy="402733"/>
            </a:xfrm>
            <a:custGeom>
              <a:avLst/>
              <a:gdLst>
                <a:gd name="T0" fmla="*/ 62 w 377"/>
                <a:gd name="T1" fmla="*/ 349 h 377"/>
                <a:gd name="T2" fmla="*/ 35 w 377"/>
                <a:gd name="T3" fmla="*/ 269 h 377"/>
                <a:gd name="T4" fmla="*/ 62 w 377"/>
                <a:gd name="T5" fmla="*/ 260 h 377"/>
                <a:gd name="T6" fmla="*/ 71 w 377"/>
                <a:gd name="T7" fmla="*/ 242 h 377"/>
                <a:gd name="T8" fmla="*/ 35 w 377"/>
                <a:gd name="T9" fmla="*/ 233 h 377"/>
                <a:gd name="T10" fmla="*/ 98 w 377"/>
                <a:gd name="T11" fmla="*/ 99 h 377"/>
                <a:gd name="T12" fmla="*/ 134 w 377"/>
                <a:gd name="T13" fmla="*/ 116 h 377"/>
                <a:gd name="T14" fmla="*/ 107 w 377"/>
                <a:gd name="T15" fmla="*/ 197 h 377"/>
                <a:gd name="T16" fmla="*/ 116 w 377"/>
                <a:gd name="T17" fmla="*/ 206 h 377"/>
                <a:gd name="T18" fmla="*/ 143 w 377"/>
                <a:gd name="T19" fmla="*/ 197 h 377"/>
                <a:gd name="T20" fmla="*/ 170 w 377"/>
                <a:gd name="T21" fmla="*/ 134 h 377"/>
                <a:gd name="T22" fmla="*/ 232 w 377"/>
                <a:gd name="T23" fmla="*/ 143 h 377"/>
                <a:gd name="T24" fmla="*/ 259 w 377"/>
                <a:gd name="T25" fmla="*/ 116 h 377"/>
                <a:gd name="T26" fmla="*/ 197 w 377"/>
                <a:gd name="T27" fmla="*/ 107 h 377"/>
                <a:gd name="T28" fmla="*/ 259 w 377"/>
                <a:gd name="T29" fmla="*/ 36 h 377"/>
                <a:gd name="T30" fmla="*/ 304 w 377"/>
                <a:gd name="T31" fmla="*/ 80 h 377"/>
                <a:gd name="T32" fmla="*/ 331 w 377"/>
                <a:gd name="T33" fmla="*/ 63 h 377"/>
                <a:gd name="T34" fmla="*/ 322 w 377"/>
                <a:gd name="T35" fmla="*/ 45 h 377"/>
                <a:gd name="T36" fmla="*/ 349 w 377"/>
                <a:gd name="T37" fmla="*/ 54 h 377"/>
                <a:gd name="T38" fmla="*/ 376 w 377"/>
                <a:gd name="T39" fmla="*/ 36 h 377"/>
                <a:gd name="T40" fmla="*/ 268 w 377"/>
                <a:gd name="T41" fmla="*/ 0 h 377"/>
                <a:gd name="T42" fmla="*/ 259 w 377"/>
                <a:gd name="T43" fmla="*/ 0 h 377"/>
                <a:gd name="T44" fmla="*/ 250 w 377"/>
                <a:gd name="T45" fmla="*/ 0 h 377"/>
                <a:gd name="T46" fmla="*/ 89 w 377"/>
                <a:gd name="T47" fmla="*/ 63 h 377"/>
                <a:gd name="T48" fmla="*/ 80 w 377"/>
                <a:gd name="T49" fmla="*/ 72 h 377"/>
                <a:gd name="T50" fmla="*/ 80 w 377"/>
                <a:gd name="T51" fmla="*/ 72 h 377"/>
                <a:gd name="T52" fmla="*/ 35 w 377"/>
                <a:gd name="T53" fmla="*/ 376 h 377"/>
                <a:gd name="T54" fmla="*/ 53 w 377"/>
                <a:gd name="T55" fmla="*/ 367 h 377"/>
                <a:gd name="T56" fmla="*/ 62 w 377"/>
                <a:gd name="T57" fmla="*/ 349 h 377"/>
                <a:gd name="T58" fmla="*/ 197 w 377"/>
                <a:gd name="T59" fmla="*/ 45 h 377"/>
                <a:gd name="T60" fmla="*/ 152 w 377"/>
                <a:gd name="T61" fmla="*/ 90 h 377"/>
                <a:gd name="T62" fmla="*/ 125 w 377"/>
                <a:gd name="T63" fmla="*/ 72 h 377"/>
                <a:gd name="T64" fmla="*/ 197 w 377"/>
                <a:gd name="T65" fmla="*/ 45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77" h="377">
                  <a:moveTo>
                    <a:pt x="62" y="349"/>
                  </a:moveTo>
                  <a:lnTo>
                    <a:pt x="62" y="349"/>
                  </a:lnTo>
                  <a:cubicBezTo>
                    <a:pt x="44" y="323"/>
                    <a:pt x="35" y="296"/>
                    <a:pt x="35" y="269"/>
                  </a:cubicBezTo>
                  <a:lnTo>
                    <a:pt x="35" y="269"/>
                  </a:lnTo>
                  <a:cubicBezTo>
                    <a:pt x="53" y="269"/>
                    <a:pt x="53" y="269"/>
                    <a:pt x="53" y="269"/>
                  </a:cubicBezTo>
                  <a:lnTo>
                    <a:pt x="62" y="260"/>
                  </a:lnTo>
                  <a:cubicBezTo>
                    <a:pt x="62" y="260"/>
                    <a:pt x="62" y="251"/>
                    <a:pt x="71" y="251"/>
                  </a:cubicBezTo>
                  <a:cubicBezTo>
                    <a:pt x="71" y="242"/>
                    <a:pt x="71" y="242"/>
                    <a:pt x="71" y="242"/>
                  </a:cubicBezTo>
                  <a:cubicBezTo>
                    <a:pt x="80" y="242"/>
                    <a:pt x="80" y="233"/>
                    <a:pt x="71" y="233"/>
                  </a:cubicBezTo>
                  <a:cubicBezTo>
                    <a:pt x="35" y="233"/>
                    <a:pt x="35" y="233"/>
                    <a:pt x="35" y="233"/>
                  </a:cubicBezTo>
                  <a:lnTo>
                    <a:pt x="35" y="233"/>
                  </a:lnTo>
                  <a:cubicBezTo>
                    <a:pt x="35" y="179"/>
                    <a:pt x="62" y="134"/>
                    <a:pt x="98" y="99"/>
                  </a:cubicBezTo>
                  <a:lnTo>
                    <a:pt x="98" y="99"/>
                  </a:lnTo>
                  <a:cubicBezTo>
                    <a:pt x="116" y="107"/>
                    <a:pt x="125" y="116"/>
                    <a:pt x="134" y="116"/>
                  </a:cubicBezTo>
                  <a:cubicBezTo>
                    <a:pt x="143" y="116"/>
                    <a:pt x="143" y="126"/>
                    <a:pt x="143" y="126"/>
                  </a:cubicBezTo>
                  <a:cubicBezTo>
                    <a:pt x="125" y="152"/>
                    <a:pt x="116" y="170"/>
                    <a:pt x="107" y="197"/>
                  </a:cubicBezTo>
                  <a:cubicBezTo>
                    <a:pt x="107" y="206"/>
                    <a:pt x="116" y="206"/>
                    <a:pt x="116" y="206"/>
                  </a:cubicBezTo>
                  <a:lnTo>
                    <a:pt x="116" y="206"/>
                  </a:lnTo>
                  <a:cubicBezTo>
                    <a:pt x="143" y="197"/>
                    <a:pt x="143" y="197"/>
                    <a:pt x="143" y="197"/>
                  </a:cubicBezTo>
                  <a:lnTo>
                    <a:pt x="143" y="197"/>
                  </a:lnTo>
                  <a:cubicBezTo>
                    <a:pt x="152" y="170"/>
                    <a:pt x="161" y="152"/>
                    <a:pt x="170" y="134"/>
                  </a:cubicBezTo>
                  <a:lnTo>
                    <a:pt x="170" y="134"/>
                  </a:lnTo>
                  <a:cubicBezTo>
                    <a:pt x="197" y="134"/>
                    <a:pt x="215" y="143"/>
                    <a:pt x="232" y="143"/>
                  </a:cubicBezTo>
                  <a:lnTo>
                    <a:pt x="232" y="143"/>
                  </a:lnTo>
                  <a:cubicBezTo>
                    <a:pt x="241" y="134"/>
                    <a:pt x="250" y="126"/>
                    <a:pt x="259" y="116"/>
                  </a:cubicBezTo>
                  <a:lnTo>
                    <a:pt x="259" y="116"/>
                  </a:lnTo>
                  <a:cubicBezTo>
                    <a:pt x="250" y="116"/>
                    <a:pt x="250" y="116"/>
                    <a:pt x="250" y="116"/>
                  </a:cubicBezTo>
                  <a:cubicBezTo>
                    <a:pt x="232" y="116"/>
                    <a:pt x="215" y="107"/>
                    <a:pt x="197" y="107"/>
                  </a:cubicBezTo>
                  <a:cubicBezTo>
                    <a:pt x="188" y="107"/>
                    <a:pt x="188" y="99"/>
                    <a:pt x="197" y="99"/>
                  </a:cubicBezTo>
                  <a:cubicBezTo>
                    <a:pt x="205" y="80"/>
                    <a:pt x="232" y="54"/>
                    <a:pt x="259" y="36"/>
                  </a:cubicBezTo>
                  <a:lnTo>
                    <a:pt x="259" y="36"/>
                  </a:lnTo>
                  <a:cubicBezTo>
                    <a:pt x="277" y="45"/>
                    <a:pt x="295" y="63"/>
                    <a:pt x="304" y="80"/>
                  </a:cubicBezTo>
                  <a:cubicBezTo>
                    <a:pt x="304" y="80"/>
                    <a:pt x="304" y="80"/>
                    <a:pt x="313" y="80"/>
                  </a:cubicBezTo>
                  <a:cubicBezTo>
                    <a:pt x="313" y="72"/>
                    <a:pt x="322" y="72"/>
                    <a:pt x="331" y="63"/>
                  </a:cubicBezTo>
                  <a:lnTo>
                    <a:pt x="331" y="63"/>
                  </a:lnTo>
                  <a:cubicBezTo>
                    <a:pt x="322" y="54"/>
                    <a:pt x="322" y="54"/>
                    <a:pt x="322" y="45"/>
                  </a:cubicBezTo>
                  <a:cubicBezTo>
                    <a:pt x="313" y="45"/>
                    <a:pt x="322" y="45"/>
                    <a:pt x="322" y="45"/>
                  </a:cubicBezTo>
                  <a:cubicBezTo>
                    <a:pt x="331" y="45"/>
                    <a:pt x="340" y="45"/>
                    <a:pt x="349" y="54"/>
                  </a:cubicBezTo>
                  <a:lnTo>
                    <a:pt x="349" y="54"/>
                  </a:lnTo>
                  <a:cubicBezTo>
                    <a:pt x="358" y="45"/>
                    <a:pt x="367" y="45"/>
                    <a:pt x="376" y="36"/>
                  </a:cubicBezTo>
                  <a:lnTo>
                    <a:pt x="376" y="36"/>
                  </a:lnTo>
                  <a:cubicBezTo>
                    <a:pt x="340" y="18"/>
                    <a:pt x="304" y="0"/>
                    <a:pt x="268" y="0"/>
                  </a:cubicBezTo>
                  <a:lnTo>
                    <a:pt x="268" y="0"/>
                  </a:lnTo>
                  <a:lnTo>
                    <a:pt x="259" y="0"/>
                  </a:lnTo>
                  <a:lnTo>
                    <a:pt x="259" y="0"/>
                  </a:lnTo>
                  <a:cubicBezTo>
                    <a:pt x="259" y="0"/>
                    <a:pt x="259" y="0"/>
                    <a:pt x="250" y="0"/>
                  </a:cubicBezTo>
                  <a:lnTo>
                    <a:pt x="250" y="0"/>
                  </a:lnTo>
                  <a:cubicBezTo>
                    <a:pt x="188" y="0"/>
                    <a:pt x="134" y="27"/>
                    <a:pt x="89" y="63"/>
                  </a:cubicBezTo>
                  <a:lnTo>
                    <a:pt x="89" y="63"/>
                  </a:lnTo>
                  <a:cubicBezTo>
                    <a:pt x="89" y="63"/>
                    <a:pt x="80" y="63"/>
                    <a:pt x="80" y="72"/>
                  </a:cubicBezTo>
                  <a:lnTo>
                    <a:pt x="80" y="72"/>
                  </a:lnTo>
                  <a:lnTo>
                    <a:pt x="80" y="72"/>
                  </a:lnTo>
                  <a:cubicBezTo>
                    <a:pt x="26" y="116"/>
                    <a:pt x="0" y="179"/>
                    <a:pt x="0" y="251"/>
                  </a:cubicBezTo>
                  <a:cubicBezTo>
                    <a:pt x="0" y="296"/>
                    <a:pt x="17" y="341"/>
                    <a:pt x="35" y="376"/>
                  </a:cubicBezTo>
                  <a:cubicBezTo>
                    <a:pt x="44" y="376"/>
                    <a:pt x="44" y="376"/>
                    <a:pt x="44" y="376"/>
                  </a:cubicBezTo>
                  <a:lnTo>
                    <a:pt x="53" y="367"/>
                  </a:lnTo>
                  <a:cubicBezTo>
                    <a:pt x="53" y="367"/>
                    <a:pt x="53" y="358"/>
                    <a:pt x="62" y="358"/>
                  </a:cubicBezTo>
                  <a:cubicBezTo>
                    <a:pt x="62" y="349"/>
                    <a:pt x="62" y="349"/>
                    <a:pt x="62" y="349"/>
                  </a:cubicBezTo>
                  <a:close/>
                  <a:moveTo>
                    <a:pt x="197" y="45"/>
                  </a:moveTo>
                  <a:lnTo>
                    <a:pt x="197" y="45"/>
                  </a:lnTo>
                  <a:cubicBezTo>
                    <a:pt x="188" y="63"/>
                    <a:pt x="170" y="72"/>
                    <a:pt x="161" y="90"/>
                  </a:cubicBezTo>
                  <a:cubicBezTo>
                    <a:pt x="161" y="90"/>
                    <a:pt x="161" y="90"/>
                    <a:pt x="152" y="90"/>
                  </a:cubicBezTo>
                  <a:cubicBezTo>
                    <a:pt x="143" y="90"/>
                    <a:pt x="134" y="80"/>
                    <a:pt x="125" y="80"/>
                  </a:cubicBezTo>
                  <a:lnTo>
                    <a:pt x="125" y="72"/>
                  </a:lnTo>
                  <a:cubicBezTo>
                    <a:pt x="143" y="54"/>
                    <a:pt x="170" y="45"/>
                    <a:pt x="197" y="36"/>
                  </a:cubicBezTo>
                  <a:lnTo>
                    <a:pt x="197" y="4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7" name="Freeform 573">
              <a:extLst>
                <a:ext uri="{FF2B5EF4-FFF2-40B4-BE49-F238E27FC236}">
                  <a16:creationId xmlns:a16="http://schemas.microsoft.com/office/drawing/2014/main" id="{9E022562-40ED-2D4A-8590-74A3CBEA4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11067" y="8066196"/>
              <a:ext cx="483278" cy="483278"/>
            </a:xfrm>
            <a:custGeom>
              <a:avLst/>
              <a:gdLst>
                <a:gd name="T0" fmla="*/ 448 w 449"/>
                <a:gd name="T1" fmla="*/ 9 h 449"/>
                <a:gd name="T2" fmla="*/ 439 w 449"/>
                <a:gd name="T3" fmla="*/ 0 h 449"/>
                <a:gd name="T4" fmla="*/ 206 w 449"/>
                <a:gd name="T5" fmla="*/ 143 h 449"/>
                <a:gd name="T6" fmla="*/ 90 w 449"/>
                <a:gd name="T7" fmla="*/ 206 h 449"/>
                <a:gd name="T8" fmla="*/ 45 w 449"/>
                <a:gd name="T9" fmla="*/ 242 h 449"/>
                <a:gd name="T10" fmla="*/ 45 w 449"/>
                <a:gd name="T11" fmla="*/ 260 h 449"/>
                <a:gd name="T12" fmla="*/ 135 w 449"/>
                <a:gd name="T13" fmla="*/ 251 h 449"/>
                <a:gd name="T14" fmla="*/ 135 w 449"/>
                <a:gd name="T15" fmla="*/ 269 h 449"/>
                <a:gd name="T16" fmla="*/ 99 w 449"/>
                <a:gd name="T17" fmla="*/ 278 h 449"/>
                <a:gd name="T18" fmla="*/ 36 w 449"/>
                <a:gd name="T19" fmla="*/ 358 h 449"/>
                <a:gd name="T20" fmla="*/ 36 w 449"/>
                <a:gd name="T21" fmla="*/ 448 h 449"/>
                <a:gd name="T22" fmla="*/ 162 w 449"/>
                <a:gd name="T23" fmla="*/ 376 h 449"/>
                <a:gd name="T24" fmla="*/ 180 w 449"/>
                <a:gd name="T25" fmla="*/ 323 h 449"/>
                <a:gd name="T26" fmla="*/ 188 w 449"/>
                <a:gd name="T27" fmla="*/ 313 h 449"/>
                <a:gd name="T28" fmla="*/ 188 w 449"/>
                <a:gd name="T29" fmla="*/ 403 h 449"/>
                <a:gd name="T30" fmla="*/ 197 w 449"/>
                <a:gd name="T31" fmla="*/ 412 h 449"/>
                <a:gd name="T32" fmla="*/ 251 w 449"/>
                <a:gd name="T33" fmla="*/ 376 h 449"/>
                <a:gd name="T34" fmla="*/ 287 w 449"/>
                <a:gd name="T35" fmla="*/ 269 h 449"/>
                <a:gd name="T36" fmla="*/ 448 w 449"/>
                <a:gd name="T37" fmla="*/ 27 h 449"/>
                <a:gd name="T38" fmla="*/ 448 w 449"/>
                <a:gd name="T39" fmla="*/ 9 h 449"/>
                <a:gd name="T40" fmla="*/ 135 w 449"/>
                <a:gd name="T41" fmla="*/ 233 h 449"/>
                <a:gd name="T42" fmla="*/ 99 w 449"/>
                <a:gd name="T43" fmla="*/ 224 h 449"/>
                <a:gd name="T44" fmla="*/ 135 w 449"/>
                <a:gd name="T45" fmla="*/ 233 h 449"/>
                <a:gd name="T46" fmla="*/ 144 w 449"/>
                <a:gd name="T47" fmla="*/ 349 h 449"/>
                <a:gd name="T48" fmla="*/ 90 w 449"/>
                <a:gd name="T49" fmla="*/ 394 h 449"/>
                <a:gd name="T50" fmla="*/ 63 w 449"/>
                <a:gd name="T51" fmla="*/ 367 h 449"/>
                <a:gd name="T52" fmla="*/ 108 w 449"/>
                <a:gd name="T53" fmla="*/ 313 h 449"/>
                <a:gd name="T54" fmla="*/ 126 w 449"/>
                <a:gd name="T55" fmla="*/ 313 h 449"/>
                <a:gd name="T56" fmla="*/ 117 w 449"/>
                <a:gd name="T57" fmla="*/ 331 h 449"/>
                <a:gd name="T58" fmla="*/ 144 w 449"/>
                <a:gd name="T59" fmla="*/ 323 h 449"/>
                <a:gd name="T60" fmla="*/ 233 w 449"/>
                <a:gd name="T61" fmla="*/ 358 h 449"/>
                <a:gd name="T62" fmla="*/ 215 w 449"/>
                <a:gd name="T63" fmla="*/ 376 h 449"/>
                <a:gd name="T64" fmla="*/ 251 w 449"/>
                <a:gd name="T65" fmla="*/ 296 h 449"/>
                <a:gd name="T66" fmla="*/ 287 w 449"/>
                <a:gd name="T67" fmla="*/ 242 h 449"/>
                <a:gd name="T68" fmla="*/ 206 w 449"/>
                <a:gd name="T69" fmla="*/ 305 h 449"/>
                <a:gd name="T70" fmla="*/ 242 w 449"/>
                <a:gd name="T71" fmla="*/ 233 h 449"/>
                <a:gd name="T72" fmla="*/ 224 w 449"/>
                <a:gd name="T73" fmla="*/ 215 h 449"/>
                <a:gd name="T74" fmla="*/ 153 w 449"/>
                <a:gd name="T75" fmla="*/ 242 h 449"/>
                <a:gd name="T76" fmla="*/ 421 w 449"/>
                <a:gd name="T77" fmla="*/ 27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49" h="449">
                  <a:moveTo>
                    <a:pt x="448" y="9"/>
                  </a:moveTo>
                  <a:lnTo>
                    <a:pt x="448" y="9"/>
                  </a:lnTo>
                  <a:lnTo>
                    <a:pt x="448" y="9"/>
                  </a:lnTo>
                  <a:cubicBezTo>
                    <a:pt x="448" y="0"/>
                    <a:pt x="439" y="0"/>
                    <a:pt x="439" y="0"/>
                  </a:cubicBezTo>
                  <a:cubicBezTo>
                    <a:pt x="421" y="9"/>
                    <a:pt x="421" y="9"/>
                    <a:pt x="421" y="9"/>
                  </a:cubicBezTo>
                  <a:cubicBezTo>
                    <a:pt x="332" y="36"/>
                    <a:pt x="260" y="81"/>
                    <a:pt x="206" y="143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90" y="206"/>
                    <a:pt x="90" y="206"/>
                    <a:pt x="90" y="206"/>
                  </a:cubicBezTo>
                  <a:lnTo>
                    <a:pt x="81" y="206"/>
                  </a:lnTo>
                  <a:cubicBezTo>
                    <a:pt x="45" y="242"/>
                    <a:pt x="45" y="242"/>
                    <a:pt x="45" y="242"/>
                  </a:cubicBezTo>
                  <a:cubicBezTo>
                    <a:pt x="45" y="251"/>
                    <a:pt x="45" y="251"/>
                    <a:pt x="45" y="260"/>
                  </a:cubicBezTo>
                  <a:lnTo>
                    <a:pt x="45" y="260"/>
                  </a:lnTo>
                  <a:cubicBezTo>
                    <a:pt x="45" y="260"/>
                    <a:pt x="54" y="269"/>
                    <a:pt x="54" y="260"/>
                  </a:cubicBezTo>
                  <a:cubicBezTo>
                    <a:pt x="135" y="251"/>
                    <a:pt x="135" y="251"/>
                    <a:pt x="135" y="251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35" y="269"/>
                    <a:pt x="135" y="269"/>
                    <a:pt x="135" y="269"/>
                  </a:cubicBezTo>
                  <a:cubicBezTo>
                    <a:pt x="135" y="278"/>
                    <a:pt x="135" y="278"/>
                    <a:pt x="135" y="278"/>
                  </a:cubicBezTo>
                  <a:cubicBezTo>
                    <a:pt x="126" y="278"/>
                    <a:pt x="108" y="278"/>
                    <a:pt x="99" y="278"/>
                  </a:cubicBezTo>
                  <a:cubicBezTo>
                    <a:pt x="90" y="287"/>
                    <a:pt x="81" y="287"/>
                    <a:pt x="81" y="296"/>
                  </a:cubicBezTo>
                  <a:cubicBezTo>
                    <a:pt x="72" y="305"/>
                    <a:pt x="45" y="331"/>
                    <a:pt x="36" y="358"/>
                  </a:cubicBezTo>
                  <a:cubicBezTo>
                    <a:pt x="9" y="403"/>
                    <a:pt x="0" y="421"/>
                    <a:pt x="18" y="439"/>
                  </a:cubicBezTo>
                  <a:cubicBezTo>
                    <a:pt x="18" y="439"/>
                    <a:pt x="27" y="448"/>
                    <a:pt x="36" y="448"/>
                  </a:cubicBezTo>
                  <a:cubicBezTo>
                    <a:pt x="54" y="448"/>
                    <a:pt x="72" y="439"/>
                    <a:pt x="99" y="421"/>
                  </a:cubicBezTo>
                  <a:cubicBezTo>
                    <a:pt x="126" y="403"/>
                    <a:pt x="153" y="385"/>
                    <a:pt x="162" y="376"/>
                  </a:cubicBezTo>
                  <a:cubicBezTo>
                    <a:pt x="170" y="367"/>
                    <a:pt x="170" y="367"/>
                    <a:pt x="170" y="358"/>
                  </a:cubicBezTo>
                  <a:cubicBezTo>
                    <a:pt x="180" y="349"/>
                    <a:pt x="180" y="331"/>
                    <a:pt x="180" y="323"/>
                  </a:cubicBezTo>
                  <a:lnTo>
                    <a:pt x="180" y="323"/>
                  </a:lnTo>
                  <a:cubicBezTo>
                    <a:pt x="188" y="313"/>
                    <a:pt x="188" y="313"/>
                    <a:pt x="188" y="313"/>
                  </a:cubicBezTo>
                  <a:cubicBezTo>
                    <a:pt x="197" y="323"/>
                    <a:pt x="197" y="323"/>
                    <a:pt x="197" y="323"/>
                  </a:cubicBezTo>
                  <a:cubicBezTo>
                    <a:pt x="188" y="403"/>
                    <a:pt x="188" y="403"/>
                    <a:pt x="188" y="403"/>
                  </a:cubicBezTo>
                  <a:lnTo>
                    <a:pt x="197" y="412"/>
                  </a:lnTo>
                  <a:lnTo>
                    <a:pt x="197" y="412"/>
                  </a:lnTo>
                  <a:cubicBezTo>
                    <a:pt x="206" y="412"/>
                    <a:pt x="206" y="412"/>
                    <a:pt x="206" y="412"/>
                  </a:cubicBezTo>
                  <a:cubicBezTo>
                    <a:pt x="251" y="376"/>
                    <a:pt x="251" y="376"/>
                    <a:pt x="251" y="376"/>
                  </a:cubicBezTo>
                  <a:lnTo>
                    <a:pt x="251" y="367"/>
                  </a:lnTo>
                  <a:cubicBezTo>
                    <a:pt x="287" y="269"/>
                    <a:pt x="287" y="269"/>
                    <a:pt x="287" y="269"/>
                  </a:cubicBezTo>
                  <a:cubicBezTo>
                    <a:pt x="296" y="260"/>
                    <a:pt x="296" y="260"/>
                    <a:pt x="296" y="260"/>
                  </a:cubicBezTo>
                  <a:cubicBezTo>
                    <a:pt x="368" y="197"/>
                    <a:pt x="421" y="116"/>
                    <a:pt x="448" y="27"/>
                  </a:cubicBezTo>
                  <a:cubicBezTo>
                    <a:pt x="448" y="18"/>
                    <a:pt x="448" y="18"/>
                    <a:pt x="448" y="18"/>
                  </a:cubicBezTo>
                  <a:lnTo>
                    <a:pt x="448" y="9"/>
                  </a:lnTo>
                  <a:close/>
                  <a:moveTo>
                    <a:pt x="135" y="233"/>
                  </a:moveTo>
                  <a:lnTo>
                    <a:pt x="135" y="233"/>
                  </a:lnTo>
                  <a:cubicBezTo>
                    <a:pt x="81" y="242"/>
                    <a:pt x="81" y="242"/>
                    <a:pt x="81" y="242"/>
                  </a:cubicBezTo>
                  <a:cubicBezTo>
                    <a:pt x="99" y="224"/>
                    <a:pt x="99" y="224"/>
                    <a:pt x="99" y="224"/>
                  </a:cubicBezTo>
                  <a:cubicBezTo>
                    <a:pt x="162" y="206"/>
                    <a:pt x="162" y="206"/>
                    <a:pt x="162" y="206"/>
                  </a:cubicBezTo>
                  <a:lnTo>
                    <a:pt x="135" y="233"/>
                  </a:lnTo>
                  <a:close/>
                  <a:moveTo>
                    <a:pt x="144" y="349"/>
                  </a:moveTo>
                  <a:lnTo>
                    <a:pt x="144" y="349"/>
                  </a:lnTo>
                  <a:cubicBezTo>
                    <a:pt x="144" y="349"/>
                    <a:pt x="144" y="349"/>
                    <a:pt x="135" y="358"/>
                  </a:cubicBezTo>
                  <a:cubicBezTo>
                    <a:pt x="135" y="358"/>
                    <a:pt x="108" y="376"/>
                    <a:pt x="90" y="394"/>
                  </a:cubicBezTo>
                  <a:cubicBezTo>
                    <a:pt x="63" y="412"/>
                    <a:pt x="45" y="412"/>
                    <a:pt x="36" y="412"/>
                  </a:cubicBezTo>
                  <a:cubicBezTo>
                    <a:pt x="45" y="412"/>
                    <a:pt x="45" y="394"/>
                    <a:pt x="63" y="367"/>
                  </a:cubicBezTo>
                  <a:cubicBezTo>
                    <a:pt x="81" y="349"/>
                    <a:pt x="90" y="323"/>
                    <a:pt x="99" y="313"/>
                  </a:cubicBezTo>
                  <a:cubicBezTo>
                    <a:pt x="108" y="313"/>
                    <a:pt x="108" y="313"/>
                    <a:pt x="108" y="313"/>
                  </a:cubicBezTo>
                  <a:cubicBezTo>
                    <a:pt x="117" y="313"/>
                    <a:pt x="117" y="313"/>
                    <a:pt x="117" y="313"/>
                  </a:cubicBezTo>
                  <a:cubicBezTo>
                    <a:pt x="126" y="313"/>
                    <a:pt x="126" y="313"/>
                    <a:pt x="126" y="313"/>
                  </a:cubicBezTo>
                  <a:cubicBezTo>
                    <a:pt x="117" y="323"/>
                    <a:pt x="117" y="323"/>
                    <a:pt x="117" y="323"/>
                  </a:cubicBezTo>
                  <a:lnTo>
                    <a:pt x="117" y="331"/>
                  </a:lnTo>
                  <a:cubicBezTo>
                    <a:pt x="126" y="340"/>
                    <a:pt x="135" y="340"/>
                    <a:pt x="135" y="331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31"/>
                    <a:pt x="144" y="340"/>
                    <a:pt x="144" y="349"/>
                  </a:cubicBezTo>
                  <a:close/>
                  <a:moveTo>
                    <a:pt x="233" y="358"/>
                  </a:moveTo>
                  <a:lnTo>
                    <a:pt x="233" y="358"/>
                  </a:lnTo>
                  <a:cubicBezTo>
                    <a:pt x="215" y="376"/>
                    <a:pt x="215" y="376"/>
                    <a:pt x="215" y="376"/>
                  </a:cubicBezTo>
                  <a:cubicBezTo>
                    <a:pt x="224" y="313"/>
                    <a:pt x="224" y="313"/>
                    <a:pt x="224" y="313"/>
                  </a:cubicBezTo>
                  <a:cubicBezTo>
                    <a:pt x="251" y="296"/>
                    <a:pt x="251" y="296"/>
                    <a:pt x="251" y="296"/>
                  </a:cubicBezTo>
                  <a:lnTo>
                    <a:pt x="233" y="358"/>
                  </a:lnTo>
                  <a:close/>
                  <a:moveTo>
                    <a:pt x="287" y="242"/>
                  </a:moveTo>
                  <a:lnTo>
                    <a:pt x="287" y="242"/>
                  </a:lnTo>
                  <a:cubicBezTo>
                    <a:pt x="206" y="305"/>
                    <a:pt x="206" y="305"/>
                    <a:pt x="206" y="305"/>
                  </a:cubicBezTo>
                  <a:cubicBezTo>
                    <a:pt x="188" y="278"/>
                    <a:pt x="188" y="278"/>
                    <a:pt x="188" y="278"/>
                  </a:cubicBezTo>
                  <a:cubicBezTo>
                    <a:pt x="242" y="233"/>
                    <a:pt x="242" y="233"/>
                    <a:pt x="242" y="233"/>
                  </a:cubicBezTo>
                  <a:cubicBezTo>
                    <a:pt x="242" y="224"/>
                    <a:pt x="242" y="224"/>
                    <a:pt x="242" y="215"/>
                  </a:cubicBezTo>
                  <a:cubicBezTo>
                    <a:pt x="233" y="215"/>
                    <a:pt x="224" y="215"/>
                    <a:pt x="224" y="215"/>
                  </a:cubicBezTo>
                  <a:cubicBezTo>
                    <a:pt x="170" y="269"/>
                    <a:pt x="170" y="269"/>
                    <a:pt x="170" y="269"/>
                  </a:cubicBezTo>
                  <a:cubicBezTo>
                    <a:pt x="153" y="242"/>
                    <a:pt x="153" y="242"/>
                    <a:pt x="153" y="242"/>
                  </a:cubicBezTo>
                  <a:cubicBezTo>
                    <a:pt x="224" y="161"/>
                    <a:pt x="224" y="161"/>
                    <a:pt x="224" y="161"/>
                  </a:cubicBezTo>
                  <a:cubicBezTo>
                    <a:pt x="269" y="98"/>
                    <a:pt x="341" y="62"/>
                    <a:pt x="421" y="27"/>
                  </a:cubicBezTo>
                  <a:cubicBezTo>
                    <a:pt x="395" y="116"/>
                    <a:pt x="350" y="188"/>
                    <a:pt x="287" y="24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8" name="Freeform 574">
              <a:extLst>
                <a:ext uri="{FF2B5EF4-FFF2-40B4-BE49-F238E27FC236}">
                  <a16:creationId xmlns:a16="http://schemas.microsoft.com/office/drawing/2014/main" id="{407BE5C2-60B2-D948-B85B-A8DBB131B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7988" y="8151480"/>
              <a:ext cx="80548" cy="75808"/>
            </a:xfrm>
            <a:custGeom>
              <a:avLst/>
              <a:gdLst>
                <a:gd name="T0" fmla="*/ 63 w 73"/>
                <a:gd name="T1" fmla="*/ 53 h 72"/>
                <a:gd name="T2" fmla="*/ 63 w 73"/>
                <a:gd name="T3" fmla="*/ 53 h 72"/>
                <a:gd name="T4" fmla="*/ 63 w 73"/>
                <a:gd name="T5" fmla="*/ 8 h 72"/>
                <a:gd name="T6" fmla="*/ 18 w 73"/>
                <a:gd name="T7" fmla="*/ 8 h 72"/>
                <a:gd name="T8" fmla="*/ 18 w 73"/>
                <a:gd name="T9" fmla="*/ 53 h 72"/>
                <a:gd name="T10" fmla="*/ 63 w 73"/>
                <a:gd name="T11" fmla="*/ 53 h 72"/>
                <a:gd name="T12" fmla="*/ 27 w 73"/>
                <a:gd name="T13" fmla="*/ 27 h 72"/>
                <a:gd name="T14" fmla="*/ 27 w 73"/>
                <a:gd name="T15" fmla="*/ 27 h 72"/>
                <a:gd name="T16" fmla="*/ 45 w 73"/>
                <a:gd name="T17" fmla="*/ 27 h 72"/>
                <a:gd name="T18" fmla="*/ 45 w 73"/>
                <a:gd name="T19" fmla="*/ 35 h 72"/>
                <a:gd name="T20" fmla="*/ 27 w 73"/>
                <a:gd name="T21" fmla="*/ 35 h 72"/>
                <a:gd name="T22" fmla="*/ 27 w 73"/>
                <a:gd name="T23" fmla="*/ 27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72">
                  <a:moveTo>
                    <a:pt x="63" y="53"/>
                  </a:moveTo>
                  <a:lnTo>
                    <a:pt x="63" y="53"/>
                  </a:lnTo>
                  <a:cubicBezTo>
                    <a:pt x="72" y="44"/>
                    <a:pt x="72" y="17"/>
                    <a:pt x="63" y="8"/>
                  </a:cubicBezTo>
                  <a:cubicBezTo>
                    <a:pt x="45" y="0"/>
                    <a:pt x="27" y="0"/>
                    <a:pt x="18" y="8"/>
                  </a:cubicBezTo>
                  <a:cubicBezTo>
                    <a:pt x="0" y="17"/>
                    <a:pt x="0" y="44"/>
                    <a:pt x="18" y="53"/>
                  </a:cubicBezTo>
                  <a:cubicBezTo>
                    <a:pt x="27" y="71"/>
                    <a:pt x="45" y="71"/>
                    <a:pt x="63" y="53"/>
                  </a:cubicBezTo>
                  <a:close/>
                  <a:moveTo>
                    <a:pt x="27" y="27"/>
                  </a:moveTo>
                  <a:lnTo>
                    <a:pt x="27" y="27"/>
                  </a:lnTo>
                  <a:cubicBezTo>
                    <a:pt x="36" y="17"/>
                    <a:pt x="45" y="17"/>
                    <a:pt x="45" y="27"/>
                  </a:cubicBezTo>
                  <a:lnTo>
                    <a:pt x="45" y="35"/>
                  </a:lnTo>
                  <a:cubicBezTo>
                    <a:pt x="45" y="44"/>
                    <a:pt x="36" y="44"/>
                    <a:pt x="27" y="35"/>
                  </a:cubicBezTo>
                  <a:lnTo>
                    <a:pt x="27" y="2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789D3E5D-49D2-594F-83EE-1E7477E99012}"/>
              </a:ext>
            </a:extLst>
          </p:cNvPr>
          <p:cNvGrpSpPr/>
          <p:nvPr/>
        </p:nvGrpSpPr>
        <p:grpSpPr>
          <a:xfrm>
            <a:off x="3037586" y="3984472"/>
            <a:ext cx="665692" cy="665691"/>
            <a:chOff x="4266860" y="7649251"/>
            <a:chExt cx="1331384" cy="1331381"/>
          </a:xfrm>
        </p:grpSpPr>
        <p:sp>
          <p:nvSpPr>
            <p:cNvPr id="50" name="Freeform 559">
              <a:extLst>
                <a:ext uri="{FF2B5EF4-FFF2-40B4-BE49-F238E27FC236}">
                  <a16:creationId xmlns:a16="http://schemas.microsoft.com/office/drawing/2014/main" id="{F2107470-240A-3A40-9BD8-435161DE3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860" y="7649251"/>
              <a:ext cx="1331384" cy="1331381"/>
            </a:xfrm>
            <a:custGeom>
              <a:avLst/>
              <a:gdLst>
                <a:gd name="T0" fmla="*/ 1236 w 1237"/>
                <a:gd name="T1" fmla="*/ 618 h 1237"/>
                <a:gd name="T2" fmla="*/ 1236 w 1237"/>
                <a:gd name="T3" fmla="*/ 618 h 1237"/>
                <a:gd name="T4" fmla="*/ 618 w 1237"/>
                <a:gd name="T5" fmla="*/ 1236 h 1237"/>
                <a:gd name="T6" fmla="*/ 0 w 1237"/>
                <a:gd name="T7" fmla="*/ 618 h 1237"/>
                <a:gd name="T8" fmla="*/ 618 w 1237"/>
                <a:gd name="T9" fmla="*/ 0 h 1237"/>
                <a:gd name="T10" fmla="*/ 1236 w 1237"/>
                <a:gd name="T11" fmla="*/ 618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7" h="1237">
                  <a:moveTo>
                    <a:pt x="1236" y="618"/>
                  </a:moveTo>
                  <a:lnTo>
                    <a:pt x="1236" y="618"/>
                  </a:lnTo>
                  <a:cubicBezTo>
                    <a:pt x="1236" y="958"/>
                    <a:pt x="959" y="1236"/>
                    <a:pt x="618" y="1236"/>
                  </a:cubicBezTo>
                  <a:cubicBezTo>
                    <a:pt x="277" y="1236"/>
                    <a:pt x="0" y="958"/>
                    <a:pt x="0" y="618"/>
                  </a:cubicBezTo>
                  <a:cubicBezTo>
                    <a:pt x="0" y="277"/>
                    <a:pt x="277" y="0"/>
                    <a:pt x="618" y="0"/>
                  </a:cubicBezTo>
                  <a:cubicBezTo>
                    <a:pt x="959" y="0"/>
                    <a:pt x="1236" y="277"/>
                    <a:pt x="1236" y="61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51" name="Freeform 575">
              <a:extLst>
                <a:ext uri="{FF2B5EF4-FFF2-40B4-BE49-F238E27FC236}">
                  <a16:creationId xmlns:a16="http://schemas.microsoft.com/office/drawing/2014/main" id="{0AC27E67-356B-204F-9107-BF2450DE0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0641" y="8033029"/>
              <a:ext cx="165829" cy="559086"/>
            </a:xfrm>
            <a:custGeom>
              <a:avLst/>
              <a:gdLst>
                <a:gd name="T0" fmla="*/ 9 w 153"/>
                <a:gd name="T1" fmla="*/ 520 h 521"/>
                <a:gd name="T2" fmla="*/ 9 w 153"/>
                <a:gd name="T3" fmla="*/ 520 h 521"/>
                <a:gd name="T4" fmla="*/ 9 w 153"/>
                <a:gd name="T5" fmla="*/ 520 h 521"/>
                <a:gd name="T6" fmla="*/ 0 w 153"/>
                <a:gd name="T7" fmla="*/ 511 h 521"/>
                <a:gd name="T8" fmla="*/ 0 w 153"/>
                <a:gd name="T9" fmla="*/ 9 h 521"/>
                <a:gd name="T10" fmla="*/ 9 w 153"/>
                <a:gd name="T11" fmla="*/ 0 h 521"/>
                <a:gd name="T12" fmla="*/ 27 w 153"/>
                <a:gd name="T13" fmla="*/ 9 h 521"/>
                <a:gd name="T14" fmla="*/ 27 w 153"/>
                <a:gd name="T15" fmla="*/ 484 h 521"/>
                <a:gd name="T16" fmla="*/ 126 w 153"/>
                <a:gd name="T17" fmla="*/ 376 h 521"/>
                <a:gd name="T18" fmla="*/ 143 w 153"/>
                <a:gd name="T19" fmla="*/ 376 h 521"/>
                <a:gd name="T20" fmla="*/ 143 w 153"/>
                <a:gd name="T21" fmla="*/ 394 h 521"/>
                <a:gd name="T22" fmla="*/ 18 w 153"/>
                <a:gd name="T23" fmla="*/ 520 h 521"/>
                <a:gd name="T24" fmla="*/ 9 w 153"/>
                <a:gd name="T25" fmla="*/ 52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" h="521">
                  <a:moveTo>
                    <a:pt x="9" y="520"/>
                  </a:moveTo>
                  <a:lnTo>
                    <a:pt x="9" y="520"/>
                  </a:lnTo>
                  <a:lnTo>
                    <a:pt x="9" y="520"/>
                  </a:lnTo>
                  <a:cubicBezTo>
                    <a:pt x="0" y="520"/>
                    <a:pt x="0" y="511"/>
                    <a:pt x="0" y="51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9" y="0"/>
                  </a:cubicBezTo>
                  <a:cubicBezTo>
                    <a:pt x="18" y="0"/>
                    <a:pt x="27" y="0"/>
                    <a:pt x="27" y="9"/>
                  </a:cubicBezTo>
                  <a:cubicBezTo>
                    <a:pt x="27" y="484"/>
                    <a:pt x="27" y="484"/>
                    <a:pt x="27" y="484"/>
                  </a:cubicBezTo>
                  <a:cubicBezTo>
                    <a:pt x="126" y="376"/>
                    <a:pt x="126" y="376"/>
                    <a:pt x="126" y="376"/>
                  </a:cubicBezTo>
                  <a:cubicBezTo>
                    <a:pt x="135" y="367"/>
                    <a:pt x="143" y="367"/>
                    <a:pt x="143" y="376"/>
                  </a:cubicBezTo>
                  <a:cubicBezTo>
                    <a:pt x="152" y="376"/>
                    <a:pt x="152" y="385"/>
                    <a:pt x="143" y="394"/>
                  </a:cubicBezTo>
                  <a:cubicBezTo>
                    <a:pt x="18" y="520"/>
                    <a:pt x="18" y="520"/>
                    <a:pt x="18" y="520"/>
                  </a:cubicBezTo>
                  <a:cubicBezTo>
                    <a:pt x="18" y="520"/>
                    <a:pt x="18" y="520"/>
                    <a:pt x="9" y="520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52" name="Freeform 576">
              <a:extLst>
                <a:ext uri="{FF2B5EF4-FFF2-40B4-BE49-F238E27FC236}">
                  <a16:creationId xmlns:a16="http://schemas.microsoft.com/office/drawing/2014/main" id="{C5215651-7BEF-6F44-AD9B-45256231F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9638" y="8056720"/>
              <a:ext cx="336398" cy="336398"/>
            </a:xfrm>
            <a:custGeom>
              <a:avLst/>
              <a:gdLst>
                <a:gd name="T0" fmla="*/ 314 w 315"/>
                <a:gd name="T1" fmla="*/ 0 h 315"/>
                <a:gd name="T2" fmla="*/ 305 w 315"/>
                <a:gd name="T3" fmla="*/ 0 h 315"/>
                <a:gd name="T4" fmla="*/ 144 w 315"/>
                <a:gd name="T5" fmla="*/ 98 h 315"/>
                <a:gd name="T6" fmla="*/ 54 w 315"/>
                <a:gd name="T7" fmla="*/ 143 h 315"/>
                <a:gd name="T8" fmla="*/ 27 w 315"/>
                <a:gd name="T9" fmla="*/ 170 h 315"/>
                <a:gd name="T10" fmla="*/ 27 w 315"/>
                <a:gd name="T11" fmla="*/ 179 h 315"/>
                <a:gd name="T12" fmla="*/ 90 w 315"/>
                <a:gd name="T13" fmla="*/ 179 h 315"/>
                <a:gd name="T14" fmla="*/ 90 w 315"/>
                <a:gd name="T15" fmla="*/ 188 h 315"/>
                <a:gd name="T16" fmla="*/ 63 w 315"/>
                <a:gd name="T17" fmla="*/ 197 h 315"/>
                <a:gd name="T18" fmla="*/ 18 w 315"/>
                <a:gd name="T19" fmla="*/ 251 h 315"/>
                <a:gd name="T20" fmla="*/ 18 w 315"/>
                <a:gd name="T21" fmla="*/ 314 h 315"/>
                <a:gd name="T22" fmla="*/ 108 w 315"/>
                <a:gd name="T23" fmla="*/ 269 h 315"/>
                <a:gd name="T24" fmla="*/ 117 w 315"/>
                <a:gd name="T25" fmla="*/ 224 h 315"/>
                <a:gd name="T26" fmla="*/ 135 w 315"/>
                <a:gd name="T27" fmla="*/ 215 h 315"/>
                <a:gd name="T28" fmla="*/ 135 w 315"/>
                <a:gd name="T29" fmla="*/ 278 h 315"/>
                <a:gd name="T30" fmla="*/ 135 w 315"/>
                <a:gd name="T31" fmla="*/ 287 h 315"/>
                <a:gd name="T32" fmla="*/ 170 w 315"/>
                <a:gd name="T33" fmla="*/ 260 h 315"/>
                <a:gd name="T34" fmla="*/ 197 w 315"/>
                <a:gd name="T35" fmla="*/ 188 h 315"/>
                <a:gd name="T36" fmla="*/ 314 w 315"/>
                <a:gd name="T37" fmla="*/ 9 h 315"/>
                <a:gd name="T38" fmla="*/ 314 w 315"/>
                <a:gd name="T39" fmla="*/ 0 h 315"/>
                <a:gd name="T40" fmla="*/ 90 w 315"/>
                <a:gd name="T41" fmla="*/ 161 h 315"/>
                <a:gd name="T42" fmla="*/ 63 w 315"/>
                <a:gd name="T43" fmla="*/ 152 h 315"/>
                <a:gd name="T44" fmla="*/ 90 w 315"/>
                <a:gd name="T45" fmla="*/ 161 h 315"/>
                <a:gd name="T46" fmla="*/ 99 w 315"/>
                <a:gd name="T47" fmla="*/ 242 h 315"/>
                <a:gd name="T48" fmla="*/ 54 w 315"/>
                <a:gd name="T49" fmla="*/ 278 h 315"/>
                <a:gd name="T50" fmla="*/ 36 w 315"/>
                <a:gd name="T51" fmla="*/ 260 h 315"/>
                <a:gd name="T52" fmla="*/ 72 w 315"/>
                <a:gd name="T53" fmla="*/ 215 h 315"/>
                <a:gd name="T54" fmla="*/ 90 w 315"/>
                <a:gd name="T55" fmla="*/ 215 h 315"/>
                <a:gd name="T56" fmla="*/ 81 w 315"/>
                <a:gd name="T57" fmla="*/ 233 h 315"/>
                <a:gd name="T58" fmla="*/ 99 w 315"/>
                <a:gd name="T59" fmla="*/ 224 h 315"/>
                <a:gd name="T60" fmla="*/ 162 w 315"/>
                <a:gd name="T61" fmla="*/ 251 h 315"/>
                <a:gd name="T62" fmla="*/ 153 w 315"/>
                <a:gd name="T63" fmla="*/ 260 h 315"/>
                <a:gd name="T64" fmla="*/ 179 w 315"/>
                <a:gd name="T65" fmla="*/ 206 h 315"/>
                <a:gd name="T66" fmla="*/ 197 w 315"/>
                <a:gd name="T67" fmla="*/ 170 h 315"/>
                <a:gd name="T68" fmla="*/ 144 w 315"/>
                <a:gd name="T69" fmla="*/ 206 h 315"/>
                <a:gd name="T70" fmla="*/ 162 w 315"/>
                <a:gd name="T71" fmla="*/ 161 h 315"/>
                <a:gd name="T72" fmla="*/ 153 w 315"/>
                <a:gd name="T73" fmla="*/ 152 h 315"/>
                <a:gd name="T74" fmla="*/ 99 w 315"/>
                <a:gd name="T75" fmla="*/ 170 h 315"/>
                <a:gd name="T76" fmla="*/ 296 w 315"/>
                <a:gd name="T77" fmla="*/ 18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5" h="315">
                  <a:moveTo>
                    <a:pt x="314" y="0"/>
                  </a:moveTo>
                  <a:lnTo>
                    <a:pt x="314" y="0"/>
                  </a:lnTo>
                  <a:lnTo>
                    <a:pt x="314" y="0"/>
                  </a:lnTo>
                  <a:lnTo>
                    <a:pt x="305" y="0"/>
                  </a:lnTo>
                  <a:cubicBezTo>
                    <a:pt x="296" y="0"/>
                    <a:pt x="296" y="0"/>
                    <a:pt x="296" y="0"/>
                  </a:cubicBezTo>
                  <a:cubicBezTo>
                    <a:pt x="233" y="18"/>
                    <a:pt x="179" y="54"/>
                    <a:pt x="144" y="98"/>
                  </a:cubicBezTo>
                  <a:cubicBezTo>
                    <a:pt x="126" y="117"/>
                    <a:pt x="126" y="117"/>
                    <a:pt x="126" y="117"/>
                  </a:cubicBezTo>
                  <a:cubicBezTo>
                    <a:pt x="54" y="143"/>
                    <a:pt x="54" y="143"/>
                    <a:pt x="54" y="143"/>
                  </a:cubicBezTo>
                  <a:lnTo>
                    <a:pt x="54" y="143"/>
                  </a:lnTo>
                  <a:cubicBezTo>
                    <a:pt x="27" y="170"/>
                    <a:pt x="27" y="170"/>
                    <a:pt x="27" y="170"/>
                  </a:cubicBezTo>
                  <a:lnTo>
                    <a:pt x="27" y="179"/>
                  </a:lnTo>
                  <a:lnTo>
                    <a:pt x="27" y="179"/>
                  </a:lnTo>
                  <a:cubicBezTo>
                    <a:pt x="27" y="179"/>
                    <a:pt x="27" y="179"/>
                    <a:pt x="36" y="179"/>
                  </a:cubicBezTo>
                  <a:cubicBezTo>
                    <a:pt x="90" y="179"/>
                    <a:pt x="90" y="179"/>
                    <a:pt x="90" y="179"/>
                  </a:cubicBezTo>
                  <a:cubicBezTo>
                    <a:pt x="99" y="179"/>
                    <a:pt x="99" y="179"/>
                    <a:pt x="99" y="179"/>
                  </a:cubicBezTo>
                  <a:cubicBezTo>
                    <a:pt x="90" y="188"/>
                    <a:pt x="90" y="188"/>
                    <a:pt x="90" y="188"/>
                  </a:cubicBezTo>
                  <a:cubicBezTo>
                    <a:pt x="90" y="188"/>
                    <a:pt x="90" y="188"/>
                    <a:pt x="90" y="197"/>
                  </a:cubicBezTo>
                  <a:cubicBezTo>
                    <a:pt x="81" y="197"/>
                    <a:pt x="72" y="197"/>
                    <a:pt x="63" y="197"/>
                  </a:cubicBezTo>
                  <a:lnTo>
                    <a:pt x="54" y="206"/>
                  </a:lnTo>
                  <a:cubicBezTo>
                    <a:pt x="45" y="215"/>
                    <a:pt x="27" y="233"/>
                    <a:pt x="18" y="251"/>
                  </a:cubicBezTo>
                  <a:cubicBezTo>
                    <a:pt x="0" y="278"/>
                    <a:pt x="0" y="296"/>
                    <a:pt x="9" y="305"/>
                  </a:cubicBezTo>
                  <a:cubicBezTo>
                    <a:pt x="9" y="314"/>
                    <a:pt x="18" y="314"/>
                    <a:pt x="18" y="314"/>
                  </a:cubicBezTo>
                  <a:cubicBezTo>
                    <a:pt x="27" y="314"/>
                    <a:pt x="45" y="305"/>
                    <a:pt x="63" y="296"/>
                  </a:cubicBezTo>
                  <a:cubicBezTo>
                    <a:pt x="81" y="287"/>
                    <a:pt x="99" y="269"/>
                    <a:pt x="108" y="269"/>
                  </a:cubicBezTo>
                  <a:cubicBezTo>
                    <a:pt x="117" y="260"/>
                    <a:pt x="117" y="251"/>
                    <a:pt x="117" y="251"/>
                  </a:cubicBezTo>
                  <a:cubicBezTo>
                    <a:pt x="126" y="242"/>
                    <a:pt x="126" y="233"/>
                    <a:pt x="117" y="224"/>
                  </a:cubicBezTo>
                  <a:cubicBezTo>
                    <a:pt x="126" y="224"/>
                    <a:pt x="126" y="224"/>
                    <a:pt x="126" y="224"/>
                  </a:cubicBezTo>
                  <a:cubicBezTo>
                    <a:pt x="135" y="215"/>
                    <a:pt x="135" y="215"/>
                    <a:pt x="135" y="215"/>
                  </a:cubicBezTo>
                  <a:cubicBezTo>
                    <a:pt x="135" y="224"/>
                    <a:pt x="135" y="224"/>
                    <a:pt x="135" y="224"/>
                  </a:cubicBezTo>
                  <a:cubicBezTo>
                    <a:pt x="135" y="278"/>
                    <a:pt x="135" y="278"/>
                    <a:pt x="135" y="278"/>
                  </a:cubicBezTo>
                  <a:cubicBezTo>
                    <a:pt x="135" y="287"/>
                    <a:pt x="135" y="287"/>
                    <a:pt x="135" y="287"/>
                  </a:cubicBezTo>
                  <a:lnTo>
                    <a:pt x="135" y="287"/>
                  </a:lnTo>
                  <a:cubicBezTo>
                    <a:pt x="135" y="296"/>
                    <a:pt x="144" y="287"/>
                    <a:pt x="144" y="287"/>
                  </a:cubicBezTo>
                  <a:cubicBezTo>
                    <a:pt x="170" y="260"/>
                    <a:pt x="170" y="260"/>
                    <a:pt x="170" y="260"/>
                  </a:cubicBezTo>
                  <a:lnTo>
                    <a:pt x="170" y="260"/>
                  </a:lnTo>
                  <a:cubicBezTo>
                    <a:pt x="197" y="188"/>
                    <a:pt x="197" y="188"/>
                    <a:pt x="197" y="188"/>
                  </a:cubicBezTo>
                  <a:cubicBezTo>
                    <a:pt x="206" y="179"/>
                    <a:pt x="206" y="179"/>
                    <a:pt x="206" y="179"/>
                  </a:cubicBezTo>
                  <a:cubicBezTo>
                    <a:pt x="260" y="134"/>
                    <a:pt x="296" y="81"/>
                    <a:pt x="314" y="9"/>
                  </a:cubicBezTo>
                  <a:lnTo>
                    <a:pt x="314" y="9"/>
                  </a:lnTo>
                  <a:cubicBezTo>
                    <a:pt x="314" y="0"/>
                    <a:pt x="314" y="0"/>
                    <a:pt x="314" y="0"/>
                  </a:cubicBezTo>
                  <a:close/>
                  <a:moveTo>
                    <a:pt x="90" y="161"/>
                  </a:moveTo>
                  <a:lnTo>
                    <a:pt x="90" y="161"/>
                  </a:lnTo>
                  <a:cubicBezTo>
                    <a:pt x="54" y="161"/>
                    <a:pt x="54" y="161"/>
                    <a:pt x="54" y="161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108" y="143"/>
                    <a:pt x="108" y="143"/>
                    <a:pt x="108" y="143"/>
                  </a:cubicBezTo>
                  <a:lnTo>
                    <a:pt x="90" y="161"/>
                  </a:lnTo>
                  <a:close/>
                  <a:moveTo>
                    <a:pt x="99" y="242"/>
                  </a:moveTo>
                  <a:lnTo>
                    <a:pt x="99" y="242"/>
                  </a:lnTo>
                  <a:cubicBezTo>
                    <a:pt x="99" y="242"/>
                    <a:pt x="99" y="251"/>
                    <a:pt x="90" y="251"/>
                  </a:cubicBezTo>
                  <a:cubicBezTo>
                    <a:pt x="90" y="251"/>
                    <a:pt x="72" y="269"/>
                    <a:pt x="54" y="278"/>
                  </a:cubicBezTo>
                  <a:cubicBezTo>
                    <a:pt x="36" y="287"/>
                    <a:pt x="27" y="287"/>
                    <a:pt x="27" y="287"/>
                  </a:cubicBezTo>
                  <a:cubicBezTo>
                    <a:pt x="27" y="287"/>
                    <a:pt x="27" y="278"/>
                    <a:pt x="36" y="260"/>
                  </a:cubicBezTo>
                  <a:cubicBezTo>
                    <a:pt x="45" y="242"/>
                    <a:pt x="63" y="224"/>
                    <a:pt x="63" y="224"/>
                  </a:cubicBezTo>
                  <a:cubicBezTo>
                    <a:pt x="72" y="224"/>
                    <a:pt x="72" y="215"/>
                    <a:pt x="72" y="215"/>
                  </a:cubicBezTo>
                  <a:lnTo>
                    <a:pt x="81" y="215"/>
                  </a:lnTo>
                  <a:cubicBezTo>
                    <a:pt x="81" y="215"/>
                    <a:pt x="81" y="215"/>
                    <a:pt x="90" y="215"/>
                  </a:cubicBezTo>
                  <a:cubicBezTo>
                    <a:pt x="81" y="224"/>
                    <a:pt x="81" y="224"/>
                    <a:pt x="81" y="224"/>
                  </a:cubicBezTo>
                  <a:lnTo>
                    <a:pt x="81" y="233"/>
                  </a:lnTo>
                  <a:lnTo>
                    <a:pt x="90" y="233"/>
                  </a:lnTo>
                  <a:cubicBezTo>
                    <a:pt x="99" y="224"/>
                    <a:pt x="99" y="224"/>
                    <a:pt x="99" y="224"/>
                  </a:cubicBezTo>
                  <a:cubicBezTo>
                    <a:pt x="99" y="233"/>
                    <a:pt x="99" y="233"/>
                    <a:pt x="99" y="242"/>
                  </a:cubicBezTo>
                  <a:close/>
                  <a:moveTo>
                    <a:pt x="162" y="251"/>
                  </a:moveTo>
                  <a:lnTo>
                    <a:pt x="162" y="251"/>
                  </a:lnTo>
                  <a:cubicBezTo>
                    <a:pt x="153" y="260"/>
                    <a:pt x="153" y="260"/>
                    <a:pt x="153" y="260"/>
                  </a:cubicBezTo>
                  <a:cubicBezTo>
                    <a:pt x="153" y="224"/>
                    <a:pt x="153" y="224"/>
                    <a:pt x="153" y="224"/>
                  </a:cubicBezTo>
                  <a:cubicBezTo>
                    <a:pt x="179" y="206"/>
                    <a:pt x="179" y="206"/>
                    <a:pt x="179" y="206"/>
                  </a:cubicBezTo>
                  <a:lnTo>
                    <a:pt x="162" y="251"/>
                  </a:lnTo>
                  <a:close/>
                  <a:moveTo>
                    <a:pt x="197" y="170"/>
                  </a:moveTo>
                  <a:lnTo>
                    <a:pt x="197" y="170"/>
                  </a:lnTo>
                  <a:cubicBezTo>
                    <a:pt x="144" y="206"/>
                    <a:pt x="144" y="206"/>
                    <a:pt x="144" y="206"/>
                  </a:cubicBezTo>
                  <a:cubicBezTo>
                    <a:pt x="126" y="197"/>
                    <a:pt x="126" y="197"/>
                    <a:pt x="126" y="197"/>
                  </a:cubicBezTo>
                  <a:cubicBezTo>
                    <a:pt x="162" y="161"/>
                    <a:pt x="162" y="161"/>
                    <a:pt x="162" y="161"/>
                  </a:cubicBezTo>
                  <a:cubicBezTo>
                    <a:pt x="170" y="161"/>
                    <a:pt x="170" y="152"/>
                    <a:pt x="162" y="152"/>
                  </a:cubicBezTo>
                  <a:cubicBezTo>
                    <a:pt x="162" y="143"/>
                    <a:pt x="153" y="143"/>
                    <a:pt x="153" y="152"/>
                  </a:cubicBezTo>
                  <a:cubicBezTo>
                    <a:pt x="117" y="188"/>
                    <a:pt x="117" y="188"/>
                    <a:pt x="117" y="188"/>
                  </a:cubicBezTo>
                  <a:cubicBezTo>
                    <a:pt x="99" y="170"/>
                    <a:pt x="99" y="170"/>
                    <a:pt x="99" y="170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89" y="71"/>
                    <a:pt x="242" y="36"/>
                    <a:pt x="296" y="18"/>
                  </a:cubicBezTo>
                  <a:cubicBezTo>
                    <a:pt x="278" y="81"/>
                    <a:pt x="242" y="125"/>
                    <a:pt x="197" y="17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53" name="Freeform 577">
              <a:extLst>
                <a:ext uri="{FF2B5EF4-FFF2-40B4-BE49-F238E27FC236}">
                  <a16:creationId xmlns:a16="http://schemas.microsoft.com/office/drawing/2014/main" id="{404C26E5-D927-664D-827A-8B222262D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799" y="8113576"/>
              <a:ext cx="47380" cy="47380"/>
            </a:xfrm>
            <a:custGeom>
              <a:avLst/>
              <a:gdLst>
                <a:gd name="T0" fmla="*/ 36 w 46"/>
                <a:gd name="T1" fmla="*/ 36 h 45"/>
                <a:gd name="T2" fmla="*/ 36 w 46"/>
                <a:gd name="T3" fmla="*/ 36 h 45"/>
                <a:gd name="T4" fmla="*/ 36 w 46"/>
                <a:gd name="T5" fmla="*/ 9 h 45"/>
                <a:gd name="T6" fmla="*/ 9 w 46"/>
                <a:gd name="T7" fmla="*/ 9 h 45"/>
                <a:gd name="T8" fmla="*/ 9 w 46"/>
                <a:gd name="T9" fmla="*/ 36 h 45"/>
                <a:gd name="T10" fmla="*/ 36 w 46"/>
                <a:gd name="T11" fmla="*/ 36 h 45"/>
                <a:gd name="T12" fmla="*/ 18 w 46"/>
                <a:gd name="T13" fmla="*/ 17 h 45"/>
                <a:gd name="T14" fmla="*/ 18 w 46"/>
                <a:gd name="T15" fmla="*/ 17 h 45"/>
                <a:gd name="T16" fmla="*/ 27 w 46"/>
                <a:gd name="T17" fmla="*/ 17 h 45"/>
                <a:gd name="T18" fmla="*/ 27 w 46"/>
                <a:gd name="T19" fmla="*/ 27 h 45"/>
                <a:gd name="T20" fmla="*/ 18 w 46"/>
                <a:gd name="T21" fmla="*/ 27 h 45"/>
                <a:gd name="T22" fmla="*/ 18 w 46"/>
                <a:gd name="T23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" h="45">
                  <a:moveTo>
                    <a:pt x="36" y="36"/>
                  </a:moveTo>
                  <a:lnTo>
                    <a:pt x="36" y="36"/>
                  </a:lnTo>
                  <a:cubicBezTo>
                    <a:pt x="45" y="27"/>
                    <a:pt x="45" y="17"/>
                    <a:pt x="36" y="9"/>
                  </a:cubicBezTo>
                  <a:cubicBezTo>
                    <a:pt x="27" y="0"/>
                    <a:pt x="18" y="0"/>
                    <a:pt x="9" y="9"/>
                  </a:cubicBezTo>
                  <a:cubicBezTo>
                    <a:pt x="0" y="17"/>
                    <a:pt x="0" y="27"/>
                    <a:pt x="9" y="36"/>
                  </a:cubicBezTo>
                  <a:cubicBezTo>
                    <a:pt x="18" y="44"/>
                    <a:pt x="27" y="44"/>
                    <a:pt x="36" y="36"/>
                  </a:cubicBezTo>
                  <a:close/>
                  <a:moveTo>
                    <a:pt x="18" y="17"/>
                  </a:moveTo>
                  <a:lnTo>
                    <a:pt x="18" y="17"/>
                  </a:lnTo>
                  <a:cubicBezTo>
                    <a:pt x="18" y="9"/>
                    <a:pt x="27" y="9"/>
                    <a:pt x="27" y="17"/>
                  </a:cubicBezTo>
                  <a:cubicBezTo>
                    <a:pt x="36" y="17"/>
                    <a:pt x="36" y="27"/>
                    <a:pt x="27" y="27"/>
                  </a:cubicBezTo>
                  <a:lnTo>
                    <a:pt x="18" y="27"/>
                  </a:lnTo>
                  <a:lnTo>
                    <a:pt x="18" y="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54" name="Freeform 578">
              <a:extLst>
                <a:ext uri="{FF2B5EF4-FFF2-40B4-BE49-F238E27FC236}">
                  <a16:creationId xmlns:a16="http://schemas.microsoft.com/office/drawing/2014/main" id="{F0C52B0C-0C76-CF4D-A968-75A1CACD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6449" y="8563686"/>
              <a:ext cx="483278" cy="28428"/>
            </a:xfrm>
            <a:custGeom>
              <a:avLst/>
              <a:gdLst>
                <a:gd name="T0" fmla="*/ 439 w 449"/>
                <a:gd name="T1" fmla="*/ 27 h 28"/>
                <a:gd name="T2" fmla="*/ 439 w 449"/>
                <a:gd name="T3" fmla="*/ 27 h 28"/>
                <a:gd name="T4" fmla="*/ 439 w 449"/>
                <a:gd name="T5" fmla="*/ 0 h 28"/>
                <a:gd name="T6" fmla="*/ 439 w 449"/>
                <a:gd name="T7" fmla="*/ 0 h 28"/>
                <a:gd name="T8" fmla="*/ 439 w 449"/>
                <a:gd name="T9" fmla="*/ 27 h 28"/>
                <a:gd name="T10" fmla="*/ 403 w 449"/>
                <a:gd name="T11" fmla="*/ 27 h 28"/>
                <a:gd name="T12" fmla="*/ 403 w 449"/>
                <a:gd name="T13" fmla="*/ 27 h 28"/>
                <a:gd name="T14" fmla="*/ 403 w 449"/>
                <a:gd name="T15" fmla="*/ 0 h 28"/>
                <a:gd name="T16" fmla="*/ 403 w 449"/>
                <a:gd name="T17" fmla="*/ 0 h 28"/>
                <a:gd name="T18" fmla="*/ 403 w 449"/>
                <a:gd name="T19" fmla="*/ 27 h 28"/>
                <a:gd name="T20" fmla="*/ 367 w 449"/>
                <a:gd name="T21" fmla="*/ 27 h 28"/>
                <a:gd name="T22" fmla="*/ 367 w 449"/>
                <a:gd name="T23" fmla="*/ 27 h 28"/>
                <a:gd name="T24" fmla="*/ 367 w 449"/>
                <a:gd name="T25" fmla="*/ 0 h 28"/>
                <a:gd name="T26" fmla="*/ 367 w 449"/>
                <a:gd name="T27" fmla="*/ 0 h 28"/>
                <a:gd name="T28" fmla="*/ 367 w 449"/>
                <a:gd name="T29" fmla="*/ 27 h 28"/>
                <a:gd name="T30" fmla="*/ 331 w 449"/>
                <a:gd name="T31" fmla="*/ 27 h 28"/>
                <a:gd name="T32" fmla="*/ 322 w 449"/>
                <a:gd name="T33" fmla="*/ 18 h 28"/>
                <a:gd name="T34" fmla="*/ 331 w 449"/>
                <a:gd name="T35" fmla="*/ 0 h 28"/>
                <a:gd name="T36" fmla="*/ 331 w 449"/>
                <a:gd name="T37" fmla="*/ 27 h 28"/>
                <a:gd name="T38" fmla="*/ 295 w 449"/>
                <a:gd name="T39" fmla="*/ 27 h 28"/>
                <a:gd name="T40" fmla="*/ 286 w 449"/>
                <a:gd name="T41" fmla="*/ 18 h 28"/>
                <a:gd name="T42" fmla="*/ 295 w 449"/>
                <a:gd name="T43" fmla="*/ 0 h 28"/>
                <a:gd name="T44" fmla="*/ 295 w 449"/>
                <a:gd name="T45" fmla="*/ 27 h 28"/>
                <a:gd name="T46" fmla="*/ 260 w 449"/>
                <a:gd name="T47" fmla="*/ 27 h 28"/>
                <a:gd name="T48" fmla="*/ 251 w 449"/>
                <a:gd name="T49" fmla="*/ 18 h 28"/>
                <a:gd name="T50" fmla="*/ 260 w 449"/>
                <a:gd name="T51" fmla="*/ 0 h 28"/>
                <a:gd name="T52" fmla="*/ 260 w 449"/>
                <a:gd name="T53" fmla="*/ 27 h 28"/>
                <a:gd name="T54" fmla="*/ 224 w 449"/>
                <a:gd name="T55" fmla="*/ 27 h 28"/>
                <a:gd name="T56" fmla="*/ 224 w 449"/>
                <a:gd name="T57" fmla="*/ 27 h 28"/>
                <a:gd name="T58" fmla="*/ 224 w 449"/>
                <a:gd name="T59" fmla="*/ 0 h 28"/>
                <a:gd name="T60" fmla="*/ 224 w 449"/>
                <a:gd name="T61" fmla="*/ 0 h 28"/>
                <a:gd name="T62" fmla="*/ 224 w 449"/>
                <a:gd name="T63" fmla="*/ 27 h 28"/>
                <a:gd name="T64" fmla="*/ 188 w 449"/>
                <a:gd name="T65" fmla="*/ 27 h 28"/>
                <a:gd name="T66" fmla="*/ 188 w 449"/>
                <a:gd name="T67" fmla="*/ 27 h 28"/>
                <a:gd name="T68" fmla="*/ 188 w 449"/>
                <a:gd name="T69" fmla="*/ 0 h 28"/>
                <a:gd name="T70" fmla="*/ 188 w 449"/>
                <a:gd name="T71" fmla="*/ 0 h 28"/>
                <a:gd name="T72" fmla="*/ 188 w 449"/>
                <a:gd name="T73" fmla="*/ 27 h 28"/>
                <a:gd name="T74" fmla="*/ 152 w 449"/>
                <a:gd name="T75" fmla="*/ 27 h 28"/>
                <a:gd name="T76" fmla="*/ 152 w 449"/>
                <a:gd name="T77" fmla="*/ 27 h 28"/>
                <a:gd name="T78" fmla="*/ 152 w 449"/>
                <a:gd name="T79" fmla="*/ 0 h 28"/>
                <a:gd name="T80" fmla="*/ 152 w 449"/>
                <a:gd name="T81" fmla="*/ 0 h 28"/>
                <a:gd name="T82" fmla="*/ 152 w 449"/>
                <a:gd name="T83" fmla="*/ 27 h 28"/>
                <a:gd name="T84" fmla="*/ 116 w 449"/>
                <a:gd name="T85" fmla="*/ 27 h 28"/>
                <a:gd name="T86" fmla="*/ 107 w 449"/>
                <a:gd name="T87" fmla="*/ 18 h 28"/>
                <a:gd name="T88" fmla="*/ 116 w 449"/>
                <a:gd name="T89" fmla="*/ 0 h 28"/>
                <a:gd name="T90" fmla="*/ 116 w 449"/>
                <a:gd name="T91" fmla="*/ 27 h 28"/>
                <a:gd name="T92" fmla="*/ 80 w 449"/>
                <a:gd name="T93" fmla="*/ 27 h 28"/>
                <a:gd name="T94" fmla="*/ 71 w 449"/>
                <a:gd name="T95" fmla="*/ 18 h 28"/>
                <a:gd name="T96" fmla="*/ 80 w 449"/>
                <a:gd name="T97" fmla="*/ 0 h 28"/>
                <a:gd name="T98" fmla="*/ 80 w 449"/>
                <a:gd name="T99" fmla="*/ 27 h 28"/>
                <a:gd name="T100" fmla="*/ 44 w 449"/>
                <a:gd name="T101" fmla="*/ 27 h 28"/>
                <a:gd name="T102" fmla="*/ 36 w 449"/>
                <a:gd name="T103" fmla="*/ 18 h 28"/>
                <a:gd name="T104" fmla="*/ 44 w 449"/>
                <a:gd name="T105" fmla="*/ 0 h 28"/>
                <a:gd name="T106" fmla="*/ 44 w 449"/>
                <a:gd name="T107" fmla="*/ 27 h 28"/>
                <a:gd name="T108" fmla="*/ 9 w 449"/>
                <a:gd name="T109" fmla="*/ 27 h 28"/>
                <a:gd name="T110" fmla="*/ 9 w 449"/>
                <a:gd name="T111" fmla="*/ 27 h 28"/>
                <a:gd name="T112" fmla="*/ 9 w 449"/>
                <a:gd name="T113" fmla="*/ 0 h 28"/>
                <a:gd name="T114" fmla="*/ 9 w 449"/>
                <a:gd name="T115" fmla="*/ 0 h 28"/>
                <a:gd name="T116" fmla="*/ 9 w 449"/>
                <a:gd name="T11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49" h="28">
                  <a:moveTo>
                    <a:pt x="439" y="27"/>
                  </a:moveTo>
                  <a:lnTo>
                    <a:pt x="439" y="27"/>
                  </a:lnTo>
                  <a:lnTo>
                    <a:pt x="439" y="27"/>
                  </a:lnTo>
                  <a:lnTo>
                    <a:pt x="439" y="27"/>
                  </a:lnTo>
                  <a:cubicBezTo>
                    <a:pt x="430" y="27"/>
                    <a:pt x="421" y="27"/>
                    <a:pt x="421" y="18"/>
                  </a:cubicBezTo>
                  <a:cubicBezTo>
                    <a:pt x="421" y="9"/>
                    <a:pt x="430" y="0"/>
                    <a:pt x="439" y="0"/>
                  </a:cubicBezTo>
                  <a:lnTo>
                    <a:pt x="439" y="0"/>
                  </a:lnTo>
                  <a:lnTo>
                    <a:pt x="439" y="0"/>
                  </a:lnTo>
                  <a:cubicBezTo>
                    <a:pt x="448" y="0"/>
                    <a:pt x="448" y="9"/>
                    <a:pt x="448" y="18"/>
                  </a:cubicBezTo>
                  <a:cubicBezTo>
                    <a:pt x="448" y="27"/>
                    <a:pt x="448" y="27"/>
                    <a:pt x="439" y="27"/>
                  </a:cubicBezTo>
                  <a:close/>
                  <a:moveTo>
                    <a:pt x="403" y="27"/>
                  </a:moveTo>
                  <a:lnTo>
                    <a:pt x="403" y="27"/>
                  </a:lnTo>
                  <a:lnTo>
                    <a:pt x="403" y="27"/>
                  </a:lnTo>
                  <a:lnTo>
                    <a:pt x="403" y="27"/>
                  </a:lnTo>
                  <a:cubicBezTo>
                    <a:pt x="394" y="27"/>
                    <a:pt x="385" y="27"/>
                    <a:pt x="385" y="18"/>
                  </a:cubicBezTo>
                  <a:cubicBezTo>
                    <a:pt x="385" y="9"/>
                    <a:pt x="394" y="0"/>
                    <a:pt x="403" y="0"/>
                  </a:cubicBezTo>
                  <a:lnTo>
                    <a:pt x="403" y="0"/>
                  </a:lnTo>
                  <a:lnTo>
                    <a:pt x="403" y="0"/>
                  </a:lnTo>
                  <a:cubicBezTo>
                    <a:pt x="412" y="0"/>
                    <a:pt x="412" y="9"/>
                    <a:pt x="412" y="18"/>
                  </a:cubicBezTo>
                  <a:cubicBezTo>
                    <a:pt x="412" y="27"/>
                    <a:pt x="412" y="27"/>
                    <a:pt x="403" y="27"/>
                  </a:cubicBezTo>
                  <a:close/>
                  <a:moveTo>
                    <a:pt x="367" y="27"/>
                  </a:moveTo>
                  <a:lnTo>
                    <a:pt x="367" y="27"/>
                  </a:lnTo>
                  <a:lnTo>
                    <a:pt x="367" y="27"/>
                  </a:lnTo>
                  <a:lnTo>
                    <a:pt x="367" y="27"/>
                  </a:lnTo>
                  <a:cubicBezTo>
                    <a:pt x="358" y="27"/>
                    <a:pt x="358" y="27"/>
                    <a:pt x="358" y="18"/>
                  </a:cubicBezTo>
                  <a:cubicBezTo>
                    <a:pt x="358" y="9"/>
                    <a:pt x="358" y="0"/>
                    <a:pt x="367" y="0"/>
                  </a:cubicBezTo>
                  <a:lnTo>
                    <a:pt x="367" y="0"/>
                  </a:lnTo>
                  <a:lnTo>
                    <a:pt x="367" y="0"/>
                  </a:lnTo>
                  <a:cubicBezTo>
                    <a:pt x="376" y="0"/>
                    <a:pt x="376" y="9"/>
                    <a:pt x="376" y="18"/>
                  </a:cubicBezTo>
                  <a:cubicBezTo>
                    <a:pt x="376" y="27"/>
                    <a:pt x="376" y="27"/>
                    <a:pt x="367" y="27"/>
                  </a:cubicBezTo>
                  <a:close/>
                  <a:moveTo>
                    <a:pt x="331" y="27"/>
                  </a:moveTo>
                  <a:lnTo>
                    <a:pt x="331" y="27"/>
                  </a:lnTo>
                  <a:lnTo>
                    <a:pt x="331" y="27"/>
                  </a:lnTo>
                  <a:cubicBezTo>
                    <a:pt x="322" y="27"/>
                    <a:pt x="322" y="27"/>
                    <a:pt x="322" y="18"/>
                  </a:cubicBezTo>
                  <a:cubicBezTo>
                    <a:pt x="322" y="9"/>
                    <a:pt x="322" y="0"/>
                    <a:pt x="331" y="0"/>
                  </a:cubicBezTo>
                  <a:lnTo>
                    <a:pt x="331" y="0"/>
                  </a:lnTo>
                  <a:cubicBezTo>
                    <a:pt x="340" y="0"/>
                    <a:pt x="340" y="9"/>
                    <a:pt x="340" y="18"/>
                  </a:cubicBezTo>
                  <a:cubicBezTo>
                    <a:pt x="340" y="27"/>
                    <a:pt x="340" y="27"/>
                    <a:pt x="331" y="27"/>
                  </a:cubicBezTo>
                  <a:close/>
                  <a:moveTo>
                    <a:pt x="295" y="27"/>
                  </a:moveTo>
                  <a:lnTo>
                    <a:pt x="295" y="27"/>
                  </a:lnTo>
                  <a:lnTo>
                    <a:pt x="295" y="27"/>
                  </a:lnTo>
                  <a:cubicBezTo>
                    <a:pt x="286" y="27"/>
                    <a:pt x="286" y="27"/>
                    <a:pt x="286" y="18"/>
                  </a:cubicBezTo>
                  <a:cubicBezTo>
                    <a:pt x="286" y="9"/>
                    <a:pt x="286" y="0"/>
                    <a:pt x="295" y="0"/>
                  </a:cubicBezTo>
                  <a:lnTo>
                    <a:pt x="295" y="0"/>
                  </a:lnTo>
                  <a:cubicBezTo>
                    <a:pt x="305" y="0"/>
                    <a:pt x="305" y="9"/>
                    <a:pt x="305" y="18"/>
                  </a:cubicBezTo>
                  <a:cubicBezTo>
                    <a:pt x="305" y="27"/>
                    <a:pt x="305" y="27"/>
                    <a:pt x="295" y="27"/>
                  </a:cubicBezTo>
                  <a:close/>
                  <a:moveTo>
                    <a:pt x="260" y="27"/>
                  </a:moveTo>
                  <a:lnTo>
                    <a:pt x="260" y="27"/>
                  </a:lnTo>
                  <a:lnTo>
                    <a:pt x="260" y="27"/>
                  </a:lnTo>
                  <a:cubicBezTo>
                    <a:pt x="251" y="27"/>
                    <a:pt x="251" y="27"/>
                    <a:pt x="251" y="18"/>
                  </a:cubicBezTo>
                  <a:cubicBezTo>
                    <a:pt x="251" y="9"/>
                    <a:pt x="251" y="0"/>
                    <a:pt x="260" y="0"/>
                  </a:cubicBezTo>
                  <a:lnTo>
                    <a:pt x="260" y="0"/>
                  </a:lnTo>
                  <a:cubicBezTo>
                    <a:pt x="269" y="0"/>
                    <a:pt x="269" y="9"/>
                    <a:pt x="269" y="18"/>
                  </a:cubicBezTo>
                  <a:cubicBezTo>
                    <a:pt x="269" y="27"/>
                    <a:pt x="269" y="27"/>
                    <a:pt x="260" y="27"/>
                  </a:cubicBezTo>
                  <a:close/>
                  <a:moveTo>
                    <a:pt x="224" y="27"/>
                  </a:moveTo>
                  <a:lnTo>
                    <a:pt x="224" y="27"/>
                  </a:lnTo>
                  <a:lnTo>
                    <a:pt x="224" y="27"/>
                  </a:lnTo>
                  <a:lnTo>
                    <a:pt x="224" y="27"/>
                  </a:lnTo>
                  <a:cubicBezTo>
                    <a:pt x="215" y="27"/>
                    <a:pt x="215" y="27"/>
                    <a:pt x="215" y="18"/>
                  </a:cubicBezTo>
                  <a:cubicBezTo>
                    <a:pt x="215" y="9"/>
                    <a:pt x="215" y="0"/>
                    <a:pt x="224" y="0"/>
                  </a:cubicBezTo>
                  <a:lnTo>
                    <a:pt x="224" y="0"/>
                  </a:lnTo>
                  <a:lnTo>
                    <a:pt x="224" y="0"/>
                  </a:lnTo>
                  <a:cubicBezTo>
                    <a:pt x="233" y="0"/>
                    <a:pt x="233" y="9"/>
                    <a:pt x="233" y="18"/>
                  </a:cubicBezTo>
                  <a:cubicBezTo>
                    <a:pt x="233" y="27"/>
                    <a:pt x="233" y="27"/>
                    <a:pt x="224" y="27"/>
                  </a:cubicBezTo>
                  <a:close/>
                  <a:moveTo>
                    <a:pt x="188" y="27"/>
                  </a:moveTo>
                  <a:lnTo>
                    <a:pt x="188" y="27"/>
                  </a:lnTo>
                  <a:lnTo>
                    <a:pt x="188" y="27"/>
                  </a:lnTo>
                  <a:lnTo>
                    <a:pt x="188" y="27"/>
                  </a:lnTo>
                  <a:cubicBezTo>
                    <a:pt x="179" y="27"/>
                    <a:pt x="179" y="27"/>
                    <a:pt x="179" y="18"/>
                  </a:cubicBezTo>
                  <a:cubicBezTo>
                    <a:pt x="179" y="9"/>
                    <a:pt x="179" y="0"/>
                    <a:pt x="188" y="0"/>
                  </a:cubicBezTo>
                  <a:lnTo>
                    <a:pt x="188" y="0"/>
                  </a:lnTo>
                  <a:lnTo>
                    <a:pt x="188" y="0"/>
                  </a:lnTo>
                  <a:cubicBezTo>
                    <a:pt x="197" y="0"/>
                    <a:pt x="206" y="9"/>
                    <a:pt x="206" y="18"/>
                  </a:cubicBezTo>
                  <a:cubicBezTo>
                    <a:pt x="206" y="27"/>
                    <a:pt x="197" y="27"/>
                    <a:pt x="188" y="27"/>
                  </a:cubicBezTo>
                  <a:close/>
                  <a:moveTo>
                    <a:pt x="152" y="27"/>
                  </a:moveTo>
                  <a:lnTo>
                    <a:pt x="152" y="27"/>
                  </a:lnTo>
                  <a:lnTo>
                    <a:pt x="152" y="27"/>
                  </a:lnTo>
                  <a:lnTo>
                    <a:pt x="152" y="27"/>
                  </a:lnTo>
                  <a:cubicBezTo>
                    <a:pt x="143" y="27"/>
                    <a:pt x="143" y="27"/>
                    <a:pt x="143" y="18"/>
                  </a:cubicBezTo>
                  <a:cubicBezTo>
                    <a:pt x="143" y="9"/>
                    <a:pt x="143" y="0"/>
                    <a:pt x="152" y="0"/>
                  </a:cubicBezTo>
                  <a:lnTo>
                    <a:pt x="152" y="0"/>
                  </a:lnTo>
                  <a:lnTo>
                    <a:pt x="152" y="0"/>
                  </a:lnTo>
                  <a:cubicBezTo>
                    <a:pt x="161" y="0"/>
                    <a:pt x="170" y="9"/>
                    <a:pt x="170" y="18"/>
                  </a:cubicBezTo>
                  <a:cubicBezTo>
                    <a:pt x="170" y="27"/>
                    <a:pt x="161" y="27"/>
                    <a:pt x="152" y="27"/>
                  </a:cubicBezTo>
                  <a:close/>
                  <a:moveTo>
                    <a:pt x="116" y="27"/>
                  </a:moveTo>
                  <a:lnTo>
                    <a:pt x="116" y="27"/>
                  </a:lnTo>
                  <a:lnTo>
                    <a:pt x="116" y="27"/>
                  </a:lnTo>
                  <a:cubicBezTo>
                    <a:pt x="107" y="27"/>
                    <a:pt x="107" y="27"/>
                    <a:pt x="107" y="18"/>
                  </a:cubicBezTo>
                  <a:cubicBezTo>
                    <a:pt x="107" y="9"/>
                    <a:pt x="107" y="0"/>
                    <a:pt x="116" y="0"/>
                  </a:cubicBezTo>
                  <a:lnTo>
                    <a:pt x="116" y="0"/>
                  </a:lnTo>
                  <a:cubicBezTo>
                    <a:pt x="125" y="0"/>
                    <a:pt x="134" y="9"/>
                    <a:pt x="134" y="18"/>
                  </a:cubicBezTo>
                  <a:cubicBezTo>
                    <a:pt x="134" y="27"/>
                    <a:pt x="125" y="27"/>
                    <a:pt x="116" y="27"/>
                  </a:cubicBezTo>
                  <a:close/>
                  <a:moveTo>
                    <a:pt x="80" y="27"/>
                  </a:moveTo>
                  <a:lnTo>
                    <a:pt x="80" y="27"/>
                  </a:lnTo>
                  <a:lnTo>
                    <a:pt x="80" y="27"/>
                  </a:lnTo>
                  <a:cubicBezTo>
                    <a:pt x="71" y="27"/>
                    <a:pt x="71" y="27"/>
                    <a:pt x="71" y="18"/>
                  </a:cubicBezTo>
                  <a:cubicBezTo>
                    <a:pt x="71" y="9"/>
                    <a:pt x="71" y="0"/>
                    <a:pt x="80" y="0"/>
                  </a:cubicBezTo>
                  <a:lnTo>
                    <a:pt x="80" y="0"/>
                  </a:lnTo>
                  <a:cubicBezTo>
                    <a:pt x="89" y="0"/>
                    <a:pt x="98" y="9"/>
                    <a:pt x="98" y="18"/>
                  </a:cubicBezTo>
                  <a:cubicBezTo>
                    <a:pt x="98" y="27"/>
                    <a:pt x="89" y="27"/>
                    <a:pt x="80" y="27"/>
                  </a:cubicBezTo>
                  <a:close/>
                  <a:moveTo>
                    <a:pt x="44" y="27"/>
                  </a:moveTo>
                  <a:lnTo>
                    <a:pt x="44" y="27"/>
                  </a:lnTo>
                  <a:lnTo>
                    <a:pt x="44" y="27"/>
                  </a:lnTo>
                  <a:cubicBezTo>
                    <a:pt x="36" y="27"/>
                    <a:pt x="36" y="27"/>
                    <a:pt x="36" y="18"/>
                  </a:cubicBezTo>
                  <a:cubicBezTo>
                    <a:pt x="36" y="9"/>
                    <a:pt x="36" y="0"/>
                    <a:pt x="44" y="0"/>
                  </a:cubicBezTo>
                  <a:lnTo>
                    <a:pt x="44" y="0"/>
                  </a:lnTo>
                  <a:cubicBezTo>
                    <a:pt x="54" y="0"/>
                    <a:pt x="63" y="9"/>
                    <a:pt x="63" y="18"/>
                  </a:cubicBezTo>
                  <a:cubicBezTo>
                    <a:pt x="63" y="27"/>
                    <a:pt x="54" y="27"/>
                    <a:pt x="44" y="27"/>
                  </a:cubicBezTo>
                  <a:close/>
                  <a:moveTo>
                    <a:pt x="9" y="27"/>
                  </a:moveTo>
                  <a:lnTo>
                    <a:pt x="9" y="27"/>
                  </a:lnTo>
                  <a:lnTo>
                    <a:pt x="9" y="27"/>
                  </a:lnTo>
                  <a:lnTo>
                    <a:pt x="9" y="27"/>
                  </a:lnTo>
                  <a:cubicBezTo>
                    <a:pt x="9" y="27"/>
                    <a:pt x="0" y="27"/>
                    <a:pt x="0" y="18"/>
                  </a:cubicBezTo>
                  <a:cubicBezTo>
                    <a:pt x="0" y="9"/>
                    <a:pt x="9" y="0"/>
                    <a:pt x="9" y="0"/>
                  </a:cubicBezTo>
                  <a:lnTo>
                    <a:pt x="9" y="0"/>
                  </a:lnTo>
                  <a:lnTo>
                    <a:pt x="9" y="0"/>
                  </a:lnTo>
                  <a:cubicBezTo>
                    <a:pt x="18" y="0"/>
                    <a:pt x="27" y="9"/>
                    <a:pt x="27" y="18"/>
                  </a:cubicBezTo>
                  <a:cubicBezTo>
                    <a:pt x="27" y="27"/>
                    <a:pt x="18" y="27"/>
                    <a:pt x="9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D1CE6371-C807-3E49-84B7-D1AF7EBEFA50}"/>
              </a:ext>
            </a:extLst>
          </p:cNvPr>
          <p:cNvGrpSpPr/>
          <p:nvPr/>
        </p:nvGrpSpPr>
        <p:grpSpPr>
          <a:xfrm>
            <a:off x="8196268" y="3018738"/>
            <a:ext cx="665692" cy="670430"/>
            <a:chOff x="16415134" y="4185759"/>
            <a:chExt cx="1331384" cy="1340860"/>
          </a:xfrm>
        </p:grpSpPr>
        <p:sp>
          <p:nvSpPr>
            <p:cNvPr id="56" name="Freeform 557">
              <a:extLst>
                <a:ext uri="{FF2B5EF4-FFF2-40B4-BE49-F238E27FC236}">
                  <a16:creationId xmlns:a16="http://schemas.microsoft.com/office/drawing/2014/main" id="{150B24B3-5BDC-9245-8898-F93681FC3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5134" y="4185759"/>
              <a:ext cx="1331384" cy="1340860"/>
            </a:xfrm>
            <a:custGeom>
              <a:avLst/>
              <a:gdLst>
                <a:gd name="T0" fmla="*/ 1237 w 1238"/>
                <a:gd name="T1" fmla="*/ 618 h 1246"/>
                <a:gd name="T2" fmla="*/ 1237 w 1238"/>
                <a:gd name="T3" fmla="*/ 618 h 1246"/>
                <a:gd name="T4" fmla="*/ 618 w 1238"/>
                <a:gd name="T5" fmla="*/ 1245 h 1246"/>
                <a:gd name="T6" fmla="*/ 0 w 1238"/>
                <a:gd name="T7" fmla="*/ 618 h 1246"/>
                <a:gd name="T8" fmla="*/ 618 w 1238"/>
                <a:gd name="T9" fmla="*/ 0 h 1246"/>
                <a:gd name="T10" fmla="*/ 1237 w 1238"/>
                <a:gd name="T11" fmla="*/ 618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8" h="1246">
                  <a:moveTo>
                    <a:pt x="1237" y="618"/>
                  </a:moveTo>
                  <a:lnTo>
                    <a:pt x="1237" y="618"/>
                  </a:lnTo>
                  <a:cubicBezTo>
                    <a:pt x="1237" y="967"/>
                    <a:pt x="959" y="1245"/>
                    <a:pt x="618" y="1245"/>
                  </a:cubicBezTo>
                  <a:cubicBezTo>
                    <a:pt x="278" y="1245"/>
                    <a:pt x="0" y="967"/>
                    <a:pt x="0" y="618"/>
                  </a:cubicBezTo>
                  <a:cubicBezTo>
                    <a:pt x="0" y="278"/>
                    <a:pt x="278" y="0"/>
                    <a:pt x="618" y="0"/>
                  </a:cubicBezTo>
                  <a:cubicBezTo>
                    <a:pt x="959" y="0"/>
                    <a:pt x="1237" y="278"/>
                    <a:pt x="1237" y="61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4A307A9A-BED1-FE48-89B6-D7C348680E5C}"/>
                </a:ext>
              </a:extLst>
            </p:cNvPr>
            <p:cNvGrpSpPr/>
            <p:nvPr/>
          </p:nvGrpSpPr>
          <p:grpSpPr>
            <a:xfrm>
              <a:off x="16789439" y="4569540"/>
              <a:ext cx="578037" cy="559086"/>
              <a:chOff x="16789439" y="4569540"/>
              <a:chExt cx="578037" cy="559086"/>
            </a:xfrm>
          </p:grpSpPr>
          <p:sp>
            <p:nvSpPr>
              <p:cNvPr id="58" name="Freeform 579">
                <a:extLst>
                  <a:ext uri="{FF2B5EF4-FFF2-40B4-BE49-F238E27FC236}">
                    <a16:creationId xmlns:a16="http://schemas.microsoft.com/office/drawing/2014/main" id="{FCAE6360-DD7C-AA45-B56A-6563AA943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89439" y="4569540"/>
                <a:ext cx="369565" cy="559086"/>
              </a:xfrm>
              <a:custGeom>
                <a:avLst/>
                <a:gdLst>
                  <a:gd name="T0" fmla="*/ 296 w 342"/>
                  <a:gd name="T1" fmla="*/ 520 h 521"/>
                  <a:gd name="T2" fmla="*/ 296 w 342"/>
                  <a:gd name="T3" fmla="*/ 520 h 521"/>
                  <a:gd name="T4" fmla="*/ 45 w 342"/>
                  <a:gd name="T5" fmla="*/ 520 h 521"/>
                  <a:gd name="T6" fmla="*/ 0 w 342"/>
                  <a:gd name="T7" fmla="*/ 475 h 521"/>
                  <a:gd name="T8" fmla="*/ 0 w 342"/>
                  <a:gd name="T9" fmla="*/ 54 h 521"/>
                  <a:gd name="T10" fmla="*/ 45 w 342"/>
                  <a:gd name="T11" fmla="*/ 0 h 521"/>
                  <a:gd name="T12" fmla="*/ 296 w 342"/>
                  <a:gd name="T13" fmla="*/ 0 h 521"/>
                  <a:gd name="T14" fmla="*/ 341 w 342"/>
                  <a:gd name="T15" fmla="*/ 54 h 521"/>
                  <a:gd name="T16" fmla="*/ 341 w 342"/>
                  <a:gd name="T17" fmla="*/ 197 h 521"/>
                  <a:gd name="T18" fmla="*/ 332 w 342"/>
                  <a:gd name="T19" fmla="*/ 206 h 521"/>
                  <a:gd name="T20" fmla="*/ 314 w 342"/>
                  <a:gd name="T21" fmla="*/ 197 h 521"/>
                  <a:gd name="T22" fmla="*/ 314 w 342"/>
                  <a:gd name="T23" fmla="*/ 54 h 521"/>
                  <a:gd name="T24" fmla="*/ 296 w 342"/>
                  <a:gd name="T25" fmla="*/ 27 h 521"/>
                  <a:gd name="T26" fmla="*/ 45 w 342"/>
                  <a:gd name="T27" fmla="*/ 27 h 521"/>
                  <a:gd name="T28" fmla="*/ 18 w 342"/>
                  <a:gd name="T29" fmla="*/ 54 h 521"/>
                  <a:gd name="T30" fmla="*/ 18 w 342"/>
                  <a:gd name="T31" fmla="*/ 475 h 521"/>
                  <a:gd name="T32" fmla="*/ 45 w 342"/>
                  <a:gd name="T33" fmla="*/ 502 h 521"/>
                  <a:gd name="T34" fmla="*/ 296 w 342"/>
                  <a:gd name="T35" fmla="*/ 502 h 521"/>
                  <a:gd name="T36" fmla="*/ 305 w 342"/>
                  <a:gd name="T37" fmla="*/ 493 h 521"/>
                  <a:gd name="T38" fmla="*/ 323 w 342"/>
                  <a:gd name="T39" fmla="*/ 502 h 521"/>
                  <a:gd name="T40" fmla="*/ 314 w 342"/>
                  <a:gd name="T41" fmla="*/ 520 h 521"/>
                  <a:gd name="T42" fmla="*/ 296 w 342"/>
                  <a:gd name="T43" fmla="*/ 520 h 5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42" h="521">
                    <a:moveTo>
                      <a:pt x="296" y="520"/>
                    </a:moveTo>
                    <a:lnTo>
                      <a:pt x="296" y="520"/>
                    </a:lnTo>
                    <a:cubicBezTo>
                      <a:pt x="45" y="520"/>
                      <a:pt x="45" y="520"/>
                      <a:pt x="45" y="520"/>
                    </a:cubicBezTo>
                    <a:cubicBezTo>
                      <a:pt x="18" y="520"/>
                      <a:pt x="0" y="502"/>
                      <a:pt x="0" y="475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27"/>
                      <a:pt x="18" y="0"/>
                      <a:pt x="45" y="0"/>
                    </a:cubicBezTo>
                    <a:cubicBezTo>
                      <a:pt x="296" y="0"/>
                      <a:pt x="296" y="0"/>
                      <a:pt x="296" y="0"/>
                    </a:cubicBezTo>
                    <a:cubicBezTo>
                      <a:pt x="323" y="0"/>
                      <a:pt x="341" y="27"/>
                      <a:pt x="341" y="54"/>
                    </a:cubicBezTo>
                    <a:cubicBezTo>
                      <a:pt x="341" y="197"/>
                      <a:pt x="341" y="197"/>
                      <a:pt x="341" y="197"/>
                    </a:cubicBezTo>
                    <a:lnTo>
                      <a:pt x="332" y="206"/>
                    </a:lnTo>
                    <a:cubicBezTo>
                      <a:pt x="323" y="206"/>
                      <a:pt x="314" y="197"/>
                      <a:pt x="314" y="197"/>
                    </a:cubicBezTo>
                    <a:cubicBezTo>
                      <a:pt x="314" y="54"/>
                      <a:pt x="314" y="54"/>
                      <a:pt x="314" y="54"/>
                    </a:cubicBezTo>
                    <a:cubicBezTo>
                      <a:pt x="314" y="36"/>
                      <a:pt x="305" y="27"/>
                      <a:pt x="296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36" y="27"/>
                      <a:pt x="18" y="36"/>
                      <a:pt x="18" y="54"/>
                    </a:cubicBezTo>
                    <a:cubicBezTo>
                      <a:pt x="18" y="475"/>
                      <a:pt x="18" y="475"/>
                      <a:pt x="18" y="475"/>
                    </a:cubicBezTo>
                    <a:cubicBezTo>
                      <a:pt x="18" y="493"/>
                      <a:pt x="36" y="502"/>
                      <a:pt x="45" y="502"/>
                    </a:cubicBezTo>
                    <a:cubicBezTo>
                      <a:pt x="296" y="502"/>
                      <a:pt x="296" y="502"/>
                      <a:pt x="296" y="502"/>
                    </a:cubicBezTo>
                    <a:cubicBezTo>
                      <a:pt x="296" y="502"/>
                      <a:pt x="296" y="502"/>
                      <a:pt x="305" y="493"/>
                    </a:cubicBezTo>
                    <a:cubicBezTo>
                      <a:pt x="305" y="493"/>
                      <a:pt x="314" y="493"/>
                      <a:pt x="323" y="502"/>
                    </a:cubicBezTo>
                    <a:cubicBezTo>
                      <a:pt x="323" y="511"/>
                      <a:pt x="323" y="520"/>
                      <a:pt x="314" y="520"/>
                    </a:cubicBezTo>
                    <a:cubicBezTo>
                      <a:pt x="305" y="520"/>
                      <a:pt x="296" y="520"/>
                      <a:pt x="296" y="520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Freeform 580">
                <a:extLst>
                  <a:ext uri="{FF2B5EF4-FFF2-40B4-BE49-F238E27FC236}">
                    <a16:creationId xmlns:a16="http://schemas.microsoft.com/office/drawing/2014/main" id="{3D7EC9DF-37A3-6841-9528-E514DE484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1076" y="5033866"/>
                <a:ext cx="37904" cy="37904"/>
              </a:xfrm>
              <a:custGeom>
                <a:avLst/>
                <a:gdLst>
                  <a:gd name="T0" fmla="*/ 17 w 37"/>
                  <a:gd name="T1" fmla="*/ 36 h 37"/>
                  <a:gd name="T2" fmla="*/ 17 w 37"/>
                  <a:gd name="T3" fmla="*/ 36 h 37"/>
                  <a:gd name="T4" fmla="*/ 0 w 37"/>
                  <a:gd name="T5" fmla="*/ 18 h 37"/>
                  <a:gd name="T6" fmla="*/ 17 w 37"/>
                  <a:gd name="T7" fmla="*/ 0 h 37"/>
                  <a:gd name="T8" fmla="*/ 36 w 37"/>
                  <a:gd name="T9" fmla="*/ 18 h 37"/>
                  <a:gd name="T10" fmla="*/ 17 w 37"/>
                  <a:gd name="T11" fmla="*/ 36 h 37"/>
                  <a:gd name="T12" fmla="*/ 17 w 37"/>
                  <a:gd name="T13" fmla="*/ 9 h 37"/>
                  <a:gd name="T14" fmla="*/ 17 w 37"/>
                  <a:gd name="T15" fmla="*/ 9 h 37"/>
                  <a:gd name="T16" fmla="*/ 9 w 37"/>
                  <a:gd name="T17" fmla="*/ 18 h 37"/>
                  <a:gd name="T18" fmla="*/ 17 w 37"/>
                  <a:gd name="T19" fmla="*/ 27 h 37"/>
                  <a:gd name="T20" fmla="*/ 26 w 37"/>
                  <a:gd name="T21" fmla="*/ 18 h 37"/>
                  <a:gd name="T22" fmla="*/ 17 w 37"/>
                  <a:gd name="T23" fmla="*/ 9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7" h="37">
                    <a:moveTo>
                      <a:pt x="17" y="36"/>
                    </a:moveTo>
                    <a:lnTo>
                      <a:pt x="17" y="36"/>
                    </a:lnTo>
                    <a:cubicBezTo>
                      <a:pt x="9" y="36"/>
                      <a:pt x="0" y="27"/>
                      <a:pt x="0" y="18"/>
                    </a:cubicBezTo>
                    <a:cubicBezTo>
                      <a:pt x="0" y="9"/>
                      <a:pt x="9" y="0"/>
                      <a:pt x="17" y="0"/>
                    </a:cubicBezTo>
                    <a:cubicBezTo>
                      <a:pt x="26" y="0"/>
                      <a:pt x="36" y="9"/>
                      <a:pt x="36" y="18"/>
                    </a:cubicBezTo>
                    <a:cubicBezTo>
                      <a:pt x="36" y="27"/>
                      <a:pt x="26" y="36"/>
                      <a:pt x="17" y="36"/>
                    </a:cubicBezTo>
                    <a:close/>
                    <a:moveTo>
                      <a:pt x="17" y="9"/>
                    </a:moveTo>
                    <a:lnTo>
                      <a:pt x="17" y="9"/>
                    </a:lnTo>
                    <a:cubicBezTo>
                      <a:pt x="9" y="9"/>
                      <a:pt x="9" y="9"/>
                      <a:pt x="9" y="18"/>
                    </a:cubicBezTo>
                    <a:cubicBezTo>
                      <a:pt x="9" y="27"/>
                      <a:pt x="9" y="27"/>
                      <a:pt x="17" y="27"/>
                    </a:cubicBezTo>
                    <a:cubicBezTo>
                      <a:pt x="26" y="27"/>
                      <a:pt x="26" y="27"/>
                      <a:pt x="26" y="18"/>
                    </a:cubicBezTo>
                    <a:cubicBezTo>
                      <a:pt x="26" y="9"/>
                      <a:pt x="26" y="9"/>
                      <a:pt x="17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Freeform 581">
                <a:extLst>
                  <a:ext uri="{FF2B5EF4-FFF2-40B4-BE49-F238E27FC236}">
                    <a16:creationId xmlns:a16="http://schemas.microsoft.com/office/drawing/2014/main" id="{1244BCCD-AD3D-3544-99C4-0124681A8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4723" y="5043342"/>
                <a:ext cx="127925" cy="18952"/>
              </a:xfrm>
              <a:custGeom>
                <a:avLst/>
                <a:gdLst>
                  <a:gd name="T0" fmla="*/ 108 w 118"/>
                  <a:gd name="T1" fmla="*/ 18 h 19"/>
                  <a:gd name="T2" fmla="*/ 108 w 118"/>
                  <a:gd name="T3" fmla="*/ 18 h 19"/>
                  <a:gd name="T4" fmla="*/ 9 w 118"/>
                  <a:gd name="T5" fmla="*/ 18 h 19"/>
                  <a:gd name="T6" fmla="*/ 0 w 118"/>
                  <a:gd name="T7" fmla="*/ 9 h 19"/>
                  <a:gd name="T8" fmla="*/ 9 w 118"/>
                  <a:gd name="T9" fmla="*/ 0 h 19"/>
                  <a:gd name="T10" fmla="*/ 108 w 118"/>
                  <a:gd name="T11" fmla="*/ 0 h 19"/>
                  <a:gd name="T12" fmla="*/ 117 w 118"/>
                  <a:gd name="T13" fmla="*/ 9 h 19"/>
                  <a:gd name="T14" fmla="*/ 108 w 118"/>
                  <a:gd name="T15" fmla="*/ 1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8" h="19">
                    <a:moveTo>
                      <a:pt x="108" y="18"/>
                    </a:moveTo>
                    <a:lnTo>
                      <a:pt x="108" y="18"/>
                    </a:lnTo>
                    <a:cubicBezTo>
                      <a:pt x="9" y="18"/>
                      <a:pt x="9" y="18"/>
                      <a:pt x="9" y="18"/>
                    </a:cubicBezTo>
                    <a:cubicBezTo>
                      <a:pt x="0" y="18"/>
                      <a:pt x="0" y="18"/>
                      <a:pt x="0" y="9"/>
                    </a:cubicBezTo>
                    <a:cubicBezTo>
                      <a:pt x="0" y="0"/>
                      <a:pt x="0" y="0"/>
                      <a:pt x="9" y="0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8" y="0"/>
                      <a:pt x="117" y="0"/>
                      <a:pt x="117" y="9"/>
                    </a:cubicBezTo>
                    <a:cubicBezTo>
                      <a:pt x="117" y="18"/>
                      <a:pt x="108" y="18"/>
                      <a:pt x="108" y="18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Freeform 582">
                <a:extLst>
                  <a:ext uri="{FF2B5EF4-FFF2-40B4-BE49-F238E27FC236}">
                    <a16:creationId xmlns:a16="http://schemas.microsoft.com/office/drawing/2014/main" id="{6457475D-5910-464C-BCAB-7D0047E88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27343" y="4607444"/>
                <a:ext cx="279541" cy="156353"/>
              </a:xfrm>
              <a:custGeom>
                <a:avLst/>
                <a:gdLst>
                  <a:gd name="T0" fmla="*/ 251 w 261"/>
                  <a:gd name="T1" fmla="*/ 143 h 144"/>
                  <a:gd name="T2" fmla="*/ 251 w 261"/>
                  <a:gd name="T3" fmla="*/ 143 h 144"/>
                  <a:gd name="T4" fmla="*/ 18 w 261"/>
                  <a:gd name="T5" fmla="*/ 143 h 144"/>
                  <a:gd name="T6" fmla="*/ 0 w 261"/>
                  <a:gd name="T7" fmla="*/ 134 h 144"/>
                  <a:gd name="T8" fmla="*/ 0 w 261"/>
                  <a:gd name="T9" fmla="*/ 18 h 144"/>
                  <a:gd name="T10" fmla="*/ 18 w 261"/>
                  <a:gd name="T11" fmla="*/ 0 h 144"/>
                  <a:gd name="T12" fmla="*/ 251 w 261"/>
                  <a:gd name="T13" fmla="*/ 0 h 144"/>
                  <a:gd name="T14" fmla="*/ 260 w 261"/>
                  <a:gd name="T15" fmla="*/ 18 h 144"/>
                  <a:gd name="T16" fmla="*/ 260 w 261"/>
                  <a:gd name="T17" fmla="*/ 134 h 144"/>
                  <a:gd name="T18" fmla="*/ 251 w 261"/>
                  <a:gd name="T19" fmla="*/ 143 h 144"/>
                  <a:gd name="T20" fmla="*/ 27 w 261"/>
                  <a:gd name="T21" fmla="*/ 116 h 144"/>
                  <a:gd name="T22" fmla="*/ 27 w 261"/>
                  <a:gd name="T23" fmla="*/ 116 h 144"/>
                  <a:gd name="T24" fmla="*/ 233 w 261"/>
                  <a:gd name="T25" fmla="*/ 116 h 144"/>
                  <a:gd name="T26" fmla="*/ 233 w 261"/>
                  <a:gd name="T27" fmla="*/ 27 h 144"/>
                  <a:gd name="T28" fmla="*/ 27 w 261"/>
                  <a:gd name="T29" fmla="*/ 27 h 144"/>
                  <a:gd name="T30" fmla="*/ 27 w 261"/>
                  <a:gd name="T31" fmla="*/ 116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1" h="144">
                    <a:moveTo>
                      <a:pt x="251" y="143"/>
                    </a:moveTo>
                    <a:lnTo>
                      <a:pt x="251" y="143"/>
                    </a:lnTo>
                    <a:cubicBezTo>
                      <a:pt x="18" y="143"/>
                      <a:pt x="18" y="143"/>
                      <a:pt x="18" y="143"/>
                    </a:cubicBezTo>
                    <a:cubicBezTo>
                      <a:pt x="9" y="143"/>
                      <a:pt x="0" y="143"/>
                      <a:pt x="0" y="134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9"/>
                      <a:pt x="9" y="0"/>
                      <a:pt x="18" y="0"/>
                    </a:cubicBezTo>
                    <a:cubicBezTo>
                      <a:pt x="251" y="0"/>
                      <a:pt x="251" y="0"/>
                      <a:pt x="251" y="0"/>
                    </a:cubicBezTo>
                    <a:cubicBezTo>
                      <a:pt x="260" y="0"/>
                      <a:pt x="260" y="9"/>
                      <a:pt x="260" y="18"/>
                    </a:cubicBezTo>
                    <a:cubicBezTo>
                      <a:pt x="260" y="134"/>
                      <a:pt x="260" y="134"/>
                      <a:pt x="260" y="134"/>
                    </a:cubicBezTo>
                    <a:cubicBezTo>
                      <a:pt x="260" y="143"/>
                      <a:pt x="260" y="143"/>
                      <a:pt x="251" y="143"/>
                    </a:cubicBezTo>
                    <a:close/>
                    <a:moveTo>
                      <a:pt x="27" y="116"/>
                    </a:moveTo>
                    <a:lnTo>
                      <a:pt x="27" y="116"/>
                    </a:lnTo>
                    <a:cubicBezTo>
                      <a:pt x="233" y="116"/>
                      <a:pt x="233" y="116"/>
                      <a:pt x="233" y="116"/>
                    </a:cubicBezTo>
                    <a:cubicBezTo>
                      <a:pt x="233" y="27"/>
                      <a:pt x="233" y="27"/>
                      <a:pt x="233" y="27"/>
                    </a:cubicBezTo>
                    <a:cubicBezTo>
                      <a:pt x="27" y="27"/>
                      <a:pt x="27" y="27"/>
                      <a:pt x="27" y="27"/>
                    </a:cubicBezTo>
                    <a:lnTo>
                      <a:pt x="27" y="11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Freeform 583">
                <a:extLst>
                  <a:ext uri="{FF2B5EF4-FFF2-40B4-BE49-F238E27FC236}">
                    <a16:creationId xmlns:a16="http://schemas.microsoft.com/office/drawing/2014/main" id="{1D8F9A47-8C14-334E-9120-1CDBF45C3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1076" y="4934366"/>
                <a:ext cx="37904" cy="28428"/>
              </a:xfrm>
              <a:custGeom>
                <a:avLst/>
                <a:gdLst>
                  <a:gd name="T0" fmla="*/ 17 w 37"/>
                  <a:gd name="T1" fmla="*/ 26 h 27"/>
                  <a:gd name="T2" fmla="*/ 17 w 37"/>
                  <a:gd name="T3" fmla="*/ 26 h 27"/>
                  <a:gd name="T4" fmla="*/ 0 w 37"/>
                  <a:gd name="T5" fmla="*/ 18 h 27"/>
                  <a:gd name="T6" fmla="*/ 17 w 37"/>
                  <a:gd name="T7" fmla="*/ 0 h 27"/>
                  <a:gd name="T8" fmla="*/ 36 w 37"/>
                  <a:gd name="T9" fmla="*/ 18 h 27"/>
                  <a:gd name="T10" fmla="*/ 17 w 37"/>
                  <a:gd name="T11" fmla="*/ 26 h 27"/>
                  <a:gd name="T12" fmla="*/ 17 w 37"/>
                  <a:gd name="T13" fmla="*/ 9 h 27"/>
                  <a:gd name="T14" fmla="*/ 17 w 37"/>
                  <a:gd name="T15" fmla="*/ 9 h 27"/>
                  <a:gd name="T16" fmla="*/ 9 w 37"/>
                  <a:gd name="T17" fmla="*/ 18 h 27"/>
                  <a:gd name="T18" fmla="*/ 17 w 37"/>
                  <a:gd name="T19" fmla="*/ 26 h 27"/>
                  <a:gd name="T20" fmla="*/ 26 w 37"/>
                  <a:gd name="T21" fmla="*/ 18 h 27"/>
                  <a:gd name="T22" fmla="*/ 17 w 37"/>
                  <a:gd name="T23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7" h="27">
                    <a:moveTo>
                      <a:pt x="17" y="26"/>
                    </a:moveTo>
                    <a:lnTo>
                      <a:pt x="17" y="26"/>
                    </a:lnTo>
                    <a:cubicBezTo>
                      <a:pt x="9" y="26"/>
                      <a:pt x="0" y="26"/>
                      <a:pt x="0" y="18"/>
                    </a:cubicBezTo>
                    <a:cubicBezTo>
                      <a:pt x="0" y="9"/>
                      <a:pt x="9" y="0"/>
                      <a:pt x="17" y="0"/>
                    </a:cubicBezTo>
                    <a:cubicBezTo>
                      <a:pt x="26" y="0"/>
                      <a:pt x="36" y="9"/>
                      <a:pt x="36" y="18"/>
                    </a:cubicBezTo>
                    <a:cubicBezTo>
                      <a:pt x="36" y="26"/>
                      <a:pt x="26" y="26"/>
                      <a:pt x="17" y="26"/>
                    </a:cubicBezTo>
                    <a:close/>
                    <a:moveTo>
                      <a:pt x="17" y="9"/>
                    </a:moveTo>
                    <a:lnTo>
                      <a:pt x="17" y="9"/>
                    </a:lnTo>
                    <a:cubicBezTo>
                      <a:pt x="9" y="9"/>
                      <a:pt x="9" y="9"/>
                      <a:pt x="9" y="18"/>
                    </a:cubicBezTo>
                    <a:cubicBezTo>
                      <a:pt x="9" y="18"/>
                      <a:pt x="9" y="26"/>
                      <a:pt x="17" y="26"/>
                    </a:cubicBezTo>
                    <a:cubicBezTo>
                      <a:pt x="26" y="26"/>
                      <a:pt x="26" y="18"/>
                      <a:pt x="26" y="18"/>
                    </a:cubicBezTo>
                    <a:cubicBezTo>
                      <a:pt x="26" y="9"/>
                      <a:pt x="26" y="9"/>
                      <a:pt x="17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Freeform 584">
                <a:extLst>
                  <a:ext uri="{FF2B5EF4-FFF2-40B4-BE49-F238E27FC236}">
                    <a16:creationId xmlns:a16="http://schemas.microsoft.com/office/drawing/2014/main" id="{7E9DB2D8-6BE1-E34E-AA25-9CE88CC09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1076" y="4868034"/>
                <a:ext cx="37904" cy="28428"/>
              </a:xfrm>
              <a:custGeom>
                <a:avLst/>
                <a:gdLst>
                  <a:gd name="T0" fmla="*/ 17 w 37"/>
                  <a:gd name="T1" fmla="*/ 27 h 28"/>
                  <a:gd name="T2" fmla="*/ 17 w 37"/>
                  <a:gd name="T3" fmla="*/ 27 h 28"/>
                  <a:gd name="T4" fmla="*/ 0 w 37"/>
                  <a:gd name="T5" fmla="*/ 18 h 28"/>
                  <a:gd name="T6" fmla="*/ 17 w 37"/>
                  <a:gd name="T7" fmla="*/ 0 h 28"/>
                  <a:gd name="T8" fmla="*/ 36 w 37"/>
                  <a:gd name="T9" fmla="*/ 18 h 28"/>
                  <a:gd name="T10" fmla="*/ 17 w 37"/>
                  <a:gd name="T11" fmla="*/ 27 h 28"/>
                  <a:gd name="T12" fmla="*/ 17 w 37"/>
                  <a:gd name="T13" fmla="*/ 9 h 28"/>
                  <a:gd name="T14" fmla="*/ 17 w 37"/>
                  <a:gd name="T15" fmla="*/ 9 h 28"/>
                  <a:gd name="T16" fmla="*/ 9 w 37"/>
                  <a:gd name="T17" fmla="*/ 18 h 28"/>
                  <a:gd name="T18" fmla="*/ 17 w 37"/>
                  <a:gd name="T19" fmla="*/ 27 h 28"/>
                  <a:gd name="T20" fmla="*/ 26 w 37"/>
                  <a:gd name="T21" fmla="*/ 18 h 28"/>
                  <a:gd name="T22" fmla="*/ 17 w 37"/>
                  <a:gd name="T2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7" h="28">
                    <a:moveTo>
                      <a:pt x="17" y="27"/>
                    </a:moveTo>
                    <a:lnTo>
                      <a:pt x="17" y="27"/>
                    </a:lnTo>
                    <a:cubicBezTo>
                      <a:pt x="9" y="27"/>
                      <a:pt x="0" y="27"/>
                      <a:pt x="0" y="18"/>
                    </a:cubicBezTo>
                    <a:cubicBezTo>
                      <a:pt x="0" y="9"/>
                      <a:pt x="9" y="0"/>
                      <a:pt x="17" y="0"/>
                    </a:cubicBezTo>
                    <a:cubicBezTo>
                      <a:pt x="26" y="0"/>
                      <a:pt x="36" y="9"/>
                      <a:pt x="36" y="18"/>
                    </a:cubicBezTo>
                    <a:cubicBezTo>
                      <a:pt x="36" y="27"/>
                      <a:pt x="26" y="27"/>
                      <a:pt x="17" y="27"/>
                    </a:cubicBezTo>
                    <a:close/>
                    <a:moveTo>
                      <a:pt x="17" y="9"/>
                    </a:moveTo>
                    <a:lnTo>
                      <a:pt x="17" y="9"/>
                    </a:lnTo>
                    <a:cubicBezTo>
                      <a:pt x="9" y="9"/>
                      <a:pt x="9" y="9"/>
                      <a:pt x="9" y="18"/>
                    </a:cubicBezTo>
                    <a:cubicBezTo>
                      <a:pt x="9" y="18"/>
                      <a:pt x="9" y="27"/>
                      <a:pt x="17" y="27"/>
                    </a:cubicBezTo>
                    <a:cubicBezTo>
                      <a:pt x="26" y="27"/>
                      <a:pt x="26" y="18"/>
                      <a:pt x="26" y="18"/>
                    </a:cubicBezTo>
                    <a:cubicBezTo>
                      <a:pt x="26" y="9"/>
                      <a:pt x="26" y="9"/>
                      <a:pt x="17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Freeform 585">
                <a:extLst>
                  <a:ext uri="{FF2B5EF4-FFF2-40B4-BE49-F238E27FC236}">
                    <a16:creationId xmlns:a16="http://schemas.microsoft.com/office/drawing/2014/main" id="{8B567D62-4B06-7D49-A128-E88369AAC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55268" y="4868034"/>
                <a:ext cx="28428" cy="28428"/>
              </a:xfrm>
              <a:custGeom>
                <a:avLst/>
                <a:gdLst>
                  <a:gd name="T0" fmla="*/ 18 w 28"/>
                  <a:gd name="T1" fmla="*/ 27 h 28"/>
                  <a:gd name="T2" fmla="*/ 18 w 28"/>
                  <a:gd name="T3" fmla="*/ 27 h 28"/>
                  <a:gd name="T4" fmla="*/ 0 w 28"/>
                  <a:gd name="T5" fmla="*/ 18 h 28"/>
                  <a:gd name="T6" fmla="*/ 18 w 28"/>
                  <a:gd name="T7" fmla="*/ 0 h 28"/>
                  <a:gd name="T8" fmla="*/ 27 w 28"/>
                  <a:gd name="T9" fmla="*/ 18 h 28"/>
                  <a:gd name="T10" fmla="*/ 18 w 28"/>
                  <a:gd name="T11" fmla="*/ 27 h 28"/>
                  <a:gd name="T12" fmla="*/ 18 w 28"/>
                  <a:gd name="T13" fmla="*/ 9 h 28"/>
                  <a:gd name="T14" fmla="*/ 18 w 28"/>
                  <a:gd name="T15" fmla="*/ 9 h 28"/>
                  <a:gd name="T16" fmla="*/ 9 w 28"/>
                  <a:gd name="T17" fmla="*/ 18 h 28"/>
                  <a:gd name="T18" fmla="*/ 18 w 28"/>
                  <a:gd name="T19" fmla="*/ 27 h 28"/>
                  <a:gd name="T20" fmla="*/ 27 w 28"/>
                  <a:gd name="T21" fmla="*/ 18 h 28"/>
                  <a:gd name="T22" fmla="*/ 18 w 28"/>
                  <a:gd name="T2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28">
                    <a:moveTo>
                      <a:pt x="18" y="27"/>
                    </a:moveTo>
                    <a:lnTo>
                      <a:pt x="18" y="27"/>
                    </a:lnTo>
                    <a:cubicBezTo>
                      <a:pt x="9" y="27"/>
                      <a:pt x="0" y="27"/>
                      <a:pt x="0" y="18"/>
                    </a:cubicBezTo>
                    <a:cubicBezTo>
                      <a:pt x="0" y="9"/>
                      <a:pt x="9" y="0"/>
                      <a:pt x="18" y="0"/>
                    </a:cubicBezTo>
                    <a:cubicBezTo>
                      <a:pt x="27" y="0"/>
                      <a:pt x="27" y="9"/>
                      <a:pt x="27" y="18"/>
                    </a:cubicBezTo>
                    <a:cubicBezTo>
                      <a:pt x="27" y="27"/>
                      <a:pt x="27" y="27"/>
                      <a:pt x="18" y="27"/>
                    </a:cubicBezTo>
                    <a:close/>
                    <a:moveTo>
                      <a:pt x="18" y="9"/>
                    </a:moveTo>
                    <a:lnTo>
                      <a:pt x="18" y="9"/>
                    </a:lnTo>
                    <a:cubicBezTo>
                      <a:pt x="9" y="9"/>
                      <a:pt x="9" y="9"/>
                      <a:pt x="9" y="18"/>
                    </a:cubicBezTo>
                    <a:cubicBezTo>
                      <a:pt x="9" y="18"/>
                      <a:pt x="9" y="27"/>
                      <a:pt x="18" y="27"/>
                    </a:cubicBezTo>
                    <a:lnTo>
                      <a:pt x="27" y="18"/>
                    </a:lnTo>
                    <a:cubicBezTo>
                      <a:pt x="27" y="9"/>
                      <a:pt x="18" y="9"/>
                      <a:pt x="18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Freeform 586">
                <a:extLst>
                  <a:ext uri="{FF2B5EF4-FFF2-40B4-BE49-F238E27FC236}">
                    <a16:creationId xmlns:a16="http://schemas.microsoft.com/office/drawing/2014/main" id="{0E77F95E-2F92-9744-BA6D-CB01AD92F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4723" y="4868034"/>
                <a:ext cx="28428" cy="28428"/>
              </a:xfrm>
              <a:custGeom>
                <a:avLst/>
                <a:gdLst>
                  <a:gd name="T0" fmla="*/ 9 w 28"/>
                  <a:gd name="T1" fmla="*/ 27 h 28"/>
                  <a:gd name="T2" fmla="*/ 9 w 28"/>
                  <a:gd name="T3" fmla="*/ 27 h 28"/>
                  <a:gd name="T4" fmla="*/ 0 w 28"/>
                  <a:gd name="T5" fmla="*/ 18 h 28"/>
                  <a:gd name="T6" fmla="*/ 9 w 28"/>
                  <a:gd name="T7" fmla="*/ 0 h 28"/>
                  <a:gd name="T8" fmla="*/ 27 w 28"/>
                  <a:gd name="T9" fmla="*/ 18 h 28"/>
                  <a:gd name="T10" fmla="*/ 9 w 28"/>
                  <a:gd name="T11" fmla="*/ 27 h 28"/>
                  <a:gd name="T12" fmla="*/ 9 w 28"/>
                  <a:gd name="T13" fmla="*/ 9 h 28"/>
                  <a:gd name="T14" fmla="*/ 9 w 28"/>
                  <a:gd name="T15" fmla="*/ 9 h 28"/>
                  <a:gd name="T16" fmla="*/ 0 w 28"/>
                  <a:gd name="T17" fmla="*/ 18 h 28"/>
                  <a:gd name="T18" fmla="*/ 9 w 28"/>
                  <a:gd name="T19" fmla="*/ 27 h 28"/>
                  <a:gd name="T20" fmla="*/ 18 w 28"/>
                  <a:gd name="T21" fmla="*/ 18 h 28"/>
                  <a:gd name="T22" fmla="*/ 9 w 28"/>
                  <a:gd name="T2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28">
                    <a:moveTo>
                      <a:pt x="9" y="27"/>
                    </a:moveTo>
                    <a:lnTo>
                      <a:pt x="9" y="27"/>
                    </a:lnTo>
                    <a:cubicBezTo>
                      <a:pt x="0" y="27"/>
                      <a:pt x="0" y="27"/>
                      <a:pt x="0" y="18"/>
                    </a:cubicBezTo>
                    <a:cubicBezTo>
                      <a:pt x="0" y="9"/>
                      <a:pt x="0" y="0"/>
                      <a:pt x="9" y="0"/>
                    </a:cubicBezTo>
                    <a:cubicBezTo>
                      <a:pt x="18" y="0"/>
                      <a:pt x="27" y="9"/>
                      <a:pt x="27" y="18"/>
                    </a:cubicBezTo>
                    <a:cubicBezTo>
                      <a:pt x="27" y="27"/>
                      <a:pt x="18" y="27"/>
                      <a:pt x="9" y="27"/>
                    </a:cubicBezTo>
                    <a:close/>
                    <a:moveTo>
                      <a:pt x="9" y="9"/>
                    </a:moveTo>
                    <a:lnTo>
                      <a:pt x="9" y="9"/>
                    </a:lnTo>
                    <a:cubicBezTo>
                      <a:pt x="9" y="9"/>
                      <a:pt x="0" y="9"/>
                      <a:pt x="0" y="18"/>
                    </a:cubicBezTo>
                    <a:lnTo>
                      <a:pt x="9" y="27"/>
                    </a:lnTo>
                    <a:cubicBezTo>
                      <a:pt x="18" y="27"/>
                      <a:pt x="18" y="18"/>
                      <a:pt x="18" y="18"/>
                    </a:cubicBezTo>
                    <a:cubicBezTo>
                      <a:pt x="18" y="9"/>
                      <a:pt x="18" y="9"/>
                      <a:pt x="9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Freeform 587">
                <a:extLst>
                  <a:ext uri="{FF2B5EF4-FFF2-40B4-BE49-F238E27FC236}">
                    <a16:creationId xmlns:a16="http://schemas.microsoft.com/office/drawing/2014/main" id="{924A5220-66DD-BD4E-AA8C-A463199D3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55268" y="4934366"/>
                <a:ext cx="28428" cy="28428"/>
              </a:xfrm>
              <a:custGeom>
                <a:avLst/>
                <a:gdLst>
                  <a:gd name="T0" fmla="*/ 18 w 28"/>
                  <a:gd name="T1" fmla="*/ 26 h 27"/>
                  <a:gd name="T2" fmla="*/ 18 w 28"/>
                  <a:gd name="T3" fmla="*/ 26 h 27"/>
                  <a:gd name="T4" fmla="*/ 0 w 28"/>
                  <a:gd name="T5" fmla="*/ 18 h 27"/>
                  <a:gd name="T6" fmla="*/ 18 w 28"/>
                  <a:gd name="T7" fmla="*/ 0 h 27"/>
                  <a:gd name="T8" fmla="*/ 27 w 28"/>
                  <a:gd name="T9" fmla="*/ 18 h 27"/>
                  <a:gd name="T10" fmla="*/ 18 w 28"/>
                  <a:gd name="T11" fmla="*/ 26 h 27"/>
                  <a:gd name="T12" fmla="*/ 18 w 28"/>
                  <a:gd name="T13" fmla="*/ 9 h 27"/>
                  <a:gd name="T14" fmla="*/ 18 w 28"/>
                  <a:gd name="T15" fmla="*/ 9 h 27"/>
                  <a:gd name="T16" fmla="*/ 9 w 28"/>
                  <a:gd name="T17" fmla="*/ 18 h 27"/>
                  <a:gd name="T18" fmla="*/ 18 w 28"/>
                  <a:gd name="T19" fmla="*/ 26 h 27"/>
                  <a:gd name="T20" fmla="*/ 27 w 28"/>
                  <a:gd name="T21" fmla="*/ 18 h 27"/>
                  <a:gd name="T22" fmla="*/ 18 w 28"/>
                  <a:gd name="T23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27">
                    <a:moveTo>
                      <a:pt x="18" y="26"/>
                    </a:moveTo>
                    <a:lnTo>
                      <a:pt x="18" y="26"/>
                    </a:lnTo>
                    <a:cubicBezTo>
                      <a:pt x="9" y="26"/>
                      <a:pt x="0" y="26"/>
                      <a:pt x="0" y="18"/>
                    </a:cubicBezTo>
                    <a:cubicBezTo>
                      <a:pt x="0" y="9"/>
                      <a:pt x="9" y="0"/>
                      <a:pt x="18" y="0"/>
                    </a:cubicBezTo>
                    <a:cubicBezTo>
                      <a:pt x="27" y="0"/>
                      <a:pt x="27" y="9"/>
                      <a:pt x="27" y="18"/>
                    </a:cubicBezTo>
                    <a:cubicBezTo>
                      <a:pt x="27" y="26"/>
                      <a:pt x="27" y="26"/>
                      <a:pt x="18" y="26"/>
                    </a:cubicBezTo>
                    <a:close/>
                    <a:moveTo>
                      <a:pt x="18" y="9"/>
                    </a:moveTo>
                    <a:lnTo>
                      <a:pt x="18" y="9"/>
                    </a:lnTo>
                    <a:cubicBezTo>
                      <a:pt x="9" y="9"/>
                      <a:pt x="9" y="9"/>
                      <a:pt x="9" y="18"/>
                    </a:cubicBezTo>
                    <a:cubicBezTo>
                      <a:pt x="9" y="18"/>
                      <a:pt x="9" y="26"/>
                      <a:pt x="18" y="26"/>
                    </a:cubicBezTo>
                    <a:lnTo>
                      <a:pt x="27" y="18"/>
                    </a:lnTo>
                    <a:cubicBezTo>
                      <a:pt x="27" y="9"/>
                      <a:pt x="18" y="9"/>
                      <a:pt x="18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Freeform 588">
                <a:extLst>
                  <a:ext uri="{FF2B5EF4-FFF2-40B4-BE49-F238E27FC236}">
                    <a16:creationId xmlns:a16="http://schemas.microsoft.com/office/drawing/2014/main" id="{EEA6F7F6-5A62-B444-B9DC-8EB69BB55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4723" y="4934366"/>
                <a:ext cx="28428" cy="28428"/>
              </a:xfrm>
              <a:custGeom>
                <a:avLst/>
                <a:gdLst>
                  <a:gd name="T0" fmla="*/ 9 w 28"/>
                  <a:gd name="T1" fmla="*/ 26 h 27"/>
                  <a:gd name="T2" fmla="*/ 9 w 28"/>
                  <a:gd name="T3" fmla="*/ 26 h 27"/>
                  <a:gd name="T4" fmla="*/ 0 w 28"/>
                  <a:gd name="T5" fmla="*/ 18 h 27"/>
                  <a:gd name="T6" fmla="*/ 9 w 28"/>
                  <a:gd name="T7" fmla="*/ 0 h 27"/>
                  <a:gd name="T8" fmla="*/ 27 w 28"/>
                  <a:gd name="T9" fmla="*/ 18 h 27"/>
                  <a:gd name="T10" fmla="*/ 9 w 28"/>
                  <a:gd name="T11" fmla="*/ 26 h 27"/>
                  <a:gd name="T12" fmla="*/ 9 w 28"/>
                  <a:gd name="T13" fmla="*/ 9 h 27"/>
                  <a:gd name="T14" fmla="*/ 9 w 28"/>
                  <a:gd name="T15" fmla="*/ 9 h 27"/>
                  <a:gd name="T16" fmla="*/ 0 w 28"/>
                  <a:gd name="T17" fmla="*/ 18 h 27"/>
                  <a:gd name="T18" fmla="*/ 9 w 28"/>
                  <a:gd name="T19" fmla="*/ 26 h 27"/>
                  <a:gd name="T20" fmla="*/ 18 w 28"/>
                  <a:gd name="T21" fmla="*/ 18 h 27"/>
                  <a:gd name="T22" fmla="*/ 9 w 28"/>
                  <a:gd name="T23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27">
                    <a:moveTo>
                      <a:pt x="9" y="26"/>
                    </a:moveTo>
                    <a:lnTo>
                      <a:pt x="9" y="26"/>
                    </a:lnTo>
                    <a:cubicBezTo>
                      <a:pt x="0" y="26"/>
                      <a:pt x="0" y="26"/>
                      <a:pt x="0" y="18"/>
                    </a:cubicBezTo>
                    <a:cubicBezTo>
                      <a:pt x="0" y="9"/>
                      <a:pt x="0" y="0"/>
                      <a:pt x="9" y="0"/>
                    </a:cubicBezTo>
                    <a:cubicBezTo>
                      <a:pt x="18" y="0"/>
                      <a:pt x="27" y="9"/>
                      <a:pt x="27" y="18"/>
                    </a:cubicBezTo>
                    <a:cubicBezTo>
                      <a:pt x="27" y="26"/>
                      <a:pt x="18" y="26"/>
                      <a:pt x="9" y="26"/>
                    </a:cubicBezTo>
                    <a:close/>
                    <a:moveTo>
                      <a:pt x="9" y="9"/>
                    </a:moveTo>
                    <a:lnTo>
                      <a:pt x="9" y="9"/>
                    </a:lnTo>
                    <a:cubicBezTo>
                      <a:pt x="9" y="9"/>
                      <a:pt x="0" y="9"/>
                      <a:pt x="0" y="18"/>
                    </a:cubicBezTo>
                    <a:lnTo>
                      <a:pt x="9" y="26"/>
                    </a:lnTo>
                    <a:cubicBezTo>
                      <a:pt x="18" y="26"/>
                      <a:pt x="18" y="18"/>
                      <a:pt x="18" y="18"/>
                    </a:cubicBezTo>
                    <a:cubicBezTo>
                      <a:pt x="18" y="9"/>
                      <a:pt x="18" y="9"/>
                      <a:pt x="9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 589">
                <a:extLst>
                  <a:ext uri="{FF2B5EF4-FFF2-40B4-BE49-F238E27FC236}">
                    <a16:creationId xmlns:a16="http://schemas.microsoft.com/office/drawing/2014/main" id="{96B290ED-0B76-3546-8714-94F3DFD6F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1076" y="4801701"/>
                <a:ext cx="37904" cy="28428"/>
              </a:xfrm>
              <a:custGeom>
                <a:avLst/>
                <a:gdLst>
                  <a:gd name="T0" fmla="*/ 17 w 37"/>
                  <a:gd name="T1" fmla="*/ 27 h 28"/>
                  <a:gd name="T2" fmla="*/ 17 w 37"/>
                  <a:gd name="T3" fmla="*/ 27 h 28"/>
                  <a:gd name="T4" fmla="*/ 0 w 37"/>
                  <a:gd name="T5" fmla="*/ 18 h 28"/>
                  <a:gd name="T6" fmla="*/ 17 w 37"/>
                  <a:gd name="T7" fmla="*/ 0 h 28"/>
                  <a:gd name="T8" fmla="*/ 36 w 37"/>
                  <a:gd name="T9" fmla="*/ 18 h 28"/>
                  <a:gd name="T10" fmla="*/ 17 w 37"/>
                  <a:gd name="T11" fmla="*/ 27 h 28"/>
                  <a:gd name="T12" fmla="*/ 17 w 37"/>
                  <a:gd name="T13" fmla="*/ 9 h 28"/>
                  <a:gd name="T14" fmla="*/ 17 w 37"/>
                  <a:gd name="T15" fmla="*/ 9 h 28"/>
                  <a:gd name="T16" fmla="*/ 9 w 37"/>
                  <a:gd name="T17" fmla="*/ 18 h 28"/>
                  <a:gd name="T18" fmla="*/ 17 w 37"/>
                  <a:gd name="T19" fmla="*/ 27 h 28"/>
                  <a:gd name="T20" fmla="*/ 26 w 37"/>
                  <a:gd name="T21" fmla="*/ 18 h 28"/>
                  <a:gd name="T22" fmla="*/ 17 w 37"/>
                  <a:gd name="T2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7" h="28">
                    <a:moveTo>
                      <a:pt x="17" y="27"/>
                    </a:moveTo>
                    <a:lnTo>
                      <a:pt x="17" y="27"/>
                    </a:lnTo>
                    <a:cubicBezTo>
                      <a:pt x="9" y="27"/>
                      <a:pt x="0" y="27"/>
                      <a:pt x="0" y="18"/>
                    </a:cubicBezTo>
                    <a:cubicBezTo>
                      <a:pt x="0" y="9"/>
                      <a:pt x="9" y="0"/>
                      <a:pt x="17" y="0"/>
                    </a:cubicBezTo>
                    <a:cubicBezTo>
                      <a:pt x="26" y="0"/>
                      <a:pt x="36" y="9"/>
                      <a:pt x="36" y="18"/>
                    </a:cubicBezTo>
                    <a:cubicBezTo>
                      <a:pt x="36" y="27"/>
                      <a:pt x="26" y="27"/>
                      <a:pt x="17" y="27"/>
                    </a:cubicBezTo>
                    <a:close/>
                    <a:moveTo>
                      <a:pt x="17" y="9"/>
                    </a:moveTo>
                    <a:lnTo>
                      <a:pt x="17" y="9"/>
                    </a:lnTo>
                    <a:cubicBezTo>
                      <a:pt x="9" y="9"/>
                      <a:pt x="9" y="9"/>
                      <a:pt x="9" y="18"/>
                    </a:cubicBezTo>
                    <a:cubicBezTo>
                      <a:pt x="9" y="18"/>
                      <a:pt x="9" y="27"/>
                      <a:pt x="17" y="27"/>
                    </a:cubicBezTo>
                    <a:cubicBezTo>
                      <a:pt x="26" y="27"/>
                      <a:pt x="26" y="18"/>
                      <a:pt x="26" y="18"/>
                    </a:cubicBezTo>
                    <a:cubicBezTo>
                      <a:pt x="26" y="9"/>
                      <a:pt x="26" y="9"/>
                      <a:pt x="17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Freeform 590">
                <a:extLst>
                  <a:ext uri="{FF2B5EF4-FFF2-40B4-BE49-F238E27FC236}">
                    <a16:creationId xmlns:a16="http://schemas.microsoft.com/office/drawing/2014/main" id="{3CBEB1C0-77A5-4441-A3A5-CF8A5E6C5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55268" y="4801701"/>
                <a:ext cx="28428" cy="28428"/>
              </a:xfrm>
              <a:custGeom>
                <a:avLst/>
                <a:gdLst>
                  <a:gd name="T0" fmla="*/ 18 w 28"/>
                  <a:gd name="T1" fmla="*/ 27 h 28"/>
                  <a:gd name="T2" fmla="*/ 18 w 28"/>
                  <a:gd name="T3" fmla="*/ 27 h 28"/>
                  <a:gd name="T4" fmla="*/ 0 w 28"/>
                  <a:gd name="T5" fmla="*/ 18 h 28"/>
                  <a:gd name="T6" fmla="*/ 18 w 28"/>
                  <a:gd name="T7" fmla="*/ 0 h 28"/>
                  <a:gd name="T8" fmla="*/ 27 w 28"/>
                  <a:gd name="T9" fmla="*/ 18 h 28"/>
                  <a:gd name="T10" fmla="*/ 18 w 28"/>
                  <a:gd name="T11" fmla="*/ 27 h 28"/>
                  <a:gd name="T12" fmla="*/ 18 w 28"/>
                  <a:gd name="T13" fmla="*/ 9 h 28"/>
                  <a:gd name="T14" fmla="*/ 18 w 28"/>
                  <a:gd name="T15" fmla="*/ 9 h 28"/>
                  <a:gd name="T16" fmla="*/ 9 w 28"/>
                  <a:gd name="T17" fmla="*/ 18 h 28"/>
                  <a:gd name="T18" fmla="*/ 18 w 28"/>
                  <a:gd name="T19" fmla="*/ 27 h 28"/>
                  <a:gd name="T20" fmla="*/ 27 w 28"/>
                  <a:gd name="T21" fmla="*/ 18 h 28"/>
                  <a:gd name="T22" fmla="*/ 18 w 28"/>
                  <a:gd name="T2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28">
                    <a:moveTo>
                      <a:pt x="18" y="27"/>
                    </a:moveTo>
                    <a:lnTo>
                      <a:pt x="18" y="27"/>
                    </a:lnTo>
                    <a:cubicBezTo>
                      <a:pt x="9" y="27"/>
                      <a:pt x="0" y="27"/>
                      <a:pt x="0" y="18"/>
                    </a:cubicBezTo>
                    <a:cubicBezTo>
                      <a:pt x="0" y="9"/>
                      <a:pt x="9" y="0"/>
                      <a:pt x="18" y="0"/>
                    </a:cubicBezTo>
                    <a:cubicBezTo>
                      <a:pt x="27" y="0"/>
                      <a:pt x="27" y="9"/>
                      <a:pt x="27" y="18"/>
                    </a:cubicBezTo>
                    <a:cubicBezTo>
                      <a:pt x="27" y="27"/>
                      <a:pt x="27" y="27"/>
                      <a:pt x="18" y="27"/>
                    </a:cubicBezTo>
                    <a:close/>
                    <a:moveTo>
                      <a:pt x="18" y="9"/>
                    </a:moveTo>
                    <a:lnTo>
                      <a:pt x="18" y="9"/>
                    </a:lnTo>
                    <a:cubicBezTo>
                      <a:pt x="9" y="9"/>
                      <a:pt x="9" y="9"/>
                      <a:pt x="9" y="18"/>
                    </a:cubicBezTo>
                    <a:cubicBezTo>
                      <a:pt x="9" y="18"/>
                      <a:pt x="9" y="27"/>
                      <a:pt x="18" y="27"/>
                    </a:cubicBezTo>
                    <a:lnTo>
                      <a:pt x="27" y="18"/>
                    </a:lnTo>
                    <a:cubicBezTo>
                      <a:pt x="27" y="9"/>
                      <a:pt x="18" y="9"/>
                      <a:pt x="18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Freeform 591">
                <a:extLst>
                  <a:ext uri="{FF2B5EF4-FFF2-40B4-BE49-F238E27FC236}">
                    <a16:creationId xmlns:a16="http://schemas.microsoft.com/office/drawing/2014/main" id="{78323E34-D56D-8140-8228-77B7ABC43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4723" y="4801701"/>
                <a:ext cx="28428" cy="28428"/>
              </a:xfrm>
              <a:custGeom>
                <a:avLst/>
                <a:gdLst>
                  <a:gd name="T0" fmla="*/ 9 w 28"/>
                  <a:gd name="T1" fmla="*/ 27 h 28"/>
                  <a:gd name="T2" fmla="*/ 9 w 28"/>
                  <a:gd name="T3" fmla="*/ 27 h 28"/>
                  <a:gd name="T4" fmla="*/ 0 w 28"/>
                  <a:gd name="T5" fmla="*/ 18 h 28"/>
                  <a:gd name="T6" fmla="*/ 9 w 28"/>
                  <a:gd name="T7" fmla="*/ 0 h 28"/>
                  <a:gd name="T8" fmla="*/ 27 w 28"/>
                  <a:gd name="T9" fmla="*/ 18 h 28"/>
                  <a:gd name="T10" fmla="*/ 9 w 28"/>
                  <a:gd name="T11" fmla="*/ 27 h 28"/>
                  <a:gd name="T12" fmla="*/ 9 w 28"/>
                  <a:gd name="T13" fmla="*/ 9 h 28"/>
                  <a:gd name="T14" fmla="*/ 9 w 28"/>
                  <a:gd name="T15" fmla="*/ 9 h 28"/>
                  <a:gd name="T16" fmla="*/ 0 w 28"/>
                  <a:gd name="T17" fmla="*/ 18 h 28"/>
                  <a:gd name="T18" fmla="*/ 9 w 28"/>
                  <a:gd name="T19" fmla="*/ 27 h 28"/>
                  <a:gd name="T20" fmla="*/ 18 w 28"/>
                  <a:gd name="T21" fmla="*/ 18 h 28"/>
                  <a:gd name="T22" fmla="*/ 9 w 28"/>
                  <a:gd name="T2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28">
                    <a:moveTo>
                      <a:pt x="9" y="27"/>
                    </a:moveTo>
                    <a:lnTo>
                      <a:pt x="9" y="27"/>
                    </a:lnTo>
                    <a:cubicBezTo>
                      <a:pt x="0" y="27"/>
                      <a:pt x="0" y="27"/>
                      <a:pt x="0" y="18"/>
                    </a:cubicBezTo>
                    <a:cubicBezTo>
                      <a:pt x="0" y="9"/>
                      <a:pt x="0" y="0"/>
                      <a:pt x="9" y="0"/>
                    </a:cubicBezTo>
                    <a:cubicBezTo>
                      <a:pt x="18" y="0"/>
                      <a:pt x="27" y="9"/>
                      <a:pt x="27" y="18"/>
                    </a:cubicBezTo>
                    <a:cubicBezTo>
                      <a:pt x="27" y="27"/>
                      <a:pt x="18" y="27"/>
                      <a:pt x="9" y="27"/>
                    </a:cubicBezTo>
                    <a:close/>
                    <a:moveTo>
                      <a:pt x="9" y="9"/>
                    </a:moveTo>
                    <a:lnTo>
                      <a:pt x="9" y="9"/>
                    </a:lnTo>
                    <a:cubicBezTo>
                      <a:pt x="9" y="9"/>
                      <a:pt x="0" y="9"/>
                      <a:pt x="0" y="18"/>
                    </a:cubicBezTo>
                    <a:lnTo>
                      <a:pt x="9" y="27"/>
                    </a:lnTo>
                    <a:cubicBezTo>
                      <a:pt x="18" y="27"/>
                      <a:pt x="18" y="18"/>
                      <a:pt x="18" y="18"/>
                    </a:cubicBezTo>
                    <a:cubicBezTo>
                      <a:pt x="18" y="9"/>
                      <a:pt x="18" y="9"/>
                      <a:pt x="9" y="9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Freeform 592">
                <a:extLst>
                  <a:ext uri="{FF2B5EF4-FFF2-40B4-BE49-F238E27FC236}">
                    <a16:creationId xmlns:a16="http://schemas.microsoft.com/office/drawing/2014/main" id="{D8FB7895-35C3-FD45-ADD2-EDBDFBB7F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8456" y="4905938"/>
                <a:ext cx="289020" cy="104236"/>
              </a:xfrm>
              <a:custGeom>
                <a:avLst/>
                <a:gdLst>
                  <a:gd name="T0" fmla="*/ 135 w 270"/>
                  <a:gd name="T1" fmla="*/ 98 h 99"/>
                  <a:gd name="T2" fmla="*/ 135 w 270"/>
                  <a:gd name="T3" fmla="*/ 98 h 99"/>
                  <a:gd name="T4" fmla="*/ 45 w 270"/>
                  <a:gd name="T5" fmla="*/ 89 h 99"/>
                  <a:gd name="T6" fmla="*/ 18 w 270"/>
                  <a:gd name="T7" fmla="*/ 80 h 99"/>
                  <a:gd name="T8" fmla="*/ 0 w 270"/>
                  <a:gd name="T9" fmla="*/ 62 h 99"/>
                  <a:gd name="T10" fmla="*/ 0 w 270"/>
                  <a:gd name="T11" fmla="*/ 9 h 99"/>
                  <a:gd name="T12" fmla="*/ 9 w 270"/>
                  <a:gd name="T13" fmla="*/ 0 h 99"/>
                  <a:gd name="T14" fmla="*/ 9 w 270"/>
                  <a:gd name="T15" fmla="*/ 0 h 99"/>
                  <a:gd name="T16" fmla="*/ 27 w 270"/>
                  <a:gd name="T17" fmla="*/ 9 h 99"/>
                  <a:gd name="T18" fmla="*/ 54 w 270"/>
                  <a:gd name="T19" fmla="*/ 18 h 99"/>
                  <a:gd name="T20" fmla="*/ 126 w 270"/>
                  <a:gd name="T21" fmla="*/ 27 h 99"/>
                  <a:gd name="T22" fmla="*/ 144 w 270"/>
                  <a:gd name="T23" fmla="*/ 27 h 99"/>
                  <a:gd name="T24" fmla="*/ 215 w 270"/>
                  <a:gd name="T25" fmla="*/ 18 h 99"/>
                  <a:gd name="T26" fmla="*/ 251 w 270"/>
                  <a:gd name="T27" fmla="*/ 9 h 99"/>
                  <a:gd name="T28" fmla="*/ 260 w 270"/>
                  <a:gd name="T29" fmla="*/ 0 h 99"/>
                  <a:gd name="T30" fmla="*/ 260 w 270"/>
                  <a:gd name="T31" fmla="*/ 0 h 99"/>
                  <a:gd name="T32" fmla="*/ 269 w 270"/>
                  <a:gd name="T33" fmla="*/ 9 h 99"/>
                  <a:gd name="T34" fmla="*/ 269 w 270"/>
                  <a:gd name="T35" fmla="*/ 9 h 99"/>
                  <a:gd name="T36" fmla="*/ 269 w 270"/>
                  <a:gd name="T37" fmla="*/ 9 h 99"/>
                  <a:gd name="T38" fmla="*/ 269 w 270"/>
                  <a:gd name="T39" fmla="*/ 9 h 99"/>
                  <a:gd name="T40" fmla="*/ 269 w 270"/>
                  <a:gd name="T41" fmla="*/ 62 h 99"/>
                  <a:gd name="T42" fmla="*/ 224 w 270"/>
                  <a:gd name="T43" fmla="*/ 89 h 99"/>
                  <a:gd name="T44" fmla="*/ 135 w 270"/>
                  <a:gd name="T45" fmla="*/ 98 h 99"/>
                  <a:gd name="T46" fmla="*/ 27 w 270"/>
                  <a:gd name="T47" fmla="*/ 53 h 99"/>
                  <a:gd name="T48" fmla="*/ 27 w 270"/>
                  <a:gd name="T49" fmla="*/ 53 h 99"/>
                  <a:gd name="T50" fmla="*/ 63 w 270"/>
                  <a:gd name="T51" fmla="*/ 72 h 99"/>
                  <a:gd name="T52" fmla="*/ 135 w 270"/>
                  <a:gd name="T53" fmla="*/ 72 h 99"/>
                  <a:gd name="T54" fmla="*/ 215 w 270"/>
                  <a:gd name="T55" fmla="*/ 72 h 99"/>
                  <a:gd name="T56" fmla="*/ 251 w 270"/>
                  <a:gd name="T57" fmla="*/ 53 h 99"/>
                  <a:gd name="T58" fmla="*/ 251 w 270"/>
                  <a:gd name="T59" fmla="*/ 36 h 99"/>
                  <a:gd name="T60" fmla="*/ 233 w 270"/>
                  <a:gd name="T61" fmla="*/ 36 h 99"/>
                  <a:gd name="T62" fmla="*/ 144 w 270"/>
                  <a:gd name="T63" fmla="*/ 45 h 99"/>
                  <a:gd name="T64" fmla="*/ 126 w 270"/>
                  <a:gd name="T65" fmla="*/ 45 h 99"/>
                  <a:gd name="T66" fmla="*/ 45 w 270"/>
                  <a:gd name="T67" fmla="*/ 36 h 99"/>
                  <a:gd name="T68" fmla="*/ 27 w 270"/>
                  <a:gd name="T69" fmla="*/ 36 h 99"/>
                  <a:gd name="T70" fmla="*/ 27 w 270"/>
                  <a:gd name="T71" fmla="*/ 53 h 99"/>
                  <a:gd name="T72" fmla="*/ 251 w 270"/>
                  <a:gd name="T73" fmla="*/ 62 h 99"/>
                  <a:gd name="T74" fmla="*/ 251 w 270"/>
                  <a:gd name="T75" fmla="*/ 62 h 99"/>
                  <a:gd name="T76" fmla="*/ 27 w 270"/>
                  <a:gd name="T77" fmla="*/ 9 h 99"/>
                  <a:gd name="T78" fmla="*/ 27 w 270"/>
                  <a:gd name="T79" fmla="*/ 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0" h="99">
                    <a:moveTo>
                      <a:pt x="135" y="98"/>
                    </a:moveTo>
                    <a:lnTo>
                      <a:pt x="135" y="98"/>
                    </a:lnTo>
                    <a:cubicBezTo>
                      <a:pt x="99" y="98"/>
                      <a:pt x="72" y="98"/>
                      <a:pt x="45" y="89"/>
                    </a:cubicBezTo>
                    <a:cubicBezTo>
                      <a:pt x="36" y="89"/>
                      <a:pt x="27" y="80"/>
                      <a:pt x="18" y="80"/>
                    </a:cubicBezTo>
                    <a:cubicBezTo>
                      <a:pt x="9" y="72"/>
                      <a:pt x="0" y="72"/>
                      <a:pt x="0" y="6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0"/>
                      <a:pt x="9" y="0"/>
                      <a:pt x="9" y="0"/>
                    </a:cubicBezTo>
                    <a:lnTo>
                      <a:pt x="9" y="0"/>
                    </a:lnTo>
                    <a:cubicBezTo>
                      <a:pt x="18" y="0"/>
                      <a:pt x="27" y="0"/>
                      <a:pt x="27" y="9"/>
                    </a:cubicBezTo>
                    <a:cubicBezTo>
                      <a:pt x="27" y="9"/>
                      <a:pt x="36" y="9"/>
                      <a:pt x="54" y="18"/>
                    </a:cubicBezTo>
                    <a:cubicBezTo>
                      <a:pt x="72" y="18"/>
                      <a:pt x="99" y="18"/>
                      <a:pt x="126" y="27"/>
                    </a:cubicBezTo>
                    <a:cubicBezTo>
                      <a:pt x="135" y="27"/>
                      <a:pt x="144" y="27"/>
                      <a:pt x="144" y="27"/>
                    </a:cubicBezTo>
                    <a:cubicBezTo>
                      <a:pt x="171" y="18"/>
                      <a:pt x="197" y="18"/>
                      <a:pt x="215" y="18"/>
                    </a:cubicBezTo>
                    <a:cubicBezTo>
                      <a:pt x="242" y="9"/>
                      <a:pt x="242" y="9"/>
                      <a:pt x="251" y="9"/>
                    </a:cubicBezTo>
                    <a:cubicBezTo>
                      <a:pt x="251" y="0"/>
                      <a:pt x="251" y="0"/>
                      <a:pt x="260" y="0"/>
                    </a:cubicBezTo>
                    <a:lnTo>
                      <a:pt x="260" y="0"/>
                    </a:lnTo>
                    <a:cubicBezTo>
                      <a:pt x="269" y="0"/>
                      <a:pt x="269" y="0"/>
                      <a:pt x="269" y="9"/>
                    </a:cubicBezTo>
                    <a:lnTo>
                      <a:pt x="269" y="9"/>
                    </a:lnTo>
                    <a:lnTo>
                      <a:pt x="269" y="9"/>
                    </a:lnTo>
                    <a:lnTo>
                      <a:pt x="269" y="9"/>
                    </a:lnTo>
                    <a:cubicBezTo>
                      <a:pt x="269" y="62"/>
                      <a:pt x="269" y="62"/>
                      <a:pt x="269" y="62"/>
                    </a:cubicBezTo>
                    <a:cubicBezTo>
                      <a:pt x="269" y="80"/>
                      <a:pt x="242" y="89"/>
                      <a:pt x="224" y="89"/>
                    </a:cubicBezTo>
                    <a:cubicBezTo>
                      <a:pt x="197" y="98"/>
                      <a:pt x="171" y="98"/>
                      <a:pt x="135" y="98"/>
                    </a:cubicBezTo>
                    <a:close/>
                    <a:moveTo>
                      <a:pt x="27" y="53"/>
                    </a:moveTo>
                    <a:lnTo>
                      <a:pt x="27" y="53"/>
                    </a:lnTo>
                    <a:cubicBezTo>
                      <a:pt x="27" y="62"/>
                      <a:pt x="36" y="62"/>
                      <a:pt x="63" y="72"/>
                    </a:cubicBezTo>
                    <a:cubicBezTo>
                      <a:pt x="81" y="72"/>
                      <a:pt x="108" y="72"/>
                      <a:pt x="135" y="72"/>
                    </a:cubicBezTo>
                    <a:cubicBezTo>
                      <a:pt x="162" y="72"/>
                      <a:pt x="189" y="72"/>
                      <a:pt x="215" y="72"/>
                    </a:cubicBezTo>
                    <a:cubicBezTo>
                      <a:pt x="233" y="62"/>
                      <a:pt x="242" y="62"/>
                      <a:pt x="251" y="53"/>
                    </a:cubicBezTo>
                    <a:cubicBezTo>
                      <a:pt x="251" y="36"/>
                      <a:pt x="251" y="36"/>
                      <a:pt x="251" y="36"/>
                    </a:cubicBezTo>
                    <a:cubicBezTo>
                      <a:pt x="242" y="36"/>
                      <a:pt x="233" y="36"/>
                      <a:pt x="233" y="36"/>
                    </a:cubicBezTo>
                    <a:cubicBezTo>
                      <a:pt x="207" y="45"/>
                      <a:pt x="180" y="45"/>
                      <a:pt x="144" y="45"/>
                    </a:cubicBezTo>
                    <a:cubicBezTo>
                      <a:pt x="144" y="45"/>
                      <a:pt x="135" y="45"/>
                      <a:pt x="126" y="45"/>
                    </a:cubicBezTo>
                    <a:cubicBezTo>
                      <a:pt x="99" y="45"/>
                      <a:pt x="63" y="45"/>
                      <a:pt x="45" y="36"/>
                    </a:cubicBezTo>
                    <a:cubicBezTo>
                      <a:pt x="36" y="36"/>
                      <a:pt x="27" y="36"/>
                      <a:pt x="27" y="36"/>
                    </a:cubicBezTo>
                    <a:lnTo>
                      <a:pt x="27" y="53"/>
                    </a:lnTo>
                    <a:close/>
                    <a:moveTo>
                      <a:pt x="251" y="62"/>
                    </a:moveTo>
                    <a:lnTo>
                      <a:pt x="251" y="62"/>
                    </a:lnTo>
                    <a:close/>
                    <a:moveTo>
                      <a:pt x="27" y="9"/>
                    </a:moveTo>
                    <a:lnTo>
                      <a:pt x="27" y="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Freeform 593">
                <a:extLst>
                  <a:ext uri="{FF2B5EF4-FFF2-40B4-BE49-F238E27FC236}">
                    <a16:creationId xmlns:a16="http://schemas.microsoft.com/office/drawing/2014/main" id="{44BE0EA3-3669-C144-B58C-B1DFB91A9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8456" y="4958057"/>
                <a:ext cx="289020" cy="113712"/>
              </a:xfrm>
              <a:custGeom>
                <a:avLst/>
                <a:gdLst>
                  <a:gd name="T0" fmla="*/ 135 w 270"/>
                  <a:gd name="T1" fmla="*/ 107 h 108"/>
                  <a:gd name="T2" fmla="*/ 135 w 270"/>
                  <a:gd name="T3" fmla="*/ 107 h 108"/>
                  <a:gd name="T4" fmla="*/ 45 w 270"/>
                  <a:gd name="T5" fmla="*/ 98 h 108"/>
                  <a:gd name="T6" fmla="*/ 18 w 270"/>
                  <a:gd name="T7" fmla="*/ 89 h 108"/>
                  <a:gd name="T8" fmla="*/ 0 w 270"/>
                  <a:gd name="T9" fmla="*/ 62 h 108"/>
                  <a:gd name="T10" fmla="*/ 0 w 270"/>
                  <a:gd name="T11" fmla="*/ 17 h 108"/>
                  <a:gd name="T12" fmla="*/ 9 w 270"/>
                  <a:gd name="T13" fmla="*/ 0 h 108"/>
                  <a:gd name="T14" fmla="*/ 9 w 270"/>
                  <a:gd name="T15" fmla="*/ 0 h 108"/>
                  <a:gd name="T16" fmla="*/ 27 w 270"/>
                  <a:gd name="T17" fmla="*/ 8 h 108"/>
                  <a:gd name="T18" fmla="*/ 54 w 270"/>
                  <a:gd name="T19" fmla="*/ 27 h 108"/>
                  <a:gd name="T20" fmla="*/ 126 w 270"/>
                  <a:gd name="T21" fmla="*/ 27 h 108"/>
                  <a:gd name="T22" fmla="*/ 144 w 270"/>
                  <a:gd name="T23" fmla="*/ 27 h 108"/>
                  <a:gd name="T24" fmla="*/ 215 w 270"/>
                  <a:gd name="T25" fmla="*/ 27 h 108"/>
                  <a:gd name="T26" fmla="*/ 251 w 270"/>
                  <a:gd name="T27" fmla="*/ 8 h 108"/>
                  <a:gd name="T28" fmla="*/ 260 w 270"/>
                  <a:gd name="T29" fmla="*/ 0 h 108"/>
                  <a:gd name="T30" fmla="*/ 260 w 270"/>
                  <a:gd name="T31" fmla="*/ 0 h 108"/>
                  <a:gd name="T32" fmla="*/ 269 w 270"/>
                  <a:gd name="T33" fmla="*/ 17 h 108"/>
                  <a:gd name="T34" fmla="*/ 269 w 270"/>
                  <a:gd name="T35" fmla="*/ 17 h 108"/>
                  <a:gd name="T36" fmla="*/ 269 w 270"/>
                  <a:gd name="T37" fmla="*/ 17 h 108"/>
                  <a:gd name="T38" fmla="*/ 269 w 270"/>
                  <a:gd name="T39" fmla="*/ 17 h 108"/>
                  <a:gd name="T40" fmla="*/ 269 w 270"/>
                  <a:gd name="T41" fmla="*/ 62 h 108"/>
                  <a:gd name="T42" fmla="*/ 224 w 270"/>
                  <a:gd name="T43" fmla="*/ 98 h 108"/>
                  <a:gd name="T44" fmla="*/ 135 w 270"/>
                  <a:gd name="T45" fmla="*/ 107 h 108"/>
                  <a:gd name="T46" fmla="*/ 27 w 270"/>
                  <a:gd name="T47" fmla="*/ 62 h 108"/>
                  <a:gd name="T48" fmla="*/ 27 w 270"/>
                  <a:gd name="T49" fmla="*/ 62 h 108"/>
                  <a:gd name="T50" fmla="*/ 63 w 270"/>
                  <a:gd name="T51" fmla="*/ 71 h 108"/>
                  <a:gd name="T52" fmla="*/ 135 w 270"/>
                  <a:gd name="T53" fmla="*/ 80 h 108"/>
                  <a:gd name="T54" fmla="*/ 215 w 270"/>
                  <a:gd name="T55" fmla="*/ 71 h 108"/>
                  <a:gd name="T56" fmla="*/ 251 w 270"/>
                  <a:gd name="T57" fmla="*/ 62 h 108"/>
                  <a:gd name="T58" fmla="*/ 251 w 270"/>
                  <a:gd name="T59" fmla="*/ 35 h 108"/>
                  <a:gd name="T60" fmla="*/ 233 w 270"/>
                  <a:gd name="T61" fmla="*/ 44 h 108"/>
                  <a:gd name="T62" fmla="*/ 144 w 270"/>
                  <a:gd name="T63" fmla="*/ 53 h 108"/>
                  <a:gd name="T64" fmla="*/ 126 w 270"/>
                  <a:gd name="T65" fmla="*/ 53 h 108"/>
                  <a:gd name="T66" fmla="*/ 45 w 270"/>
                  <a:gd name="T67" fmla="*/ 44 h 108"/>
                  <a:gd name="T68" fmla="*/ 27 w 270"/>
                  <a:gd name="T69" fmla="*/ 35 h 108"/>
                  <a:gd name="T70" fmla="*/ 27 w 270"/>
                  <a:gd name="T71" fmla="*/ 62 h 108"/>
                  <a:gd name="T72" fmla="*/ 251 w 270"/>
                  <a:gd name="T73" fmla="*/ 62 h 108"/>
                  <a:gd name="T74" fmla="*/ 251 w 270"/>
                  <a:gd name="T75" fmla="*/ 62 h 108"/>
                  <a:gd name="T76" fmla="*/ 27 w 270"/>
                  <a:gd name="T77" fmla="*/ 17 h 108"/>
                  <a:gd name="T78" fmla="*/ 27 w 270"/>
                  <a:gd name="T79" fmla="*/ 17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0" h="108">
                    <a:moveTo>
                      <a:pt x="135" y="107"/>
                    </a:moveTo>
                    <a:lnTo>
                      <a:pt x="135" y="107"/>
                    </a:lnTo>
                    <a:cubicBezTo>
                      <a:pt x="99" y="107"/>
                      <a:pt x="72" y="98"/>
                      <a:pt x="45" y="98"/>
                    </a:cubicBezTo>
                    <a:cubicBezTo>
                      <a:pt x="36" y="98"/>
                      <a:pt x="27" y="89"/>
                      <a:pt x="18" y="89"/>
                    </a:cubicBezTo>
                    <a:cubicBezTo>
                      <a:pt x="9" y="80"/>
                      <a:pt x="0" y="71"/>
                      <a:pt x="0" y="6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9" y="0"/>
                      <a:pt x="9" y="0"/>
                    </a:cubicBezTo>
                    <a:lnTo>
                      <a:pt x="9" y="0"/>
                    </a:lnTo>
                    <a:cubicBezTo>
                      <a:pt x="18" y="0"/>
                      <a:pt x="27" y="8"/>
                      <a:pt x="27" y="8"/>
                    </a:cubicBezTo>
                    <a:cubicBezTo>
                      <a:pt x="27" y="17"/>
                      <a:pt x="36" y="17"/>
                      <a:pt x="54" y="27"/>
                    </a:cubicBezTo>
                    <a:cubicBezTo>
                      <a:pt x="72" y="27"/>
                      <a:pt x="99" y="27"/>
                      <a:pt x="126" y="27"/>
                    </a:cubicBezTo>
                    <a:cubicBezTo>
                      <a:pt x="135" y="27"/>
                      <a:pt x="144" y="27"/>
                      <a:pt x="144" y="27"/>
                    </a:cubicBezTo>
                    <a:cubicBezTo>
                      <a:pt x="171" y="27"/>
                      <a:pt x="197" y="27"/>
                      <a:pt x="215" y="27"/>
                    </a:cubicBezTo>
                    <a:cubicBezTo>
                      <a:pt x="242" y="17"/>
                      <a:pt x="242" y="17"/>
                      <a:pt x="251" y="8"/>
                    </a:cubicBezTo>
                    <a:cubicBezTo>
                      <a:pt x="251" y="8"/>
                      <a:pt x="251" y="0"/>
                      <a:pt x="260" y="0"/>
                    </a:cubicBezTo>
                    <a:lnTo>
                      <a:pt x="260" y="0"/>
                    </a:lnTo>
                    <a:cubicBezTo>
                      <a:pt x="269" y="0"/>
                      <a:pt x="269" y="8"/>
                      <a:pt x="269" y="17"/>
                    </a:cubicBezTo>
                    <a:lnTo>
                      <a:pt x="269" y="17"/>
                    </a:lnTo>
                    <a:lnTo>
                      <a:pt x="269" y="17"/>
                    </a:lnTo>
                    <a:lnTo>
                      <a:pt x="269" y="17"/>
                    </a:lnTo>
                    <a:cubicBezTo>
                      <a:pt x="269" y="62"/>
                      <a:pt x="269" y="62"/>
                      <a:pt x="269" y="62"/>
                    </a:cubicBezTo>
                    <a:cubicBezTo>
                      <a:pt x="269" y="80"/>
                      <a:pt x="242" y="89"/>
                      <a:pt x="224" y="98"/>
                    </a:cubicBezTo>
                    <a:cubicBezTo>
                      <a:pt x="197" y="98"/>
                      <a:pt x="171" y="107"/>
                      <a:pt x="135" y="107"/>
                    </a:cubicBezTo>
                    <a:close/>
                    <a:moveTo>
                      <a:pt x="27" y="62"/>
                    </a:moveTo>
                    <a:lnTo>
                      <a:pt x="27" y="62"/>
                    </a:lnTo>
                    <a:cubicBezTo>
                      <a:pt x="27" y="62"/>
                      <a:pt x="36" y="71"/>
                      <a:pt x="63" y="71"/>
                    </a:cubicBezTo>
                    <a:cubicBezTo>
                      <a:pt x="81" y="80"/>
                      <a:pt x="108" y="80"/>
                      <a:pt x="135" y="80"/>
                    </a:cubicBezTo>
                    <a:cubicBezTo>
                      <a:pt x="162" y="80"/>
                      <a:pt x="189" y="80"/>
                      <a:pt x="215" y="71"/>
                    </a:cubicBezTo>
                    <a:cubicBezTo>
                      <a:pt x="233" y="71"/>
                      <a:pt x="242" y="62"/>
                      <a:pt x="251" y="62"/>
                    </a:cubicBezTo>
                    <a:cubicBezTo>
                      <a:pt x="251" y="35"/>
                      <a:pt x="251" y="35"/>
                      <a:pt x="251" y="35"/>
                    </a:cubicBezTo>
                    <a:cubicBezTo>
                      <a:pt x="242" y="44"/>
                      <a:pt x="233" y="44"/>
                      <a:pt x="233" y="44"/>
                    </a:cubicBezTo>
                    <a:cubicBezTo>
                      <a:pt x="207" y="53"/>
                      <a:pt x="180" y="53"/>
                      <a:pt x="144" y="53"/>
                    </a:cubicBezTo>
                    <a:cubicBezTo>
                      <a:pt x="144" y="53"/>
                      <a:pt x="135" y="53"/>
                      <a:pt x="126" y="53"/>
                    </a:cubicBezTo>
                    <a:cubicBezTo>
                      <a:pt x="99" y="53"/>
                      <a:pt x="63" y="53"/>
                      <a:pt x="45" y="44"/>
                    </a:cubicBezTo>
                    <a:cubicBezTo>
                      <a:pt x="36" y="44"/>
                      <a:pt x="27" y="44"/>
                      <a:pt x="27" y="35"/>
                    </a:cubicBezTo>
                    <a:lnTo>
                      <a:pt x="27" y="62"/>
                    </a:lnTo>
                    <a:close/>
                    <a:moveTo>
                      <a:pt x="251" y="62"/>
                    </a:moveTo>
                    <a:lnTo>
                      <a:pt x="251" y="62"/>
                    </a:lnTo>
                    <a:close/>
                    <a:moveTo>
                      <a:pt x="27" y="17"/>
                    </a:moveTo>
                    <a:lnTo>
                      <a:pt x="27" y="1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Freeform 594">
                <a:extLst>
                  <a:ext uri="{FF2B5EF4-FFF2-40B4-BE49-F238E27FC236}">
                    <a16:creationId xmlns:a16="http://schemas.microsoft.com/office/drawing/2014/main" id="{423327CE-BF0D-B04B-AF5A-22E7698E8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8456" y="5014914"/>
                <a:ext cx="289020" cy="108973"/>
              </a:xfrm>
              <a:custGeom>
                <a:avLst/>
                <a:gdLst>
                  <a:gd name="T0" fmla="*/ 135 w 270"/>
                  <a:gd name="T1" fmla="*/ 99 h 100"/>
                  <a:gd name="T2" fmla="*/ 135 w 270"/>
                  <a:gd name="T3" fmla="*/ 99 h 100"/>
                  <a:gd name="T4" fmla="*/ 45 w 270"/>
                  <a:gd name="T5" fmla="*/ 99 h 100"/>
                  <a:gd name="T6" fmla="*/ 18 w 270"/>
                  <a:gd name="T7" fmla="*/ 90 h 100"/>
                  <a:gd name="T8" fmla="*/ 0 w 270"/>
                  <a:gd name="T9" fmla="*/ 63 h 100"/>
                  <a:gd name="T10" fmla="*/ 0 w 270"/>
                  <a:gd name="T11" fmla="*/ 9 h 100"/>
                  <a:gd name="T12" fmla="*/ 9 w 270"/>
                  <a:gd name="T13" fmla="*/ 0 h 100"/>
                  <a:gd name="T14" fmla="*/ 9 w 270"/>
                  <a:gd name="T15" fmla="*/ 0 h 100"/>
                  <a:gd name="T16" fmla="*/ 27 w 270"/>
                  <a:gd name="T17" fmla="*/ 9 h 100"/>
                  <a:gd name="T18" fmla="*/ 54 w 270"/>
                  <a:gd name="T19" fmla="*/ 18 h 100"/>
                  <a:gd name="T20" fmla="*/ 126 w 270"/>
                  <a:gd name="T21" fmla="*/ 27 h 100"/>
                  <a:gd name="T22" fmla="*/ 144 w 270"/>
                  <a:gd name="T23" fmla="*/ 27 h 100"/>
                  <a:gd name="T24" fmla="*/ 215 w 270"/>
                  <a:gd name="T25" fmla="*/ 18 h 100"/>
                  <a:gd name="T26" fmla="*/ 251 w 270"/>
                  <a:gd name="T27" fmla="*/ 9 h 100"/>
                  <a:gd name="T28" fmla="*/ 260 w 270"/>
                  <a:gd name="T29" fmla="*/ 0 h 100"/>
                  <a:gd name="T30" fmla="*/ 260 w 270"/>
                  <a:gd name="T31" fmla="*/ 0 h 100"/>
                  <a:gd name="T32" fmla="*/ 269 w 270"/>
                  <a:gd name="T33" fmla="*/ 9 h 100"/>
                  <a:gd name="T34" fmla="*/ 269 w 270"/>
                  <a:gd name="T35" fmla="*/ 9 h 100"/>
                  <a:gd name="T36" fmla="*/ 269 w 270"/>
                  <a:gd name="T37" fmla="*/ 9 h 100"/>
                  <a:gd name="T38" fmla="*/ 269 w 270"/>
                  <a:gd name="T39" fmla="*/ 9 h 100"/>
                  <a:gd name="T40" fmla="*/ 269 w 270"/>
                  <a:gd name="T41" fmla="*/ 63 h 100"/>
                  <a:gd name="T42" fmla="*/ 224 w 270"/>
                  <a:gd name="T43" fmla="*/ 99 h 100"/>
                  <a:gd name="T44" fmla="*/ 135 w 270"/>
                  <a:gd name="T45" fmla="*/ 99 h 100"/>
                  <a:gd name="T46" fmla="*/ 27 w 270"/>
                  <a:gd name="T47" fmla="*/ 63 h 100"/>
                  <a:gd name="T48" fmla="*/ 27 w 270"/>
                  <a:gd name="T49" fmla="*/ 63 h 100"/>
                  <a:gd name="T50" fmla="*/ 63 w 270"/>
                  <a:gd name="T51" fmla="*/ 72 h 100"/>
                  <a:gd name="T52" fmla="*/ 135 w 270"/>
                  <a:gd name="T53" fmla="*/ 81 h 100"/>
                  <a:gd name="T54" fmla="*/ 215 w 270"/>
                  <a:gd name="T55" fmla="*/ 72 h 100"/>
                  <a:gd name="T56" fmla="*/ 251 w 270"/>
                  <a:gd name="T57" fmla="*/ 63 h 100"/>
                  <a:gd name="T58" fmla="*/ 251 w 270"/>
                  <a:gd name="T59" fmla="*/ 36 h 100"/>
                  <a:gd name="T60" fmla="*/ 233 w 270"/>
                  <a:gd name="T61" fmla="*/ 45 h 100"/>
                  <a:gd name="T62" fmla="*/ 144 w 270"/>
                  <a:gd name="T63" fmla="*/ 54 h 100"/>
                  <a:gd name="T64" fmla="*/ 126 w 270"/>
                  <a:gd name="T65" fmla="*/ 54 h 100"/>
                  <a:gd name="T66" fmla="*/ 45 w 270"/>
                  <a:gd name="T67" fmla="*/ 45 h 100"/>
                  <a:gd name="T68" fmla="*/ 27 w 270"/>
                  <a:gd name="T69" fmla="*/ 36 h 100"/>
                  <a:gd name="T70" fmla="*/ 27 w 270"/>
                  <a:gd name="T71" fmla="*/ 63 h 100"/>
                  <a:gd name="T72" fmla="*/ 251 w 270"/>
                  <a:gd name="T73" fmla="*/ 63 h 100"/>
                  <a:gd name="T74" fmla="*/ 251 w 270"/>
                  <a:gd name="T75" fmla="*/ 63 h 100"/>
                  <a:gd name="T76" fmla="*/ 27 w 270"/>
                  <a:gd name="T77" fmla="*/ 9 h 100"/>
                  <a:gd name="T78" fmla="*/ 27 w 270"/>
                  <a:gd name="T79" fmla="*/ 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0" h="100">
                    <a:moveTo>
                      <a:pt x="135" y="99"/>
                    </a:moveTo>
                    <a:lnTo>
                      <a:pt x="135" y="99"/>
                    </a:lnTo>
                    <a:cubicBezTo>
                      <a:pt x="99" y="99"/>
                      <a:pt x="72" y="99"/>
                      <a:pt x="45" y="99"/>
                    </a:cubicBezTo>
                    <a:cubicBezTo>
                      <a:pt x="36" y="90"/>
                      <a:pt x="27" y="90"/>
                      <a:pt x="18" y="90"/>
                    </a:cubicBezTo>
                    <a:cubicBezTo>
                      <a:pt x="9" y="81"/>
                      <a:pt x="0" y="72"/>
                      <a:pt x="0" y="63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9" y="0"/>
                    </a:lnTo>
                    <a:lnTo>
                      <a:pt x="9" y="0"/>
                    </a:lnTo>
                    <a:cubicBezTo>
                      <a:pt x="18" y="0"/>
                      <a:pt x="27" y="9"/>
                      <a:pt x="27" y="9"/>
                    </a:cubicBezTo>
                    <a:cubicBezTo>
                      <a:pt x="27" y="9"/>
                      <a:pt x="36" y="18"/>
                      <a:pt x="54" y="18"/>
                    </a:cubicBezTo>
                    <a:cubicBezTo>
                      <a:pt x="72" y="27"/>
                      <a:pt x="99" y="27"/>
                      <a:pt x="126" y="27"/>
                    </a:cubicBezTo>
                    <a:cubicBezTo>
                      <a:pt x="135" y="27"/>
                      <a:pt x="135" y="27"/>
                      <a:pt x="144" y="27"/>
                    </a:cubicBezTo>
                    <a:cubicBezTo>
                      <a:pt x="171" y="27"/>
                      <a:pt x="197" y="27"/>
                      <a:pt x="215" y="18"/>
                    </a:cubicBezTo>
                    <a:cubicBezTo>
                      <a:pt x="242" y="18"/>
                      <a:pt x="242" y="9"/>
                      <a:pt x="251" y="9"/>
                    </a:cubicBezTo>
                    <a:cubicBezTo>
                      <a:pt x="251" y="9"/>
                      <a:pt x="251" y="0"/>
                      <a:pt x="260" y="0"/>
                    </a:cubicBezTo>
                    <a:lnTo>
                      <a:pt x="260" y="0"/>
                    </a:lnTo>
                    <a:cubicBezTo>
                      <a:pt x="269" y="0"/>
                      <a:pt x="269" y="9"/>
                      <a:pt x="269" y="9"/>
                    </a:cubicBezTo>
                    <a:lnTo>
                      <a:pt x="269" y="9"/>
                    </a:lnTo>
                    <a:lnTo>
                      <a:pt x="269" y="9"/>
                    </a:lnTo>
                    <a:lnTo>
                      <a:pt x="269" y="9"/>
                    </a:lnTo>
                    <a:cubicBezTo>
                      <a:pt x="269" y="63"/>
                      <a:pt x="269" y="63"/>
                      <a:pt x="269" y="63"/>
                    </a:cubicBezTo>
                    <a:cubicBezTo>
                      <a:pt x="269" y="81"/>
                      <a:pt x="242" y="90"/>
                      <a:pt x="224" y="99"/>
                    </a:cubicBezTo>
                    <a:cubicBezTo>
                      <a:pt x="197" y="99"/>
                      <a:pt x="171" y="99"/>
                      <a:pt x="135" y="99"/>
                    </a:cubicBezTo>
                    <a:close/>
                    <a:moveTo>
                      <a:pt x="27" y="63"/>
                    </a:moveTo>
                    <a:lnTo>
                      <a:pt x="27" y="63"/>
                    </a:lnTo>
                    <a:cubicBezTo>
                      <a:pt x="27" y="63"/>
                      <a:pt x="36" y="72"/>
                      <a:pt x="63" y="72"/>
                    </a:cubicBezTo>
                    <a:cubicBezTo>
                      <a:pt x="81" y="72"/>
                      <a:pt x="108" y="81"/>
                      <a:pt x="135" y="81"/>
                    </a:cubicBezTo>
                    <a:cubicBezTo>
                      <a:pt x="162" y="81"/>
                      <a:pt x="189" y="72"/>
                      <a:pt x="215" y="72"/>
                    </a:cubicBezTo>
                    <a:cubicBezTo>
                      <a:pt x="233" y="72"/>
                      <a:pt x="242" y="63"/>
                      <a:pt x="251" y="63"/>
                    </a:cubicBezTo>
                    <a:cubicBezTo>
                      <a:pt x="251" y="36"/>
                      <a:pt x="251" y="36"/>
                      <a:pt x="251" y="36"/>
                    </a:cubicBezTo>
                    <a:cubicBezTo>
                      <a:pt x="242" y="36"/>
                      <a:pt x="233" y="45"/>
                      <a:pt x="233" y="45"/>
                    </a:cubicBezTo>
                    <a:cubicBezTo>
                      <a:pt x="207" y="45"/>
                      <a:pt x="180" y="54"/>
                      <a:pt x="144" y="54"/>
                    </a:cubicBezTo>
                    <a:cubicBezTo>
                      <a:pt x="144" y="54"/>
                      <a:pt x="135" y="54"/>
                      <a:pt x="126" y="54"/>
                    </a:cubicBezTo>
                    <a:cubicBezTo>
                      <a:pt x="99" y="54"/>
                      <a:pt x="63" y="45"/>
                      <a:pt x="45" y="45"/>
                    </a:cubicBezTo>
                    <a:cubicBezTo>
                      <a:pt x="36" y="45"/>
                      <a:pt x="27" y="36"/>
                      <a:pt x="27" y="36"/>
                    </a:cubicBezTo>
                    <a:lnTo>
                      <a:pt x="27" y="63"/>
                    </a:lnTo>
                    <a:close/>
                    <a:moveTo>
                      <a:pt x="251" y="63"/>
                    </a:moveTo>
                    <a:lnTo>
                      <a:pt x="251" y="63"/>
                    </a:lnTo>
                    <a:close/>
                    <a:moveTo>
                      <a:pt x="27" y="9"/>
                    </a:moveTo>
                    <a:lnTo>
                      <a:pt x="27" y="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Freeform 595">
                <a:extLst>
                  <a:ext uri="{FF2B5EF4-FFF2-40B4-BE49-F238E27FC236}">
                    <a16:creationId xmlns:a16="http://schemas.microsoft.com/office/drawing/2014/main" id="{2FEF02FA-B0A8-A14A-BA3A-9074F3554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8456" y="4849082"/>
                <a:ext cx="289020" cy="108976"/>
              </a:xfrm>
              <a:custGeom>
                <a:avLst/>
                <a:gdLst>
                  <a:gd name="T0" fmla="*/ 135 w 270"/>
                  <a:gd name="T1" fmla="*/ 99 h 100"/>
                  <a:gd name="T2" fmla="*/ 135 w 270"/>
                  <a:gd name="T3" fmla="*/ 99 h 100"/>
                  <a:gd name="T4" fmla="*/ 45 w 270"/>
                  <a:gd name="T5" fmla="*/ 90 h 100"/>
                  <a:gd name="T6" fmla="*/ 18 w 270"/>
                  <a:gd name="T7" fmla="*/ 81 h 100"/>
                  <a:gd name="T8" fmla="*/ 0 w 270"/>
                  <a:gd name="T9" fmla="*/ 63 h 100"/>
                  <a:gd name="T10" fmla="*/ 0 w 270"/>
                  <a:gd name="T11" fmla="*/ 9 h 100"/>
                  <a:gd name="T12" fmla="*/ 9 w 270"/>
                  <a:gd name="T13" fmla="*/ 0 h 100"/>
                  <a:gd name="T14" fmla="*/ 9 w 270"/>
                  <a:gd name="T15" fmla="*/ 0 h 100"/>
                  <a:gd name="T16" fmla="*/ 27 w 270"/>
                  <a:gd name="T17" fmla="*/ 9 h 100"/>
                  <a:gd name="T18" fmla="*/ 54 w 270"/>
                  <a:gd name="T19" fmla="*/ 18 h 100"/>
                  <a:gd name="T20" fmla="*/ 126 w 270"/>
                  <a:gd name="T21" fmla="*/ 27 h 100"/>
                  <a:gd name="T22" fmla="*/ 144 w 270"/>
                  <a:gd name="T23" fmla="*/ 27 h 100"/>
                  <a:gd name="T24" fmla="*/ 215 w 270"/>
                  <a:gd name="T25" fmla="*/ 18 h 100"/>
                  <a:gd name="T26" fmla="*/ 251 w 270"/>
                  <a:gd name="T27" fmla="*/ 9 h 100"/>
                  <a:gd name="T28" fmla="*/ 260 w 270"/>
                  <a:gd name="T29" fmla="*/ 0 h 100"/>
                  <a:gd name="T30" fmla="*/ 260 w 270"/>
                  <a:gd name="T31" fmla="*/ 0 h 100"/>
                  <a:gd name="T32" fmla="*/ 269 w 270"/>
                  <a:gd name="T33" fmla="*/ 9 h 100"/>
                  <a:gd name="T34" fmla="*/ 269 w 270"/>
                  <a:gd name="T35" fmla="*/ 9 h 100"/>
                  <a:gd name="T36" fmla="*/ 269 w 270"/>
                  <a:gd name="T37" fmla="*/ 9 h 100"/>
                  <a:gd name="T38" fmla="*/ 269 w 270"/>
                  <a:gd name="T39" fmla="*/ 9 h 100"/>
                  <a:gd name="T40" fmla="*/ 269 w 270"/>
                  <a:gd name="T41" fmla="*/ 63 h 100"/>
                  <a:gd name="T42" fmla="*/ 224 w 270"/>
                  <a:gd name="T43" fmla="*/ 90 h 100"/>
                  <a:gd name="T44" fmla="*/ 135 w 270"/>
                  <a:gd name="T45" fmla="*/ 99 h 100"/>
                  <a:gd name="T46" fmla="*/ 27 w 270"/>
                  <a:gd name="T47" fmla="*/ 63 h 100"/>
                  <a:gd name="T48" fmla="*/ 27 w 270"/>
                  <a:gd name="T49" fmla="*/ 63 h 100"/>
                  <a:gd name="T50" fmla="*/ 63 w 270"/>
                  <a:gd name="T51" fmla="*/ 72 h 100"/>
                  <a:gd name="T52" fmla="*/ 135 w 270"/>
                  <a:gd name="T53" fmla="*/ 81 h 100"/>
                  <a:gd name="T54" fmla="*/ 215 w 270"/>
                  <a:gd name="T55" fmla="*/ 72 h 100"/>
                  <a:gd name="T56" fmla="*/ 251 w 270"/>
                  <a:gd name="T57" fmla="*/ 63 h 100"/>
                  <a:gd name="T58" fmla="*/ 251 w 270"/>
                  <a:gd name="T59" fmla="*/ 36 h 100"/>
                  <a:gd name="T60" fmla="*/ 233 w 270"/>
                  <a:gd name="T61" fmla="*/ 45 h 100"/>
                  <a:gd name="T62" fmla="*/ 144 w 270"/>
                  <a:gd name="T63" fmla="*/ 54 h 100"/>
                  <a:gd name="T64" fmla="*/ 126 w 270"/>
                  <a:gd name="T65" fmla="*/ 54 h 100"/>
                  <a:gd name="T66" fmla="*/ 45 w 270"/>
                  <a:gd name="T67" fmla="*/ 45 h 100"/>
                  <a:gd name="T68" fmla="*/ 27 w 270"/>
                  <a:gd name="T69" fmla="*/ 36 h 100"/>
                  <a:gd name="T70" fmla="*/ 27 w 270"/>
                  <a:gd name="T71" fmla="*/ 63 h 100"/>
                  <a:gd name="T72" fmla="*/ 251 w 270"/>
                  <a:gd name="T73" fmla="*/ 63 h 100"/>
                  <a:gd name="T74" fmla="*/ 251 w 270"/>
                  <a:gd name="T75" fmla="*/ 63 h 100"/>
                  <a:gd name="T76" fmla="*/ 27 w 270"/>
                  <a:gd name="T77" fmla="*/ 9 h 100"/>
                  <a:gd name="T78" fmla="*/ 27 w 270"/>
                  <a:gd name="T79" fmla="*/ 9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0" h="100">
                    <a:moveTo>
                      <a:pt x="135" y="99"/>
                    </a:moveTo>
                    <a:lnTo>
                      <a:pt x="135" y="99"/>
                    </a:lnTo>
                    <a:cubicBezTo>
                      <a:pt x="99" y="99"/>
                      <a:pt x="72" y="99"/>
                      <a:pt x="45" y="90"/>
                    </a:cubicBezTo>
                    <a:cubicBezTo>
                      <a:pt x="36" y="90"/>
                      <a:pt x="27" y="90"/>
                      <a:pt x="18" y="81"/>
                    </a:cubicBezTo>
                    <a:cubicBezTo>
                      <a:pt x="9" y="81"/>
                      <a:pt x="0" y="72"/>
                      <a:pt x="0" y="63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9" y="0"/>
                    </a:lnTo>
                    <a:lnTo>
                      <a:pt x="9" y="0"/>
                    </a:lnTo>
                    <a:cubicBezTo>
                      <a:pt x="18" y="0"/>
                      <a:pt x="27" y="0"/>
                      <a:pt x="27" y="9"/>
                    </a:cubicBezTo>
                    <a:cubicBezTo>
                      <a:pt x="27" y="9"/>
                      <a:pt x="36" y="18"/>
                      <a:pt x="54" y="18"/>
                    </a:cubicBezTo>
                    <a:cubicBezTo>
                      <a:pt x="72" y="27"/>
                      <a:pt x="99" y="27"/>
                      <a:pt x="126" y="27"/>
                    </a:cubicBezTo>
                    <a:cubicBezTo>
                      <a:pt x="135" y="27"/>
                      <a:pt x="135" y="27"/>
                      <a:pt x="144" y="27"/>
                    </a:cubicBezTo>
                    <a:cubicBezTo>
                      <a:pt x="171" y="27"/>
                      <a:pt x="197" y="27"/>
                      <a:pt x="215" y="18"/>
                    </a:cubicBezTo>
                    <a:cubicBezTo>
                      <a:pt x="242" y="18"/>
                      <a:pt x="242" y="9"/>
                      <a:pt x="251" y="9"/>
                    </a:cubicBezTo>
                    <a:cubicBezTo>
                      <a:pt x="251" y="0"/>
                      <a:pt x="251" y="0"/>
                      <a:pt x="260" y="0"/>
                    </a:cubicBezTo>
                    <a:lnTo>
                      <a:pt x="260" y="0"/>
                    </a:lnTo>
                    <a:cubicBezTo>
                      <a:pt x="269" y="0"/>
                      <a:pt x="269" y="9"/>
                      <a:pt x="269" y="9"/>
                    </a:cubicBezTo>
                    <a:lnTo>
                      <a:pt x="269" y="9"/>
                    </a:lnTo>
                    <a:lnTo>
                      <a:pt x="269" y="9"/>
                    </a:lnTo>
                    <a:lnTo>
                      <a:pt x="269" y="9"/>
                    </a:lnTo>
                    <a:cubicBezTo>
                      <a:pt x="269" y="63"/>
                      <a:pt x="269" y="63"/>
                      <a:pt x="269" y="63"/>
                    </a:cubicBezTo>
                    <a:cubicBezTo>
                      <a:pt x="269" y="81"/>
                      <a:pt x="242" y="90"/>
                      <a:pt x="224" y="90"/>
                    </a:cubicBezTo>
                    <a:cubicBezTo>
                      <a:pt x="197" y="99"/>
                      <a:pt x="171" y="99"/>
                      <a:pt x="135" y="99"/>
                    </a:cubicBezTo>
                    <a:close/>
                    <a:moveTo>
                      <a:pt x="27" y="63"/>
                    </a:moveTo>
                    <a:lnTo>
                      <a:pt x="27" y="63"/>
                    </a:lnTo>
                    <a:cubicBezTo>
                      <a:pt x="27" y="63"/>
                      <a:pt x="36" y="63"/>
                      <a:pt x="63" y="72"/>
                    </a:cubicBezTo>
                    <a:cubicBezTo>
                      <a:pt x="81" y="72"/>
                      <a:pt x="108" y="81"/>
                      <a:pt x="135" y="81"/>
                    </a:cubicBezTo>
                    <a:cubicBezTo>
                      <a:pt x="162" y="81"/>
                      <a:pt x="189" y="72"/>
                      <a:pt x="215" y="72"/>
                    </a:cubicBezTo>
                    <a:cubicBezTo>
                      <a:pt x="233" y="63"/>
                      <a:pt x="242" y="63"/>
                      <a:pt x="251" y="63"/>
                    </a:cubicBezTo>
                    <a:cubicBezTo>
                      <a:pt x="251" y="36"/>
                      <a:pt x="251" y="36"/>
                      <a:pt x="251" y="36"/>
                    </a:cubicBezTo>
                    <a:cubicBezTo>
                      <a:pt x="242" y="36"/>
                      <a:pt x="233" y="36"/>
                      <a:pt x="233" y="45"/>
                    </a:cubicBezTo>
                    <a:cubicBezTo>
                      <a:pt x="207" y="45"/>
                      <a:pt x="180" y="45"/>
                      <a:pt x="144" y="54"/>
                    </a:cubicBezTo>
                    <a:cubicBezTo>
                      <a:pt x="144" y="54"/>
                      <a:pt x="135" y="54"/>
                      <a:pt x="126" y="54"/>
                    </a:cubicBezTo>
                    <a:cubicBezTo>
                      <a:pt x="99" y="45"/>
                      <a:pt x="63" y="45"/>
                      <a:pt x="45" y="45"/>
                    </a:cubicBezTo>
                    <a:cubicBezTo>
                      <a:pt x="36" y="36"/>
                      <a:pt x="27" y="36"/>
                      <a:pt x="27" y="36"/>
                    </a:cubicBezTo>
                    <a:lnTo>
                      <a:pt x="27" y="63"/>
                    </a:lnTo>
                    <a:close/>
                    <a:moveTo>
                      <a:pt x="251" y="63"/>
                    </a:moveTo>
                    <a:lnTo>
                      <a:pt x="251" y="63"/>
                    </a:lnTo>
                    <a:close/>
                    <a:moveTo>
                      <a:pt x="27" y="9"/>
                    </a:moveTo>
                    <a:lnTo>
                      <a:pt x="27" y="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Freeform 596">
                <a:extLst>
                  <a:ext uri="{FF2B5EF4-FFF2-40B4-BE49-F238E27FC236}">
                    <a16:creationId xmlns:a16="http://schemas.microsoft.com/office/drawing/2014/main" id="{B671BA98-6889-0345-B0C9-38393CC9A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8456" y="4763797"/>
                <a:ext cx="289020" cy="90024"/>
              </a:xfrm>
              <a:custGeom>
                <a:avLst/>
                <a:gdLst>
                  <a:gd name="T0" fmla="*/ 135 w 270"/>
                  <a:gd name="T1" fmla="*/ 81 h 82"/>
                  <a:gd name="T2" fmla="*/ 135 w 270"/>
                  <a:gd name="T3" fmla="*/ 81 h 82"/>
                  <a:gd name="T4" fmla="*/ 126 w 270"/>
                  <a:gd name="T5" fmla="*/ 81 h 82"/>
                  <a:gd name="T6" fmla="*/ 45 w 270"/>
                  <a:gd name="T7" fmla="*/ 72 h 82"/>
                  <a:gd name="T8" fmla="*/ 0 w 270"/>
                  <a:gd name="T9" fmla="*/ 45 h 82"/>
                  <a:gd name="T10" fmla="*/ 45 w 270"/>
                  <a:gd name="T11" fmla="*/ 9 h 82"/>
                  <a:gd name="T12" fmla="*/ 135 w 270"/>
                  <a:gd name="T13" fmla="*/ 0 h 82"/>
                  <a:gd name="T14" fmla="*/ 224 w 270"/>
                  <a:gd name="T15" fmla="*/ 9 h 82"/>
                  <a:gd name="T16" fmla="*/ 251 w 270"/>
                  <a:gd name="T17" fmla="*/ 18 h 82"/>
                  <a:gd name="T18" fmla="*/ 269 w 270"/>
                  <a:gd name="T19" fmla="*/ 45 h 82"/>
                  <a:gd name="T20" fmla="*/ 233 w 270"/>
                  <a:gd name="T21" fmla="*/ 72 h 82"/>
                  <a:gd name="T22" fmla="*/ 144 w 270"/>
                  <a:gd name="T23" fmla="*/ 81 h 82"/>
                  <a:gd name="T24" fmla="*/ 135 w 270"/>
                  <a:gd name="T25" fmla="*/ 81 h 82"/>
                  <a:gd name="T26" fmla="*/ 27 w 270"/>
                  <a:gd name="T27" fmla="*/ 45 h 82"/>
                  <a:gd name="T28" fmla="*/ 27 w 270"/>
                  <a:gd name="T29" fmla="*/ 45 h 82"/>
                  <a:gd name="T30" fmla="*/ 54 w 270"/>
                  <a:gd name="T31" fmla="*/ 45 h 82"/>
                  <a:gd name="T32" fmla="*/ 126 w 270"/>
                  <a:gd name="T33" fmla="*/ 54 h 82"/>
                  <a:gd name="T34" fmla="*/ 144 w 270"/>
                  <a:gd name="T35" fmla="*/ 54 h 82"/>
                  <a:gd name="T36" fmla="*/ 215 w 270"/>
                  <a:gd name="T37" fmla="*/ 45 h 82"/>
                  <a:gd name="T38" fmla="*/ 242 w 270"/>
                  <a:gd name="T39" fmla="*/ 45 h 82"/>
                  <a:gd name="T40" fmla="*/ 215 w 270"/>
                  <a:gd name="T41" fmla="*/ 36 h 82"/>
                  <a:gd name="T42" fmla="*/ 135 w 270"/>
                  <a:gd name="T43" fmla="*/ 27 h 82"/>
                  <a:gd name="T44" fmla="*/ 63 w 270"/>
                  <a:gd name="T45" fmla="*/ 36 h 82"/>
                  <a:gd name="T46" fmla="*/ 27 w 270"/>
                  <a:gd name="T47" fmla="*/ 45 h 82"/>
                  <a:gd name="T48" fmla="*/ 251 w 270"/>
                  <a:gd name="T49" fmla="*/ 45 h 82"/>
                  <a:gd name="T50" fmla="*/ 251 w 270"/>
                  <a:gd name="T51" fmla="*/ 45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0" h="82">
                    <a:moveTo>
                      <a:pt x="135" y="81"/>
                    </a:moveTo>
                    <a:lnTo>
                      <a:pt x="135" y="81"/>
                    </a:lnTo>
                    <a:lnTo>
                      <a:pt x="126" y="81"/>
                    </a:lnTo>
                    <a:cubicBezTo>
                      <a:pt x="99" y="81"/>
                      <a:pt x="63" y="72"/>
                      <a:pt x="45" y="72"/>
                    </a:cubicBezTo>
                    <a:cubicBezTo>
                      <a:pt x="27" y="63"/>
                      <a:pt x="0" y="63"/>
                      <a:pt x="0" y="45"/>
                    </a:cubicBezTo>
                    <a:cubicBezTo>
                      <a:pt x="0" y="27"/>
                      <a:pt x="27" y="18"/>
                      <a:pt x="45" y="9"/>
                    </a:cubicBezTo>
                    <a:cubicBezTo>
                      <a:pt x="72" y="9"/>
                      <a:pt x="99" y="0"/>
                      <a:pt x="135" y="0"/>
                    </a:cubicBezTo>
                    <a:cubicBezTo>
                      <a:pt x="171" y="0"/>
                      <a:pt x="207" y="9"/>
                      <a:pt x="224" y="9"/>
                    </a:cubicBezTo>
                    <a:cubicBezTo>
                      <a:pt x="242" y="18"/>
                      <a:pt x="251" y="18"/>
                      <a:pt x="251" y="18"/>
                    </a:cubicBezTo>
                    <a:cubicBezTo>
                      <a:pt x="269" y="27"/>
                      <a:pt x="269" y="36"/>
                      <a:pt x="269" y="45"/>
                    </a:cubicBezTo>
                    <a:cubicBezTo>
                      <a:pt x="269" y="63"/>
                      <a:pt x="251" y="63"/>
                      <a:pt x="233" y="72"/>
                    </a:cubicBezTo>
                    <a:cubicBezTo>
                      <a:pt x="207" y="72"/>
                      <a:pt x="180" y="81"/>
                      <a:pt x="144" y="81"/>
                    </a:cubicBezTo>
                    <a:cubicBezTo>
                      <a:pt x="144" y="81"/>
                      <a:pt x="144" y="81"/>
                      <a:pt x="135" y="81"/>
                    </a:cubicBezTo>
                    <a:close/>
                    <a:moveTo>
                      <a:pt x="27" y="45"/>
                    </a:moveTo>
                    <a:lnTo>
                      <a:pt x="27" y="45"/>
                    </a:lnTo>
                    <a:cubicBezTo>
                      <a:pt x="36" y="45"/>
                      <a:pt x="45" y="45"/>
                      <a:pt x="54" y="45"/>
                    </a:cubicBezTo>
                    <a:cubicBezTo>
                      <a:pt x="72" y="54"/>
                      <a:pt x="99" y="54"/>
                      <a:pt x="126" y="54"/>
                    </a:cubicBezTo>
                    <a:cubicBezTo>
                      <a:pt x="135" y="54"/>
                      <a:pt x="144" y="54"/>
                      <a:pt x="144" y="54"/>
                    </a:cubicBezTo>
                    <a:cubicBezTo>
                      <a:pt x="171" y="54"/>
                      <a:pt x="197" y="54"/>
                      <a:pt x="215" y="45"/>
                    </a:cubicBezTo>
                    <a:cubicBezTo>
                      <a:pt x="233" y="45"/>
                      <a:pt x="242" y="45"/>
                      <a:pt x="242" y="45"/>
                    </a:cubicBezTo>
                    <a:cubicBezTo>
                      <a:pt x="242" y="36"/>
                      <a:pt x="233" y="36"/>
                      <a:pt x="215" y="36"/>
                    </a:cubicBezTo>
                    <a:cubicBezTo>
                      <a:pt x="189" y="27"/>
                      <a:pt x="162" y="27"/>
                      <a:pt x="135" y="27"/>
                    </a:cubicBezTo>
                    <a:cubicBezTo>
                      <a:pt x="108" y="27"/>
                      <a:pt x="81" y="27"/>
                      <a:pt x="63" y="36"/>
                    </a:cubicBezTo>
                    <a:cubicBezTo>
                      <a:pt x="45" y="36"/>
                      <a:pt x="36" y="36"/>
                      <a:pt x="27" y="45"/>
                    </a:cubicBezTo>
                    <a:close/>
                    <a:moveTo>
                      <a:pt x="251" y="45"/>
                    </a:moveTo>
                    <a:lnTo>
                      <a:pt x="251" y="4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Freeform 597">
                <a:extLst>
                  <a:ext uri="{FF2B5EF4-FFF2-40B4-BE49-F238E27FC236}">
                    <a16:creationId xmlns:a16="http://schemas.microsoft.com/office/drawing/2014/main" id="{AA1FDD1E-185A-9640-9C2A-89B3AC1DE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78456" y="4792225"/>
                <a:ext cx="289020" cy="118452"/>
              </a:xfrm>
              <a:custGeom>
                <a:avLst/>
                <a:gdLst>
                  <a:gd name="T0" fmla="*/ 135 w 270"/>
                  <a:gd name="T1" fmla="*/ 108 h 109"/>
                  <a:gd name="T2" fmla="*/ 135 w 270"/>
                  <a:gd name="T3" fmla="*/ 108 h 109"/>
                  <a:gd name="T4" fmla="*/ 45 w 270"/>
                  <a:gd name="T5" fmla="*/ 99 h 109"/>
                  <a:gd name="T6" fmla="*/ 18 w 270"/>
                  <a:gd name="T7" fmla="*/ 90 h 109"/>
                  <a:gd name="T8" fmla="*/ 0 w 270"/>
                  <a:gd name="T9" fmla="*/ 63 h 109"/>
                  <a:gd name="T10" fmla="*/ 0 w 270"/>
                  <a:gd name="T11" fmla="*/ 18 h 109"/>
                  <a:gd name="T12" fmla="*/ 9 w 270"/>
                  <a:gd name="T13" fmla="*/ 0 h 109"/>
                  <a:gd name="T14" fmla="*/ 9 w 270"/>
                  <a:gd name="T15" fmla="*/ 0 h 109"/>
                  <a:gd name="T16" fmla="*/ 27 w 270"/>
                  <a:gd name="T17" fmla="*/ 9 h 109"/>
                  <a:gd name="T18" fmla="*/ 54 w 270"/>
                  <a:gd name="T19" fmla="*/ 18 h 109"/>
                  <a:gd name="T20" fmla="*/ 126 w 270"/>
                  <a:gd name="T21" fmla="*/ 27 h 109"/>
                  <a:gd name="T22" fmla="*/ 144 w 270"/>
                  <a:gd name="T23" fmla="*/ 27 h 109"/>
                  <a:gd name="T24" fmla="*/ 215 w 270"/>
                  <a:gd name="T25" fmla="*/ 18 h 109"/>
                  <a:gd name="T26" fmla="*/ 251 w 270"/>
                  <a:gd name="T27" fmla="*/ 9 h 109"/>
                  <a:gd name="T28" fmla="*/ 260 w 270"/>
                  <a:gd name="T29" fmla="*/ 0 h 109"/>
                  <a:gd name="T30" fmla="*/ 260 w 270"/>
                  <a:gd name="T31" fmla="*/ 0 h 109"/>
                  <a:gd name="T32" fmla="*/ 269 w 270"/>
                  <a:gd name="T33" fmla="*/ 18 h 109"/>
                  <a:gd name="T34" fmla="*/ 269 w 270"/>
                  <a:gd name="T35" fmla="*/ 18 h 109"/>
                  <a:gd name="T36" fmla="*/ 269 w 270"/>
                  <a:gd name="T37" fmla="*/ 18 h 109"/>
                  <a:gd name="T38" fmla="*/ 269 w 270"/>
                  <a:gd name="T39" fmla="*/ 18 h 109"/>
                  <a:gd name="T40" fmla="*/ 269 w 270"/>
                  <a:gd name="T41" fmla="*/ 63 h 109"/>
                  <a:gd name="T42" fmla="*/ 224 w 270"/>
                  <a:gd name="T43" fmla="*/ 99 h 109"/>
                  <a:gd name="T44" fmla="*/ 135 w 270"/>
                  <a:gd name="T45" fmla="*/ 108 h 109"/>
                  <a:gd name="T46" fmla="*/ 27 w 270"/>
                  <a:gd name="T47" fmla="*/ 63 h 109"/>
                  <a:gd name="T48" fmla="*/ 27 w 270"/>
                  <a:gd name="T49" fmla="*/ 63 h 109"/>
                  <a:gd name="T50" fmla="*/ 63 w 270"/>
                  <a:gd name="T51" fmla="*/ 72 h 109"/>
                  <a:gd name="T52" fmla="*/ 135 w 270"/>
                  <a:gd name="T53" fmla="*/ 81 h 109"/>
                  <a:gd name="T54" fmla="*/ 215 w 270"/>
                  <a:gd name="T55" fmla="*/ 72 h 109"/>
                  <a:gd name="T56" fmla="*/ 251 w 270"/>
                  <a:gd name="T57" fmla="*/ 63 h 109"/>
                  <a:gd name="T58" fmla="*/ 251 w 270"/>
                  <a:gd name="T59" fmla="*/ 36 h 109"/>
                  <a:gd name="T60" fmla="*/ 233 w 270"/>
                  <a:gd name="T61" fmla="*/ 45 h 109"/>
                  <a:gd name="T62" fmla="*/ 144 w 270"/>
                  <a:gd name="T63" fmla="*/ 54 h 109"/>
                  <a:gd name="T64" fmla="*/ 126 w 270"/>
                  <a:gd name="T65" fmla="*/ 54 h 109"/>
                  <a:gd name="T66" fmla="*/ 45 w 270"/>
                  <a:gd name="T67" fmla="*/ 45 h 109"/>
                  <a:gd name="T68" fmla="*/ 27 w 270"/>
                  <a:gd name="T69" fmla="*/ 36 h 109"/>
                  <a:gd name="T70" fmla="*/ 27 w 270"/>
                  <a:gd name="T71" fmla="*/ 63 h 109"/>
                  <a:gd name="T72" fmla="*/ 251 w 270"/>
                  <a:gd name="T73" fmla="*/ 63 h 109"/>
                  <a:gd name="T74" fmla="*/ 251 w 270"/>
                  <a:gd name="T75" fmla="*/ 63 h 109"/>
                  <a:gd name="T76" fmla="*/ 27 w 270"/>
                  <a:gd name="T77" fmla="*/ 18 h 109"/>
                  <a:gd name="T78" fmla="*/ 27 w 270"/>
                  <a:gd name="T79" fmla="*/ 18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70" h="109">
                    <a:moveTo>
                      <a:pt x="135" y="108"/>
                    </a:moveTo>
                    <a:lnTo>
                      <a:pt x="135" y="108"/>
                    </a:lnTo>
                    <a:cubicBezTo>
                      <a:pt x="99" y="108"/>
                      <a:pt x="72" y="99"/>
                      <a:pt x="45" y="99"/>
                    </a:cubicBezTo>
                    <a:cubicBezTo>
                      <a:pt x="36" y="90"/>
                      <a:pt x="27" y="90"/>
                      <a:pt x="18" y="90"/>
                    </a:cubicBezTo>
                    <a:cubicBezTo>
                      <a:pt x="9" y="81"/>
                      <a:pt x="0" y="72"/>
                      <a:pt x="0" y="63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9"/>
                      <a:pt x="9" y="0"/>
                      <a:pt x="9" y="0"/>
                    </a:cubicBezTo>
                    <a:lnTo>
                      <a:pt x="9" y="0"/>
                    </a:lnTo>
                    <a:cubicBezTo>
                      <a:pt x="18" y="0"/>
                      <a:pt x="27" y="9"/>
                      <a:pt x="27" y="9"/>
                    </a:cubicBezTo>
                    <a:cubicBezTo>
                      <a:pt x="27" y="9"/>
                      <a:pt x="36" y="18"/>
                      <a:pt x="54" y="18"/>
                    </a:cubicBezTo>
                    <a:cubicBezTo>
                      <a:pt x="72" y="27"/>
                      <a:pt x="99" y="27"/>
                      <a:pt x="126" y="27"/>
                    </a:cubicBezTo>
                    <a:cubicBezTo>
                      <a:pt x="135" y="27"/>
                      <a:pt x="144" y="27"/>
                      <a:pt x="144" y="27"/>
                    </a:cubicBezTo>
                    <a:cubicBezTo>
                      <a:pt x="171" y="27"/>
                      <a:pt x="197" y="27"/>
                      <a:pt x="215" y="18"/>
                    </a:cubicBezTo>
                    <a:cubicBezTo>
                      <a:pt x="242" y="18"/>
                      <a:pt x="242" y="9"/>
                      <a:pt x="251" y="9"/>
                    </a:cubicBezTo>
                    <a:cubicBezTo>
                      <a:pt x="251" y="9"/>
                      <a:pt x="251" y="0"/>
                      <a:pt x="260" y="0"/>
                    </a:cubicBezTo>
                    <a:lnTo>
                      <a:pt x="260" y="0"/>
                    </a:lnTo>
                    <a:cubicBezTo>
                      <a:pt x="269" y="0"/>
                      <a:pt x="269" y="9"/>
                      <a:pt x="269" y="18"/>
                    </a:cubicBezTo>
                    <a:lnTo>
                      <a:pt x="269" y="18"/>
                    </a:lnTo>
                    <a:lnTo>
                      <a:pt x="269" y="18"/>
                    </a:lnTo>
                    <a:lnTo>
                      <a:pt x="269" y="18"/>
                    </a:lnTo>
                    <a:cubicBezTo>
                      <a:pt x="269" y="63"/>
                      <a:pt x="269" y="63"/>
                      <a:pt x="269" y="63"/>
                    </a:cubicBezTo>
                    <a:cubicBezTo>
                      <a:pt x="269" y="81"/>
                      <a:pt x="242" y="90"/>
                      <a:pt x="224" y="99"/>
                    </a:cubicBezTo>
                    <a:cubicBezTo>
                      <a:pt x="197" y="99"/>
                      <a:pt x="171" y="108"/>
                      <a:pt x="135" y="108"/>
                    </a:cubicBezTo>
                    <a:close/>
                    <a:moveTo>
                      <a:pt x="27" y="63"/>
                    </a:moveTo>
                    <a:lnTo>
                      <a:pt x="27" y="63"/>
                    </a:lnTo>
                    <a:cubicBezTo>
                      <a:pt x="27" y="63"/>
                      <a:pt x="36" y="72"/>
                      <a:pt x="63" y="72"/>
                    </a:cubicBezTo>
                    <a:cubicBezTo>
                      <a:pt x="81" y="81"/>
                      <a:pt x="108" y="81"/>
                      <a:pt x="135" y="81"/>
                    </a:cubicBezTo>
                    <a:cubicBezTo>
                      <a:pt x="162" y="81"/>
                      <a:pt x="189" y="81"/>
                      <a:pt x="215" y="72"/>
                    </a:cubicBezTo>
                    <a:cubicBezTo>
                      <a:pt x="233" y="72"/>
                      <a:pt x="242" y="63"/>
                      <a:pt x="251" y="63"/>
                    </a:cubicBezTo>
                    <a:cubicBezTo>
                      <a:pt x="251" y="36"/>
                      <a:pt x="251" y="36"/>
                      <a:pt x="251" y="36"/>
                    </a:cubicBezTo>
                    <a:cubicBezTo>
                      <a:pt x="242" y="45"/>
                      <a:pt x="233" y="45"/>
                      <a:pt x="233" y="45"/>
                    </a:cubicBezTo>
                    <a:cubicBezTo>
                      <a:pt x="207" y="45"/>
                      <a:pt x="180" y="54"/>
                      <a:pt x="144" y="54"/>
                    </a:cubicBezTo>
                    <a:cubicBezTo>
                      <a:pt x="144" y="54"/>
                      <a:pt x="135" y="54"/>
                      <a:pt x="126" y="54"/>
                    </a:cubicBezTo>
                    <a:cubicBezTo>
                      <a:pt x="99" y="54"/>
                      <a:pt x="63" y="45"/>
                      <a:pt x="45" y="45"/>
                    </a:cubicBezTo>
                    <a:cubicBezTo>
                      <a:pt x="36" y="45"/>
                      <a:pt x="27" y="45"/>
                      <a:pt x="27" y="36"/>
                    </a:cubicBezTo>
                    <a:lnTo>
                      <a:pt x="27" y="63"/>
                    </a:lnTo>
                    <a:close/>
                    <a:moveTo>
                      <a:pt x="251" y="63"/>
                    </a:moveTo>
                    <a:lnTo>
                      <a:pt x="251" y="63"/>
                    </a:lnTo>
                    <a:close/>
                    <a:moveTo>
                      <a:pt x="27" y="18"/>
                    </a:moveTo>
                    <a:lnTo>
                      <a:pt x="27" y="1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s-MX" sz="900">
                  <a:latin typeface="Microsoft JhengHei" panose="020B0604030504040204" pitchFamily="34" charset="-12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3756CEA8-9CD8-924E-B8CF-497140913B79}"/>
              </a:ext>
            </a:extLst>
          </p:cNvPr>
          <p:cNvGrpSpPr/>
          <p:nvPr/>
        </p:nvGrpSpPr>
        <p:grpSpPr>
          <a:xfrm>
            <a:off x="3679269" y="3082607"/>
            <a:ext cx="670430" cy="670430"/>
            <a:chOff x="6057830" y="4185759"/>
            <a:chExt cx="1340860" cy="1340860"/>
          </a:xfrm>
        </p:grpSpPr>
        <p:sp>
          <p:nvSpPr>
            <p:cNvPr id="78" name="Freeform 561">
              <a:extLst>
                <a:ext uri="{FF2B5EF4-FFF2-40B4-BE49-F238E27FC236}">
                  <a16:creationId xmlns:a16="http://schemas.microsoft.com/office/drawing/2014/main" id="{1F3F5E9A-4803-FB4F-8F9E-F92C5296F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7830" y="4185759"/>
              <a:ext cx="1340860" cy="1340860"/>
            </a:xfrm>
            <a:custGeom>
              <a:avLst/>
              <a:gdLst>
                <a:gd name="T0" fmla="*/ 1245 w 1246"/>
                <a:gd name="T1" fmla="*/ 618 h 1246"/>
                <a:gd name="T2" fmla="*/ 1245 w 1246"/>
                <a:gd name="T3" fmla="*/ 618 h 1246"/>
                <a:gd name="T4" fmla="*/ 627 w 1246"/>
                <a:gd name="T5" fmla="*/ 1245 h 1246"/>
                <a:gd name="T6" fmla="*/ 0 w 1246"/>
                <a:gd name="T7" fmla="*/ 618 h 1246"/>
                <a:gd name="T8" fmla="*/ 627 w 1246"/>
                <a:gd name="T9" fmla="*/ 0 h 1246"/>
                <a:gd name="T10" fmla="*/ 1245 w 1246"/>
                <a:gd name="T11" fmla="*/ 618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6" h="1246">
                  <a:moveTo>
                    <a:pt x="1245" y="618"/>
                  </a:moveTo>
                  <a:lnTo>
                    <a:pt x="1245" y="618"/>
                  </a:lnTo>
                  <a:cubicBezTo>
                    <a:pt x="1245" y="967"/>
                    <a:pt x="967" y="1245"/>
                    <a:pt x="627" y="1245"/>
                  </a:cubicBezTo>
                  <a:cubicBezTo>
                    <a:pt x="277" y="1245"/>
                    <a:pt x="0" y="967"/>
                    <a:pt x="0" y="618"/>
                  </a:cubicBezTo>
                  <a:cubicBezTo>
                    <a:pt x="0" y="278"/>
                    <a:pt x="277" y="0"/>
                    <a:pt x="627" y="0"/>
                  </a:cubicBezTo>
                  <a:cubicBezTo>
                    <a:pt x="967" y="0"/>
                    <a:pt x="1245" y="278"/>
                    <a:pt x="1245" y="6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79" name="Freeform 598">
              <a:extLst>
                <a:ext uri="{FF2B5EF4-FFF2-40B4-BE49-F238E27FC236}">
                  <a16:creationId xmlns:a16="http://schemas.microsoft.com/office/drawing/2014/main" id="{6A0519FC-7A0F-524C-BB83-C1A61DED1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3183" y="4569540"/>
              <a:ext cx="364826" cy="559086"/>
            </a:xfrm>
            <a:custGeom>
              <a:avLst/>
              <a:gdLst>
                <a:gd name="T0" fmla="*/ 296 w 341"/>
                <a:gd name="T1" fmla="*/ 520 h 521"/>
                <a:gd name="T2" fmla="*/ 296 w 341"/>
                <a:gd name="T3" fmla="*/ 520 h 521"/>
                <a:gd name="T4" fmla="*/ 45 w 341"/>
                <a:gd name="T5" fmla="*/ 520 h 521"/>
                <a:gd name="T6" fmla="*/ 0 w 341"/>
                <a:gd name="T7" fmla="*/ 475 h 521"/>
                <a:gd name="T8" fmla="*/ 0 w 341"/>
                <a:gd name="T9" fmla="*/ 45 h 521"/>
                <a:gd name="T10" fmla="*/ 45 w 341"/>
                <a:gd name="T11" fmla="*/ 0 h 521"/>
                <a:gd name="T12" fmla="*/ 296 w 341"/>
                <a:gd name="T13" fmla="*/ 0 h 521"/>
                <a:gd name="T14" fmla="*/ 340 w 341"/>
                <a:gd name="T15" fmla="*/ 45 h 521"/>
                <a:gd name="T16" fmla="*/ 340 w 341"/>
                <a:gd name="T17" fmla="*/ 188 h 521"/>
                <a:gd name="T18" fmla="*/ 332 w 341"/>
                <a:gd name="T19" fmla="*/ 206 h 521"/>
                <a:gd name="T20" fmla="*/ 314 w 341"/>
                <a:gd name="T21" fmla="*/ 188 h 521"/>
                <a:gd name="T22" fmla="*/ 314 w 341"/>
                <a:gd name="T23" fmla="*/ 45 h 521"/>
                <a:gd name="T24" fmla="*/ 296 w 341"/>
                <a:gd name="T25" fmla="*/ 27 h 521"/>
                <a:gd name="T26" fmla="*/ 45 w 341"/>
                <a:gd name="T27" fmla="*/ 27 h 521"/>
                <a:gd name="T28" fmla="*/ 27 w 341"/>
                <a:gd name="T29" fmla="*/ 45 h 521"/>
                <a:gd name="T30" fmla="*/ 27 w 341"/>
                <a:gd name="T31" fmla="*/ 475 h 521"/>
                <a:gd name="T32" fmla="*/ 45 w 341"/>
                <a:gd name="T33" fmla="*/ 493 h 521"/>
                <a:gd name="T34" fmla="*/ 296 w 341"/>
                <a:gd name="T35" fmla="*/ 493 h 521"/>
                <a:gd name="T36" fmla="*/ 305 w 341"/>
                <a:gd name="T37" fmla="*/ 493 h 521"/>
                <a:gd name="T38" fmla="*/ 323 w 341"/>
                <a:gd name="T39" fmla="*/ 502 h 521"/>
                <a:gd name="T40" fmla="*/ 314 w 341"/>
                <a:gd name="T41" fmla="*/ 520 h 521"/>
                <a:gd name="T42" fmla="*/ 296 w 341"/>
                <a:gd name="T43" fmla="*/ 52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1" h="521">
                  <a:moveTo>
                    <a:pt x="296" y="520"/>
                  </a:moveTo>
                  <a:lnTo>
                    <a:pt x="296" y="520"/>
                  </a:lnTo>
                  <a:cubicBezTo>
                    <a:pt x="45" y="520"/>
                    <a:pt x="45" y="520"/>
                    <a:pt x="45" y="520"/>
                  </a:cubicBezTo>
                  <a:cubicBezTo>
                    <a:pt x="18" y="520"/>
                    <a:pt x="0" y="502"/>
                    <a:pt x="0" y="47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18"/>
                    <a:pt x="18" y="0"/>
                    <a:pt x="45" y="0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323" y="0"/>
                    <a:pt x="340" y="18"/>
                    <a:pt x="340" y="45"/>
                  </a:cubicBezTo>
                  <a:cubicBezTo>
                    <a:pt x="340" y="188"/>
                    <a:pt x="340" y="188"/>
                    <a:pt x="340" y="188"/>
                  </a:cubicBezTo>
                  <a:cubicBezTo>
                    <a:pt x="340" y="197"/>
                    <a:pt x="332" y="206"/>
                    <a:pt x="332" y="206"/>
                  </a:cubicBezTo>
                  <a:cubicBezTo>
                    <a:pt x="323" y="206"/>
                    <a:pt x="314" y="197"/>
                    <a:pt x="314" y="188"/>
                  </a:cubicBezTo>
                  <a:cubicBezTo>
                    <a:pt x="314" y="45"/>
                    <a:pt x="314" y="45"/>
                    <a:pt x="314" y="45"/>
                  </a:cubicBezTo>
                  <a:cubicBezTo>
                    <a:pt x="314" y="36"/>
                    <a:pt x="305" y="27"/>
                    <a:pt x="296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36" y="27"/>
                    <a:pt x="27" y="36"/>
                    <a:pt x="27" y="45"/>
                  </a:cubicBezTo>
                  <a:cubicBezTo>
                    <a:pt x="27" y="475"/>
                    <a:pt x="27" y="475"/>
                    <a:pt x="27" y="475"/>
                  </a:cubicBezTo>
                  <a:cubicBezTo>
                    <a:pt x="27" y="484"/>
                    <a:pt x="36" y="493"/>
                    <a:pt x="45" y="493"/>
                  </a:cubicBezTo>
                  <a:cubicBezTo>
                    <a:pt x="296" y="493"/>
                    <a:pt x="296" y="493"/>
                    <a:pt x="296" y="493"/>
                  </a:cubicBezTo>
                  <a:cubicBezTo>
                    <a:pt x="296" y="493"/>
                    <a:pt x="296" y="493"/>
                    <a:pt x="305" y="493"/>
                  </a:cubicBezTo>
                  <a:cubicBezTo>
                    <a:pt x="314" y="493"/>
                    <a:pt x="314" y="493"/>
                    <a:pt x="323" y="502"/>
                  </a:cubicBezTo>
                  <a:cubicBezTo>
                    <a:pt x="323" y="502"/>
                    <a:pt x="323" y="511"/>
                    <a:pt x="314" y="520"/>
                  </a:cubicBezTo>
                  <a:cubicBezTo>
                    <a:pt x="305" y="520"/>
                    <a:pt x="305" y="520"/>
                    <a:pt x="296" y="520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0" name="Freeform 599">
              <a:extLst>
                <a:ext uri="{FF2B5EF4-FFF2-40B4-BE49-F238E27FC236}">
                  <a16:creationId xmlns:a16="http://schemas.microsoft.com/office/drawing/2014/main" id="{08A686EA-BE37-E045-8EC3-AE3177F15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4820" y="5033866"/>
              <a:ext cx="37904" cy="28428"/>
            </a:xfrm>
            <a:custGeom>
              <a:avLst/>
              <a:gdLst>
                <a:gd name="T0" fmla="*/ 18 w 37"/>
                <a:gd name="T1" fmla="*/ 27 h 28"/>
                <a:gd name="T2" fmla="*/ 18 w 37"/>
                <a:gd name="T3" fmla="*/ 27 h 28"/>
                <a:gd name="T4" fmla="*/ 0 w 37"/>
                <a:gd name="T5" fmla="*/ 18 h 28"/>
                <a:gd name="T6" fmla="*/ 18 w 37"/>
                <a:gd name="T7" fmla="*/ 0 h 28"/>
                <a:gd name="T8" fmla="*/ 36 w 37"/>
                <a:gd name="T9" fmla="*/ 18 h 28"/>
                <a:gd name="T10" fmla="*/ 18 w 37"/>
                <a:gd name="T11" fmla="*/ 27 h 28"/>
                <a:gd name="T12" fmla="*/ 18 w 37"/>
                <a:gd name="T13" fmla="*/ 9 h 28"/>
                <a:gd name="T14" fmla="*/ 18 w 37"/>
                <a:gd name="T15" fmla="*/ 9 h 28"/>
                <a:gd name="T16" fmla="*/ 9 w 37"/>
                <a:gd name="T17" fmla="*/ 18 h 28"/>
                <a:gd name="T18" fmla="*/ 18 w 37"/>
                <a:gd name="T19" fmla="*/ 27 h 28"/>
                <a:gd name="T20" fmla="*/ 27 w 37"/>
                <a:gd name="T21" fmla="*/ 18 h 28"/>
                <a:gd name="T22" fmla="*/ 18 w 37"/>
                <a:gd name="T23" fmla="*/ 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28">
                  <a:moveTo>
                    <a:pt x="18" y="27"/>
                  </a:moveTo>
                  <a:lnTo>
                    <a:pt x="18" y="27"/>
                  </a:lnTo>
                  <a:cubicBezTo>
                    <a:pt x="9" y="27"/>
                    <a:pt x="0" y="27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7" y="0"/>
                    <a:pt x="36" y="9"/>
                    <a:pt x="36" y="18"/>
                  </a:cubicBezTo>
                  <a:cubicBezTo>
                    <a:pt x="36" y="27"/>
                    <a:pt x="27" y="27"/>
                    <a:pt x="18" y="27"/>
                  </a:cubicBezTo>
                  <a:close/>
                  <a:moveTo>
                    <a:pt x="18" y="9"/>
                  </a:moveTo>
                  <a:lnTo>
                    <a:pt x="18" y="9"/>
                  </a:lnTo>
                  <a:cubicBezTo>
                    <a:pt x="18" y="9"/>
                    <a:pt x="9" y="9"/>
                    <a:pt x="9" y="18"/>
                  </a:cubicBezTo>
                  <a:lnTo>
                    <a:pt x="18" y="27"/>
                  </a:lnTo>
                  <a:cubicBezTo>
                    <a:pt x="27" y="27"/>
                    <a:pt x="27" y="18"/>
                    <a:pt x="27" y="18"/>
                  </a:cubicBezTo>
                  <a:cubicBezTo>
                    <a:pt x="27" y="9"/>
                    <a:pt x="27" y="9"/>
                    <a:pt x="18" y="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1" name="Freeform 600">
              <a:extLst>
                <a:ext uri="{FF2B5EF4-FFF2-40B4-BE49-F238E27FC236}">
                  <a16:creationId xmlns:a16="http://schemas.microsoft.com/office/drawing/2014/main" id="{99E2C5CA-219F-E64F-B241-F6026F07D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8467" y="5033866"/>
              <a:ext cx="127925" cy="28428"/>
            </a:xfrm>
            <a:custGeom>
              <a:avLst/>
              <a:gdLst>
                <a:gd name="T0" fmla="*/ 107 w 117"/>
                <a:gd name="T1" fmla="*/ 27 h 28"/>
                <a:gd name="T2" fmla="*/ 107 w 117"/>
                <a:gd name="T3" fmla="*/ 27 h 28"/>
                <a:gd name="T4" fmla="*/ 9 w 117"/>
                <a:gd name="T5" fmla="*/ 27 h 28"/>
                <a:gd name="T6" fmla="*/ 0 w 117"/>
                <a:gd name="T7" fmla="*/ 18 h 28"/>
                <a:gd name="T8" fmla="*/ 9 w 117"/>
                <a:gd name="T9" fmla="*/ 0 h 28"/>
                <a:gd name="T10" fmla="*/ 107 w 117"/>
                <a:gd name="T11" fmla="*/ 0 h 28"/>
                <a:gd name="T12" fmla="*/ 116 w 117"/>
                <a:gd name="T13" fmla="*/ 18 h 28"/>
                <a:gd name="T14" fmla="*/ 107 w 117"/>
                <a:gd name="T1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28">
                  <a:moveTo>
                    <a:pt x="107" y="27"/>
                  </a:moveTo>
                  <a:lnTo>
                    <a:pt x="107" y="27"/>
                  </a:lnTo>
                  <a:cubicBezTo>
                    <a:pt x="9" y="27"/>
                    <a:pt x="9" y="27"/>
                    <a:pt x="9" y="27"/>
                  </a:cubicBezTo>
                  <a:lnTo>
                    <a:pt x="0" y="18"/>
                  </a:lnTo>
                  <a:cubicBezTo>
                    <a:pt x="0" y="9"/>
                    <a:pt x="9" y="0"/>
                    <a:pt x="9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16" y="0"/>
                    <a:pt x="116" y="9"/>
                    <a:pt x="116" y="18"/>
                  </a:cubicBezTo>
                  <a:cubicBezTo>
                    <a:pt x="116" y="18"/>
                    <a:pt x="116" y="27"/>
                    <a:pt x="107" y="27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2" name="Freeform 601">
              <a:extLst>
                <a:ext uri="{FF2B5EF4-FFF2-40B4-BE49-F238E27FC236}">
                  <a16:creationId xmlns:a16="http://schemas.microsoft.com/office/drawing/2014/main" id="{A1B0A63D-0C0E-894B-A68B-12A41151C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1087" y="4607444"/>
              <a:ext cx="279541" cy="156353"/>
            </a:xfrm>
            <a:custGeom>
              <a:avLst/>
              <a:gdLst>
                <a:gd name="T0" fmla="*/ 251 w 261"/>
                <a:gd name="T1" fmla="*/ 143 h 144"/>
                <a:gd name="T2" fmla="*/ 251 w 261"/>
                <a:gd name="T3" fmla="*/ 143 h 144"/>
                <a:gd name="T4" fmla="*/ 18 w 261"/>
                <a:gd name="T5" fmla="*/ 143 h 144"/>
                <a:gd name="T6" fmla="*/ 0 w 261"/>
                <a:gd name="T7" fmla="*/ 134 h 144"/>
                <a:gd name="T8" fmla="*/ 0 w 261"/>
                <a:gd name="T9" fmla="*/ 18 h 144"/>
                <a:gd name="T10" fmla="*/ 18 w 261"/>
                <a:gd name="T11" fmla="*/ 0 h 144"/>
                <a:gd name="T12" fmla="*/ 251 w 261"/>
                <a:gd name="T13" fmla="*/ 0 h 144"/>
                <a:gd name="T14" fmla="*/ 260 w 261"/>
                <a:gd name="T15" fmla="*/ 18 h 144"/>
                <a:gd name="T16" fmla="*/ 260 w 261"/>
                <a:gd name="T17" fmla="*/ 134 h 144"/>
                <a:gd name="T18" fmla="*/ 251 w 261"/>
                <a:gd name="T19" fmla="*/ 143 h 144"/>
                <a:gd name="T20" fmla="*/ 27 w 261"/>
                <a:gd name="T21" fmla="*/ 116 h 144"/>
                <a:gd name="T22" fmla="*/ 27 w 261"/>
                <a:gd name="T23" fmla="*/ 116 h 144"/>
                <a:gd name="T24" fmla="*/ 242 w 261"/>
                <a:gd name="T25" fmla="*/ 116 h 144"/>
                <a:gd name="T26" fmla="*/ 242 w 261"/>
                <a:gd name="T27" fmla="*/ 27 h 144"/>
                <a:gd name="T28" fmla="*/ 27 w 261"/>
                <a:gd name="T29" fmla="*/ 27 h 144"/>
                <a:gd name="T30" fmla="*/ 27 w 261"/>
                <a:gd name="T31" fmla="*/ 11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1" h="144">
                  <a:moveTo>
                    <a:pt x="251" y="143"/>
                  </a:moveTo>
                  <a:lnTo>
                    <a:pt x="251" y="143"/>
                  </a:lnTo>
                  <a:cubicBezTo>
                    <a:pt x="18" y="143"/>
                    <a:pt x="18" y="143"/>
                    <a:pt x="18" y="143"/>
                  </a:cubicBezTo>
                  <a:cubicBezTo>
                    <a:pt x="9" y="143"/>
                    <a:pt x="0" y="134"/>
                    <a:pt x="0" y="13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260" y="0"/>
                    <a:pt x="260" y="9"/>
                    <a:pt x="260" y="18"/>
                  </a:cubicBezTo>
                  <a:cubicBezTo>
                    <a:pt x="260" y="134"/>
                    <a:pt x="260" y="134"/>
                    <a:pt x="260" y="134"/>
                  </a:cubicBezTo>
                  <a:cubicBezTo>
                    <a:pt x="260" y="134"/>
                    <a:pt x="260" y="143"/>
                    <a:pt x="251" y="143"/>
                  </a:cubicBezTo>
                  <a:close/>
                  <a:moveTo>
                    <a:pt x="27" y="116"/>
                  </a:moveTo>
                  <a:lnTo>
                    <a:pt x="27" y="116"/>
                  </a:lnTo>
                  <a:cubicBezTo>
                    <a:pt x="242" y="116"/>
                    <a:pt x="242" y="116"/>
                    <a:pt x="242" y="116"/>
                  </a:cubicBezTo>
                  <a:cubicBezTo>
                    <a:pt x="242" y="27"/>
                    <a:pt x="242" y="27"/>
                    <a:pt x="242" y="27"/>
                  </a:cubicBezTo>
                  <a:cubicBezTo>
                    <a:pt x="27" y="27"/>
                    <a:pt x="27" y="27"/>
                    <a:pt x="27" y="27"/>
                  </a:cubicBezTo>
                  <a:lnTo>
                    <a:pt x="27" y="1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3" name="Freeform 602">
              <a:extLst>
                <a:ext uri="{FF2B5EF4-FFF2-40B4-BE49-F238E27FC236}">
                  <a16:creationId xmlns:a16="http://schemas.microsoft.com/office/drawing/2014/main" id="{DB263009-1AE1-2644-8554-79824C966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4820" y="4934366"/>
              <a:ext cx="37904" cy="28428"/>
            </a:xfrm>
            <a:custGeom>
              <a:avLst/>
              <a:gdLst>
                <a:gd name="T0" fmla="*/ 18 w 37"/>
                <a:gd name="T1" fmla="*/ 26 h 27"/>
                <a:gd name="T2" fmla="*/ 18 w 37"/>
                <a:gd name="T3" fmla="*/ 26 h 27"/>
                <a:gd name="T4" fmla="*/ 0 w 37"/>
                <a:gd name="T5" fmla="*/ 9 h 27"/>
                <a:gd name="T6" fmla="*/ 18 w 37"/>
                <a:gd name="T7" fmla="*/ 0 h 27"/>
                <a:gd name="T8" fmla="*/ 36 w 37"/>
                <a:gd name="T9" fmla="*/ 9 h 27"/>
                <a:gd name="T10" fmla="*/ 18 w 37"/>
                <a:gd name="T11" fmla="*/ 26 h 27"/>
                <a:gd name="T12" fmla="*/ 18 w 37"/>
                <a:gd name="T13" fmla="*/ 0 h 27"/>
                <a:gd name="T14" fmla="*/ 18 w 37"/>
                <a:gd name="T15" fmla="*/ 0 h 27"/>
                <a:gd name="T16" fmla="*/ 9 w 37"/>
                <a:gd name="T17" fmla="*/ 9 h 27"/>
                <a:gd name="T18" fmla="*/ 18 w 37"/>
                <a:gd name="T19" fmla="*/ 18 h 27"/>
                <a:gd name="T20" fmla="*/ 27 w 37"/>
                <a:gd name="T21" fmla="*/ 9 h 27"/>
                <a:gd name="T22" fmla="*/ 18 w 37"/>
                <a:gd name="T2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27">
                  <a:moveTo>
                    <a:pt x="18" y="26"/>
                  </a:moveTo>
                  <a:lnTo>
                    <a:pt x="18" y="26"/>
                  </a:lnTo>
                  <a:cubicBezTo>
                    <a:pt x="9" y="26"/>
                    <a:pt x="0" y="18"/>
                    <a:pt x="0" y="9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7" y="0"/>
                    <a:pt x="36" y="9"/>
                    <a:pt x="36" y="9"/>
                  </a:cubicBezTo>
                  <a:cubicBezTo>
                    <a:pt x="36" y="18"/>
                    <a:pt x="27" y="26"/>
                    <a:pt x="18" y="26"/>
                  </a:cubicBez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9" y="9"/>
                  </a:lnTo>
                  <a:cubicBezTo>
                    <a:pt x="9" y="18"/>
                    <a:pt x="18" y="18"/>
                    <a:pt x="18" y="18"/>
                  </a:cubicBezTo>
                  <a:cubicBezTo>
                    <a:pt x="27" y="18"/>
                    <a:pt x="27" y="18"/>
                    <a:pt x="27" y="9"/>
                  </a:cubicBezTo>
                  <a:cubicBezTo>
                    <a:pt x="27" y="9"/>
                    <a:pt x="27" y="0"/>
                    <a:pt x="1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4" name="Freeform 603">
              <a:extLst>
                <a:ext uri="{FF2B5EF4-FFF2-40B4-BE49-F238E27FC236}">
                  <a16:creationId xmlns:a16="http://schemas.microsoft.com/office/drawing/2014/main" id="{736FDEB4-9ECC-C645-81F4-EE995C543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297" y="4868034"/>
              <a:ext cx="28428" cy="28428"/>
            </a:xfrm>
            <a:custGeom>
              <a:avLst/>
              <a:gdLst>
                <a:gd name="T0" fmla="*/ 9 w 28"/>
                <a:gd name="T1" fmla="*/ 27 h 28"/>
                <a:gd name="T2" fmla="*/ 9 w 28"/>
                <a:gd name="T3" fmla="*/ 27 h 28"/>
                <a:gd name="T4" fmla="*/ 0 w 28"/>
                <a:gd name="T5" fmla="*/ 9 h 28"/>
                <a:gd name="T6" fmla="*/ 9 w 28"/>
                <a:gd name="T7" fmla="*/ 0 h 28"/>
                <a:gd name="T8" fmla="*/ 27 w 28"/>
                <a:gd name="T9" fmla="*/ 9 h 28"/>
                <a:gd name="T10" fmla="*/ 9 w 28"/>
                <a:gd name="T11" fmla="*/ 27 h 28"/>
                <a:gd name="T12" fmla="*/ 9 w 28"/>
                <a:gd name="T13" fmla="*/ 0 h 28"/>
                <a:gd name="T14" fmla="*/ 9 w 28"/>
                <a:gd name="T15" fmla="*/ 0 h 28"/>
                <a:gd name="T16" fmla="*/ 0 w 28"/>
                <a:gd name="T17" fmla="*/ 9 h 28"/>
                <a:gd name="T18" fmla="*/ 9 w 28"/>
                <a:gd name="T19" fmla="*/ 18 h 28"/>
                <a:gd name="T20" fmla="*/ 18 w 28"/>
                <a:gd name="T21" fmla="*/ 9 h 28"/>
                <a:gd name="T22" fmla="*/ 9 w 28"/>
                <a:gd name="T2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8">
                  <a:moveTo>
                    <a:pt x="9" y="27"/>
                  </a:moveTo>
                  <a:lnTo>
                    <a:pt x="9" y="27"/>
                  </a:lnTo>
                  <a:cubicBezTo>
                    <a:pt x="0" y="27"/>
                    <a:pt x="0" y="18"/>
                    <a:pt x="0" y="9"/>
                  </a:cubicBezTo>
                  <a:cubicBezTo>
                    <a:pt x="0" y="0"/>
                    <a:pt x="0" y="0"/>
                    <a:pt x="9" y="0"/>
                  </a:cubicBezTo>
                  <a:cubicBezTo>
                    <a:pt x="18" y="0"/>
                    <a:pt x="27" y="0"/>
                    <a:pt x="27" y="9"/>
                  </a:cubicBezTo>
                  <a:cubicBezTo>
                    <a:pt x="27" y="18"/>
                    <a:pt x="18" y="27"/>
                    <a:pt x="9" y="27"/>
                  </a:cubicBezTo>
                  <a:close/>
                  <a:moveTo>
                    <a:pt x="9" y="0"/>
                  </a:moveTo>
                  <a:lnTo>
                    <a:pt x="9" y="0"/>
                  </a:lnTo>
                  <a:lnTo>
                    <a:pt x="0" y="9"/>
                  </a:lnTo>
                  <a:cubicBezTo>
                    <a:pt x="0" y="18"/>
                    <a:pt x="9" y="18"/>
                    <a:pt x="9" y="18"/>
                  </a:cubicBezTo>
                  <a:cubicBezTo>
                    <a:pt x="18" y="18"/>
                    <a:pt x="18" y="18"/>
                    <a:pt x="18" y="9"/>
                  </a:cubicBezTo>
                  <a:cubicBezTo>
                    <a:pt x="18" y="9"/>
                    <a:pt x="18" y="0"/>
                    <a:pt x="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5" name="Freeform 604">
              <a:extLst>
                <a:ext uri="{FF2B5EF4-FFF2-40B4-BE49-F238E27FC236}">
                  <a16:creationId xmlns:a16="http://schemas.microsoft.com/office/drawing/2014/main" id="{1C61E9A9-78D2-4942-9CDA-29C42CC9F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4276" y="4868034"/>
              <a:ext cx="28428" cy="28428"/>
            </a:xfrm>
            <a:custGeom>
              <a:avLst/>
              <a:gdLst>
                <a:gd name="T0" fmla="*/ 18 w 28"/>
                <a:gd name="T1" fmla="*/ 27 h 28"/>
                <a:gd name="T2" fmla="*/ 18 w 28"/>
                <a:gd name="T3" fmla="*/ 27 h 28"/>
                <a:gd name="T4" fmla="*/ 0 w 28"/>
                <a:gd name="T5" fmla="*/ 9 h 28"/>
                <a:gd name="T6" fmla="*/ 18 w 28"/>
                <a:gd name="T7" fmla="*/ 0 h 28"/>
                <a:gd name="T8" fmla="*/ 27 w 28"/>
                <a:gd name="T9" fmla="*/ 9 h 28"/>
                <a:gd name="T10" fmla="*/ 18 w 28"/>
                <a:gd name="T11" fmla="*/ 27 h 28"/>
                <a:gd name="T12" fmla="*/ 18 w 28"/>
                <a:gd name="T13" fmla="*/ 0 h 28"/>
                <a:gd name="T14" fmla="*/ 18 w 28"/>
                <a:gd name="T15" fmla="*/ 0 h 28"/>
                <a:gd name="T16" fmla="*/ 9 w 28"/>
                <a:gd name="T17" fmla="*/ 9 h 28"/>
                <a:gd name="T18" fmla="*/ 18 w 28"/>
                <a:gd name="T19" fmla="*/ 18 h 28"/>
                <a:gd name="T20" fmla="*/ 27 w 28"/>
                <a:gd name="T21" fmla="*/ 9 h 28"/>
                <a:gd name="T22" fmla="*/ 18 w 28"/>
                <a:gd name="T2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8">
                  <a:moveTo>
                    <a:pt x="18" y="27"/>
                  </a:moveTo>
                  <a:lnTo>
                    <a:pt x="18" y="27"/>
                  </a:lnTo>
                  <a:cubicBezTo>
                    <a:pt x="9" y="27"/>
                    <a:pt x="0" y="18"/>
                    <a:pt x="0" y="9"/>
                  </a:cubicBezTo>
                  <a:cubicBezTo>
                    <a:pt x="0" y="0"/>
                    <a:pt x="9" y="0"/>
                    <a:pt x="18" y="0"/>
                  </a:cubicBezTo>
                  <a:cubicBezTo>
                    <a:pt x="27" y="0"/>
                    <a:pt x="27" y="0"/>
                    <a:pt x="27" y="9"/>
                  </a:cubicBezTo>
                  <a:cubicBezTo>
                    <a:pt x="27" y="18"/>
                    <a:pt x="27" y="27"/>
                    <a:pt x="18" y="27"/>
                  </a:cubicBezTo>
                  <a:close/>
                  <a:moveTo>
                    <a:pt x="18" y="0"/>
                  </a:moveTo>
                  <a:lnTo>
                    <a:pt x="18" y="0"/>
                  </a:lnTo>
                  <a:cubicBezTo>
                    <a:pt x="9" y="0"/>
                    <a:pt x="9" y="9"/>
                    <a:pt x="9" y="9"/>
                  </a:cubicBezTo>
                  <a:cubicBezTo>
                    <a:pt x="9" y="18"/>
                    <a:pt x="9" y="18"/>
                    <a:pt x="18" y="18"/>
                  </a:cubicBezTo>
                  <a:cubicBezTo>
                    <a:pt x="18" y="18"/>
                    <a:pt x="27" y="18"/>
                    <a:pt x="27" y="9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6" name="Freeform 605">
              <a:extLst>
                <a:ext uri="{FF2B5EF4-FFF2-40B4-BE49-F238E27FC236}">
                  <a16:creationId xmlns:a16="http://schemas.microsoft.com/office/drawing/2014/main" id="{0FB4B110-39B1-A343-B174-4AB7BB288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8467" y="4868034"/>
              <a:ext cx="28428" cy="28428"/>
            </a:xfrm>
            <a:custGeom>
              <a:avLst/>
              <a:gdLst>
                <a:gd name="T0" fmla="*/ 9 w 28"/>
                <a:gd name="T1" fmla="*/ 27 h 28"/>
                <a:gd name="T2" fmla="*/ 9 w 28"/>
                <a:gd name="T3" fmla="*/ 27 h 28"/>
                <a:gd name="T4" fmla="*/ 0 w 28"/>
                <a:gd name="T5" fmla="*/ 9 h 28"/>
                <a:gd name="T6" fmla="*/ 9 w 28"/>
                <a:gd name="T7" fmla="*/ 0 h 28"/>
                <a:gd name="T8" fmla="*/ 27 w 28"/>
                <a:gd name="T9" fmla="*/ 9 h 28"/>
                <a:gd name="T10" fmla="*/ 9 w 28"/>
                <a:gd name="T11" fmla="*/ 27 h 28"/>
                <a:gd name="T12" fmla="*/ 9 w 28"/>
                <a:gd name="T13" fmla="*/ 0 h 28"/>
                <a:gd name="T14" fmla="*/ 9 w 28"/>
                <a:gd name="T15" fmla="*/ 0 h 28"/>
                <a:gd name="T16" fmla="*/ 0 w 28"/>
                <a:gd name="T17" fmla="*/ 9 h 28"/>
                <a:gd name="T18" fmla="*/ 9 w 28"/>
                <a:gd name="T19" fmla="*/ 18 h 28"/>
                <a:gd name="T20" fmla="*/ 18 w 28"/>
                <a:gd name="T21" fmla="*/ 9 h 28"/>
                <a:gd name="T22" fmla="*/ 9 w 28"/>
                <a:gd name="T2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8">
                  <a:moveTo>
                    <a:pt x="9" y="27"/>
                  </a:moveTo>
                  <a:lnTo>
                    <a:pt x="9" y="27"/>
                  </a:lnTo>
                  <a:cubicBezTo>
                    <a:pt x="0" y="27"/>
                    <a:pt x="0" y="18"/>
                    <a:pt x="0" y="9"/>
                  </a:cubicBezTo>
                  <a:cubicBezTo>
                    <a:pt x="0" y="0"/>
                    <a:pt x="0" y="0"/>
                    <a:pt x="9" y="0"/>
                  </a:cubicBezTo>
                  <a:cubicBezTo>
                    <a:pt x="18" y="0"/>
                    <a:pt x="27" y="0"/>
                    <a:pt x="27" y="9"/>
                  </a:cubicBezTo>
                  <a:cubicBezTo>
                    <a:pt x="27" y="18"/>
                    <a:pt x="18" y="27"/>
                    <a:pt x="9" y="27"/>
                  </a:cubicBezTo>
                  <a:close/>
                  <a:moveTo>
                    <a:pt x="9" y="0"/>
                  </a:moveTo>
                  <a:lnTo>
                    <a:pt x="9" y="0"/>
                  </a:lnTo>
                  <a:lnTo>
                    <a:pt x="0" y="9"/>
                  </a:lnTo>
                  <a:cubicBezTo>
                    <a:pt x="0" y="18"/>
                    <a:pt x="9" y="18"/>
                    <a:pt x="9" y="18"/>
                  </a:cubicBezTo>
                  <a:cubicBezTo>
                    <a:pt x="18" y="18"/>
                    <a:pt x="18" y="18"/>
                    <a:pt x="18" y="9"/>
                  </a:cubicBezTo>
                  <a:cubicBezTo>
                    <a:pt x="18" y="9"/>
                    <a:pt x="18" y="0"/>
                    <a:pt x="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7" name="Freeform 606">
              <a:extLst>
                <a:ext uri="{FF2B5EF4-FFF2-40B4-BE49-F238E27FC236}">
                  <a16:creationId xmlns:a16="http://schemas.microsoft.com/office/drawing/2014/main" id="{E7C0AFA1-524C-9A4D-B2B3-BAC9ED622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4276" y="4934366"/>
              <a:ext cx="28428" cy="28428"/>
            </a:xfrm>
            <a:custGeom>
              <a:avLst/>
              <a:gdLst>
                <a:gd name="T0" fmla="*/ 18 w 28"/>
                <a:gd name="T1" fmla="*/ 26 h 27"/>
                <a:gd name="T2" fmla="*/ 18 w 28"/>
                <a:gd name="T3" fmla="*/ 26 h 27"/>
                <a:gd name="T4" fmla="*/ 0 w 28"/>
                <a:gd name="T5" fmla="*/ 9 h 27"/>
                <a:gd name="T6" fmla="*/ 18 w 28"/>
                <a:gd name="T7" fmla="*/ 0 h 27"/>
                <a:gd name="T8" fmla="*/ 27 w 28"/>
                <a:gd name="T9" fmla="*/ 9 h 27"/>
                <a:gd name="T10" fmla="*/ 18 w 28"/>
                <a:gd name="T11" fmla="*/ 26 h 27"/>
                <a:gd name="T12" fmla="*/ 18 w 28"/>
                <a:gd name="T13" fmla="*/ 0 h 27"/>
                <a:gd name="T14" fmla="*/ 18 w 28"/>
                <a:gd name="T15" fmla="*/ 0 h 27"/>
                <a:gd name="T16" fmla="*/ 9 w 28"/>
                <a:gd name="T17" fmla="*/ 9 h 27"/>
                <a:gd name="T18" fmla="*/ 18 w 28"/>
                <a:gd name="T19" fmla="*/ 18 h 27"/>
                <a:gd name="T20" fmla="*/ 27 w 28"/>
                <a:gd name="T21" fmla="*/ 9 h 27"/>
                <a:gd name="T22" fmla="*/ 18 w 28"/>
                <a:gd name="T2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7">
                  <a:moveTo>
                    <a:pt x="18" y="26"/>
                  </a:moveTo>
                  <a:lnTo>
                    <a:pt x="18" y="26"/>
                  </a:lnTo>
                  <a:cubicBezTo>
                    <a:pt x="9" y="26"/>
                    <a:pt x="0" y="18"/>
                    <a:pt x="0" y="9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7" y="0"/>
                    <a:pt x="27" y="9"/>
                    <a:pt x="27" y="9"/>
                  </a:cubicBezTo>
                  <a:cubicBezTo>
                    <a:pt x="27" y="18"/>
                    <a:pt x="27" y="26"/>
                    <a:pt x="18" y="26"/>
                  </a:cubicBezTo>
                  <a:close/>
                  <a:moveTo>
                    <a:pt x="18" y="0"/>
                  </a:moveTo>
                  <a:lnTo>
                    <a:pt x="18" y="0"/>
                  </a:lnTo>
                  <a:cubicBezTo>
                    <a:pt x="9" y="0"/>
                    <a:pt x="9" y="9"/>
                    <a:pt x="9" y="9"/>
                  </a:cubicBezTo>
                  <a:cubicBezTo>
                    <a:pt x="9" y="18"/>
                    <a:pt x="9" y="18"/>
                    <a:pt x="18" y="18"/>
                  </a:cubicBezTo>
                  <a:cubicBezTo>
                    <a:pt x="18" y="18"/>
                    <a:pt x="27" y="18"/>
                    <a:pt x="27" y="9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8" name="Freeform 607">
              <a:extLst>
                <a:ext uri="{FF2B5EF4-FFF2-40B4-BE49-F238E27FC236}">
                  <a16:creationId xmlns:a16="http://schemas.microsoft.com/office/drawing/2014/main" id="{B0260BFF-C267-5F4A-A527-7B68600A2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8467" y="4934366"/>
              <a:ext cx="28428" cy="28428"/>
            </a:xfrm>
            <a:custGeom>
              <a:avLst/>
              <a:gdLst>
                <a:gd name="T0" fmla="*/ 9 w 28"/>
                <a:gd name="T1" fmla="*/ 26 h 27"/>
                <a:gd name="T2" fmla="*/ 9 w 28"/>
                <a:gd name="T3" fmla="*/ 26 h 27"/>
                <a:gd name="T4" fmla="*/ 0 w 28"/>
                <a:gd name="T5" fmla="*/ 9 h 27"/>
                <a:gd name="T6" fmla="*/ 9 w 28"/>
                <a:gd name="T7" fmla="*/ 0 h 27"/>
                <a:gd name="T8" fmla="*/ 27 w 28"/>
                <a:gd name="T9" fmla="*/ 9 h 27"/>
                <a:gd name="T10" fmla="*/ 9 w 28"/>
                <a:gd name="T11" fmla="*/ 26 h 27"/>
                <a:gd name="T12" fmla="*/ 9 w 28"/>
                <a:gd name="T13" fmla="*/ 0 h 27"/>
                <a:gd name="T14" fmla="*/ 9 w 28"/>
                <a:gd name="T15" fmla="*/ 0 h 27"/>
                <a:gd name="T16" fmla="*/ 0 w 28"/>
                <a:gd name="T17" fmla="*/ 9 h 27"/>
                <a:gd name="T18" fmla="*/ 9 w 28"/>
                <a:gd name="T19" fmla="*/ 18 h 27"/>
                <a:gd name="T20" fmla="*/ 18 w 28"/>
                <a:gd name="T21" fmla="*/ 9 h 27"/>
                <a:gd name="T22" fmla="*/ 9 w 28"/>
                <a:gd name="T2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7">
                  <a:moveTo>
                    <a:pt x="9" y="26"/>
                  </a:moveTo>
                  <a:lnTo>
                    <a:pt x="9" y="26"/>
                  </a:lnTo>
                  <a:cubicBezTo>
                    <a:pt x="0" y="26"/>
                    <a:pt x="0" y="18"/>
                    <a:pt x="0" y="9"/>
                  </a:cubicBezTo>
                  <a:cubicBezTo>
                    <a:pt x="0" y="9"/>
                    <a:pt x="0" y="0"/>
                    <a:pt x="9" y="0"/>
                  </a:cubicBezTo>
                  <a:cubicBezTo>
                    <a:pt x="18" y="0"/>
                    <a:pt x="27" y="9"/>
                    <a:pt x="27" y="9"/>
                  </a:cubicBezTo>
                  <a:cubicBezTo>
                    <a:pt x="27" y="18"/>
                    <a:pt x="18" y="26"/>
                    <a:pt x="9" y="26"/>
                  </a:cubicBezTo>
                  <a:close/>
                  <a:moveTo>
                    <a:pt x="9" y="0"/>
                  </a:moveTo>
                  <a:lnTo>
                    <a:pt x="9" y="0"/>
                  </a:lnTo>
                  <a:lnTo>
                    <a:pt x="0" y="9"/>
                  </a:lnTo>
                  <a:cubicBezTo>
                    <a:pt x="0" y="18"/>
                    <a:pt x="9" y="18"/>
                    <a:pt x="9" y="18"/>
                  </a:cubicBezTo>
                  <a:cubicBezTo>
                    <a:pt x="18" y="18"/>
                    <a:pt x="18" y="18"/>
                    <a:pt x="18" y="9"/>
                  </a:cubicBezTo>
                  <a:cubicBezTo>
                    <a:pt x="18" y="9"/>
                    <a:pt x="18" y="0"/>
                    <a:pt x="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89" name="Freeform 608">
              <a:extLst>
                <a:ext uri="{FF2B5EF4-FFF2-40B4-BE49-F238E27FC236}">
                  <a16:creationId xmlns:a16="http://schemas.microsoft.com/office/drawing/2014/main" id="{23F1F608-2D5A-744E-85FE-BA27FA1F8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297" y="4801701"/>
              <a:ext cx="28428" cy="28428"/>
            </a:xfrm>
            <a:custGeom>
              <a:avLst/>
              <a:gdLst>
                <a:gd name="T0" fmla="*/ 9 w 28"/>
                <a:gd name="T1" fmla="*/ 27 h 28"/>
                <a:gd name="T2" fmla="*/ 9 w 28"/>
                <a:gd name="T3" fmla="*/ 27 h 28"/>
                <a:gd name="T4" fmla="*/ 0 w 28"/>
                <a:gd name="T5" fmla="*/ 9 h 28"/>
                <a:gd name="T6" fmla="*/ 9 w 28"/>
                <a:gd name="T7" fmla="*/ 0 h 28"/>
                <a:gd name="T8" fmla="*/ 27 w 28"/>
                <a:gd name="T9" fmla="*/ 9 h 28"/>
                <a:gd name="T10" fmla="*/ 9 w 28"/>
                <a:gd name="T11" fmla="*/ 27 h 28"/>
                <a:gd name="T12" fmla="*/ 9 w 28"/>
                <a:gd name="T13" fmla="*/ 0 h 28"/>
                <a:gd name="T14" fmla="*/ 9 w 28"/>
                <a:gd name="T15" fmla="*/ 0 h 28"/>
                <a:gd name="T16" fmla="*/ 0 w 28"/>
                <a:gd name="T17" fmla="*/ 9 h 28"/>
                <a:gd name="T18" fmla="*/ 9 w 28"/>
                <a:gd name="T19" fmla="*/ 18 h 28"/>
                <a:gd name="T20" fmla="*/ 18 w 28"/>
                <a:gd name="T21" fmla="*/ 9 h 28"/>
                <a:gd name="T22" fmla="*/ 9 w 28"/>
                <a:gd name="T2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8">
                  <a:moveTo>
                    <a:pt x="9" y="27"/>
                  </a:moveTo>
                  <a:lnTo>
                    <a:pt x="9" y="27"/>
                  </a:lnTo>
                  <a:cubicBezTo>
                    <a:pt x="0" y="27"/>
                    <a:pt x="0" y="18"/>
                    <a:pt x="0" y="9"/>
                  </a:cubicBezTo>
                  <a:cubicBezTo>
                    <a:pt x="0" y="9"/>
                    <a:pt x="0" y="0"/>
                    <a:pt x="9" y="0"/>
                  </a:cubicBezTo>
                  <a:cubicBezTo>
                    <a:pt x="18" y="0"/>
                    <a:pt x="27" y="9"/>
                    <a:pt x="27" y="9"/>
                  </a:cubicBezTo>
                  <a:cubicBezTo>
                    <a:pt x="27" y="18"/>
                    <a:pt x="18" y="27"/>
                    <a:pt x="9" y="27"/>
                  </a:cubicBezTo>
                  <a:close/>
                  <a:moveTo>
                    <a:pt x="9" y="0"/>
                  </a:moveTo>
                  <a:lnTo>
                    <a:pt x="9" y="0"/>
                  </a:lnTo>
                  <a:lnTo>
                    <a:pt x="0" y="9"/>
                  </a:lnTo>
                  <a:cubicBezTo>
                    <a:pt x="0" y="18"/>
                    <a:pt x="9" y="18"/>
                    <a:pt x="9" y="18"/>
                  </a:cubicBezTo>
                  <a:cubicBezTo>
                    <a:pt x="18" y="18"/>
                    <a:pt x="18" y="18"/>
                    <a:pt x="18" y="9"/>
                  </a:cubicBezTo>
                  <a:cubicBezTo>
                    <a:pt x="18" y="9"/>
                    <a:pt x="18" y="0"/>
                    <a:pt x="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0" name="Freeform 609">
              <a:extLst>
                <a:ext uri="{FF2B5EF4-FFF2-40B4-BE49-F238E27FC236}">
                  <a16:creationId xmlns:a16="http://schemas.microsoft.com/office/drawing/2014/main" id="{E4122310-45C8-9442-9B49-907958408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4276" y="4801701"/>
              <a:ext cx="28428" cy="28428"/>
            </a:xfrm>
            <a:custGeom>
              <a:avLst/>
              <a:gdLst>
                <a:gd name="T0" fmla="*/ 18 w 28"/>
                <a:gd name="T1" fmla="*/ 27 h 28"/>
                <a:gd name="T2" fmla="*/ 18 w 28"/>
                <a:gd name="T3" fmla="*/ 27 h 28"/>
                <a:gd name="T4" fmla="*/ 0 w 28"/>
                <a:gd name="T5" fmla="*/ 9 h 28"/>
                <a:gd name="T6" fmla="*/ 18 w 28"/>
                <a:gd name="T7" fmla="*/ 0 h 28"/>
                <a:gd name="T8" fmla="*/ 27 w 28"/>
                <a:gd name="T9" fmla="*/ 9 h 28"/>
                <a:gd name="T10" fmla="*/ 18 w 28"/>
                <a:gd name="T11" fmla="*/ 27 h 28"/>
                <a:gd name="T12" fmla="*/ 18 w 28"/>
                <a:gd name="T13" fmla="*/ 0 h 28"/>
                <a:gd name="T14" fmla="*/ 18 w 28"/>
                <a:gd name="T15" fmla="*/ 0 h 28"/>
                <a:gd name="T16" fmla="*/ 9 w 28"/>
                <a:gd name="T17" fmla="*/ 9 h 28"/>
                <a:gd name="T18" fmla="*/ 18 w 28"/>
                <a:gd name="T19" fmla="*/ 18 h 28"/>
                <a:gd name="T20" fmla="*/ 27 w 28"/>
                <a:gd name="T21" fmla="*/ 9 h 28"/>
                <a:gd name="T22" fmla="*/ 18 w 28"/>
                <a:gd name="T2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8">
                  <a:moveTo>
                    <a:pt x="18" y="27"/>
                  </a:moveTo>
                  <a:lnTo>
                    <a:pt x="18" y="27"/>
                  </a:lnTo>
                  <a:cubicBezTo>
                    <a:pt x="9" y="27"/>
                    <a:pt x="0" y="18"/>
                    <a:pt x="0" y="9"/>
                  </a:cubicBezTo>
                  <a:cubicBezTo>
                    <a:pt x="0" y="9"/>
                    <a:pt x="9" y="0"/>
                    <a:pt x="18" y="0"/>
                  </a:cubicBezTo>
                  <a:cubicBezTo>
                    <a:pt x="27" y="0"/>
                    <a:pt x="27" y="9"/>
                    <a:pt x="27" y="9"/>
                  </a:cubicBezTo>
                  <a:cubicBezTo>
                    <a:pt x="27" y="18"/>
                    <a:pt x="27" y="27"/>
                    <a:pt x="18" y="27"/>
                  </a:cubicBezTo>
                  <a:close/>
                  <a:moveTo>
                    <a:pt x="18" y="0"/>
                  </a:moveTo>
                  <a:lnTo>
                    <a:pt x="18" y="0"/>
                  </a:lnTo>
                  <a:cubicBezTo>
                    <a:pt x="9" y="0"/>
                    <a:pt x="9" y="9"/>
                    <a:pt x="9" y="9"/>
                  </a:cubicBezTo>
                  <a:cubicBezTo>
                    <a:pt x="9" y="18"/>
                    <a:pt x="9" y="18"/>
                    <a:pt x="18" y="18"/>
                  </a:cubicBezTo>
                  <a:cubicBezTo>
                    <a:pt x="18" y="18"/>
                    <a:pt x="27" y="18"/>
                    <a:pt x="27" y="9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1" name="Freeform 610">
              <a:extLst>
                <a:ext uri="{FF2B5EF4-FFF2-40B4-BE49-F238E27FC236}">
                  <a16:creationId xmlns:a16="http://schemas.microsoft.com/office/drawing/2014/main" id="{19283811-493D-E946-8B34-4CD7CA95D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8467" y="4801701"/>
              <a:ext cx="28428" cy="28428"/>
            </a:xfrm>
            <a:custGeom>
              <a:avLst/>
              <a:gdLst>
                <a:gd name="T0" fmla="*/ 9 w 28"/>
                <a:gd name="T1" fmla="*/ 27 h 28"/>
                <a:gd name="T2" fmla="*/ 9 w 28"/>
                <a:gd name="T3" fmla="*/ 27 h 28"/>
                <a:gd name="T4" fmla="*/ 0 w 28"/>
                <a:gd name="T5" fmla="*/ 9 h 28"/>
                <a:gd name="T6" fmla="*/ 9 w 28"/>
                <a:gd name="T7" fmla="*/ 0 h 28"/>
                <a:gd name="T8" fmla="*/ 27 w 28"/>
                <a:gd name="T9" fmla="*/ 9 h 28"/>
                <a:gd name="T10" fmla="*/ 9 w 28"/>
                <a:gd name="T11" fmla="*/ 27 h 28"/>
                <a:gd name="T12" fmla="*/ 9 w 28"/>
                <a:gd name="T13" fmla="*/ 0 h 28"/>
                <a:gd name="T14" fmla="*/ 9 w 28"/>
                <a:gd name="T15" fmla="*/ 0 h 28"/>
                <a:gd name="T16" fmla="*/ 0 w 28"/>
                <a:gd name="T17" fmla="*/ 9 h 28"/>
                <a:gd name="T18" fmla="*/ 9 w 28"/>
                <a:gd name="T19" fmla="*/ 18 h 28"/>
                <a:gd name="T20" fmla="*/ 18 w 28"/>
                <a:gd name="T21" fmla="*/ 9 h 28"/>
                <a:gd name="T22" fmla="*/ 9 w 28"/>
                <a:gd name="T2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28">
                  <a:moveTo>
                    <a:pt x="9" y="27"/>
                  </a:moveTo>
                  <a:lnTo>
                    <a:pt x="9" y="27"/>
                  </a:lnTo>
                  <a:cubicBezTo>
                    <a:pt x="0" y="27"/>
                    <a:pt x="0" y="18"/>
                    <a:pt x="0" y="9"/>
                  </a:cubicBezTo>
                  <a:cubicBezTo>
                    <a:pt x="0" y="9"/>
                    <a:pt x="0" y="0"/>
                    <a:pt x="9" y="0"/>
                  </a:cubicBezTo>
                  <a:cubicBezTo>
                    <a:pt x="18" y="0"/>
                    <a:pt x="27" y="9"/>
                    <a:pt x="27" y="9"/>
                  </a:cubicBezTo>
                  <a:cubicBezTo>
                    <a:pt x="27" y="18"/>
                    <a:pt x="18" y="27"/>
                    <a:pt x="9" y="27"/>
                  </a:cubicBezTo>
                  <a:close/>
                  <a:moveTo>
                    <a:pt x="9" y="0"/>
                  </a:moveTo>
                  <a:lnTo>
                    <a:pt x="9" y="0"/>
                  </a:lnTo>
                  <a:lnTo>
                    <a:pt x="0" y="9"/>
                  </a:lnTo>
                  <a:cubicBezTo>
                    <a:pt x="0" y="18"/>
                    <a:pt x="9" y="18"/>
                    <a:pt x="9" y="18"/>
                  </a:cubicBezTo>
                  <a:cubicBezTo>
                    <a:pt x="18" y="18"/>
                    <a:pt x="18" y="18"/>
                    <a:pt x="18" y="9"/>
                  </a:cubicBezTo>
                  <a:cubicBezTo>
                    <a:pt x="18" y="9"/>
                    <a:pt x="18" y="0"/>
                    <a:pt x="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2" name="Freeform 611">
              <a:extLst>
                <a:ext uri="{FF2B5EF4-FFF2-40B4-BE49-F238E27FC236}">
                  <a16:creationId xmlns:a16="http://schemas.microsoft.com/office/drawing/2014/main" id="{A6988849-6ABD-9E41-829D-4C70ECCAE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297" y="4763797"/>
              <a:ext cx="374305" cy="379041"/>
            </a:xfrm>
            <a:custGeom>
              <a:avLst/>
              <a:gdLst>
                <a:gd name="T0" fmla="*/ 179 w 350"/>
                <a:gd name="T1" fmla="*/ 350 h 351"/>
                <a:gd name="T2" fmla="*/ 179 w 350"/>
                <a:gd name="T3" fmla="*/ 350 h 351"/>
                <a:gd name="T4" fmla="*/ 54 w 350"/>
                <a:gd name="T5" fmla="*/ 296 h 351"/>
                <a:gd name="T6" fmla="*/ 0 w 350"/>
                <a:gd name="T7" fmla="*/ 171 h 351"/>
                <a:gd name="T8" fmla="*/ 54 w 350"/>
                <a:gd name="T9" fmla="*/ 45 h 351"/>
                <a:gd name="T10" fmla="*/ 179 w 350"/>
                <a:gd name="T11" fmla="*/ 0 h 351"/>
                <a:gd name="T12" fmla="*/ 305 w 350"/>
                <a:gd name="T13" fmla="*/ 45 h 351"/>
                <a:gd name="T14" fmla="*/ 349 w 350"/>
                <a:gd name="T15" fmla="*/ 171 h 351"/>
                <a:gd name="T16" fmla="*/ 305 w 350"/>
                <a:gd name="T17" fmla="*/ 296 h 351"/>
                <a:gd name="T18" fmla="*/ 179 w 350"/>
                <a:gd name="T19" fmla="*/ 350 h 351"/>
                <a:gd name="T20" fmla="*/ 179 w 350"/>
                <a:gd name="T21" fmla="*/ 18 h 351"/>
                <a:gd name="T22" fmla="*/ 179 w 350"/>
                <a:gd name="T23" fmla="*/ 18 h 351"/>
                <a:gd name="T24" fmla="*/ 27 w 350"/>
                <a:gd name="T25" fmla="*/ 171 h 351"/>
                <a:gd name="T26" fmla="*/ 179 w 350"/>
                <a:gd name="T27" fmla="*/ 323 h 351"/>
                <a:gd name="T28" fmla="*/ 332 w 350"/>
                <a:gd name="T29" fmla="*/ 171 h 351"/>
                <a:gd name="T30" fmla="*/ 179 w 350"/>
                <a:gd name="T31" fmla="*/ 18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0" h="351">
                  <a:moveTo>
                    <a:pt x="179" y="350"/>
                  </a:moveTo>
                  <a:lnTo>
                    <a:pt x="179" y="350"/>
                  </a:lnTo>
                  <a:cubicBezTo>
                    <a:pt x="134" y="350"/>
                    <a:pt x="90" y="332"/>
                    <a:pt x="54" y="296"/>
                  </a:cubicBezTo>
                  <a:cubicBezTo>
                    <a:pt x="18" y="260"/>
                    <a:pt x="0" y="215"/>
                    <a:pt x="0" y="171"/>
                  </a:cubicBezTo>
                  <a:cubicBezTo>
                    <a:pt x="0" y="126"/>
                    <a:pt x="18" y="81"/>
                    <a:pt x="54" y="45"/>
                  </a:cubicBezTo>
                  <a:cubicBezTo>
                    <a:pt x="90" y="18"/>
                    <a:pt x="134" y="0"/>
                    <a:pt x="179" y="0"/>
                  </a:cubicBezTo>
                  <a:cubicBezTo>
                    <a:pt x="224" y="0"/>
                    <a:pt x="269" y="18"/>
                    <a:pt x="305" y="45"/>
                  </a:cubicBezTo>
                  <a:cubicBezTo>
                    <a:pt x="332" y="81"/>
                    <a:pt x="349" y="126"/>
                    <a:pt x="349" y="171"/>
                  </a:cubicBezTo>
                  <a:cubicBezTo>
                    <a:pt x="349" y="215"/>
                    <a:pt x="332" y="260"/>
                    <a:pt x="305" y="296"/>
                  </a:cubicBezTo>
                  <a:cubicBezTo>
                    <a:pt x="269" y="332"/>
                    <a:pt x="224" y="350"/>
                    <a:pt x="179" y="350"/>
                  </a:cubicBezTo>
                  <a:close/>
                  <a:moveTo>
                    <a:pt x="179" y="18"/>
                  </a:moveTo>
                  <a:lnTo>
                    <a:pt x="179" y="18"/>
                  </a:lnTo>
                  <a:cubicBezTo>
                    <a:pt x="90" y="18"/>
                    <a:pt x="27" y="90"/>
                    <a:pt x="27" y="171"/>
                  </a:cubicBezTo>
                  <a:cubicBezTo>
                    <a:pt x="27" y="260"/>
                    <a:pt x="90" y="323"/>
                    <a:pt x="179" y="323"/>
                  </a:cubicBezTo>
                  <a:cubicBezTo>
                    <a:pt x="260" y="323"/>
                    <a:pt x="332" y="260"/>
                    <a:pt x="332" y="171"/>
                  </a:cubicBezTo>
                  <a:cubicBezTo>
                    <a:pt x="332" y="90"/>
                    <a:pt x="260" y="18"/>
                    <a:pt x="179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3" name="Freeform 612">
              <a:extLst>
                <a:ext uri="{FF2B5EF4-FFF2-40B4-BE49-F238E27FC236}">
                  <a16:creationId xmlns:a16="http://schemas.microsoft.com/office/drawing/2014/main" id="{E295D255-A54B-A643-8E2C-A7C331938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1677" y="4801701"/>
              <a:ext cx="289020" cy="289020"/>
            </a:xfrm>
            <a:custGeom>
              <a:avLst/>
              <a:gdLst>
                <a:gd name="T0" fmla="*/ 134 w 270"/>
                <a:gd name="T1" fmla="*/ 269 h 270"/>
                <a:gd name="T2" fmla="*/ 134 w 270"/>
                <a:gd name="T3" fmla="*/ 269 h 270"/>
                <a:gd name="T4" fmla="*/ 0 w 270"/>
                <a:gd name="T5" fmla="*/ 135 h 270"/>
                <a:gd name="T6" fmla="*/ 134 w 270"/>
                <a:gd name="T7" fmla="*/ 0 h 270"/>
                <a:gd name="T8" fmla="*/ 269 w 270"/>
                <a:gd name="T9" fmla="*/ 135 h 270"/>
                <a:gd name="T10" fmla="*/ 134 w 270"/>
                <a:gd name="T11" fmla="*/ 269 h 270"/>
                <a:gd name="T12" fmla="*/ 134 w 270"/>
                <a:gd name="T13" fmla="*/ 27 h 270"/>
                <a:gd name="T14" fmla="*/ 134 w 270"/>
                <a:gd name="T15" fmla="*/ 27 h 270"/>
                <a:gd name="T16" fmla="*/ 18 w 270"/>
                <a:gd name="T17" fmla="*/ 135 h 270"/>
                <a:gd name="T18" fmla="*/ 134 w 270"/>
                <a:gd name="T19" fmla="*/ 251 h 270"/>
                <a:gd name="T20" fmla="*/ 251 w 270"/>
                <a:gd name="T21" fmla="*/ 135 h 270"/>
                <a:gd name="T22" fmla="*/ 134 w 270"/>
                <a:gd name="T23" fmla="*/ 2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0" h="270">
                  <a:moveTo>
                    <a:pt x="134" y="269"/>
                  </a:moveTo>
                  <a:lnTo>
                    <a:pt x="134" y="269"/>
                  </a:lnTo>
                  <a:cubicBezTo>
                    <a:pt x="62" y="269"/>
                    <a:pt x="0" y="206"/>
                    <a:pt x="0" y="135"/>
                  </a:cubicBezTo>
                  <a:cubicBezTo>
                    <a:pt x="0" y="63"/>
                    <a:pt x="62" y="0"/>
                    <a:pt x="134" y="0"/>
                  </a:cubicBezTo>
                  <a:cubicBezTo>
                    <a:pt x="206" y="0"/>
                    <a:pt x="269" y="63"/>
                    <a:pt x="269" y="135"/>
                  </a:cubicBezTo>
                  <a:cubicBezTo>
                    <a:pt x="269" y="206"/>
                    <a:pt x="206" y="269"/>
                    <a:pt x="134" y="269"/>
                  </a:cubicBezTo>
                  <a:close/>
                  <a:moveTo>
                    <a:pt x="134" y="27"/>
                  </a:moveTo>
                  <a:lnTo>
                    <a:pt x="134" y="27"/>
                  </a:lnTo>
                  <a:cubicBezTo>
                    <a:pt x="71" y="27"/>
                    <a:pt x="18" y="72"/>
                    <a:pt x="18" y="135"/>
                  </a:cubicBezTo>
                  <a:cubicBezTo>
                    <a:pt x="18" y="197"/>
                    <a:pt x="71" y="251"/>
                    <a:pt x="134" y="251"/>
                  </a:cubicBezTo>
                  <a:cubicBezTo>
                    <a:pt x="197" y="251"/>
                    <a:pt x="251" y="197"/>
                    <a:pt x="251" y="135"/>
                  </a:cubicBezTo>
                  <a:cubicBezTo>
                    <a:pt x="251" y="72"/>
                    <a:pt x="197" y="27"/>
                    <a:pt x="134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4" name="Freeform 613">
              <a:extLst>
                <a:ext uri="{FF2B5EF4-FFF2-40B4-BE49-F238E27FC236}">
                  <a16:creationId xmlns:a16="http://schemas.microsoft.com/office/drawing/2014/main" id="{38CC773B-1098-F64E-95E5-2CD2A8767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6437" y="4877510"/>
              <a:ext cx="90024" cy="137404"/>
            </a:xfrm>
            <a:custGeom>
              <a:avLst/>
              <a:gdLst>
                <a:gd name="T0" fmla="*/ 45 w 82"/>
                <a:gd name="T1" fmla="*/ 125 h 126"/>
                <a:gd name="T2" fmla="*/ 45 w 82"/>
                <a:gd name="T3" fmla="*/ 125 h 126"/>
                <a:gd name="T4" fmla="*/ 9 w 82"/>
                <a:gd name="T5" fmla="*/ 116 h 126"/>
                <a:gd name="T6" fmla="*/ 9 w 82"/>
                <a:gd name="T7" fmla="*/ 107 h 126"/>
                <a:gd name="T8" fmla="*/ 18 w 82"/>
                <a:gd name="T9" fmla="*/ 107 h 126"/>
                <a:gd name="T10" fmla="*/ 63 w 82"/>
                <a:gd name="T11" fmla="*/ 107 h 126"/>
                <a:gd name="T12" fmla="*/ 72 w 82"/>
                <a:gd name="T13" fmla="*/ 89 h 126"/>
                <a:gd name="T14" fmla="*/ 45 w 82"/>
                <a:gd name="T15" fmla="*/ 72 h 126"/>
                <a:gd name="T16" fmla="*/ 18 w 82"/>
                <a:gd name="T17" fmla="*/ 54 h 126"/>
                <a:gd name="T18" fmla="*/ 9 w 82"/>
                <a:gd name="T19" fmla="*/ 36 h 126"/>
                <a:gd name="T20" fmla="*/ 18 w 82"/>
                <a:gd name="T21" fmla="*/ 9 h 126"/>
                <a:gd name="T22" fmla="*/ 81 w 82"/>
                <a:gd name="T23" fmla="*/ 9 h 126"/>
                <a:gd name="T24" fmla="*/ 81 w 82"/>
                <a:gd name="T25" fmla="*/ 18 h 126"/>
                <a:gd name="T26" fmla="*/ 72 w 82"/>
                <a:gd name="T27" fmla="*/ 18 h 126"/>
                <a:gd name="T28" fmla="*/ 27 w 82"/>
                <a:gd name="T29" fmla="*/ 18 h 126"/>
                <a:gd name="T30" fmla="*/ 18 w 82"/>
                <a:gd name="T31" fmla="*/ 36 h 126"/>
                <a:gd name="T32" fmla="*/ 45 w 82"/>
                <a:gd name="T33" fmla="*/ 54 h 126"/>
                <a:gd name="T34" fmla="*/ 72 w 82"/>
                <a:gd name="T35" fmla="*/ 72 h 126"/>
                <a:gd name="T36" fmla="*/ 81 w 82"/>
                <a:gd name="T37" fmla="*/ 89 h 126"/>
                <a:gd name="T38" fmla="*/ 72 w 82"/>
                <a:gd name="T39" fmla="*/ 116 h 126"/>
                <a:gd name="T40" fmla="*/ 45 w 82"/>
                <a:gd name="T41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" h="126">
                  <a:moveTo>
                    <a:pt x="45" y="125"/>
                  </a:moveTo>
                  <a:lnTo>
                    <a:pt x="45" y="125"/>
                  </a:lnTo>
                  <a:cubicBezTo>
                    <a:pt x="27" y="125"/>
                    <a:pt x="18" y="125"/>
                    <a:pt x="9" y="116"/>
                  </a:cubicBezTo>
                  <a:cubicBezTo>
                    <a:pt x="9" y="116"/>
                    <a:pt x="0" y="116"/>
                    <a:pt x="9" y="107"/>
                  </a:cubicBezTo>
                  <a:cubicBezTo>
                    <a:pt x="9" y="107"/>
                    <a:pt x="9" y="107"/>
                    <a:pt x="18" y="107"/>
                  </a:cubicBezTo>
                  <a:cubicBezTo>
                    <a:pt x="36" y="116"/>
                    <a:pt x="54" y="116"/>
                    <a:pt x="63" y="107"/>
                  </a:cubicBezTo>
                  <a:cubicBezTo>
                    <a:pt x="63" y="107"/>
                    <a:pt x="72" y="99"/>
                    <a:pt x="72" y="89"/>
                  </a:cubicBezTo>
                  <a:cubicBezTo>
                    <a:pt x="72" y="80"/>
                    <a:pt x="54" y="80"/>
                    <a:pt x="45" y="72"/>
                  </a:cubicBezTo>
                  <a:cubicBezTo>
                    <a:pt x="36" y="63"/>
                    <a:pt x="27" y="63"/>
                    <a:pt x="18" y="54"/>
                  </a:cubicBezTo>
                  <a:cubicBezTo>
                    <a:pt x="9" y="54"/>
                    <a:pt x="9" y="45"/>
                    <a:pt x="9" y="36"/>
                  </a:cubicBezTo>
                  <a:cubicBezTo>
                    <a:pt x="9" y="27"/>
                    <a:pt x="9" y="9"/>
                    <a:pt x="18" y="9"/>
                  </a:cubicBezTo>
                  <a:cubicBezTo>
                    <a:pt x="36" y="0"/>
                    <a:pt x="54" y="0"/>
                    <a:pt x="81" y="9"/>
                  </a:cubicBezTo>
                  <a:cubicBezTo>
                    <a:pt x="81" y="9"/>
                    <a:pt x="81" y="9"/>
                    <a:pt x="81" y="18"/>
                  </a:cubicBezTo>
                  <a:lnTo>
                    <a:pt x="72" y="18"/>
                  </a:lnTo>
                  <a:cubicBezTo>
                    <a:pt x="54" y="9"/>
                    <a:pt x="36" y="9"/>
                    <a:pt x="27" y="18"/>
                  </a:cubicBezTo>
                  <a:cubicBezTo>
                    <a:pt x="27" y="27"/>
                    <a:pt x="18" y="27"/>
                    <a:pt x="18" y="36"/>
                  </a:cubicBezTo>
                  <a:cubicBezTo>
                    <a:pt x="18" y="45"/>
                    <a:pt x="36" y="54"/>
                    <a:pt x="45" y="54"/>
                  </a:cubicBezTo>
                  <a:cubicBezTo>
                    <a:pt x="54" y="63"/>
                    <a:pt x="63" y="63"/>
                    <a:pt x="72" y="72"/>
                  </a:cubicBezTo>
                  <a:cubicBezTo>
                    <a:pt x="81" y="72"/>
                    <a:pt x="81" y="80"/>
                    <a:pt x="81" y="89"/>
                  </a:cubicBezTo>
                  <a:cubicBezTo>
                    <a:pt x="81" y="107"/>
                    <a:pt x="81" y="116"/>
                    <a:pt x="72" y="116"/>
                  </a:cubicBezTo>
                  <a:cubicBezTo>
                    <a:pt x="63" y="125"/>
                    <a:pt x="54" y="125"/>
                    <a:pt x="45" y="125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5" name="Freeform 614">
              <a:extLst>
                <a:ext uri="{FF2B5EF4-FFF2-40B4-BE49-F238E27FC236}">
                  <a16:creationId xmlns:a16="http://schemas.microsoft.com/office/drawing/2014/main" id="{460D8553-533E-6B48-B2B9-1BFADB9A1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4341" y="4839606"/>
              <a:ext cx="18952" cy="28428"/>
            </a:xfrm>
            <a:custGeom>
              <a:avLst/>
              <a:gdLst>
                <a:gd name="T0" fmla="*/ 9 w 19"/>
                <a:gd name="T1" fmla="*/ 27 h 28"/>
                <a:gd name="T2" fmla="*/ 9 w 19"/>
                <a:gd name="T3" fmla="*/ 27 h 28"/>
                <a:gd name="T4" fmla="*/ 0 w 19"/>
                <a:gd name="T5" fmla="*/ 27 h 28"/>
                <a:gd name="T6" fmla="*/ 0 w 19"/>
                <a:gd name="T7" fmla="*/ 9 h 28"/>
                <a:gd name="T8" fmla="*/ 9 w 19"/>
                <a:gd name="T9" fmla="*/ 0 h 28"/>
                <a:gd name="T10" fmla="*/ 18 w 19"/>
                <a:gd name="T11" fmla="*/ 9 h 28"/>
                <a:gd name="T12" fmla="*/ 18 w 19"/>
                <a:gd name="T13" fmla="*/ 27 h 28"/>
                <a:gd name="T14" fmla="*/ 9 w 19"/>
                <a:gd name="T1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28">
                  <a:moveTo>
                    <a:pt x="9" y="27"/>
                  </a:moveTo>
                  <a:lnTo>
                    <a:pt x="9" y="27"/>
                  </a:lnTo>
                  <a:cubicBezTo>
                    <a:pt x="0" y="27"/>
                    <a:pt x="0" y="27"/>
                    <a:pt x="0" y="2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0"/>
                    <a:pt x="9" y="0"/>
                  </a:cubicBezTo>
                  <a:lnTo>
                    <a:pt x="18" y="9"/>
                  </a:lnTo>
                  <a:cubicBezTo>
                    <a:pt x="18" y="27"/>
                    <a:pt x="18" y="27"/>
                    <a:pt x="18" y="27"/>
                  </a:cubicBezTo>
                  <a:lnTo>
                    <a:pt x="9" y="27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6" name="Freeform 615">
              <a:extLst>
                <a:ext uri="{FF2B5EF4-FFF2-40B4-BE49-F238E27FC236}">
                  <a16:creationId xmlns:a16="http://schemas.microsoft.com/office/drawing/2014/main" id="{45FDB7FC-EBDA-584B-8DDE-13B429504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4341" y="5024390"/>
              <a:ext cx="18952" cy="28428"/>
            </a:xfrm>
            <a:custGeom>
              <a:avLst/>
              <a:gdLst>
                <a:gd name="T0" fmla="*/ 9 w 19"/>
                <a:gd name="T1" fmla="*/ 27 h 28"/>
                <a:gd name="T2" fmla="*/ 9 w 19"/>
                <a:gd name="T3" fmla="*/ 27 h 28"/>
                <a:gd name="T4" fmla="*/ 0 w 19"/>
                <a:gd name="T5" fmla="*/ 18 h 28"/>
                <a:gd name="T6" fmla="*/ 0 w 19"/>
                <a:gd name="T7" fmla="*/ 0 h 28"/>
                <a:gd name="T8" fmla="*/ 9 w 19"/>
                <a:gd name="T9" fmla="*/ 0 h 28"/>
                <a:gd name="T10" fmla="*/ 18 w 19"/>
                <a:gd name="T11" fmla="*/ 0 h 28"/>
                <a:gd name="T12" fmla="*/ 18 w 19"/>
                <a:gd name="T13" fmla="*/ 18 h 28"/>
                <a:gd name="T14" fmla="*/ 9 w 19"/>
                <a:gd name="T1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28">
                  <a:moveTo>
                    <a:pt x="9" y="27"/>
                  </a:moveTo>
                  <a:lnTo>
                    <a:pt x="9" y="27"/>
                  </a:lnTo>
                  <a:cubicBezTo>
                    <a:pt x="0" y="27"/>
                    <a:pt x="0" y="18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" y="0"/>
                  </a:cubicBezTo>
                  <a:lnTo>
                    <a:pt x="18" y="0"/>
                  </a:lnTo>
                  <a:cubicBezTo>
                    <a:pt x="18" y="18"/>
                    <a:pt x="18" y="18"/>
                    <a:pt x="18" y="18"/>
                  </a:cubicBezTo>
                  <a:lnTo>
                    <a:pt x="9" y="27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B516EADB-B7C3-BD4F-A5BF-1C556C205AF0}"/>
              </a:ext>
            </a:extLst>
          </p:cNvPr>
          <p:cNvGrpSpPr/>
          <p:nvPr/>
        </p:nvGrpSpPr>
        <p:grpSpPr>
          <a:xfrm>
            <a:off x="3329742" y="5451596"/>
            <a:ext cx="670430" cy="670430"/>
            <a:chOff x="6057830" y="10904266"/>
            <a:chExt cx="1340860" cy="1340860"/>
          </a:xfrm>
        </p:grpSpPr>
        <p:sp>
          <p:nvSpPr>
            <p:cNvPr id="98" name="Freeform 562">
              <a:extLst>
                <a:ext uri="{FF2B5EF4-FFF2-40B4-BE49-F238E27FC236}">
                  <a16:creationId xmlns:a16="http://schemas.microsoft.com/office/drawing/2014/main" id="{1A0C0CBD-12EE-E548-A06F-83CD0836F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7830" y="10904266"/>
              <a:ext cx="1340860" cy="1340860"/>
            </a:xfrm>
            <a:custGeom>
              <a:avLst/>
              <a:gdLst>
                <a:gd name="T0" fmla="*/ 1245 w 1246"/>
                <a:gd name="T1" fmla="*/ 619 h 1247"/>
                <a:gd name="T2" fmla="*/ 1245 w 1246"/>
                <a:gd name="T3" fmla="*/ 619 h 1247"/>
                <a:gd name="T4" fmla="*/ 627 w 1246"/>
                <a:gd name="T5" fmla="*/ 1246 h 1247"/>
                <a:gd name="T6" fmla="*/ 0 w 1246"/>
                <a:gd name="T7" fmla="*/ 619 h 1247"/>
                <a:gd name="T8" fmla="*/ 627 w 1246"/>
                <a:gd name="T9" fmla="*/ 0 h 1247"/>
                <a:gd name="T10" fmla="*/ 1245 w 1246"/>
                <a:gd name="T11" fmla="*/ 619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46" h="1247">
                  <a:moveTo>
                    <a:pt x="1245" y="619"/>
                  </a:moveTo>
                  <a:lnTo>
                    <a:pt x="1245" y="619"/>
                  </a:lnTo>
                  <a:cubicBezTo>
                    <a:pt x="1245" y="968"/>
                    <a:pt x="967" y="1246"/>
                    <a:pt x="627" y="1246"/>
                  </a:cubicBezTo>
                  <a:cubicBezTo>
                    <a:pt x="277" y="1246"/>
                    <a:pt x="0" y="968"/>
                    <a:pt x="0" y="619"/>
                  </a:cubicBezTo>
                  <a:cubicBezTo>
                    <a:pt x="0" y="278"/>
                    <a:pt x="277" y="0"/>
                    <a:pt x="627" y="0"/>
                  </a:cubicBezTo>
                  <a:cubicBezTo>
                    <a:pt x="967" y="0"/>
                    <a:pt x="1245" y="278"/>
                    <a:pt x="1245" y="61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99" name="Freeform 616">
              <a:extLst>
                <a:ext uri="{FF2B5EF4-FFF2-40B4-BE49-F238E27FC236}">
                  <a16:creationId xmlns:a16="http://schemas.microsoft.com/office/drawing/2014/main" id="{2B1AA111-871D-5B45-80EB-362BE038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0039" y="11453876"/>
              <a:ext cx="511706" cy="454850"/>
            </a:xfrm>
            <a:custGeom>
              <a:avLst/>
              <a:gdLst>
                <a:gd name="T0" fmla="*/ 242 w 476"/>
                <a:gd name="T1" fmla="*/ 421 h 422"/>
                <a:gd name="T2" fmla="*/ 242 w 476"/>
                <a:gd name="T3" fmla="*/ 421 h 422"/>
                <a:gd name="T4" fmla="*/ 71 w 476"/>
                <a:gd name="T5" fmla="*/ 349 h 422"/>
                <a:gd name="T6" fmla="*/ 0 w 476"/>
                <a:gd name="T7" fmla="*/ 179 h 422"/>
                <a:gd name="T8" fmla="*/ 27 w 476"/>
                <a:gd name="T9" fmla="*/ 81 h 422"/>
                <a:gd name="T10" fmla="*/ 81 w 476"/>
                <a:gd name="T11" fmla="*/ 9 h 422"/>
                <a:gd name="T12" fmla="*/ 98 w 476"/>
                <a:gd name="T13" fmla="*/ 9 h 422"/>
                <a:gd name="T14" fmla="*/ 98 w 476"/>
                <a:gd name="T15" fmla="*/ 27 h 422"/>
                <a:gd name="T16" fmla="*/ 45 w 476"/>
                <a:gd name="T17" fmla="*/ 99 h 422"/>
                <a:gd name="T18" fmla="*/ 27 w 476"/>
                <a:gd name="T19" fmla="*/ 179 h 422"/>
                <a:gd name="T20" fmla="*/ 89 w 476"/>
                <a:gd name="T21" fmla="*/ 332 h 422"/>
                <a:gd name="T22" fmla="*/ 242 w 476"/>
                <a:gd name="T23" fmla="*/ 394 h 422"/>
                <a:gd name="T24" fmla="*/ 385 w 476"/>
                <a:gd name="T25" fmla="*/ 332 h 422"/>
                <a:gd name="T26" fmla="*/ 448 w 476"/>
                <a:gd name="T27" fmla="*/ 179 h 422"/>
                <a:gd name="T28" fmla="*/ 376 w 476"/>
                <a:gd name="T29" fmla="*/ 27 h 422"/>
                <a:gd name="T30" fmla="*/ 376 w 476"/>
                <a:gd name="T31" fmla="*/ 9 h 422"/>
                <a:gd name="T32" fmla="*/ 394 w 476"/>
                <a:gd name="T33" fmla="*/ 9 h 422"/>
                <a:gd name="T34" fmla="*/ 475 w 476"/>
                <a:gd name="T35" fmla="*/ 179 h 422"/>
                <a:gd name="T36" fmla="*/ 403 w 476"/>
                <a:gd name="T37" fmla="*/ 349 h 422"/>
                <a:gd name="T38" fmla="*/ 242 w 476"/>
                <a:gd name="T39" fmla="*/ 42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6" h="422">
                  <a:moveTo>
                    <a:pt x="242" y="421"/>
                  </a:moveTo>
                  <a:lnTo>
                    <a:pt x="242" y="421"/>
                  </a:lnTo>
                  <a:cubicBezTo>
                    <a:pt x="179" y="421"/>
                    <a:pt x="116" y="394"/>
                    <a:pt x="71" y="349"/>
                  </a:cubicBezTo>
                  <a:cubicBezTo>
                    <a:pt x="27" y="305"/>
                    <a:pt x="0" y="242"/>
                    <a:pt x="0" y="179"/>
                  </a:cubicBezTo>
                  <a:cubicBezTo>
                    <a:pt x="0" y="152"/>
                    <a:pt x="9" y="117"/>
                    <a:pt x="27" y="81"/>
                  </a:cubicBezTo>
                  <a:cubicBezTo>
                    <a:pt x="36" y="54"/>
                    <a:pt x="54" y="27"/>
                    <a:pt x="81" y="9"/>
                  </a:cubicBezTo>
                  <a:cubicBezTo>
                    <a:pt x="89" y="0"/>
                    <a:pt x="98" y="0"/>
                    <a:pt x="98" y="9"/>
                  </a:cubicBezTo>
                  <a:cubicBezTo>
                    <a:pt x="107" y="18"/>
                    <a:pt x="98" y="18"/>
                    <a:pt x="98" y="27"/>
                  </a:cubicBezTo>
                  <a:cubicBezTo>
                    <a:pt x="81" y="45"/>
                    <a:pt x="62" y="72"/>
                    <a:pt x="45" y="99"/>
                  </a:cubicBezTo>
                  <a:cubicBezTo>
                    <a:pt x="36" y="125"/>
                    <a:pt x="27" y="152"/>
                    <a:pt x="27" y="179"/>
                  </a:cubicBezTo>
                  <a:cubicBezTo>
                    <a:pt x="27" y="242"/>
                    <a:pt x="54" y="287"/>
                    <a:pt x="89" y="332"/>
                  </a:cubicBezTo>
                  <a:cubicBezTo>
                    <a:pt x="125" y="367"/>
                    <a:pt x="179" y="394"/>
                    <a:pt x="242" y="394"/>
                  </a:cubicBezTo>
                  <a:cubicBezTo>
                    <a:pt x="295" y="394"/>
                    <a:pt x="349" y="367"/>
                    <a:pt x="385" y="332"/>
                  </a:cubicBezTo>
                  <a:cubicBezTo>
                    <a:pt x="430" y="287"/>
                    <a:pt x="448" y="242"/>
                    <a:pt x="448" y="179"/>
                  </a:cubicBezTo>
                  <a:cubicBezTo>
                    <a:pt x="448" y="125"/>
                    <a:pt x="421" y="63"/>
                    <a:pt x="376" y="27"/>
                  </a:cubicBezTo>
                  <a:cubicBezTo>
                    <a:pt x="376" y="18"/>
                    <a:pt x="376" y="9"/>
                    <a:pt x="376" y="9"/>
                  </a:cubicBezTo>
                  <a:cubicBezTo>
                    <a:pt x="376" y="0"/>
                    <a:pt x="385" y="0"/>
                    <a:pt x="394" y="9"/>
                  </a:cubicBezTo>
                  <a:cubicBezTo>
                    <a:pt x="448" y="54"/>
                    <a:pt x="475" y="117"/>
                    <a:pt x="475" y="179"/>
                  </a:cubicBezTo>
                  <a:cubicBezTo>
                    <a:pt x="475" y="242"/>
                    <a:pt x="448" y="305"/>
                    <a:pt x="403" y="349"/>
                  </a:cubicBezTo>
                  <a:cubicBezTo>
                    <a:pt x="358" y="394"/>
                    <a:pt x="305" y="421"/>
                    <a:pt x="242" y="421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0" name="Freeform 617">
              <a:extLst>
                <a:ext uri="{FF2B5EF4-FFF2-40B4-BE49-F238E27FC236}">
                  <a16:creationId xmlns:a16="http://schemas.microsoft.com/office/drawing/2014/main" id="{CEA551AC-B4FE-E14B-8812-7954238BC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2704" y="11761849"/>
              <a:ext cx="241637" cy="104236"/>
            </a:xfrm>
            <a:custGeom>
              <a:avLst/>
              <a:gdLst>
                <a:gd name="T0" fmla="*/ 206 w 225"/>
                <a:gd name="T1" fmla="*/ 98 h 99"/>
                <a:gd name="T2" fmla="*/ 206 w 225"/>
                <a:gd name="T3" fmla="*/ 98 h 99"/>
                <a:gd name="T4" fmla="*/ 197 w 225"/>
                <a:gd name="T5" fmla="*/ 98 h 99"/>
                <a:gd name="T6" fmla="*/ 188 w 225"/>
                <a:gd name="T7" fmla="*/ 89 h 99"/>
                <a:gd name="T8" fmla="*/ 188 w 225"/>
                <a:gd name="T9" fmla="*/ 54 h 99"/>
                <a:gd name="T10" fmla="*/ 161 w 225"/>
                <a:gd name="T11" fmla="*/ 45 h 99"/>
                <a:gd name="T12" fmla="*/ 153 w 225"/>
                <a:gd name="T13" fmla="*/ 45 h 99"/>
                <a:gd name="T14" fmla="*/ 144 w 225"/>
                <a:gd name="T15" fmla="*/ 36 h 99"/>
                <a:gd name="T16" fmla="*/ 117 w 225"/>
                <a:gd name="T17" fmla="*/ 27 h 99"/>
                <a:gd name="T18" fmla="*/ 90 w 225"/>
                <a:gd name="T19" fmla="*/ 54 h 99"/>
                <a:gd name="T20" fmla="*/ 81 w 225"/>
                <a:gd name="T21" fmla="*/ 62 h 99"/>
                <a:gd name="T22" fmla="*/ 72 w 225"/>
                <a:gd name="T23" fmla="*/ 62 h 99"/>
                <a:gd name="T24" fmla="*/ 63 w 225"/>
                <a:gd name="T25" fmla="*/ 62 h 99"/>
                <a:gd name="T26" fmla="*/ 63 w 225"/>
                <a:gd name="T27" fmla="*/ 62 h 99"/>
                <a:gd name="T28" fmla="*/ 36 w 225"/>
                <a:gd name="T29" fmla="*/ 72 h 99"/>
                <a:gd name="T30" fmla="*/ 27 w 225"/>
                <a:gd name="T31" fmla="*/ 80 h 99"/>
                <a:gd name="T32" fmla="*/ 18 w 225"/>
                <a:gd name="T33" fmla="*/ 98 h 99"/>
                <a:gd name="T34" fmla="*/ 18 w 225"/>
                <a:gd name="T35" fmla="*/ 98 h 99"/>
                <a:gd name="T36" fmla="*/ 0 w 225"/>
                <a:gd name="T37" fmla="*/ 89 h 99"/>
                <a:gd name="T38" fmla="*/ 18 w 225"/>
                <a:gd name="T39" fmla="*/ 54 h 99"/>
                <a:gd name="T40" fmla="*/ 63 w 225"/>
                <a:gd name="T41" fmla="*/ 36 h 99"/>
                <a:gd name="T42" fmla="*/ 63 w 225"/>
                <a:gd name="T43" fmla="*/ 36 h 99"/>
                <a:gd name="T44" fmla="*/ 72 w 225"/>
                <a:gd name="T45" fmla="*/ 36 h 99"/>
                <a:gd name="T46" fmla="*/ 117 w 225"/>
                <a:gd name="T47" fmla="*/ 0 h 99"/>
                <a:gd name="T48" fmla="*/ 153 w 225"/>
                <a:gd name="T49" fmla="*/ 18 h 99"/>
                <a:gd name="T50" fmla="*/ 161 w 225"/>
                <a:gd name="T51" fmla="*/ 18 h 99"/>
                <a:gd name="T52" fmla="*/ 206 w 225"/>
                <a:gd name="T53" fmla="*/ 45 h 99"/>
                <a:gd name="T54" fmla="*/ 215 w 225"/>
                <a:gd name="T55" fmla="*/ 89 h 99"/>
                <a:gd name="T56" fmla="*/ 206 w 225"/>
                <a:gd name="T57" fmla="*/ 9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5" h="99">
                  <a:moveTo>
                    <a:pt x="206" y="98"/>
                  </a:moveTo>
                  <a:lnTo>
                    <a:pt x="206" y="98"/>
                  </a:lnTo>
                  <a:lnTo>
                    <a:pt x="197" y="98"/>
                  </a:lnTo>
                  <a:lnTo>
                    <a:pt x="188" y="89"/>
                  </a:lnTo>
                  <a:cubicBezTo>
                    <a:pt x="197" y="80"/>
                    <a:pt x="197" y="62"/>
                    <a:pt x="188" y="54"/>
                  </a:cubicBezTo>
                  <a:cubicBezTo>
                    <a:pt x="180" y="45"/>
                    <a:pt x="170" y="45"/>
                    <a:pt x="161" y="45"/>
                  </a:cubicBezTo>
                  <a:cubicBezTo>
                    <a:pt x="153" y="45"/>
                    <a:pt x="153" y="45"/>
                    <a:pt x="153" y="45"/>
                  </a:cubicBezTo>
                  <a:cubicBezTo>
                    <a:pt x="153" y="45"/>
                    <a:pt x="144" y="45"/>
                    <a:pt x="144" y="36"/>
                  </a:cubicBezTo>
                  <a:cubicBezTo>
                    <a:pt x="135" y="36"/>
                    <a:pt x="126" y="27"/>
                    <a:pt x="117" y="27"/>
                  </a:cubicBezTo>
                  <a:cubicBezTo>
                    <a:pt x="108" y="27"/>
                    <a:pt x="90" y="36"/>
                    <a:pt x="90" y="54"/>
                  </a:cubicBezTo>
                  <a:cubicBezTo>
                    <a:pt x="90" y="54"/>
                    <a:pt x="90" y="62"/>
                    <a:pt x="81" y="62"/>
                  </a:cubicBezTo>
                  <a:cubicBezTo>
                    <a:pt x="81" y="62"/>
                    <a:pt x="81" y="62"/>
                    <a:pt x="72" y="62"/>
                  </a:cubicBezTo>
                  <a:lnTo>
                    <a:pt x="63" y="62"/>
                  </a:lnTo>
                  <a:lnTo>
                    <a:pt x="63" y="62"/>
                  </a:lnTo>
                  <a:cubicBezTo>
                    <a:pt x="54" y="62"/>
                    <a:pt x="45" y="62"/>
                    <a:pt x="36" y="72"/>
                  </a:cubicBezTo>
                  <a:cubicBezTo>
                    <a:pt x="27" y="72"/>
                    <a:pt x="27" y="80"/>
                    <a:pt x="27" y="80"/>
                  </a:cubicBezTo>
                  <a:cubicBezTo>
                    <a:pt x="27" y="89"/>
                    <a:pt x="27" y="98"/>
                    <a:pt x="18" y="98"/>
                  </a:cubicBezTo>
                  <a:lnTo>
                    <a:pt x="18" y="98"/>
                  </a:lnTo>
                  <a:cubicBezTo>
                    <a:pt x="9" y="98"/>
                    <a:pt x="0" y="89"/>
                    <a:pt x="0" y="89"/>
                  </a:cubicBezTo>
                  <a:cubicBezTo>
                    <a:pt x="0" y="72"/>
                    <a:pt x="9" y="62"/>
                    <a:pt x="18" y="54"/>
                  </a:cubicBezTo>
                  <a:cubicBezTo>
                    <a:pt x="27" y="45"/>
                    <a:pt x="36" y="36"/>
                    <a:pt x="63" y="36"/>
                  </a:cubicBezTo>
                  <a:lnTo>
                    <a:pt x="63" y="36"/>
                  </a:lnTo>
                  <a:lnTo>
                    <a:pt x="72" y="36"/>
                  </a:lnTo>
                  <a:cubicBezTo>
                    <a:pt x="81" y="18"/>
                    <a:pt x="99" y="0"/>
                    <a:pt x="117" y="0"/>
                  </a:cubicBezTo>
                  <a:cubicBezTo>
                    <a:pt x="135" y="0"/>
                    <a:pt x="144" y="9"/>
                    <a:pt x="153" y="18"/>
                  </a:cubicBezTo>
                  <a:cubicBezTo>
                    <a:pt x="161" y="18"/>
                    <a:pt x="161" y="18"/>
                    <a:pt x="161" y="18"/>
                  </a:cubicBezTo>
                  <a:cubicBezTo>
                    <a:pt x="180" y="18"/>
                    <a:pt x="197" y="27"/>
                    <a:pt x="206" y="45"/>
                  </a:cubicBezTo>
                  <a:cubicBezTo>
                    <a:pt x="215" y="54"/>
                    <a:pt x="224" y="80"/>
                    <a:pt x="215" y="89"/>
                  </a:cubicBezTo>
                  <a:cubicBezTo>
                    <a:pt x="215" y="98"/>
                    <a:pt x="206" y="98"/>
                    <a:pt x="206" y="9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1" name="Freeform 618">
              <a:extLst>
                <a:ext uri="{FF2B5EF4-FFF2-40B4-BE49-F238E27FC236}">
                  <a16:creationId xmlns:a16="http://schemas.microsoft.com/office/drawing/2014/main" id="{170D0781-C8AD-4347-A222-834842668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2180" y="11837657"/>
              <a:ext cx="4737" cy="4737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2" name="Freeform 619">
              <a:extLst>
                <a:ext uri="{FF2B5EF4-FFF2-40B4-BE49-F238E27FC236}">
                  <a16:creationId xmlns:a16="http://schemas.microsoft.com/office/drawing/2014/main" id="{9F387095-7D2F-B141-BFFE-5132599B7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2180" y="11837657"/>
              <a:ext cx="4737" cy="4737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D3D3D3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3" name="Freeform 620">
              <a:extLst>
                <a:ext uri="{FF2B5EF4-FFF2-40B4-BE49-F238E27FC236}">
                  <a16:creationId xmlns:a16="http://schemas.microsoft.com/office/drawing/2014/main" id="{9A0A06B4-A09E-1D4E-91E3-CE0D0CA16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8467" y="11704993"/>
              <a:ext cx="203733" cy="108973"/>
            </a:xfrm>
            <a:custGeom>
              <a:avLst/>
              <a:gdLst>
                <a:gd name="T0" fmla="*/ 170 w 189"/>
                <a:gd name="T1" fmla="*/ 99 h 100"/>
                <a:gd name="T2" fmla="*/ 170 w 189"/>
                <a:gd name="T3" fmla="*/ 99 h 100"/>
                <a:gd name="T4" fmla="*/ 161 w 189"/>
                <a:gd name="T5" fmla="*/ 90 h 100"/>
                <a:gd name="T6" fmla="*/ 134 w 189"/>
                <a:gd name="T7" fmla="*/ 72 h 100"/>
                <a:gd name="T8" fmla="*/ 116 w 189"/>
                <a:gd name="T9" fmla="*/ 72 h 100"/>
                <a:gd name="T10" fmla="*/ 107 w 189"/>
                <a:gd name="T11" fmla="*/ 63 h 100"/>
                <a:gd name="T12" fmla="*/ 107 w 189"/>
                <a:gd name="T13" fmla="*/ 54 h 100"/>
                <a:gd name="T14" fmla="*/ 89 w 189"/>
                <a:gd name="T15" fmla="*/ 27 h 100"/>
                <a:gd name="T16" fmla="*/ 62 w 189"/>
                <a:gd name="T17" fmla="*/ 27 h 100"/>
                <a:gd name="T18" fmla="*/ 44 w 189"/>
                <a:gd name="T19" fmla="*/ 36 h 100"/>
                <a:gd name="T20" fmla="*/ 44 w 189"/>
                <a:gd name="T21" fmla="*/ 27 h 100"/>
                <a:gd name="T22" fmla="*/ 18 w 189"/>
                <a:gd name="T23" fmla="*/ 36 h 100"/>
                <a:gd name="T24" fmla="*/ 0 w 189"/>
                <a:gd name="T25" fmla="*/ 27 h 100"/>
                <a:gd name="T26" fmla="*/ 9 w 189"/>
                <a:gd name="T27" fmla="*/ 9 h 100"/>
                <a:gd name="T28" fmla="*/ 54 w 189"/>
                <a:gd name="T29" fmla="*/ 9 h 100"/>
                <a:gd name="T30" fmla="*/ 54 w 189"/>
                <a:gd name="T31" fmla="*/ 9 h 100"/>
                <a:gd name="T32" fmla="*/ 89 w 189"/>
                <a:gd name="T33" fmla="*/ 0 h 100"/>
                <a:gd name="T34" fmla="*/ 134 w 189"/>
                <a:gd name="T35" fmla="*/ 45 h 100"/>
                <a:gd name="T36" fmla="*/ 134 w 189"/>
                <a:gd name="T37" fmla="*/ 45 h 100"/>
                <a:gd name="T38" fmla="*/ 179 w 189"/>
                <a:gd name="T39" fmla="*/ 90 h 100"/>
                <a:gd name="T40" fmla="*/ 170 w 189"/>
                <a:gd name="T4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9" h="100">
                  <a:moveTo>
                    <a:pt x="170" y="99"/>
                  </a:moveTo>
                  <a:lnTo>
                    <a:pt x="170" y="99"/>
                  </a:lnTo>
                  <a:cubicBezTo>
                    <a:pt x="170" y="99"/>
                    <a:pt x="161" y="99"/>
                    <a:pt x="161" y="90"/>
                  </a:cubicBezTo>
                  <a:cubicBezTo>
                    <a:pt x="161" y="81"/>
                    <a:pt x="143" y="72"/>
                    <a:pt x="134" y="72"/>
                  </a:cubicBezTo>
                  <a:cubicBezTo>
                    <a:pt x="125" y="72"/>
                    <a:pt x="125" y="72"/>
                    <a:pt x="116" y="72"/>
                  </a:cubicBezTo>
                  <a:cubicBezTo>
                    <a:pt x="116" y="72"/>
                    <a:pt x="116" y="72"/>
                    <a:pt x="107" y="63"/>
                  </a:cubicBezTo>
                  <a:cubicBezTo>
                    <a:pt x="107" y="63"/>
                    <a:pt x="107" y="63"/>
                    <a:pt x="107" y="54"/>
                  </a:cubicBezTo>
                  <a:cubicBezTo>
                    <a:pt x="107" y="45"/>
                    <a:pt x="98" y="27"/>
                    <a:pt x="89" y="27"/>
                  </a:cubicBezTo>
                  <a:cubicBezTo>
                    <a:pt x="80" y="18"/>
                    <a:pt x="71" y="27"/>
                    <a:pt x="62" y="27"/>
                  </a:cubicBezTo>
                  <a:cubicBezTo>
                    <a:pt x="54" y="36"/>
                    <a:pt x="54" y="36"/>
                    <a:pt x="44" y="36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5" y="27"/>
                    <a:pt x="27" y="27"/>
                    <a:pt x="18" y="36"/>
                  </a:cubicBezTo>
                  <a:cubicBezTo>
                    <a:pt x="18" y="36"/>
                    <a:pt x="9" y="36"/>
                    <a:pt x="0" y="27"/>
                  </a:cubicBezTo>
                  <a:cubicBezTo>
                    <a:pt x="0" y="18"/>
                    <a:pt x="0" y="9"/>
                    <a:pt x="9" y="9"/>
                  </a:cubicBezTo>
                  <a:cubicBezTo>
                    <a:pt x="18" y="0"/>
                    <a:pt x="35" y="0"/>
                    <a:pt x="54" y="9"/>
                  </a:cubicBezTo>
                  <a:lnTo>
                    <a:pt x="54" y="9"/>
                  </a:lnTo>
                  <a:cubicBezTo>
                    <a:pt x="62" y="0"/>
                    <a:pt x="80" y="0"/>
                    <a:pt x="89" y="0"/>
                  </a:cubicBezTo>
                  <a:cubicBezTo>
                    <a:pt x="116" y="9"/>
                    <a:pt x="125" y="27"/>
                    <a:pt x="134" y="45"/>
                  </a:cubicBezTo>
                  <a:lnTo>
                    <a:pt x="134" y="45"/>
                  </a:lnTo>
                  <a:cubicBezTo>
                    <a:pt x="170" y="54"/>
                    <a:pt x="179" y="81"/>
                    <a:pt x="179" y="90"/>
                  </a:cubicBezTo>
                  <a:cubicBezTo>
                    <a:pt x="188" y="90"/>
                    <a:pt x="179" y="99"/>
                    <a:pt x="170" y="99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4" name="Freeform 621">
              <a:extLst>
                <a:ext uri="{FF2B5EF4-FFF2-40B4-BE49-F238E27FC236}">
                  <a16:creationId xmlns:a16="http://schemas.microsoft.com/office/drawing/2014/main" id="{93605AC4-1727-9546-B536-793B31B8A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7485" y="11714469"/>
              <a:ext cx="175308" cy="99497"/>
            </a:xfrm>
            <a:custGeom>
              <a:avLst/>
              <a:gdLst>
                <a:gd name="T0" fmla="*/ 10 w 163"/>
                <a:gd name="T1" fmla="*/ 90 h 91"/>
                <a:gd name="T2" fmla="*/ 10 w 163"/>
                <a:gd name="T3" fmla="*/ 90 h 91"/>
                <a:gd name="T4" fmla="*/ 10 w 163"/>
                <a:gd name="T5" fmla="*/ 90 h 91"/>
                <a:gd name="T6" fmla="*/ 0 w 163"/>
                <a:gd name="T7" fmla="*/ 72 h 91"/>
                <a:gd name="T8" fmla="*/ 45 w 163"/>
                <a:gd name="T9" fmla="*/ 36 h 91"/>
                <a:gd name="T10" fmla="*/ 45 w 163"/>
                <a:gd name="T11" fmla="*/ 36 h 91"/>
                <a:gd name="T12" fmla="*/ 81 w 163"/>
                <a:gd name="T13" fmla="*/ 0 h 91"/>
                <a:gd name="T14" fmla="*/ 117 w 163"/>
                <a:gd name="T15" fmla="*/ 0 h 91"/>
                <a:gd name="T16" fmla="*/ 117 w 163"/>
                <a:gd name="T17" fmla="*/ 0 h 91"/>
                <a:gd name="T18" fmla="*/ 153 w 163"/>
                <a:gd name="T19" fmla="*/ 9 h 91"/>
                <a:gd name="T20" fmla="*/ 162 w 163"/>
                <a:gd name="T21" fmla="*/ 27 h 91"/>
                <a:gd name="T22" fmla="*/ 144 w 163"/>
                <a:gd name="T23" fmla="*/ 27 h 91"/>
                <a:gd name="T24" fmla="*/ 126 w 163"/>
                <a:gd name="T25" fmla="*/ 27 h 91"/>
                <a:gd name="T26" fmla="*/ 117 w 163"/>
                <a:gd name="T27" fmla="*/ 27 h 91"/>
                <a:gd name="T28" fmla="*/ 108 w 163"/>
                <a:gd name="T29" fmla="*/ 27 h 91"/>
                <a:gd name="T30" fmla="*/ 90 w 163"/>
                <a:gd name="T31" fmla="*/ 27 h 91"/>
                <a:gd name="T32" fmla="*/ 72 w 163"/>
                <a:gd name="T33" fmla="*/ 45 h 91"/>
                <a:gd name="T34" fmla="*/ 72 w 163"/>
                <a:gd name="T35" fmla="*/ 54 h 91"/>
                <a:gd name="T36" fmla="*/ 54 w 163"/>
                <a:gd name="T37" fmla="*/ 63 h 91"/>
                <a:gd name="T38" fmla="*/ 45 w 163"/>
                <a:gd name="T39" fmla="*/ 63 h 91"/>
                <a:gd name="T40" fmla="*/ 27 w 163"/>
                <a:gd name="T41" fmla="*/ 81 h 91"/>
                <a:gd name="T42" fmla="*/ 10 w 163"/>
                <a:gd name="T43" fmla="*/ 9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3" h="91">
                  <a:moveTo>
                    <a:pt x="10" y="90"/>
                  </a:moveTo>
                  <a:lnTo>
                    <a:pt x="10" y="90"/>
                  </a:lnTo>
                  <a:lnTo>
                    <a:pt x="10" y="90"/>
                  </a:lnTo>
                  <a:cubicBezTo>
                    <a:pt x="0" y="90"/>
                    <a:pt x="0" y="81"/>
                    <a:pt x="0" y="72"/>
                  </a:cubicBezTo>
                  <a:cubicBezTo>
                    <a:pt x="0" y="63"/>
                    <a:pt x="10" y="45"/>
                    <a:pt x="45" y="36"/>
                  </a:cubicBezTo>
                  <a:lnTo>
                    <a:pt x="45" y="36"/>
                  </a:lnTo>
                  <a:cubicBezTo>
                    <a:pt x="54" y="18"/>
                    <a:pt x="63" y="0"/>
                    <a:pt x="81" y="0"/>
                  </a:cubicBezTo>
                  <a:cubicBezTo>
                    <a:pt x="90" y="0"/>
                    <a:pt x="108" y="0"/>
                    <a:pt x="117" y="0"/>
                  </a:cubicBezTo>
                  <a:lnTo>
                    <a:pt x="117" y="0"/>
                  </a:lnTo>
                  <a:cubicBezTo>
                    <a:pt x="135" y="0"/>
                    <a:pt x="144" y="0"/>
                    <a:pt x="153" y="9"/>
                  </a:cubicBezTo>
                  <a:cubicBezTo>
                    <a:pt x="162" y="9"/>
                    <a:pt x="162" y="18"/>
                    <a:pt x="162" y="27"/>
                  </a:cubicBezTo>
                  <a:cubicBezTo>
                    <a:pt x="162" y="27"/>
                    <a:pt x="153" y="36"/>
                    <a:pt x="144" y="27"/>
                  </a:cubicBezTo>
                  <a:cubicBezTo>
                    <a:pt x="135" y="27"/>
                    <a:pt x="135" y="27"/>
                    <a:pt x="126" y="27"/>
                  </a:cubicBezTo>
                  <a:cubicBezTo>
                    <a:pt x="126" y="27"/>
                    <a:pt x="126" y="27"/>
                    <a:pt x="117" y="27"/>
                  </a:cubicBezTo>
                  <a:lnTo>
                    <a:pt x="108" y="27"/>
                  </a:lnTo>
                  <a:cubicBezTo>
                    <a:pt x="99" y="18"/>
                    <a:pt x="99" y="18"/>
                    <a:pt x="90" y="27"/>
                  </a:cubicBezTo>
                  <a:cubicBezTo>
                    <a:pt x="81" y="27"/>
                    <a:pt x="72" y="36"/>
                    <a:pt x="72" y="4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63" y="63"/>
                    <a:pt x="63" y="63"/>
                    <a:pt x="54" y="63"/>
                  </a:cubicBezTo>
                  <a:cubicBezTo>
                    <a:pt x="54" y="63"/>
                    <a:pt x="54" y="63"/>
                    <a:pt x="45" y="63"/>
                  </a:cubicBezTo>
                  <a:cubicBezTo>
                    <a:pt x="36" y="63"/>
                    <a:pt x="27" y="72"/>
                    <a:pt x="27" y="81"/>
                  </a:cubicBezTo>
                  <a:cubicBezTo>
                    <a:pt x="27" y="90"/>
                    <a:pt x="18" y="90"/>
                    <a:pt x="10" y="90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5" name="Freeform 622">
              <a:extLst>
                <a:ext uri="{FF2B5EF4-FFF2-40B4-BE49-F238E27FC236}">
                  <a16:creationId xmlns:a16="http://schemas.microsoft.com/office/drawing/2014/main" id="{FD7D9470-D897-6C43-82A5-48E678DE5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3249" y="11567589"/>
              <a:ext cx="94760" cy="175308"/>
            </a:xfrm>
            <a:custGeom>
              <a:avLst/>
              <a:gdLst>
                <a:gd name="T0" fmla="*/ 45 w 90"/>
                <a:gd name="T1" fmla="*/ 161 h 162"/>
                <a:gd name="T2" fmla="*/ 45 w 90"/>
                <a:gd name="T3" fmla="*/ 161 h 162"/>
                <a:gd name="T4" fmla="*/ 9 w 90"/>
                <a:gd name="T5" fmla="*/ 107 h 162"/>
                <a:gd name="T6" fmla="*/ 0 w 90"/>
                <a:gd name="T7" fmla="*/ 44 h 162"/>
                <a:gd name="T8" fmla="*/ 0 w 90"/>
                <a:gd name="T9" fmla="*/ 26 h 162"/>
                <a:gd name="T10" fmla="*/ 45 w 90"/>
                <a:gd name="T11" fmla="*/ 0 h 162"/>
                <a:gd name="T12" fmla="*/ 81 w 90"/>
                <a:gd name="T13" fmla="*/ 26 h 162"/>
                <a:gd name="T14" fmla="*/ 89 w 90"/>
                <a:gd name="T15" fmla="*/ 44 h 162"/>
                <a:gd name="T16" fmla="*/ 81 w 90"/>
                <a:gd name="T17" fmla="*/ 107 h 162"/>
                <a:gd name="T18" fmla="*/ 45 w 90"/>
                <a:gd name="T19" fmla="*/ 161 h 162"/>
                <a:gd name="T20" fmla="*/ 45 w 90"/>
                <a:gd name="T21" fmla="*/ 134 h 162"/>
                <a:gd name="T22" fmla="*/ 45 w 90"/>
                <a:gd name="T23" fmla="*/ 134 h 162"/>
                <a:gd name="T24" fmla="*/ 45 w 90"/>
                <a:gd name="T25" fmla="*/ 26 h 162"/>
                <a:gd name="T26" fmla="*/ 45 w 90"/>
                <a:gd name="T27" fmla="*/ 26 h 162"/>
                <a:gd name="T28" fmla="*/ 27 w 90"/>
                <a:gd name="T29" fmla="*/ 36 h 162"/>
                <a:gd name="T30" fmla="*/ 18 w 90"/>
                <a:gd name="T31" fmla="*/ 44 h 162"/>
                <a:gd name="T32" fmla="*/ 27 w 90"/>
                <a:gd name="T33" fmla="*/ 98 h 162"/>
                <a:gd name="T34" fmla="*/ 45 w 90"/>
                <a:gd name="T35" fmla="*/ 134 h 162"/>
                <a:gd name="T36" fmla="*/ 54 w 90"/>
                <a:gd name="T37" fmla="*/ 98 h 162"/>
                <a:gd name="T38" fmla="*/ 63 w 90"/>
                <a:gd name="T39" fmla="*/ 44 h 162"/>
                <a:gd name="T40" fmla="*/ 63 w 90"/>
                <a:gd name="T41" fmla="*/ 36 h 162"/>
                <a:gd name="T42" fmla="*/ 45 w 90"/>
                <a:gd name="T43" fmla="*/ 2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62">
                  <a:moveTo>
                    <a:pt x="45" y="161"/>
                  </a:moveTo>
                  <a:lnTo>
                    <a:pt x="45" y="161"/>
                  </a:lnTo>
                  <a:cubicBezTo>
                    <a:pt x="27" y="161"/>
                    <a:pt x="18" y="143"/>
                    <a:pt x="9" y="107"/>
                  </a:cubicBezTo>
                  <a:cubicBezTo>
                    <a:pt x="0" y="80"/>
                    <a:pt x="0" y="53"/>
                    <a:pt x="0" y="44"/>
                  </a:cubicBezTo>
                  <a:cubicBezTo>
                    <a:pt x="0" y="36"/>
                    <a:pt x="0" y="26"/>
                    <a:pt x="0" y="26"/>
                  </a:cubicBezTo>
                  <a:cubicBezTo>
                    <a:pt x="9" y="9"/>
                    <a:pt x="27" y="0"/>
                    <a:pt x="45" y="0"/>
                  </a:cubicBezTo>
                  <a:cubicBezTo>
                    <a:pt x="63" y="0"/>
                    <a:pt x="81" y="9"/>
                    <a:pt x="81" y="26"/>
                  </a:cubicBezTo>
                  <a:cubicBezTo>
                    <a:pt x="89" y="26"/>
                    <a:pt x="89" y="36"/>
                    <a:pt x="89" y="44"/>
                  </a:cubicBezTo>
                  <a:cubicBezTo>
                    <a:pt x="89" y="53"/>
                    <a:pt x="89" y="80"/>
                    <a:pt x="81" y="107"/>
                  </a:cubicBezTo>
                  <a:cubicBezTo>
                    <a:pt x="72" y="143"/>
                    <a:pt x="54" y="161"/>
                    <a:pt x="45" y="161"/>
                  </a:cubicBezTo>
                  <a:close/>
                  <a:moveTo>
                    <a:pt x="45" y="134"/>
                  </a:moveTo>
                  <a:lnTo>
                    <a:pt x="45" y="134"/>
                  </a:lnTo>
                  <a:close/>
                  <a:moveTo>
                    <a:pt x="45" y="26"/>
                  </a:moveTo>
                  <a:lnTo>
                    <a:pt x="45" y="26"/>
                  </a:lnTo>
                  <a:cubicBezTo>
                    <a:pt x="36" y="26"/>
                    <a:pt x="27" y="26"/>
                    <a:pt x="27" y="36"/>
                  </a:cubicBezTo>
                  <a:lnTo>
                    <a:pt x="18" y="44"/>
                  </a:lnTo>
                  <a:cubicBezTo>
                    <a:pt x="18" y="53"/>
                    <a:pt x="27" y="71"/>
                    <a:pt x="27" y="98"/>
                  </a:cubicBezTo>
                  <a:cubicBezTo>
                    <a:pt x="36" y="116"/>
                    <a:pt x="36" y="125"/>
                    <a:pt x="45" y="134"/>
                  </a:cubicBezTo>
                  <a:cubicBezTo>
                    <a:pt x="45" y="125"/>
                    <a:pt x="54" y="116"/>
                    <a:pt x="54" y="98"/>
                  </a:cubicBezTo>
                  <a:cubicBezTo>
                    <a:pt x="63" y="71"/>
                    <a:pt x="63" y="53"/>
                    <a:pt x="63" y="44"/>
                  </a:cubicBezTo>
                  <a:lnTo>
                    <a:pt x="63" y="36"/>
                  </a:lnTo>
                  <a:cubicBezTo>
                    <a:pt x="63" y="26"/>
                    <a:pt x="54" y="26"/>
                    <a:pt x="45" y="2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6" name="Freeform 623">
              <a:extLst>
                <a:ext uri="{FF2B5EF4-FFF2-40B4-BE49-F238E27FC236}">
                  <a16:creationId xmlns:a16="http://schemas.microsoft.com/office/drawing/2014/main" id="{E936B5C5-981B-3146-AAE6-A228A8988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297" y="11240667"/>
              <a:ext cx="127928" cy="317446"/>
            </a:xfrm>
            <a:custGeom>
              <a:avLst/>
              <a:gdLst>
                <a:gd name="T0" fmla="*/ 99 w 117"/>
                <a:gd name="T1" fmla="*/ 296 h 297"/>
                <a:gd name="T2" fmla="*/ 99 w 117"/>
                <a:gd name="T3" fmla="*/ 296 h 297"/>
                <a:gd name="T4" fmla="*/ 27 w 117"/>
                <a:gd name="T5" fmla="*/ 296 h 297"/>
                <a:gd name="T6" fmla="*/ 18 w 117"/>
                <a:gd name="T7" fmla="*/ 287 h 297"/>
                <a:gd name="T8" fmla="*/ 9 w 117"/>
                <a:gd name="T9" fmla="*/ 197 h 297"/>
                <a:gd name="T10" fmla="*/ 45 w 117"/>
                <a:gd name="T11" fmla="*/ 18 h 297"/>
                <a:gd name="T12" fmla="*/ 54 w 117"/>
                <a:gd name="T13" fmla="*/ 0 h 297"/>
                <a:gd name="T14" fmla="*/ 63 w 117"/>
                <a:gd name="T15" fmla="*/ 0 h 297"/>
                <a:gd name="T16" fmla="*/ 72 w 117"/>
                <a:gd name="T17" fmla="*/ 0 h 297"/>
                <a:gd name="T18" fmla="*/ 72 w 117"/>
                <a:gd name="T19" fmla="*/ 9 h 297"/>
                <a:gd name="T20" fmla="*/ 116 w 117"/>
                <a:gd name="T21" fmla="*/ 206 h 297"/>
                <a:gd name="T22" fmla="*/ 107 w 117"/>
                <a:gd name="T23" fmla="*/ 287 h 297"/>
                <a:gd name="T24" fmla="*/ 99 w 117"/>
                <a:gd name="T25" fmla="*/ 296 h 297"/>
                <a:gd name="T26" fmla="*/ 27 w 117"/>
                <a:gd name="T27" fmla="*/ 278 h 297"/>
                <a:gd name="T28" fmla="*/ 27 w 117"/>
                <a:gd name="T29" fmla="*/ 278 h 297"/>
                <a:gd name="T30" fmla="*/ 90 w 117"/>
                <a:gd name="T31" fmla="*/ 278 h 297"/>
                <a:gd name="T32" fmla="*/ 99 w 117"/>
                <a:gd name="T33" fmla="*/ 206 h 297"/>
                <a:gd name="T34" fmla="*/ 107 w 117"/>
                <a:gd name="T35" fmla="*/ 206 h 297"/>
                <a:gd name="T36" fmla="*/ 99 w 117"/>
                <a:gd name="T37" fmla="*/ 206 h 297"/>
                <a:gd name="T38" fmla="*/ 63 w 117"/>
                <a:gd name="T39" fmla="*/ 27 h 297"/>
                <a:gd name="T40" fmla="*/ 27 w 117"/>
                <a:gd name="T41" fmla="*/ 197 h 297"/>
                <a:gd name="T42" fmla="*/ 27 w 117"/>
                <a:gd name="T43" fmla="*/ 27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7" h="297">
                  <a:moveTo>
                    <a:pt x="99" y="296"/>
                  </a:moveTo>
                  <a:lnTo>
                    <a:pt x="99" y="296"/>
                  </a:lnTo>
                  <a:cubicBezTo>
                    <a:pt x="27" y="296"/>
                    <a:pt x="27" y="296"/>
                    <a:pt x="27" y="296"/>
                  </a:cubicBezTo>
                  <a:cubicBezTo>
                    <a:pt x="18" y="296"/>
                    <a:pt x="18" y="287"/>
                    <a:pt x="18" y="287"/>
                  </a:cubicBezTo>
                  <a:cubicBezTo>
                    <a:pt x="9" y="197"/>
                    <a:pt x="9" y="197"/>
                    <a:pt x="9" y="197"/>
                  </a:cubicBezTo>
                  <a:cubicBezTo>
                    <a:pt x="0" y="134"/>
                    <a:pt x="18" y="80"/>
                    <a:pt x="45" y="18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63" y="0"/>
                  </a:cubicBezTo>
                  <a:cubicBezTo>
                    <a:pt x="63" y="0"/>
                    <a:pt x="63" y="0"/>
                    <a:pt x="72" y="0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107" y="72"/>
                    <a:pt x="116" y="143"/>
                    <a:pt x="116" y="206"/>
                  </a:cubicBezTo>
                  <a:cubicBezTo>
                    <a:pt x="107" y="287"/>
                    <a:pt x="107" y="287"/>
                    <a:pt x="107" y="287"/>
                  </a:cubicBezTo>
                  <a:lnTo>
                    <a:pt x="99" y="296"/>
                  </a:lnTo>
                  <a:close/>
                  <a:moveTo>
                    <a:pt x="27" y="278"/>
                  </a:moveTo>
                  <a:lnTo>
                    <a:pt x="27" y="278"/>
                  </a:lnTo>
                  <a:cubicBezTo>
                    <a:pt x="90" y="278"/>
                    <a:pt x="90" y="278"/>
                    <a:pt x="90" y="278"/>
                  </a:cubicBezTo>
                  <a:cubicBezTo>
                    <a:pt x="99" y="206"/>
                    <a:pt x="99" y="206"/>
                    <a:pt x="99" y="206"/>
                  </a:cubicBezTo>
                  <a:cubicBezTo>
                    <a:pt x="107" y="206"/>
                    <a:pt x="107" y="206"/>
                    <a:pt x="107" y="206"/>
                  </a:cubicBezTo>
                  <a:cubicBezTo>
                    <a:pt x="99" y="206"/>
                    <a:pt x="99" y="206"/>
                    <a:pt x="99" y="206"/>
                  </a:cubicBezTo>
                  <a:cubicBezTo>
                    <a:pt x="107" y="143"/>
                    <a:pt x="90" y="80"/>
                    <a:pt x="63" y="27"/>
                  </a:cubicBezTo>
                  <a:cubicBezTo>
                    <a:pt x="36" y="80"/>
                    <a:pt x="18" y="143"/>
                    <a:pt x="27" y="197"/>
                  </a:cubicBezTo>
                  <a:lnTo>
                    <a:pt x="27" y="27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7" name="Freeform 624">
              <a:extLst>
                <a:ext uri="{FF2B5EF4-FFF2-40B4-BE49-F238E27FC236}">
                  <a16:creationId xmlns:a16="http://schemas.microsoft.com/office/drawing/2014/main" id="{D3669CD8-7F66-A54A-B739-E4F078049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9057" y="11472828"/>
              <a:ext cx="66332" cy="137404"/>
            </a:xfrm>
            <a:custGeom>
              <a:avLst/>
              <a:gdLst>
                <a:gd name="T0" fmla="*/ 53 w 63"/>
                <a:gd name="T1" fmla="*/ 126 h 127"/>
                <a:gd name="T2" fmla="*/ 53 w 63"/>
                <a:gd name="T3" fmla="*/ 126 h 127"/>
                <a:gd name="T4" fmla="*/ 44 w 63"/>
                <a:gd name="T5" fmla="*/ 126 h 127"/>
                <a:gd name="T6" fmla="*/ 0 w 63"/>
                <a:gd name="T7" fmla="*/ 72 h 127"/>
                <a:gd name="T8" fmla="*/ 0 w 63"/>
                <a:gd name="T9" fmla="*/ 63 h 127"/>
                <a:gd name="T10" fmla="*/ 17 w 63"/>
                <a:gd name="T11" fmla="*/ 63 h 127"/>
                <a:gd name="T12" fmla="*/ 44 w 63"/>
                <a:gd name="T13" fmla="*/ 99 h 127"/>
                <a:gd name="T14" fmla="*/ 44 w 63"/>
                <a:gd name="T15" fmla="*/ 81 h 127"/>
                <a:gd name="T16" fmla="*/ 9 w 63"/>
                <a:gd name="T17" fmla="*/ 9 h 127"/>
                <a:gd name="T18" fmla="*/ 9 w 63"/>
                <a:gd name="T19" fmla="*/ 0 h 127"/>
                <a:gd name="T20" fmla="*/ 17 w 63"/>
                <a:gd name="T21" fmla="*/ 9 h 127"/>
                <a:gd name="T22" fmla="*/ 53 w 63"/>
                <a:gd name="T23" fmla="*/ 81 h 127"/>
                <a:gd name="T24" fmla="*/ 62 w 63"/>
                <a:gd name="T25" fmla="*/ 81 h 127"/>
                <a:gd name="T26" fmla="*/ 62 w 63"/>
                <a:gd name="T27" fmla="*/ 116 h 127"/>
                <a:gd name="T28" fmla="*/ 53 w 63"/>
                <a:gd name="T29" fmla="*/ 126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127">
                  <a:moveTo>
                    <a:pt x="53" y="126"/>
                  </a:moveTo>
                  <a:lnTo>
                    <a:pt x="53" y="126"/>
                  </a:lnTo>
                  <a:cubicBezTo>
                    <a:pt x="44" y="126"/>
                    <a:pt x="44" y="126"/>
                    <a:pt x="44" y="126"/>
                  </a:cubicBezTo>
                  <a:cubicBezTo>
                    <a:pt x="0" y="72"/>
                    <a:pt x="0" y="72"/>
                    <a:pt x="0" y="72"/>
                  </a:cubicBezTo>
                  <a:lnTo>
                    <a:pt x="0" y="63"/>
                  </a:lnTo>
                  <a:cubicBezTo>
                    <a:pt x="9" y="54"/>
                    <a:pt x="9" y="54"/>
                    <a:pt x="17" y="63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9" y="0"/>
                  </a:lnTo>
                  <a:cubicBezTo>
                    <a:pt x="17" y="0"/>
                    <a:pt x="17" y="0"/>
                    <a:pt x="17" y="9"/>
                  </a:cubicBezTo>
                  <a:cubicBezTo>
                    <a:pt x="53" y="81"/>
                    <a:pt x="53" y="81"/>
                    <a:pt x="53" y="81"/>
                  </a:cubicBezTo>
                  <a:lnTo>
                    <a:pt x="62" y="81"/>
                  </a:lnTo>
                  <a:cubicBezTo>
                    <a:pt x="62" y="116"/>
                    <a:pt x="62" y="116"/>
                    <a:pt x="62" y="116"/>
                  </a:cubicBezTo>
                  <a:cubicBezTo>
                    <a:pt x="62" y="126"/>
                    <a:pt x="53" y="126"/>
                    <a:pt x="53" y="126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8" name="Freeform 625">
              <a:extLst>
                <a:ext uri="{FF2B5EF4-FFF2-40B4-BE49-F238E27FC236}">
                  <a16:creationId xmlns:a16="http://schemas.microsoft.com/office/drawing/2014/main" id="{8668C119-7269-4242-BAA2-D013C1D8F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1132" y="11472828"/>
              <a:ext cx="56856" cy="137404"/>
            </a:xfrm>
            <a:custGeom>
              <a:avLst/>
              <a:gdLst>
                <a:gd name="T0" fmla="*/ 9 w 55"/>
                <a:gd name="T1" fmla="*/ 126 h 127"/>
                <a:gd name="T2" fmla="*/ 9 w 55"/>
                <a:gd name="T3" fmla="*/ 126 h 127"/>
                <a:gd name="T4" fmla="*/ 9 w 55"/>
                <a:gd name="T5" fmla="*/ 126 h 127"/>
                <a:gd name="T6" fmla="*/ 0 w 55"/>
                <a:gd name="T7" fmla="*/ 116 h 127"/>
                <a:gd name="T8" fmla="*/ 0 w 55"/>
                <a:gd name="T9" fmla="*/ 81 h 127"/>
                <a:gd name="T10" fmla="*/ 0 w 55"/>
                <a:gd name="T11" fmla="*/ 81 h 127"/>
                <a:gd name="T12" fmla="*/ 36 w 55"/>
                <a:gd name="T13" fmla="*/ 9 h 127"/>
                <a:gd name="T14" fmla="*/ 45 w 55"/>
                <a:gd name="T15" fmla="*/ 0 h 127"/>
                <a:gd name="T16" fmla="*/ 54 w 55"/>
                <a:gd name="T17" fmla="*/ 18 h 127"/>
                <a:gd name="T18" fmla="*/ 18 w 55"/>
                <a:gd name="T19" fmla="*/ 81 h 127"/>
                <a:gd name="T20" fmla="*/ 18 w 55"/>
                <a:gd name="T21" fmla="*/ 99 h 127"/>
                <a:gd name="T22" fmla="*/ 45 w 55"/>
                <a:gd name="T23" fmla="*/ 63 h 127"/>
                <a:gd name="T24" fmla="*/ 54 w 55"/>
                <a:gd name="T25" fmla="*/ 63 h 127"/>
                <a:gd name="T26" fmla="*/ 54 w 55"/>
                <a:gd name="T27" fmla="*/ 72 h 127"/>
                <a:gd name="T28" fmla="*/ 18 w 55"/>
                <a:gd name="T29" fmla="*/ 126 h 127"/>
                <a:gd name="T30" fmla="*/ 9 w 55"/>
                <a:gd name="T31" fmla="*/ 126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127">
                  <a:moveTo>
                    <a:pt x="9" y="126"/>
                  </a:moveTo>
                  <a:lnTo>
                    <a:pt x="9" y="126"/>
                  </a:lnTo>
                  <a:lnTo>
                    <a:pt x="9" y="126"/>
                  </a:lnTo>
                  <a:cubicBezTo>
                    <a:pt x="0" y="126"/>
                    <a:pt x="0" y="126"/>
                    <a:pt x="0" y="116"/>
                  </a:cubicBezTo>
                  <a:cubicBezTo>
                    <a:pt x="0" y="81"/>
                    <a:pt x="0" y="81"/>
                    <a:pt x="0" y="81"/>
                  </a:cubicBezTo>
                  <a:lnTo>
                    <a:pt x="0" y="81"/>
                  </a:lnTo>
                  <a:cubicBezTo>
                    <a:pt x="36" y="9"/>
                    <a:pt x="36" y="9"/>
                    <a:pt x="36" y="9"/>
                  </a:cubicBezTo>
                  <a:cubicBezTo>
                    <a:pt x="36" y="0"/>
                    <a:pt x="45" y="0"/>
                    <a:pt x="45" y="0"/>
                  </a:cubicBezTo>
                  <a:cubicBezTo>
                    <a:pt x="54" y="9"/>
                    <a:pt x="54" y="9"/>
                    <a:pt x="54" y="18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45" y="63"/>
                    <a:pt x="45" y="63"/>
                    <a:pt x="45" y="63"/>
                  </a:cubicBezTo>
                  <a:lnTo>
                    <a:pt x="54" y="63"/>
                  </a:lnTo>
                  <a:lnTo>
                    <a:pt x="54" y="72"/>
                  </a:lnTo>
                  <a:cubicBezTo>
                    <a:pt x="18" y="126"/>
                    <a:pt x="18" y="126"/>
                    <a:pt x="18" y="126"/>
                  </a:cubicBezTo>
                  <a:lnTo>
                    <a:pt x="9" y="126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09" name="Freeform 626">
              <a:extLst>
                <a:ext uri="{FF2B5EF4-FFF2-40B4-BE49-F238E27FC236}">
                  <a16:creationId xmlns:a16="http://schemas.microsoft.com/office/drawing/2014/main" id="{3097F60D-26C5-8C44-849C-B019323A2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2201" y="11539161"/>
              <a:ext cx="56856" cy="37904"/>
            </a:xfrm>
            <a:custGeom>
              <a:avLst/>
              <a:gdLst>
                <a:gd name="T0" fmla="*/ 45 w 55"/>
                <a:gd name="T1" fmla="*/ 36 h 37"/>
                <a:gd name="T2" fmla="*/ 45 w 55"/>
                <a:gd name="T3" fmla="*/ 36 h 37"/>
                <a:gd name="T4" fmla="*/ 9 w 55"/>
                <a:gd name="T5" fmla="*/ 36 h 37"/>
                <a:gd name="T6" fmla="*/ 0 w 55"/>
                <a:gd name="T7" fmla="*/ 27 h 37"/>
                <a:gd name="T8" fmla="*/ 0 w 55"/>
                <a:gd name="T9" fmla="*/ 9 h 37"/>
                <a:gd name="T10" fmla="*/ 9 w 55"/>
                <a:gd name="T11" fmla="*/ 0 h 37"/>
                <a:gd name="T12" fmla="*/ 45 w 55"/>
                <a:gd name="T13" fmla="*/ 0 h 37"/>
                <a:gd name="T14" fmla="*/ 54 w 55"/>
                <a:gd name="T15" fmla="*/ 9 h 37"/>
                <a:gd name="T16" fmla="*/ 54 w 55"/>
                <a:gd name="T17" fmla="*/ 27 h 37"/>
                <a:gd name="T18" fmla="*/ 45 w 55"/>
                <a:gd name="T19" fmla="*/ 36 h 37"/>
                <a:gd name="T20" fmla="*/ 18 w 55"/>
                <a:gd name="T21" fmla="*/ 18 h 37"/>
                <a:gd name="T22" fmla="*/ 18 w 55"/>
                <a:gd name="T23" fmla="*/ 18 h 37"/>
                <a:gd name="T24" fmla="*/ 36 w 55"/>
                <a:gd name="T25" fmla="*/ 18 h 37"/>
                <a:gd name="T26" fmla="*/ 36 w 55"/>
                <a:gd name="T27" fmla="*/ 18 h 37"/>
                <a:gd name="T28" fmla="*/ 18 w 55"/>
                <a:gd name="T29" fmla="*/ 1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37">
                  <a:moveTo>
                    <a:pt x="45" y="36"/>
                  </a:moveTo>
                  <a:lnTo>
                    <a:pt x="45" y="36"/>
                  </a:lnTo>
                  <a:cubicBezTo>
                    <a:pt x="9" y="36"/>
                    <a:pt x="9" y="36"/>
                    <a:pt x="9" y="36"/>
                  </a:cubicBezTo>
                  <a:cubicBezTo>
                    <a:pt x="0" y="36"/>
                    <a:pt x="0" y="27"/>
                    <a:pt x="0" y="2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9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54" y="0"/>
                    <a:pt x="54" y="9"/>
                  </a:cubicBezTo>
                  <a:cubicBezTo>
                    <a:pt x="54" y="27"/>
                    <a:pt x="54" y="27"/>
                    <a:pt x="54" y="27"/>
                  </a:cubicBezTo>
                  <a:lnTo>
                    <a:pt x="45" y="36"/>
                  </a:lnTo>
                  <a:close/>
                  <a:moveTo>
                    <a:pt x="18" y="18"/>
                  </a:moveTo>
                  <a:lnTo>
                    <a:pt x="18" y="18"/>
                  </a:lnTo>
                  <a:cubicBezTo>
                    <a:pt x="36" y="18"/>
                    <a:pt x="36" y="18"/>
                    <a:pt x="36" y="18"/>
                  </a:cubicBezTo>
                  <a:lnTo>
                    <a:pt x="36" y="18"/>
                  </a:lnTo>
                  <a:cubicBezTo>
                    <a:pt x="18" y="18"/>
                    <a:pt x="18" y="18"/>
                    <a:pt x="18" y="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10" name="Freeform 627">
              <a:extLst>
                <a:ext uri="{FF2B5EF4-FFF2-40B4-BE49-F238E27FC236}">
                  <a16:creationId xmlns:a16="http://schemas.microsoft.com/office/drawing/2014/main" id="{FF2863ED-8313-5F4E-B22B-2DC16DDC3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2201" y="11340164"/>
              <a:ext cx="47380" cy="47380"/>
            </a:xfrm>
            <a:custGeom>
              <a:avLst/>
              <a:gdLst>
                <a:gd name="T0" fmla="*/ 27 w 46"/>
                <a:gd name="T1" fmla="*/ 44 h 45"/>
                <a:gd name="T2" fmla="*/ 27 w 46"/>
                <a:gd name="T3" fmla="*/ 44 h 45"/>
                <a:gd name="T4" fmla="*/ 0 w 46"/>
                <a:gd name="T5" fmla="*/ 17 h 45"/>
                <a:gd name="T6" fmla="*/ 27 w 46"/>
                <a:gd name="T7" fmla="*/ 0 h 45"/>
                <a:gd name="T8" fmla="*/ 45 w 46"/>
                <a:gd name="T9" fmla="*/ 17 h 45"/>
                <a:gd name="T10" fmla="*/ 27 w 46"/>
                <a:gd name="T11" fmla="*/ 44 h 45"/>
                <a:gd name="T12" fmla="*/ 27 w 46"/>
                <a:gd name="T13" fmla="*/ 9 h 45"/>
                <a:gd name="T14" fmla="*/ 27 w 46"/>
                <a:gd name="T15" fmla="*/ 9 h 45"/>
                <a:gd name="T16" fmla="*/ 18 w 46"/>
                <a:gd name="T17" fmla="*/ 17 h 45"/>
                <a:gd name="T18" fmla="*/ 27 w 46"/>
                <a:gd name="T19" fmla="*/ 26 h 45"/>
                <a:gd name="T20" fmla="*/ 36 w 46"/>
                <a:gd name="T21" fmla="*/ 17 h 45"/>
                <a:gd name="T22" fmla="*/ 27 w 46"/>
                <a:gd name="T23" fmla="*/ 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" h="45">
                  <a:moveTo>
                    <a:pt x="27" y="44"/>
                  </a:moveTo>
                  <a:lnTo>
                    <a:pt x="27" y="44"/>
                  </a:lnTo>
                  <a:cubicBezTo>
                    <a:pt x="9" y="44"/>
                    <a:pt x="0" y="35"/>
                    <a:pt x="0" y="17"/>
                  </a:cubicBezTo>
                  <a:cubicBezTo>
                    <a:pt x="0" y="9"/>
                    <a:pt x="9" y="0"/>
                    <a:pt x="27" y="0"/>
                  </a:cubicBezTo>
                  <a:cubicBezTo>
                    <a:pt x="36" y="0"/>
                    <a:pt x="45" y="9"/>
                    <a:pt x="45" y="17"/>
                  </a:cubicBezTo>
                  <a:cubicBezTo>
                    <a:pt x="45" y="35"/>
                    <a:pt x="36" y="44"/>
                    <a:pt x="27" y="44"/>
                  </a:cubicBezTo>
                  <a:close/>
                  <a:moveTo>
                    <a:pt x="27" y="9"/>
                  </a:moveTo>
                  <a:lnTo>
                    <a:pt x="27" y="9"/>
                  </a:lnTo>
                  <a:cubicBezTo>
                    <a:pt x="18" y="9"/>
                    <a:pt x="18" y="17"/>
                    <a:pt x="18" y="17"/>
                  </a:cubicBezTo>
                  <a:cubicBezTo>
                    <a:pt x="18" y="26"/>
                    <a:pt x="18" y="26"/>
                    <a:pt x="27" y="26"/>
                  </a:cubicBezTo>
                  <a:cubicBezTo>
                    <a:pt x="27" y="26"/>
                    <a:pt x="36" y="26"/>
                    <a:pt x="36" y="17"/>
                  </a:cubicBezTo>
                  <a:lnTo>
                    <a:pt x="27" y="9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11" name="Freeform 628">
              <a:extLst>
                <a:ext uri="{FF2B5EF4-FFF2-40B4-BE49-F238E27FC236}">
                  <a16:creationId xmlns:a16="http://schemas.microsoft.com/office/drawing/2014/main" id="{8EC108DE-DCC7-AE4C-BD28-70300CC67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153" y="11472828"/>
              <a:ext cx="18952" cy="137404"/>
            </a:xfrm>
            <a:custGeom>
              <a:avLst/>
              <a:gdLst>
                <a:gd name="T0" fmla="*/ 9 w 19"/>
                <a:gd name="T1" fmla="*/ 126 h 127"/>
                <a:gd name="T2" fmla="*/ 9 w 19"/>
                <a:gd name="T3" fmla="*/ 126 h 127"/>
                <a:gd name="T4" fmla="*/ 0 w 19"/>
                <a:gd name="T5" fmla="*/ 116 h 127"/>
                <a:gd name="T6" fmla="*/ 0 w 19"/>
                <a:gd name="T7" fmla="*/ 9 h 127"/>
                <a:gd name="T8" fmla="*/ 9 w 19"/>
                <a:gd name="T9" fmla="*/ 0 h 127"/>
                <a:gd name="T10" fmla="*/ 18 w 19"/>
                <a:gd name="T11" fmla="*/ 9 h 127"/>
                <a:gd name="T12" fmla="*/ 18 w 19"/>
                <a:gd name="T13" fmla="*/ 116 h 127"/>
                <a:gd name="T14" fmla="*/ 9 w 19"/>
                <a:gd name="T15" fmla="*/ 126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127">
                  <a:moveTo>
                    <a:pt x="9" y="126"/>
                  </a:moveTo>
                  <a:lnTo>
                    <a:pt x="9" y="126"/>
                  </a:lnTo>
                  <a:cubicBezTo>
                    <a:pt x="0" y="126"/>
                    <a:pt x="0" y="126"/>
                    <a:pt x="0" y="11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0"/>
                    <a:pt x="9" y="0"/>
                  </a:cubicBezTo>
                  <a:lnTo>
                    <a:pt x="18" y="9"/>
                  </a:lnTo>
                  <a:cubicBezTo>
                    <a:pt x="18" y="116"/>
                    <a:pt x="18" y="116"/>
                    <a:pt x="18" y="116"/>
                  </a:cubicBezTo>
                  <a:cubicBezTo>
                    <a:pt x="18" y="126"/>
                    <a:pt x="9" y="126"/>
                    <a:pt x="9" y="126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12" name="CuadroTexto 728">
            <a:extLst>
              <a:ext uri="{FF2B5EF4-FFF2-40B4-BE49-F238E27FC236}">
                <a16:creationId xmlns:a16="http://schemas.microsoft.com/office/drawing/2014/main" id="{B4423B1B-ADB8-4D49-AB04-3E6DC09335BE}"/>
              </a:ext>
            </a:extLst>
          </p:cNvPr>
          <p:cNvSpPr txBox="1"/>
          <p:nvPr/>
        </p:nvSpPr>
        <p:spPr>
          <a:xfrm>
            <a:off x="190800" y="180000"/>
            <a:ext cx="41344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智能化模式設計</a:t>
            </a:r>
            <a:endParaRPr lang="en-US" sz="40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113" name="CuadroTexto 395">
            <a:extLst>
              <a:ext uri="{FF2B5EF4-FFF2-40B4-BE49-F238E27FC236}">
                <a16:creationId xmlns:a16="http://schemas.microsoft.com/office/drawing/2014/main" id="{0923C8F1-012B-7D4D-A769-751A35C50A7F}"/>
              </a:ext>
            </a:extLst>
          </p:cNvPr>
          <p:cNvSpPr txBox="1"/>
          <p:nvPr/>
        </p:nvSpPr>
        <p:spPr>
          <a:xfrm>
            <a:off x="9276958" y="2422415"/>
            <a:ext cx="130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商品管理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4" name="Rectangle 56">
            <a:extLst>
              <a:ext uri="{FF2B5EF4-FFF2-40B4-BE49-F238E27FC236}">
                <a16:creationId xmlns:a16="http://schemas.microsoft.com/office/drawing/2014/main" id="{4539180F-4C2F-A64D-A300-C523DD69E87D}"/>
              </a:ext>
            </a:extLst>
          </p:cNvPr>
          <p:cNvSpPr/>
          <p:nvPr/>
        </p:nvSpPr>
        <p:spPr>
          <a:xfrm>
            <a:off x="9039808" y="2759622"/>
            <a:ext cx="31380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分析不同商品組合之最佳銷售量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分析熱賣商品與替代商品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預測替代商品的出現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分析商品售價，並制定適當售價</a:t>
            </a:r>
          </a:p>
        </p:txBody>
      </p:sp>
      <p:sp>
        <p:nvSpPr>
          <p:cNvPr id="115" name="CuadroTexto 395">
            <a:extLst>
              <a:ext uri="{FF2B5EF4-FFF2-40B4-BE49-F238E27FC236}">
                <a16:creationId xmlns:a16="http://schemas.microsoft.com/office/drawing/2014/main" id="{624BBAE7-1B71-2D42-8DB5-843E599C7C7E}"/>
              </a:ext>
            </a:extLst>
          </p:cNvPr>
          <p:cNvSpPr txBox="1"/>
          <p:nvPr/>
        </p:nvSpPr>
        <p:spPr>
          <a:xfrm>
            <a:off x="9544329" y="3854766"/>
            <a:ext cx="176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sz="18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消費者管理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6" name="Rectangle 56">
            <a:extLst>
              <a:ext uri="{FF2B5EF4-FFF2-40B4-BE49-F238E27FC236}">
                <a16:creationId xmlns:a16="http://schemas.microsoft.com/office/drawing/2014/main" id="{93618A24-B731-CD4F-B778-229E6630086C}"/>
              </a:ext>
            </a:extLst>
          </p:cNvPr>
          <p:cNvSpPr/>
          <p:nvPr/>
        </p:nvSpPr>
        <p:spPr>
          <a:xfrm>
            <a:off x="9570384" y="4133624"/>
            <a:ext cx="26200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掌握消費者樣貌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掌握消費者喜好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個性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消費模式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預測消費者口碑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評價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趨勢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包括自己與競爭者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7" name="CuadroTexto 395">
            <a:extLst>
              <a:ext uri="{FF2B5EF4-FFF2-40B4-BE49-F238E27FC236}">
                <a16:creationId xmlns:a16="http://schemas.microsoft.com/office/drawing/2014/main" id="{AA25A910-FBB6-BA40-B0F3-64DDEA0D541E}"/>
              </a:ext>
            </a:extLst>
          </p:cNvPr>
          <p:cNvSpPr txBox="1"/>
          <p:nvPr/>
        </p:nvSpPr>
        <p:spPr>
          <a:xfrm>
            <a:off x="9006816" y="5388120"/>
            <a:ext cx="130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倉儲管理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8" name="Rectangle 56">
            <a:extLst>
              <a:ext uri="{FF2B5EF4-FFF2-40B4-BE49-F238E27FC236}">
                <a16:creationId xmlns:a16="http://schemas.microsoft.com/office/drawing/2014/main" id="{DBE6CC1F-45A8-BB4D-A8BA-E0E18E261DC9}"/>
              </a:ext>
            </a:extLst>
          </p:cNvPr>
          <p:cNvSpPr/>
          <p:nvPr/>
        </p:nvSpPr>
        <p:spPr>
          <a:xfrm>
            <a:off x="9128553" y="5678817"/>
            <a:ext cx="176589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掌握倉儲使用狀況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優化倉儲進出貨流程與揀貨動線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9" name="CuadroTexto 395">
            <a:extLst>
              <a:ext uri="{FF2B5EF4-FFF2-40B4-BE49-F238E27FC236}">
                <a16:creationId xmlns:a16="http://schemas.microsoft.com/office/drawing/2014/main" id="{A976499D-1F3A-4546-B615-9FCDC97960FD}"/>
              </a:ext>
            </a:extLst>
          </p:cNvPr>
          <p:cNvSpPr txBox="1"/>
          <p:nvPr/>
        </p:nvSpPr>
        <p:spPr>
          <a:xfrm>
            <a:off x="1936901" y="2557800"/>
            <a:ext cx="125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需求預測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0" name="Rectangle 56">
            <a:extLst>
              <a:ext uri="{FF2B5EF4-FFF2-40B4-BE49-F238E27FC236}">
                <a16:creationId xmlns:a16="http://schemas.microsoft.com/office/drawing/2014/main" id="{8766BAF2-4F44-8A48-8DCB-8978F31CCC7F}"/>
              </a:ext>
            </a:extLst>
          </p:cNvPr>
          <p:cNvSpPr/>
          <p:nvPr/>
        </p:nvSpPr>
        <p:spPr>
          <a:xfrm>
            <a:off x="1583154" y="2948788"/>
            <a:ext cx="21991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預測某段時間內商品潛在需求的定量和定性特徵</a:t>
            </a:r>
          </a:p>
        </p:txBody>
      </p:sp>
      <p:sp>
        <p:nvSpPr>
          <p:cNvPr id="121" name="CuadroTexto 395">
            <a:extLst>
              <a:ext uri="{FF2B5EF4-FFF2-40B4-BE49-F238E27FC236}">
                <a16:creationId xmlns:a16="http://schemas.microsoft.com/office/drawing/2014/main" id="{4C3ED931-5DDF-A941-A7D8-193C5C16517A}"/>
              </a:ext>
            </a:extLst>
          </p:cNvPr>
          <p:cNvSpPr txBox="1"/>
          <p:nvPr/>
        </p:nvSpPr>
        <p:spPr>
          <a:xfrm>
            <a:off x="463252" y="4019689"/>
            <a:ext cx="202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進銷存管理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2" name="Rectangle 56">
            <a:extLst>
              <a:ext uri="{FF2B5EF4-FFF2-40B4-BE49-F238E27FC236}">
                <a16:creationId xmlns:a16="http://schemas.microsoft.com/office/drawing/2014/main" id="{20F616C8-B50D-B841-9FAA-C5F796646AA0}"/>
              </a:ext>
            </a:extLst>
          </p:cNvPr>
          <p:cNvSpPr/>
          <p:nvPr/>
        </p:nvSpPr>
        <p:spPr>
          <a:xfrm>
            <a:off x="222908" y="4294743"/>
            <a:ext cx="279691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收集通路訂單、廠商的採購、倉庫的庫存進出數據提供關鍵參考數據的自動演算、統計與分析。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透過訂單演算出來的平均出貨量，預估採購量。</a:t>
            </a:r>
          </a:p>
        </p:txBody>
      </p:sp>
      <p:sp>
        <p:nvSpPr>
          <p:cNvPr id="123" name="CuadroTexto 395">
            <a:extLst>
              <a:ext uri="{FF2B5EF4-FFF2-40B4-BE49-F238E27FC236}">
                <a16:creationId xmlns:a16="http://schemas.microsoft.com/office/drawing/2014/main" id="{29B20211-D015-354B-9318-33DD4958075A}"/>
              </a:ext>
            </a:extLst>
          </p:cNvPr>
          <p:cNvSpPr txBox="1"/>
          <p:nvPr/>
        </p:nvSpPr>
        <p:spPr>
          <a:xfrm>
            <a:off x="1403324" y="5438235"/>
            <a:ext cx="125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人員管理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4" name="Rectangle 56">
            <a:extLst>
              <a:ext uri="{FF2B5EF4-FFF2-40B4-BE49-F238E27FC236}">
                <a16:creationId xmlns:a16="http://schemas.microsoft.com/office/drawing/2014/main" id="{13929C6A-B2C8-3849-8761-0F6588758F2E}"/>
              </a:ext>
            </a:extLst>
          </p:cNvPr>
          <p:cNvSpPr/>
          <p:nvPr/>
        </p:nvSpPr>
        <p:spPr>
          <a:xfrm>
            <a:off x="680273" y="5760953"/>
            <a:ext cx="264004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根據各門店的銷量預測數據利用強化學習尋找最優的排班方案、招聘和培養計劃</a:t>
            </a:r>
            <a:r>
              <a:rPr 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E604B4AD-C33E-D54C-8C88-9BAFE11195A1}"/>
              </a:ext>
            </a:extLst>
          </p:cNvPr>
          <p:cNvGrpSpPr/>
          <p:nvPr/>
        </p:nvGrpSpPr>
        <p:grpSpPr>
          <a:xfrm>
            <a:off x="5046424" y="2762407"/>
            <a:ext cx="657851" cy="626661"/>
            <a:chOff x="14435662" y="4193004"/>
            <a:chExt cx="1524145" cy="1524142"/>
          </a:xfrm>
        </p:grpSpPr>
        <p:sp>
          <p:nvSpPr>
            <p:cNvPr id="126" name="Freeform 176">
              <a:extLst>
                <a:ext uri="{FF2B5EF4-FFF2-40B4-BE49-F238E27FC236}">
                  <a16:creationId xmlns:a16="http://schemas.microsoft.com/office/drawing/2014/main" id="{1F91B40D-17E5-0E4F-A1AA-CAA3653AE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35662" y="4193004"/>
              <a:ext cx="1524145" cy="1524142"/>
            </a:xfrm>
            <a:custGeom>
              <a:avLst/>
              <a:gdLst>
                <a:gd name="T0" fmla="*/ 1448 w 1449"/>
                <a:gd name="T1" fmla="*/ 719 h 1449"/>
                <a:gd name="T2" fmla="*/ 1448 w 1449"/>
                <a:gd name="T3" fmla="*/ 719 h 1449"/>
                <a:gd name="T4" fmla="*/ 720 w 1449"/>
                <a:gd name="T5" fmla="*/ 1448 h 1449"/>
                <a:gd name="T6" fmla="*/ 0 w 1449"/>
                <a:gd name="T7" fmla="*/ 719 h 1449"/>
                <a:gd name="T8" fmla="*/ 720 w 1449"/>
                <a:gd name="T9" fmla="*/ 0 h 1449"/>
                <a:gd name="T10" fmla="*/ 1448 w 1449"/>
                <a:gd name="T11" fmla="*/ 719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9" h="1449">
                  <a:moveTo>
                    <a:pt x="1448" y="719"/>
                  </a:moveTo>
                  <a:lnTo>
                    <a:pt x="1448" y="719"/>
                  </a:lnTo>
                  <a:cubicBezTo>
                    <a:pt x="1448" y="1124"/>
                    <a:pt x="1125" y="1448"/>
                    <a:pt x="720" y="1448"/>
                  </a:cubicBezTo>
                  <a:cubicBezTo>
                    <a:pt x="324" y="1448"/>
                    <a:pt x="0" y="1124"/>
                    <a:pt x="0" y="719"/>
                  </a:cubicBezTo>
                  <a:cubicBezTo>
                    <a:pt x="0" y="324"/>
                    <a:pt x="324" y="0"/>
                    <a:pt x="720" y="0"/>
                  </a:cubicBezTo>
                  <a:cubicBezTo>
                    <a:pt x="1125" y="0"/>
                    <a:pt x="1448" y="324"/>
                    <a:pt x="1448" y="719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7" name="Freeform 568">
              <a:extLst>
                <a:ext uri="{FF2B5EF4-FFF2-40B4-BE49-F238E27FC236}">
                  <a16:creationId xmlns:a16="http://schemas.microsoft.com/office/drawing/2014/main" id="{033D96EF-85A8-254F-AA25-B639BE8FE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9662" y="5300207"/>
              <a:ext cx="616144" cy="78757"/>
            </a:xfrm>
            <a:custGeom>
              <a:avLst/>
              <a:gdLst>
                <a:gd name="T0" fmla="*/ 585 w 586"/>
                <a:gd name="T1" fmla="*/ 72 h 73"/>
                <a:gd name="T2" fmla="*/ 0 w 586"/>
                <a:gd name="T3" fmla="*/ 72 h 73"/>
                <a:gd name="T4" fmla="*/ 0 w 586"/>
                <a:gd name="T5" fmla="*/ 0 h 73"/>
                <a:gd name="T6" fmla="*/ 585 w 586"/>
                <a:gd name="T7" fmla="*/ 0 h 73"/>
                <a:gd name="T8" fmla="*/ 585 w 586"/>
                <a:gd name="T9" fmla="*/ 7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6" h="73">
                  <a:moveTo>
                    <a:pt x="585" y="72"/>
                  </a:moveTo>
                  <a:lnTo>
                    <a:pt x="0" y="72"/>
                  </a:lnTo>
                  <a:lnTo>
                    <a:pt x="0" y="0"/>
                  </a:lnTo>
                  <a:lnTo>
                    <a:pt x="585" y="0"/>
                  </a:lnTo>
                  <a:lnTo>
                    <a:pt x="585" y="72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8" name="Freeform 569">
              <a:extLst>
                <a:ext uri="{FF2B5EF4-FFF2-40B4-BE49-F238E27FC236}">
                  <a16:creationId xmlns:a16="http://schemas.microsoft.com/office/drawing/2014/main" id="{BCF38B57-F4C7-1E4F-BF50-DB58653AB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73847" y="4535821"/>
              <a:ext cx="843143" cy="843143"/>
            </a:xfrm>
            <a:custGeom>
              <a:avLst/>
              <a:gdLst>
                <a:gd name="T0" fmla="*/ 684 w 802"/>
                <a:gd name="T1" fmla="*/ 800 h 801"/>
                <a:gd name="T2" fmla="*/ 684 w 802"/>
                <a:gd name="T3" fmla="*/ 800 h 801"/>
                <a:gd name="T4" fmla="*/ 684 w 802"/>
                <a:gd name="T5" fmla="*/ 728 h 801"/>
                <a:gd name="T6" fmla="*/ 729 w 802"/>
                <a:gd name="T7" fmla="*/ 692 h 801"/>
                <a:gd name="T8" fmla="*/ 729 w 802"/>
                <a:gd name="T9" fmla="*/ 629 h 801"/>
                <a:gd name="T10" fmla="*/ 252 w 802"/>
                <a:gd name="T11" fmla="*/ 629 h 801"/>
                <a:gd name="T12" fmla="*/ 252 w 802"/>
                <a:gd name="T13" fmla="*/ 674 h 801"/>
                <a:gd name="T14" fmla="*/ 126 w 802"/>
                <a:gd name="T15" fmla="*/ 800 h 801"/>
                <a:gd name="T16" fmla="*/ 0 w 802"/>
                <a:gd name="T17" fmla="*/ 674 h 801"/>
                <a:gd name="T18" fmla="*/ 0 w 802"/>
                <a:gd name="T19" fmla="*/ 54 h 801"/>
                <a:gd name="T20" fmla="*/ 54 w 802"/>
                <a:gd name="T21" fmla="*/ 0 h 801"/>
                <a:gd name="T22" fmla="*/ 621 w 802"/>
                <a:gd name="T23" fmla="*/ 0 h 801"/>
                <a:gd name="T24" fmla="*/ 675 w 802"/>
                <a:gd name="T25" fmla="*/ 54 h 801"/>
                <a:gd name="T26" fmla="*/ 675 w 802"/>
                <a:gd name="T27" fmla="*/ 558 h 801"/>
                <a:gd name="T28" fmla="*/ 756 w 802"/>
                <a:gd name="T29" fmla="*/ 558 h 801"/>
                <a:gd name="T30" fmla="*/ 801 w 802"/>
                <a:gd name="T31" fmla="*/ 593 h 801"/>
                <a:gd name="T32" fmla="*/ 801 w 802"/>
                <a:gd name="T33" fmla="*/ 692 h 801"/>
                <a:gd name="T34" fmla="*/ 684 w 802"/>
                <a:gd name="T35" fmla="*/ 800 h 801"/>
                <a:gd name="T36" fmla="*/ 72 w 802"/>
                <a:gd name="T37" fmla="*/ 63 h 801"/>
                <a:gd name="T38" fmla="*/ 72 w 802"/>
                <a:gd name="T39" fmla="*/ 63 h 801"/>
                <a:gd name="T40" fmla="*/ 72 w 802"/>
                <a:gd name="T41" fmla="*/ 674 h 801"/>
                <a:gd name="T42" fmla="*/ 126 w 802"/>
                <a:gd name="T43" fmla="*/ 728 h 801"/>
                <a:gd name="T44" fmla="*/ 180 w 802"/>
                <a:gd name="T45" fmla="*/ 674 h 801"/>
                <a:gd name="T46" fmla="*/ 180 w 802"/>
                <a:gd name="T47" fmla="*/ 593 h 801"/>
                <a:gd name="T48" fmla="*/ 225 w 802"/>
                <a:gd name="T49" fmla="*/ 558 h 801"/>
                <a:gd name="T50" fmla="*/ 603 w 802"/>
                <a:gd name="T51" fmla="*/ 558 h 801"/>
                <a:gd name="T52" fmla="*/ 603 w 802"/>
                <a:gd name="T53" fmla="*/ 63 h 801"/>
                <a:gd name="T54" fmla="*/ 72 w 802"/>
                <a:gd name="T55" fmla="*/ 63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2" h="801">
                  <a:moveTo>
                    <a:pt x="684" y="800"/>
                  </a:moveTo>
                  <a:lnTo>
                    <a:pt x="684" y="800"/>
                  </a:lnTo>
                  <a:cubicBezTo>
                    <a:pt x="684" y="728"/>
                    <a:pt x="684" y="728"/>
                    <a:pt x="684" y="728"/>
                  </a:cubicBezTo>
                  <a:cubicBezTo>
                    <a:pt x="711" y="728"/>
                    <a:pt x="729" y="710"/>
                    <a:pt x="729" y="692"/>
                  </a:cubicBezTo>
                  <a:cubicBezTo>
                    <a:pt x="729" y="629"/>
                    <a:pt x="729" y="629"/>
                    <a:pt x="729" y="629"/>
                  </a:cubicBezTo>
                  <a:cubicBezTo>
                    <a:pt x="252" y="629"/>
                    <a:pt x="252" y="629"/>
                    <a:pt x="252" y="629"/>
                  </a:cubicBezTo>
                  <a:cubicBezTo>
                    <a:pt x="252" y="674"/>
                    <a:pt x="252" y="674"/>
                    <a:pt x="252" y="674"/>
                  </a:cubicBezTo>
                  <a:cubicBezTo>
                    <a:pt x="252" y="746"/>
                    <a:pt x="198" y="800"/>
                    <a:pt x="126" y="800"/>
                  </a:cubicBezTo>
                  <a:cubicBezTo>
                    <a:pt x="54" y="800"/>
                    <a:pt x="0" y="746"/>
                    <a:pt x="0" y="67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8"/>
                    <a:pt x="27" y="0"/>
                    <a:pt x="54" y="0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48" y="0"/>
                    <a:pt x="675" y="18"/>
                    <a:pt x="675" y="54"/>
                  </a:cubicBezTo>
                  <a:cubicBezTo>
                    <a:pt x="675" y="558"/>
                    <a:pt x="675" y="558"/>
                    <a:pt x="675" y="558"/>
                  </a:cubicBezTo>
                  <a:cubicBezTo>
                    <a:pt x="756" y="558"/>
                    <a:pt x="756" y="558"/>
                    <a:pt x="756" y="558"/>
                  </a:cubicBezTo>
                  <a:cubicBezTo>
                    <a:pt x="783" y="558"/>
                    <a:pt x="801" y="575"/>
                    <a:pt x="801" y="593"/>
                  </a:cubicBezTo>
                  <a:cubicBezTo>
                    <a:pt x="801" y="692"/>
                    <a:pt x="801" y="692"/>
                    <a:pt x="801" y="692"/>
                  </a:cubicBezTo>
                  <a:cubicBezTo>
                    <a:pt x="801" y="746"/>
                    <a:pt x="747" y="800"/>
                    <a:pt x="684" y="800"/>
                  </a:cubicBezTo>
                  <a:close/>
                  <a:moveTo>
                    <a:pt x="72" y="63"/>
                  </a:moveTo>
                  <a:lnTo>
                    <a:pt x="72" y="63"/>
                  </a:lnTo>
                  <a:cubicBezTo>
                    <a:pt x="72" y="674"/>
                    <a:pt x="72" y="674"/>
                    <a:pt x="72" y="674"/>
                  </a:cubicBezTo>
                  <a:cubicBezTo>
                    <a:pt x="72" y="701"/>
                    <a:pt x="90" y="728"/>
                    <a:pt x="126" y="728"/>
                  </a:cubicBezTo>
                  <a:cubicBezTo>
                    <a:pt x="162" y="728"/>
                    <a:pt x="180" y="701"/>
                    <a:pt x="180" y="674"/>
                  </a:cubicBezTo>
                  <a:cubicBezTo>
                    <a:pt x="180" y="593"/>
                    <a:pt x="180" y="593"/>
                    <a:pt x="180" y="593"/>
                  </a:cubicBezTo>
                  <a:cubicBezTo>
                    <a:pt x="180" y="575"/>
                    <a:pt x="198" y="558"/>
                    <a:pt x="225" y="558"/>
                  </a:cubicBezTo>
                  <a:cubicBezTo>
                    <a:pt x="603" y="558"/>
                    <a:pt x="603" y="558"/>
                    <a:pt x="603" y="558"/>
                  </a:cubicBezTo>
                  <a:cubicBezTo>
                    <a:pt x="603" y="63"/>
                    <a:pt x="603" y="63"/>
                    <a:pt x="603" y="63"/>
                  </a:cubicBezTo>
                  <a:lnTo>
                    <a:pt x="72" y="63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29" name="Freeform 570">
              <a:extLst>
                <a:ext uri="{FF2B5EF4-FFF2-40B4-BE49-F238E27FC236}">
                  <a16:creationId xmlns:a16="http://schemas.microsoft.com/office/drawing/2014/main" id="{99F4D65D-400F-9341-B6DB-AF142CC2A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5254" y="4730392"/>
              <a:ext cx="361347" cy="55592"/>
            </a:xfrm>
            <a:custGeom>
              <a:avLst/>
              <a:gdLst>
                <a:gd name="T0" fmla="*/ 315 w 343"/>
                <a:gd name="T1" fmla="*/ 54 h 55"/>
                <a:gd name="T2" fmla="*/ 315 w 343"/>
                <a:gd name="T3" fmla="*/ 54 h 55"/>
                <a:gd name="T4" fmla="*/ 27 w 343"/>
                <a:gd name="T5" fmla="*/ 54 h 55"/>
                <a:gd name="T6" fmla="*/ 0 w 343"/>
                <a:gd name="T7" fmla="*/ 27 h 55"/>
                <a:gd name="T8" fmla="*/ 0 w 343"/>
                <a:gd name="T9" fmla="*/ 27 h 55"/>
                <a:gd name="T10" fmla="*/ 27 w 343"/>
                <a:gd name="T11" fmla="*/ 0 h 55"/>
                <a:gd name="T12" fmla="*/ 315 w 343"/>
                <a:gd name="T13" fmla="*/ 0 h 55"/>
                <a:gd name="T14" fmla="*/ 342 w 343"/>
                <a:gd name="T15" fmla="*/ 27 h 55"/>
                <a:gd name="T16" fmla="*/ 342 w 343"/>
                <a:gd name="T17" fmla="*/ 27 h 55"/>
                <a:gd name="T18" fmla="*/ 315 w 343"/>
                <a:gd name="T19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55">
                  <a:moveTo>
                    <a:pt x="315" y="54"/>
                  </a:moveTo>
                  <a:lnTo>
                    <a:pt x="315" y="54"/>
                  </a:lnTo>
                  <a:cubicBezTo>
                    <a:pt x="27" y="54"/>
                    <a:pt x="27" y="54"/>
                    <a:pt x="27" y="54"/>
                  </a:cubicBezTo>
                  <a:cubicBezTo>
                    <a:pt x="9" y="54"/>
                    <a:pt x="0" y="45"/>
                    <a:pt x="0" y="27"/>
                  </a:cubicBezTo>
                  <a:lnTo>
                    <a:pt x="0" y="27"/>
                  </a:lnTo>
                  <a:cubicBezTo>
                    <a:pt x="0" y="18"/>
                    <a:pt x="9" y="0"/>
                    <a:pt x="27" y="0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24" y="0"/>
                    <a:pt x="342" y="18"/>
                    <a:pt x="342" y="27"/>
                  </a:cubicBezTo>
                  <a:lnTo>
                    <a:pt x="342" y="27"/>
                  </a:lnTo>
                  <a:cubicBezTo>
                    <a:pt x="342" y="45"/>
                    <a:pt x="324" y="54"/>
                    <a:pt x="315" y="54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0" name="Freeform 571">
              <a:extLst>
                <a:ext uri="{FF2B5EF4-FFF2-40B4-BE49-F238E27FC236}">
                  <a16:creationId xmlns:a16="http://schemas.microsoft.com/office/drawing/2014/main" id="{EE1277C6-7E91-8445-AE09-03BA2FE81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5254" y="4855472"/>
              <a:ext cx="361347" cy="46327"/>
            </a:xfrm>
            <a:custGeom>
              <a:avLst/>
              <a:gdLst>
                <a:gd name="T0" fmla="*/ 315 w 343"/>
                <a:gd name="T1" fmla="*/ 45 h 46"/>
                <a:gd name="T2" fmla="*/ 315 w 343"/>
                <a:gd name="T3" fmla="*/ 45 h 46"/>
                <a:gd name="T4" fmla="*/ 27 w 343"/>
                <a:gd name="T5" fmla="*/ 45 h 46"/>
                <a:gd name="T6" fmla="*/ 0 w 343"/>
                <a:gd name="T7" fmla="*/ 18 h 46"/>
                <a:gd name="T8" fmla="*/ 0 w 343"/>
                <a:gd name="T9" fmla="*/ 18 h 46"/>
                <a:gd name="T10" fmla="*/ 27 w 343"/>
                <a:gd name="T11" fmla="*/ 0 h 46"/>
                <a:gd name="T12" fmla="*/ 315 w 343"/>
                <a:gd name="T13" fmla="*/ 0 h 46"/>
                <a:gd name="T14" fmla="*/ 342 w 343"/>
                <a:gd name="T15" fmla="*/ 18 h 46"/>
                <a:gd name="T16" fmla="*/ 342 w 343"/>
                <a:gd name="T17" fmla="*/ 18 h 46"/>
                <a:gd name="T18" fmla="*/ 315 w 343"/>
                <a:gd name="T1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46">
                  <a:moveTo>
                    <a:pt x="315" y="45"/>
                  </a:moveTo>
                  <a:lnTo>
                    <a:pt x="315" y="45"/>
                  </a:lnTo>
                  <a:cubicBezTo>
                    <a:pt x="27" y="45"/>
                    <a:pt x="27" y="45"/>
                    <a:pt x="27" y="45"/>
                  </a:cubicBezTo>
                  <a:cubicBezTo>
                    <a:pt x="9" y="45"/>
                    <a:pt x="0" y="36"/>
                    <a:pt x="0" y="18"/>
                  </a:cubicBezTo>
                  <a:lnTo>
                    <a:pt x="0" y="18"/>
                  </a:lnTo>
                  <a:cubicBezTo>
                    <a:pt x="0" y="9"/>
                    <a:pt x="9" y="0"/>
                    <a:pt x="27" y="0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24" y="0"/>
                    <a:pt x="342" y="9"/>
                    <a:pt x="342" y="18"/>
                  </a:cubicBezTo>
                  <a:lnTo>
                    <a:pt x="342" y="18"/>
                  </a:lnTo>
                  <a:cubicBezTo>
                    <a:pt x="342" y="36"/>
                    <a:pt x="324" y="45"/>
                    <a:pt x="315" y="45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1" name="Freeform 572">
              <a:extLst>
                <a:ext uri="{FF2B5EF4-FFF2-40B4-BE49-F238E27FC236}">
                  <a16:creationId xmlns:a16="http://schemas.microsoft.com/office/drawing/2014/main" id="{AA5C6680-B09E-4C46-9EC2-C915D8CE8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45254" y="4966656"/>
              <a:ext cx="227002" cy="55592"/>
            </a:xfrm>
            <a:custGeom>
              <a:avLst/>
              <a:gdLst>
                <a:gd name="T0" fmla="*/ 189 w 217"/>
                <a:gd name="T1" fmla="*/ 53 h 54"/>
                <a:gd name="T2" fmla="*/ 189 w 217"/>
                <a:gd name="T3" fmla="*/ 53 h 54"/>
                <a:gd name="T4" fmla="*/ 27 w 217"/>
                <a:gd name="T5" fmla="*/ 53 h 54"/>
                <a:gd name="T6" fmla="*/ 0 w 217"/>
                <a:gd name="T7" fmla="*/ 26 h 54"/>
                <a:gd name="T8" fmla="*/ 0 w 217"/>
                <a:gd name="T9" fmla="*/ 26 h 54"/>
                <a:gd name="T10" fmla="*/ 27 w 217"/>
                <a:gd name="T11" fmla="*/ 0 h 54"/>
                <a:gd name="T12" fmla="*/ 189 w 217"/>
                <a:gd name="T13" fmla="*/ 0 h 54"/>
                <a:gd name="T14" fmla="*/ 216 w 217"/>
                <a:gd name="T15" fmla="*/ 26 h 54"/>
                <a:gd name="T16" fmla="*/ 216 w 217"/>
                <a:gd name="T17" fmla="*/ 26 h 54"/>
                <a:gd name="T18" fmla="*/ 189 w 217"/>
                <a:gd name="T19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" h="54">
                  <a:moveTo>
                    <a:pt x="189" y="53"/>
                  </a:moveTo>
                  <a:lnTo>
                    <a:pt x="189" y="53"/>
                  </a:lnTo>
                  <a:cubicBezTo>
                    <a:pt x="27" y="53"/>
                    <a:pt x="27" y="53"/>
                    <a:pt x="27" y="53"/>
                  </a:cubicBezTo>
                  <a:cubicBezTo>
                    <a:pt x="9" y="53"/>
                    <a:pt x="0" y="36"/>
                    <a:pt x="0" y="26"/>
                  </a:cubicBezTo>
                  <a:lnTo>
                    <a:pt x="0" y="26"/>
                  </a:lnTo>
                  <a:cubicBezTo>
                    <a:pt x="0" y="9"/>
                    <a:pt x="9" y="0"/>
                    <a:pt x="27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207" y="0"/>
                    <a:pt x="216" y="9"/>
                    <a:pt x="216" y="26"/>
                  </a:cubicBezTo>
                  <a:lnTo>
                    <a:pt x="216" y="26"/>
                  </a:lnTo>
                  <a:cubicBezTo>
                    <a:pt x="216" y="36"/>
                    <a:pt x="207" y="53"/>
                    <a:pt x="189" y="53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9E801AAE-D503-D74C-A5B6-B69C226B3390}"/>
              </a:ext>
            </a:extLst>
          </p:cNvPr>
          <p:cNvGrpSpPr/>
          <p:nvPr/>
        </p:nvGrpSpPr>
        <p:grpSpPr>
          <a:xfrm>
            <a:off x="5160845" y="5918829"/>
            <a:ext cx="738528" cy="714693"/>
            <a:chOff x="16117317" y="10618494"/>
            <a:chExt cx="1524142" cy="1524145"/>
          </a:xfrm>
        </p:grpSpPr>
        <p:sp>
          <p:nvSpPr>
            <p:cNvPr id="133" name="Freeform 178">
              <a:extLst>
                <a:ext uri="{FF2B5EF4-FFF2-40B4-BE49-F238E27FC236}">
                  <a16:creationId xmlns:a16="http://schemas.microsoft.com/office/drawing/2014/main" id="{2091FE0E-A575-4841-B195-A4B671370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7317" y="10618494"/>
              <a:ext cx="1524142" cy="1524145"/>
            </a:xfrm>
            <a:custGeom>
              <a:avLst/>
              <a:gdLst>
                <a:gd name="T0" fmla="*/ 1448 w 1449"/>
                <a:gd name="T1" fmla="*/ 728 h 1449"/>
                <a:gd name="T2" fmla="*/ 1448 w 1449"/>
                <a:gd name="T3" fmla="*/ 728 h 1449"/>
                <a:gd name="T4" fmla="*/ 728 w 1449"/>
                <a:gd name="T5" fmla="*/ 1448 h 1449"/>
                <a:gd name="T6" fmla="*/ 0 w 1449"/>
                <a:gd name="T7" fmla="*/ 728 h 1449"/>
                <a:gd name="T8" fmla="*/ 728 w 1449"/>
                <a:gd name="T9" fmla="*/ 0 h 1449"/>
                <a:gd name="T10" fmla="*/ 1448 w 1449"/>
                <a:gd name="T11" fmla="*/ 728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9" h="1449">
                  <a:moveTo>
                    <a:pt x="1448" y="728"/>
                  </a:moveTo>
                  <a:lnTo>
                    <a:pt x="1448" y="728"/>
                  </a:lnTo>
                  <a:cubicBezTo>
                    <a:pt x="1448" y="1124"/>
                    <a:pt x="1124" y="1448"/>
                    <a:pt x="728" y="1448"/>
                  </a:cubicBezTo>
                  <a:cubicBezTo>
                    <a:pt x="323" y="1448"/>
                    <a:pt x="0" y="1124"/>
                    <a:pt x="0" y="728"/>
                  </a:cubicBezTo>
                  <a:cubicBezTo>
                    <a:pt x="0" y="324"/>
                    <a:pt x="323" y="0"/>
                    <a:pt x="728" y="0"/>
                  </a:cubicBezTo>
                  <a:cubicBezTo>
                    <a:pt x="1124" y="0"/>
                    <a:pt x="1448" y="324"/>
                    <a:pt x="1448" y="72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4" name="Freeform 565">
              <a:extLst>
                <a:ext uri="{FF2B5EF4-FFF2-40B4-BE49-F238E27FC236}">
                  <a16:creationId xmlns:a16="http://schemas.microsoft.com/office/drawing/2014/main" id="{746F166E-C8B2-704B-86B6-61C1D305B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5440" y="11628412"/>
              <a:ext cx="518857" cy="55592"/>
            </a:xfrm>
            <a:custGeom>
              <a:avLst/>
              <a:gdLst>
                <a:gd name="T0" fmla="*/ 495 w 496"/>
                <a:gd name="T1" fmla="*/ 54 h 55"/>
                <a:gd name="T2" fmla="*/ 495 w 496"/>
                <a:gd name="T3" fmla="*/ 54 h 55"/>
                <a:gd name="T4" fmla="*/ 27 w 496"/>
                <a:gd name="T5" fmla="*/ 54 h 55"/>
                <a:gd name="T6" fmla="*/ 0 w 496"/>
                <a:gd name="T7" fmla="*/ 27 h 55"/>
                <a:gd name="T8" fmla="*/ 0 w 496"/>
                <a:gd name="T9" fmla="*/ 27 h 55"/>
                <a:gd name="T10" fmla="*/ 27 w 496"/>
                <a:gd name="T11" fmla="*/ 0 h 55"/>
                <a:gd name="T12" fmla="*/ 495 w 496"/>
                <a:gd name="T13" fmla="*/ 0 h 55"/>
                <a:gd name="T14" fmla="*/ 495 w 496"/>
                <a:gd name="T15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6" h="55">
                  <a:moveTo>
                    <a:pt x="495" y="54"/>
                  </a:moveTo>
                  <a:lnTo>
                    <a:pt x="495" y="54"/>
                  </a:lnTo>
                  <a:cubicBezTo>
                    <a:pt x="27" y="54"/>
                    <a:pt x="27" y="54"/>
                    <a:pt x="27" y="54"/>
                  </a:cubicBezTo>
                  <a:cubicBezTo>
                    <a:pt x="18" y="54"/>
                    <a:pt x="0" y="45"/>
                    <a:pt x="0" y="27"/>
                  </a:cubicBezTo>
                  <a:lnTo>
                    <a:pt x="0" y="27"/>
                  </a:lnTo>
                  <a:cubicBezTo>
                    <a:pt x="0" y="18"/>
                    <a:pt x="18" y="0"/>
                    <a:pt x="27" y="0"/>
                  </a:cubicBezTo>
                  <a:cubicBezTo>
                    <a:pt x="495" y="0"/>
                    <a:pt x="495" y="0"/>
                    <a:pt x="495" y="0"/>
                  </a:cubicBezTo>
                  <a:lnTo>
                    <a:pt x="495" y="54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5" name="Freeform 566">
              <a:extLst>
                <a:ext uri="{FF2B5EF4-FFF2-40B4-BE49-F238E27FC236}">
                  <a16:creationId xmlns:a16="http://schemas.microsoft.com/office/drawing/2014/main" id="{F5BBF016-1EDA-634E-99B7-D9B32F7CA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3521" y="11091024"/>
              <a:ext cx="671733" cy="755124"/>
            </a:xfrm>
            <a:custGeom>
              <a:avLst/>
              <a:gdLst>
                <a:gd name="T0" fmla="*/ 495 w 640"/>
                <a:gd name="T1" fmla="*/ 719 h 720"/>
                <a:gd name="T2" fmla="*/ 495 w 640"/>
                <a:gd name="T3" fmla="*/ 719 h 720"/>
                <a:gd name="T4" fmla="*/ 153 w 640"/>
                <a:gd name="T5" fmla="*/ 719 h 720"/>
                <a:gd name="T6" fmla="*/ 45 w 640"/>
                <a:gd name="T7" fmla="*/ 674 h 720"/>
                <a:gd name="T8" fmla="*/ 9 w 640"/>
                <a:gd name="T9" fmla="*/ 566 h 720"/>
                <a:gd name="T10" fmla="*/ 36 w 640"/>
                <a:gd name="T11" fmla="*/ 98 h 720"/>
                <a:gd name="T12" fmla="*/ 144 w 640"/>
                <a:gd name="T13" fmla="*/ 0 h 720"/>
                <a:gd name="T14" fmla="*/ 504 w 640"/>
                <a:gd name="T15" fmla="*/ 0 h 720"/>
                <a:gd name="T16" fmla="*/ 612 w 640"/>
                <a:gd name="T17" fmla="*/ 98 h 720"/>
                <a:gd name="T18" fmla="*/ 639 w 640"/>
                <a:gd name="T19" fmla="*/ 566 h 720"/>
                <a:gd name="T20" fmla="*/ 594 w 640"/>
                <a:gd name="T21" fmla="*/ 674 h 720"/>
                <a:gd name="T22" fmla="*/ 495 w 640"/>
                <a:gd name="T23" fmla="*/ 719 h 720"/>
                <a:gd name="T24" fmla="*/ 144 w 640"/>
                <a:gd name="T25" fmla="*/ 62 h 720"/>
                <a:gd name="T26" fmla="*/ 144 w 640"/>
                <a:gd name="T27" fmla="*/ 62 h 720"/>
                <a:gd name="T28" fmla="*/ 99 w 640"/>
                <a:gd name="T29" fmla="*/ 98 h 720"/>
                <a:gd name="T30" fmla="*/ 72 w 640"/>
                <a:gd name="T31" fmla="*/ 566 h 720"/>
                <a:gd name="T32" fmla="*/ 99 w 640"/>
                <a:gd name="T33" fmla="*/ 620 h 720"/>
                <a:gd name="T34" fmla="*/ 153 w 640"/>
                <a:gd name="T35" fmla="*/ 647 h 720"/>
                <a:gd name="T36" fmla="*/ 495 w 640"/>
                <a:gd name="T37" fmla="*/ 647 h 720"/>
                <a:gd name="T38" fmla="*/ 549 w 640"/>
                <a:gd name="T39" fmla="*/ 620 h 720"/>
                <a:gd name="T40" fmla="*/ 567 w 640"/>
                <a:gd name="T41" fmla="*/ 566 h 720"/>
                <a:gd name="T42" fmla="*/ 540 w 640"/>
                <a:gd name="T43" fmla="*/ 98 h 720"/>
                <a:gd name="T44" fmla="*/ 504 w 640"/>
                <a:gd name="T45" fmla="*/ 62 h 720"/>
                <a:gd name="T46" fmla="*/ 144 w 640"/>
                <a:gd name="T47" fmla="*/ 62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0" h="720">
                  <a:moveTo>
                    <a:pt x="495" y="719"/>
                  </a:moveTo>
                  <a:lnTo>
                    <a:pt x="495" y="719"/>
                  </a:lnTo>
                  <a:cubicBezTo>
                    <a:pt x="153" y="719"/>
                    <a:pt x="153" y="719"/>
                    <a:pt x="153" y="719"/>
                  </a:cubicBezTo>
                  <a:cubicBezTo>
                    <a:pt x="108" y="719"/>
                    <a:pt x="72" y="701"/>
                    <a:pt x="45" y="674"/>
                  </a:cubicBezTo>
                  <a:cubicBezTo>
                    <a:pt x="18" y="638"/>
                    <a:pt x="0" y="602"/>
                    <a:pt x="9" y="566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36" y="44"/>
                    <a:pt x="81" y="0"/>
                    <a:pt x="144" y="0"/>
                  </a:cubicBezTo>
                  <a:cubicBezTo>
                    <a:pt x="504" y="0"/>
                    <a:pt x="504" y="0"/>
                    <a:pt x="504" y="0"/>
                  </a:cubicBezTo>
                  <a:cubicBezTo>
                    <a:pt x="558" y="0"/>
                    <a:pt x="603" y="44"/>
                    <a:pt x="612" y="98"/>
                  </a:cubicBezTo>
                  <a:cubicBezTo>
                    <a:pt x="639" y="566"/>
                    <a:pt x="639" y="566"/>
                    <a:pt x="639" y="566"/>
                  </a:cubicBezTo>
                  <a:cubicBezTo>
                    <a:pt x="639" y="602"/>
                    <a:pt x="621" y="638"/>
                    <a:pt x="594" y="674"/>
                  </a:cubicBezTo>
                  <a:cubicBezTo>
                    <a:pt x="567" y="701"/>
                    <a:pt x="531" y="719"/>
                    <a:pt x="495" y="719"/>
                  </a:cubicBezTo>
                  <a:close/>
                  <a:moveTo>
                    <a:pt x="144" y="62"/>
                  </a:moveTo>
                  <a:lnTo>
                    <a:pt x="144" y="62"/>
                  </a:lnTo>
                  <a:cubicBezTo>
                    <a:pt x="117" y="62"/>
                    <a:pt x="108" y="80"/>
                    <a:pt x="99" y="98"/>
                  </a:cubicBezTo>
                  <a:cubicBezTo>
                    <a:pt x="72" y="566"/>
                    <a:pt x="72" y="566"/>
                    <a:pt x="72" y="566"/>
                  </a:cubicBezTo>
                  <a:cubicBezTo>
                    <a:pt x="72" y="584"/>
                    <a:pt x="81" y="611"/>
                    <a:pt x="99" y="620"/>
                  </a:cubicBezTo>
                  <a:cubicBezTo>
                    <a:pt x="108" y="638"/>
                    <a:pt x="126" y="647"/>
                    <a:pt x="153" y="647"/>
                  </a:cubicBezTo>
                  <a:cubicBezTo>
                    <a:pt x="495" y="647"/>
                    <a:pt x="495" y="647"/>
                    <a:pt x="495" y="647"/>
                  </a:cubicBezTo>
                  <a:cubicBezTo>
                    <a:pt x="513" y="647"/>
                    <a:pt x="531" y="638"/>
                    <a:pt x="549" y="620"/>
                  </a:cubicBezTo>
                  <a:cubicBezTo>
                    <a:pt x="558" y="611"/>
                    <a:pt x="567" y="584"/>
                    <a:pt x="567" y="566"/>
                  </a:cubicBezTo>
                  <a:cubicBezTo>
                    <a:pt x="540" y="98"/>
                    <a:pt x="540" y="98"/>
                    <a:pt x="540" y="98"/>
                  </a:cubicBezTo>
                  <a:cubicBezTo>
                    <a:pt x="540" y="80"/>
                    <a:pt x="522" y="62"/>
                    <a:pt x="504" y="62"/>
                  </a:cubicBezTo>
                  <a:lnTo>
                    <a:pt x="144" y="6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6" name="Freeform 567">
              <a:extLst>
                <a:ext uri="{FF2B5EF4-FFF2-40B4-BE49-F238E27FC236}">
                  <a16:creationId xmlns:a16="http://schemas.microsoft.com/office/drawing/2014/main" id="{8E4ACB89-10E2-9E4A-8F48-55FDDA02A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4193" y="10910352"/>
              <a:ext cx="333551" cy="352082"/>
            </a:xfrm>
            <a:custGeom>
              <a:avLst/>
              <a:gdLst>
                <a:gd name="T0" fmla="*/ 279 w 316"/>
                <a:gd name="T1" fmla="*/ 332 h 333"/>
                <a:gd name="T2" fmla="*/ 279 w 316"/>
                <a:gd name="T3" fmla="*/ 332 h 333"/>
                <a:gd name="T4" fmla="*/ 279 w 316"/>
                <a:gd name="T5" fmla="*/ 332 h 333"/>
                <a:gd name="T6" fmla="*/ 243 w 316"/>
                <a:gd name="T7" fmla="*/ 296 h 333"/>
                <a:gd name="T8" fmla="*/ 243 w 316"/>
                <a:gd name="T9" fmla="*/ 161 h 333"/>
                <a:gd name="T10" fmla="*/ 162 w 316"/>
                <a:gd name="T11" fmla="*/ 72 h 333"/>
                <a:gd name="T12" fmla="*/ 63 w 316"/>
                <a:gd name="T13" fmla="*/ 161 h 333"/>
                <a:gd name="T14" fmla="*/ 63 w 316"/>
                <a:gd name="T15" fmla="*/ 296 h 333"/>
                <a:gd name="T16" fmla="*/ 36 w 316"/>
                <a:gd name="T17" fmla="*/ 332 h 333"/>
                <a:gd name="T18" fmla="*/ 36 w 316"/>
                <a:gd name="T19" fmla="*/ 332 h 333"/>
                <a:gd name="T20" fmla="*/ 0 w 316"/>
                <a:gd name="T21" fmla="*/ 296 h 333"/>
                <a:gd name="T22" fmla="*/ 0 w 316"/>
                <a:gd name="T23" fmla="*/ 171 h 333"/>
                <a:gd name="T24" fmla="*/ 144 w 316"/>
                <a:gd name="T25" fmla="*/ 9 h 333"/>
                <a:gd name="T26" fmla="*/ 315 w 316"/>
                <a:gd name="T27" fmla="*/ 161 h 333"/>
                <a:gd name="T28" fmla="*/ 315 w 316"/>
                <a:gd name="T29" fmla="*/ 296 h 333"/>
                <a:gd name="T30" fmla="*/ 279 w 316"/>
                <a:gd name="T31" fmla="*/ 332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6" h="333">
                  <a:moveTo>
                    <a:pt x="279" y="332"/>
                  </a:moveTo>
                  <a:lnTo>
                    <a:pt x="279" y="332"/>
                  </a:lnTo>
                  <a:lnTo>
                    <a:pt x="279" y="332"/>
                  </a:lnTo>
                  <a:cubicBezTo>
                    <a:pt x="261" y="332"/>
                    <a:pt x="243" y="315"/>
                    <a:pt x="243" y="29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43" y="116"/>
                    <a:pt x="207" y="81"/>
                    <a:pt x="162" y="72"/>
                  </a:cubicBezTo>
                  <a:cubicBezTo>
                    <a:pt x="108" y="72"/>
                    <a:pt x="63" y="108"/>
                    <a:pt x="63" y="161"/>
                  </a:cubicBezTo>
                  <a:cubicBezTo>
                    <a:pt x="63" y="296"/>
                    <a:pt x="63" y="296"/>
                    <a:pt x="63" y="296"/>
                  </a:cubicBezTo>
                  <a:cubicBezTo>
                    <a:pt x="63" y="315"/>
                    <a:pt x="54" y="332"/>
                    <a:pt x="36" y="332"/>
                  </a:cubicBezTo>
                  <a:lnTo>
                    <a:pt x="36" y="332"/>
                  </a:lnTo>
                  <a:cubicBezTo>
                    <a:pt x="9" y="332"/>
                    <a:pt x="0" y="315"/>
                    <a:pt x="0" y="296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81"/>
                    <a:pt x="63" y="9"/>
                    <a:pt x="144" y="9"/>
                  </a:cubicBezTo>
                  <a:cubicBezTo>
                    <a:pt x="234" y="0"/>
                    <a:pt x="315" y="72"/>
                    <a:pt x="315" y="161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315"/>
                    <a:pt x="297" y="332"/>
                    <a:pt x="279" y="332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D699AF0D-5AB8-1F40-AD13-29749D8F5C66}"/>
              </a:ext>
            </a:extLst>
          </p:cNvPr>
          <p:cNvGrpSpPr/>
          <p:nvPr/>
        </p:nvGrpSpPr>
        <p:grpSpPr>
          <a:xfrm>
            <a:off x="6554386" y="2719383"/>
            <a:ext cx="652713" cy="642288"/>
            <a:chOff x="6347048" y="10618494"/>
            <a:chExt cx="1533410" cy="1524145"/>
          </a:xfrm>
        </p:grpSpPr>
        <p:sp>
          <p:nvSpPr>
            <p:cNvPr id="138" name="Freeform 181">
              <a:extLst>
                <a:ext uri="{FF2B5EF4-FFF2-40B4-BE49-F238E27FC236}">
                  <a16:creationId xmlns:a16="http://schemas.microsoft.com/office/drawing/2014/main" id="{92FC19C8-E091-8B45-AF8C-C63CFEA64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7048" y="10618494"/>
              <a:ext cx="1533410" cy="1524145"/>
            </a:xfrm>
            <a:custGeom>
              <a:avLst/>
              <a:gdLst>
                <a:gd name="T0" fmla="*/ 0 w 1459"/>
                <a:gd name="T1" fmla="*/ 728 h 1449"/>
                <a:gd name="T2" fmla="*/ 0 w 1459"/>
                <a:gd name="T3" fmla="*/ 728 h 1449"/>
                <a:gd name="T4" fmla="*/ 729 w 1459"/>
                <a:gd name="T5" fmla="*/ 1448 h 1449"/>
                <a:gd name="T6" fmla="*/ 1458 w 1459"/>
                <a:gd name="T7" fmla="*/ 728 h 1449"/>
                <a:gd name="T8" fmla="*/ 729 w 1459"/>
                <a:gd name="T9" fmla="*/ 0 h 1449"/>
                <a:gd name="T10" fmla="*/ 0 w 1459"/>
                <a:gd name="T11" fmla="*/ 728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9" h="1449">
                  <a:moveTo>
                    <a:pt x="0" y="728"/>
                  </a:moveTo>
                  <a:lnTo>
                    <a:pt x="0" y="728"/>
                  </a:lnTo>
                  <a:cubicBezTo>
                    <a:pt x="0" y="1124"/>
                    <a:pt x="324" y="1448"/>
                    <a:pt x="729" y="1448"/>
                  </a:cubicBezTo>
                  <a:cubicBezTo>
                    <a:pt x="1134" y="1448"/>
                    <a:pt x="1458" y="1124"/>
                    <a:pt x="1458" y="728"/>
                  </a:cubicBezTo>
                  <a:cubicBezTo>
                    <a:pt x="1458" y="324"/>
                    <a:pt x="1134" y="0"/>
                    <a:pt x="729" y="0"/>
                  </a:cubicBezTo>
                  <a:cubicBezTo>
                    <a:pt x="324" y="0"/>
                    <a:pt x="0" y="324"/>
                    <a:pt x="0" y="728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39" name="Freeform 562">
              <a:extLst>
                <a:ext uri="{FF2B5EF4-FFF2-40B4-BE49-F238E27FC236}">
                  <a16:creationId xmlns:a16="http://schemas.microsoft.com/office/drawing/2014/main" id="{44E35D4E-1AAF-F24E-B27A-33DAAF0FF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8395" y="11276331"/>
              <a:ext cx="833878" cy="88022"/>
            </a:xfrm>
            <a:custGeom>
              <a:avLst/>
              <a:gdLst>
                <a:gd name="T0" fmla="*/ 792 w 793"/>
                <a:gd name="T1" fmla="*/ 81 h 82"/>
                <a:gd name="T2" fmla="*/ 0 w 793"/>
                <a:gd name="T3" fmla="*/ 81 h 82"/>
                <a:gd name="T4" fmla="*/ 0 w 793"/>
                <a:gd name="T5" fmla="*/ 0 h 82"/>
                <a:gd name="T6" fmla="*/ 792 w 793"/>
                <a:gd name="T7" fmla="*/ 0 h 82"/>
                <a:gd name="T8" fmla="*/ 792 w 793"/>
                <a:gd name="T9" fmla="*/ 8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3" h="82">
                  <a:moveTo>
                    <a:pt x="792" y="81"/>
                  </a:moveTo>
                  <a:lnTo>
                    <a:pt x="0" y="81"/>
                  </a:lnTo>
                  <a:lnTo>
                    <a:pt x="0" y="0"/>
                  </a:lnTo>
                  <a:lnTo>
                    <a:pt x="792" y="0"/>
                  </a:lnTo>
                  <a:lnTo>
                    <a:pt x="792" y="81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0" name="Freeform 563">
              <a:extLst>
                <a:ext uri="{FF2B5EF4-FFF2-40B4-BE49-F238E27FC236}">
                  <a16:creationId xmlns:a16="http://schemas.microsoft.com/office/drawing/2014/main" id="{1E4048E3-059C-8646-8620-2D3E818DE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1783" y="11512597"/>
              <a:ext cx="180675" cy="78754"/>
            </a:xfrm>
            <a:custGeom>
              <a:avLst/>
              <a:gdLst>
                <a:gd name="T0" fmla="*/ 135 w 172"/>
                <a:gd name="T1" fmla="*/ 72 h 73"/>
                <a:gd name="T2" fmla="*/ 135 w 172"/>
                <a:gd name="T3" fmla="*/ 72 h 73"/>
                <a:gd name="T4" fmla="*/ 36 w 172"/>
                <a:gd name="T5" fmla="*/ 72 h 73"/>
                <a:gd name="T6" fmla="*/ 0 w 172"/>
                <a:gd name="T7" fmla="*/ 36 h 73"/>
                <a:gd name="T8" fmla="*/ 0 w 172"/>
                <a:gd name="T9" fmla="*/ 36 h 73"/>
                <a:gd name="T10" fmla="*/ 36 w 172"/>
                <a:gd name="T11" fmla="*/ 0 h 73"/>
                <a:gd name="T12" fmla="*/ 135 w 172"/>
                <a:gd name="T13" fmla="*/ 0 h 73"/>
                <a:gd name="T14" fmla="*/ 171 w 172"/>
                <a:gd name="T15" fmla="*/ 36 h 73"/>
                <a:gd name="T16" fmla="*/ 171 w 172"/>
                <a:gd name="T17" fmla="*/ 36 h 73"/>
                <a:gd name="T18" fmla="*/ 135 w 172"/>
                <a:gd name="T19" fmla="*/ 7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2" h="73">
                  <a:moveTo>
                    <a:pt x="135" y="72"/>
                  </a:moveTo>
                  <a:lnTo>
                    <a:pt x="135" y="72"/>
                  </a:lnTo>
                  <a:cubicBezTo>
                    <a:pt x="36" y="72"/>
                    <a:pt x="36" y="72"/>
                    <a:pt x="36" y="72"/>
                  </a:cubicBezTo>
                  <a:cubicBezTo>
                    <a:pt x="18" y="72"/>
                    <a:pt x="0" y="54"/>
                    <a:pt x="0" y="36"/>
                  </a:cubicBezTo>
                  <a:lnTo>
                    <a:pt x="0" y="36"/>
                  </a:lnTo>
                  <a:cubicBezTo>
                    <a:pt x="0" y="18"/>
                    <a:pt x="18" y="0"/>
                    <a:pt x="36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53" y="0"/>
                    <a:pt x="171" y="18"/>
                    <a:pt x="171" y="36"/>
                  </a:cubicBezTo>
                  <a:lnTo>
                    <a:pt x="171" y="36"/>
                  </a:lnTo>
                  <a:cubicBezTo>
                    <a:pt x="171" y="54"/>
                    <a:pt x="153" y="72"/>
                    <a:pt x="135" y="72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41" name="Freeform 564">
              <a:extLst>
                <a:ext uri="{FF2B5EF4-FFF2-40B4-BE49-F238E27FC236}">
                  <a16:creationId xmlns:a16="http://schemas.microsoft.com/office/drawing/2014/main" id="{8C674B19-91F3-6743-AA0C-3B241BD88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2069" y="11026167"/>
              <a:ext cx="908000" cy="708798"/>
            </a:xfrm>
            <a:custGeom>
              <a:avLst/>
              <a:gdLst>
                <a:gd name="T0" fmla="*/ 738 w 865"/>
                <a:gd name="T1" fmla="*/ 674 h 675"/>
                <a:gd name="T2" fmla="*/ 738 w 865"/>
                <a:gd name="T3" fmla="*/ 674 h 675"/>
                <a:gd name="T4" fmla="*/ 126 w 865"/>
                <a:gd name="T5" fmla="*/ 674 h 675"/>
                <a:gd name="T6" fmla="*/ 0 w 865"/>
                <a:gd name="T7" fmla="*/ 539 h 675"/>
                <a:gd name="T8" fmla="*/ 0 w 865"/>
                <a:gd name="T9" fmla="*/ 135 h 675"/>
                <a:gd name="T10" fmla="*/ 126 w 865"/>
                <a:gd name="T11" fmla="*/ 0 h 675"/>
                <a:gd name="T12" fmla="*/ 738 w 865"/>
                <a:gd name="T13" fmla="*/ 0 h 675"/>
                <a:gd name="T14" fmla="*/ 864 w 865"/>
                <a:gd name="T15" fmla="*/ 135 h 675"/>
                <a:gd name="T16" fmla="*/ 864 w 865"/>
                <a:gd name="T17" fmla="*/ 539 h 675"/>
                <a:gd name="T18" fmla="*/ 738 w 865"/>
                <a:gd name="T19" fmla="*/ 674 h 675"/>
                <a:gd name="T20" fmla="*/ 126 w 865"/>
                <a:gd name="T21" fmla="*/ 72 h 675"/>
                <a:gd name="T22" fmla="*/ 126 w 865"/>
                <a:gd name="T23" fmla="*/ 72 h 675"/>
                <a:gd name="T24" fmla="*/ 63 w 865"/>
                <a:gd name="T25" fmla="*/ 135 h 675"/>
                <a:gd name="T26" fmla="*/ 63 w 865"/>
                <a:gd name="T27" fmla="*/ 539 h 675"/>
                <a:gd name="T28" fmla="*/ 126 w 865"/>
                <a:gd name="T29" fmla="*/ 602 h 675"/>
                <a:gd name="T30" fmla="*/ 738 w 865"/>
                <a:gd name="T31" fmla="*/ 602 h 675"/>
                <a:gd name="T32" fmla="*/ 801 w 865"/>
                <a:gd name="T33" fmla="*/ 539 h 675"/>
                <a:gd name="T34" fmla="*/ 801 w 865"/>
                <a:gd name="T35" fmla="*/ 135 h 675"/>
                <a:gd name="T36" fmla="*/ 738 w 865"/>
                <a:gd name="T37" fmla="*/ 72 h 675"/>
                <a:gd name="T38" fmla="*/ 126 w 865"/>
                <a:gd name="T39" fmla="*/ 72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5" h="675">
                  <a:moveTo>
                    <a:pt x="738" y="674"/>
                  </a:moveTo>
                  <a:lnTo>
                    <a:pt x="738" y="674"/>
                  </a:lnTo>
                  <a:cubicBezTo>
                    <a:pt x="126" y="674"/>
                    <a:pt x="126" y="674"/>
                    <a:pt x="126" y="674"/>
                  </a:cubicBezTo>
                  <a:cubicBezTo>
                    <a:pt x="54" y="674"/>
                    <a:pt x="0" y="611"/>
                    <a:pt x="0" y="539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63"/>
                    <a:pt x="54" y="0"/>
                    <a:pt x="126" y="0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810" y="0"/>
                    <a:pt x="864" y="63"/>
                    <a:pt x="864" y="135"/>
                  </a:cubicBezTo>
                  <a:cubicBezTo>
                    <a:pt x="864" y="539"/>
                    <a:pt x="864" y="539"/>
                    <a:pt x="864" y="539"/>
                  </a:cubicBezTo>
                  <a:cubicBezTo>
                    <a:pt x="864" y="611"/>
                    <a:pt x="810" y="674"/>
                    <a:pt x="738" y="674"/>
                  </a:cubicBezTo>
                  <a:close/>
                  <a:moveTo>
                    <a:pt x="126" y="72"/>
                  </a:moveTo>
                  <a:lnTo>
                    <a:pt x="126" y="72"/>
                  </a:lnTo>
                  <a:cubicBezTo>
                    <a:pt x="90" y="72"/>
                    <a:pt x="63" y="99"/>
                    <a:pt x="63" y="135"/>
                  </a:cubicBezTo>
                  <a:cubicBezTo>
                    <a:pt x="63" y="539"/>
                    <a:pt x="63" y="539"/>
                    <a:pt x="63" y="539"/>
                  </a:cubicBezTo>
                  <a:cubicBezTo>
                    <a:pt x="63" y="575"/>
                    <a:pt x="90" y="602"/>
                    <a:pt x="126" y="602"/>
                  </a:cubicBezTo>
                  <a:cubicBezTo>
                    <a:pt x="738" y="602"/>
                    <a:pt x="738" y="602"/>
                    <a:pt x="738" y="602"/>
                  </a:cubicBezTo>
                  <a:cubicBezTo>
                    <a:pt x="774" y="602"/>
                    <a:pt x="801" y="575"/>
                    <a:pt x="801" y="539"/>
                  </a:cubicBezTo>
                  <a:cubicBezTo>
                    <a:pt x="801" y="135"/>
                    <a:pt x="801" y="135"/>
                    <a:pt x="801" y="135"/>
                  </a:cubicBezTo>
                  <a:cubicBezTo>
                    <a:pt x="801" y="99"/>
                    <a:pt x="774" y="72"/>
                    <a:pt x="738" y="72"/>
                  </a:cubicBezTo>
                  <a:lnTo>
                    <a:pt x="126" y="7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 sz="90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142" name="CuadroTexto 395">
            <a:extLst>
              <a:ext uri="{FF2B5EF4-FFF2-40B4-BE49-F238E27FC236}">
                <a16:creationId xmlns:a16="http://schemas.microsoft.com/office/drawing/2014/main" id="{6D43BC17-7C98-CC40-BE63-06E050C77DB6}"/>
              </a:ext>
            </a:extLst>
          </p:cNvPr>
          <p:cNvSpPr txBox="1"/>
          <p:nvPr/>
        </p:nvSpPr>
        <p:spPr>
          <a:xfrm>
            <a:off x="3437435" y="1558402"/>
            <a:ext cx="2059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政經社會情勢掌握</a:t>
            </a:r>
            <a:endParaRPr lang="en-US" b="1" dirty="0">
              <a:solidFill>
                <a:schemeClr val="tx2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3" name="Rectangle 56">
            <a:extLst>
              <a:ext uri="{FF2B5EF4-FFF2-40B4-BE49-F238E27FC236}">
                <a16:creationId xmlns:a16="http://schemas.microsoft.com/office/drawing/2014/main" id="{2775377A-B0EC-9341-AA1E-8D8B44DCC635}"/>
              </a:ext>
            </a:extLst>
          </p:cNvPr>
          <p:cNvSpPr/>
          <p:nvPr/>
        </p:nvSpPr>
        <p:spPr>
          <a:xfrm>
            <a:off x="3531149" y="1908879"/>
            <a:ext cx="219916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政經社會情勢監測數據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機器預判系統</a:t>
            </a:r>
            <a:endParaRPr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人工預判</a:t>
            </a:r>
          </a:p>
        </p:txBody>
      </p:sp>
      <p:sp>
        <p:nvSpPr>
          <p:cNvPr id="144" name="CuadroTexto 395">
            <a:extLst>
              <a:ext uri="{FF2B5EF4-FFF2-40B4-BE49-F238E27FC236}">
                <a16:creationId xmlns:a16="http://schemas.microsoft.com/office/drawing/2014/main" id="{2B49603D-B728-1044-9B6A-0C6D7B2C3459}"/>
              </a:ext>
            </a:extLst>
          </p:cNvPr>
          <p:cNvSpPr txBox="1"/>
          <p:nvPr/>
        </p:nvSpPr>
        <p:spPr>
          <a:xfrm>
            <a:off x="5759267" y="1436994"/>
            <a:ext cx="1718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行銷活動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5" name="Rectangle 56">
            <a:extLst>
              <a:ext uri="{FF2B5EF4-FFF2-40B4-BE49-F238E27FC236}">
                <a16:creationId xmlns:a16="http://schemas.microsoft.com/office/drawing/2014/main" id="{2DB5AC69-30AE-B948-BD00-9F07ED5B2E57}"/>
              </a:ext>
            </a:extLst>
          </p:cNvPr>
          <p:cNvSpPr/>
          <p:nvPr/>
        </p:nvSpPr>
        <p:spPr>
          <a:xfrm>
            <a:off x="5716233" y="1765594"/>
            <a:ext cx="38280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分析客戶足跡</a:t>
            </a:r>
            <a:r>
              <a:rPr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,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依客戶愛好以做到客製化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利用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AI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演算法幫助客戶尋找準確的內容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利用</a:t>
            </a:r>
            <a:r>
              <a:rPr lang="en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AI</a:t>
            </a:r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創造準確的行銷文案，以及隨時更動文案</a:t>
            </a:r>
          </a:p>
        </p:txBody>
      </p:sp>
      <p:sp>
        <p:nvSpPr>
          <p:cNvPr id="146" name="CuadroTexto 395">
            <a:extLst>
              <a:ext uri="{FF2B5EF4-FFF2-40B4-BE49-F238E27FC236}">
                <a16:creationId xmlns:a16="http://schemas.microsoft.com/office/drawing/2014/main" id="{CB590ED0-C49D-714A-9DFB-7504D91FA76F}"/>
              </a:ext>
            </a:extLst>
          </p:cNvPr>
          <p:cNvSpPr txBox="1"/>
          <p:nvPr/>
        </p:nvSpPr>
        <p:spPr>
          <a:xfrm>
            <a:off x="6137104" y="5852571"/>
            <a:ext cx="1718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kumimoji="1"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商品擺放管理</a:t>
            </a:r>
            <a:endParaRPr 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7" name="Rectangle 56">
            <a:extLst>
              <a:ext uri="{FF2B5EF4-FFF2-40B4-BE49-F238E27FC236}">
                <a16:creationId xmlns:a16="http://schemas.microsoft.com/office/drawing/2014/main" id="{C45B4B87-C024-BF40-9981-715CBB54D2CC}"/>
              </a:ext>
            </a:extLst>
          </p:cNvPr>
          <p:cNvSpPr/>
          <p:nvPr/>
        </p:nvSpPr>
        <p:spPr>
          <a:xfrm>
            <a:off x="5934435" y="6158396"/>
            <a:ext cx="31440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分析不同商品擺在一起時的銷售量</a:t>
            </a:r>
          </a:p>
          <a:p>
            <a:r>
              <a:rPr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分析商店中哪裡是消費者最常從中拿取貨品的區域（黃金區段）</a:t>
            </a:r>
          </a:p>
        </p:txBody>
      </p:sp>
    </p:spTree>
    <p:extLst>
      <p:ext uri="{BB962C8B-B14F-4D97-AF65-F5344CB8AC3E}">
        <p14:creationId xmlns:p14="http://schemas.microsoft.com/office/powerpoint/2010/main" val="323968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664">
            <a:extLst>
              <a:ext uri="{FF2B5EF4-FFF2-40B4-BE49-F238E27FC236}">
                <a16:creationId xmlns:a16="http://schemas.microsoft.com/office/drawing/2014/main" id="{0F20F60A-3B90-7D47-A713-484C5B79898D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計劃架構圖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10" name="圓角矩形 4">
            <a:extLst>
              <a:ext uri="{FF2B5EF4-FFF2-40B4-BE49-F238E27FC236}">
                <a16:creationId xmlns:a16="http://schemas.microsoft.com/office/drawing/2014/main" id="{B2C63C42-70BF-6C4D-B086-99060521F4B0}"/>
              </a:ext>
            </a:extLst>
          </p:cNvPr>
          <p:cNvSpPr/>
          <p:nvPr/>
        </p:nvSpPr>
        <p:spPr>
          <a:xfrm>
            <a:off x="2879388" y="2596243"/>
            <a:ext cx="1964302" cy="996043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影響因素與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屬性界定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1" name="直線單箭頭接點 23">
            <a:extLst>
              <a:ext uri="{FF2B5EF4-FFF2-40B4-BE49-F238E27FC236}">
                <a16:creationId xmlns:a16="http://schemas.microsoft.com/office/drawing/2014/main" id="{72DF4235-2457-BD46-82F5-115E00892580}"/>
              </a:ext>
            </a:extLst>
          </p:cNvPr>
          <p:cNvCxnSpPr>
            <a:cxnSpLocks/>
          </p:cNvCxnSpPr>
          <p:nvPr/>
        </p:nvCxnSpPr>
        <p:spPr>
          <a:xfrm>
            <a:off x="4843690" y="3135086"/>
            <a:ext cx="514667" cy="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14" name="圓角矩形 6">
            <a:extLst>
              <a:ext uri="{FF2B5EF4-FFF2-40B4-BE49-F238E27FC236}">
                <a16:creationId xmlns:a16="http://schemas.microsoft.com/office/drawing/2014/main" id="{2C83F7CC-7739-5E44-A80A-6FDABF6A094C}"/>
              </a:ext>
            </a:extLst>
          </p:cNvPr>
          <p:cNvSpPr/>
          <p:nvPr/>
        </p:nvSpPr>
        <p:spPr>
          <a:xfrm>
            <a:off x="7532817" y="2547259"/>
            <a:ext cx="1959563" cy="1045027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TW" sz="2400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DS/</a:t>
            </a:r>
            <a:r>
              <a:rPr lang="en-US" altLang="zh-TW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AI</a:t>
            </a: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模型建立</a:t>
            </a:r>
          </a:p>
        </p:txBody>
      </p:sp>
      <p:sp>
        <p:nvSpPr>
          <p:cNvPr id="16" name="圓角矩形 6">
            <a:extLst>
              <a:ext uri="{FF2B5EF4-FFF2-40B4-BE49-F238E27FC236}">
                <a16:creationId xmlns:a16="http://schemas.microsoft.com/office/drawing/2014/main" id="{B0642520-CFD2-9846-84F2-71BCA48572DF}"/>
              </a:ext>
            </a:extLst>
          </p:cNvPr>
          <p:cNvSpPr/>
          <p:nvPr/>
        </p:nvSpPr>
        <p:spPr>
          <a:xfrm>
            <a:off x="5358356" y="2563587"/>
            <a:ext cx="1659795" cy="1028699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智能化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模式設計</a:t>
            </a:r>
          </a:p>
        </p:txBody>
      </p:sp>
      <p:sp>
        <p:nvSpPr>
          <p:cNvPr id="18" name="矩形: 圓角化對角角落 26">
            <a:extLst>
              <a:ext uri="{FF2B5EF4-FFF2-40B4-BE49-F238E27FC236}">
                <a16:creationId xmlns:a16="http://schemas.microsoft.com/office/drawing/2014/main" id="{B8BE04A4-607D-E948-A525-D598605EA08F}"/>
              </a:ext>
            </a:extLst>
          </p:cNvPr>
          <p:cNvSpPr/>
          <p:nvPr/>
        </p:nvSpPr>
        <p:spPr>
          <a:xfrm>
            <a:off x="2879448" y="4731878"/>
            <a:ext cx="991315" cy="509259"/>
          </a:xfrm>
          <a:prstGeom prst="round2Diag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內部</a:t>
            </a:r>
          </a:p>
        </p:txBody>
      </p:sp>
      <p:sp>
        <p:nvSpPr>
          <p:cNvPr id="19" name="矩形: 圓角化對角角落 27">
            <a:extLst>
              <a:ext uri="{FF2B5EF4-FFF2-40B4-BE49-F238E27FC236}">
                <a16:creationId xmlns:a16="http://schemas.microsoft.com/office/drawing/2014/main" id="{557305A3-C649-0D44-A013-7F2A760B9E6C}"/>
              </a:ext>
            </a:extLst>
          </p:cNvPr>
          <p:cNvSpPr/>
          <p:nvPr/>
        </p:nvSpPr>
        <p:spPr>
          <a:xfrm>
            <a:off x="4285160" y="4731879"/>
            <a:ext cx="991315" cy="509259"/>
          </a:xfrm>
          <a:prstGeom prst="round2Diag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外部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BF7BFEA-E155-6042-9FC9-F710834FA451}"/>
              </a:ext>
            </a:extLst>
          </p:cNvPr>
          <p:cNvCxnSpPr>
            <a:cxnSpLocks/>
            <a:stCxn id="10" idx="2"/>
            <a:endCxn id="18" idx="3"/>
          </p:cNvCxnSpPr>
          <p:nvPr/>
        </p:nvCxnSpPr>
        <p:spPr>
          <a:xfrm flipH="1">
            <a:off x="3375106" y="3592285"/>
            <a:ext cx="486434" cy="1139593"/>
          </a:xfrm>
          <a:prstGeom prst="lin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8FA1CD09-8DAF-3346-A9D1-2EC6810FD16D}"/>
              </a:ext>
            </a:extLst>
          </p:cNvPr>
          <p:cNvCxnSpPr>
            <a:cxnSpLocks/>
            <a:stCxn id="10" idx="2"/>
            <a:endCxn id="19" idx="3"/>
          </p:cNvCxnSpPr>
          <p:nvPr/>
        </p:nvCxnSpPr>
        <p:spPr>
          <a:xfrm>
            <a:off x="3861539" y="3592285"/>
            <a:ext cx="919279" cy="1139594"/>
          </a:xfrm>
          <a:prstGeom prst="lin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22" name="圓角矩形 6">
            <a:extLst>
              <a:ext uri="{FF2B5EF4-FFF2-40B4-BE49-F238E27FC236}">
                <a16:creationId xmlns:a16="http://schemas.microsoft.com/office/drawing/2014/main" id="{D38A36D2-27A0-2A45-8E7C-752C7AAF6847}"/>
              </a:ext>
            </a:extLst>
          </p:cNvPr>
          <p:cNvSpPr/>
          <p:nvPr/>
        </p:nvSpPr>
        <p:spPr>
          <a:xfrm>
            <a:off x="252201" y="2596243"/>
            <a:ext cx="2112521" cy="996043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TW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Domain</a:t>
            </a:r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定義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領域探討</a:t>
            </a:r>
          </a:p>
        </p:txBody>
      </p:sp>
      <p:cxnSp>
        <p:nvCxnSpPr>
          <p:cNvPr id="23" name="直線單箭頭接點 31">
            <a:extLst>
              <a:ext uri="{FF2B5EF4-FFF2-40B4-BE49-F238E27FC236}">
                <a16:creationId xmlns:a16="http://schemas.microsoft.com/office/drawing/2014/main" id="{F286F29C-07D2-DE46-8D83-8A98B449F137}"/>
              </a:ext>
            </a:extLst>
          </p:cNvPr>
          <p:cNvCxnSpPr>
            <a:cxnSpLocks/>
            <a:stCxn id="22" idx="3"/>
            <a:endCxn id="10" idx="1"/>
          </p:cNvCxnSpPr>
          <p:nvPr/>
        </p:nvCxnSpPr>
        <p:spPr>
          <a:xfrm>
            <a:off x="2364722" y="3094264"/>
            <a:ext cx="514667" cy="0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24" name="圓角矩形 6">
            <a:extLst>
              <a:ext uri="{FF2B5EF4-FFF2-40B4-BE49-F238E27FC236}">
                <a16:creationId xmlns:a16="http://schemas.microsoft.com/office/drawing/2014/main" id="{1E72C64F-8887-9940-8EBA-5E7CECE3C673}"/>
              </a:ext>
            </a:extLst>
          </p:cNvPr>
          <p:cNvSpPr/>
          <p:nvPr/>
        </p:nvSpPr>
        <p:spPr>
          <a:xfrm>
            <a:off x="10007045" y="2563587"/>
            <a:ext cx="1932754" cy="1061355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驗證</a:t>
            </a:r>
          </a:p>
        </p:txBody>
      </p:sp>
      <p:cxnSp>
        <p:nvCxnSpPr>
          <p:cNvPr id="25" name="直線單箭頭接點 33">
            <a:extLst>
              <a:ext uri="{FF2B5EF4-FFF2-40B4-BE49-F238E27FC236}">
                <a16:creationId xmlns:a16="http://schemas.microsoft.com/office/drawing/2014/main" id="{0D38BA9C-35DC-6444-B779-0DA69FC7EE6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9492380" y="3069772"/>
            <a:ext cx="514666" cy="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27" name="直線單箭頭接點 34">
            <a:extLst>
              <a:ext uri="{FF2B5EF4-FFF2-40B4-BE49-F238E27FC236}">
                <a16:creationId xmlns:a16="http://schemas.microsoft.com/office/drawing/2014/main" id="{834DD168-C30D-5140-9584-EBC98A446D7E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7018151" y="3069772"/>
            <a:ext cx="514667" cy="8164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0C1BF8A-6439-B847-AD9A-B77F40008E9A}"/>
              </a:ext>
            </a:extLst>
          </p:cNvPr>
          <p:cNvSpPr txBox="1"/>
          <p:nvPr/>
        </p:nvSpPr>
        <p:spPr>
          <a:xfrm>
            <a:off x="770976" y="3777361"/>
            <a:ext cx="1156956" cy="461665"/>
          </a:xfrm>
          <a:prstGeom prst="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AS IS</a:t>
            </a:r>
            <a:endParaRPr lang="zh-TW" altLang="en-US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43D767E-7868-A743-BB61-DDFB77A1635C}"/>
              </a:ext>
            </a:extLst>
          </p:cNvPr>
          <p:cNvSpPr txBox="1"/>
          <p:nvPr/>
        </p:nvSpPr>
        <p:spPr>
          <a:xfrm>
            <a:off x="5693513" y="3737535"/>
            <a:ext cx="1378346" cy="461665"/>
          </a:xfrm>
          <a:prstGeom prst="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TO BE</a:t>
            </a:r>
            <a:endParaRPr lang="zh-TW" altLang="en-US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767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187BFD65-216B-2A4C-B5A8-847329E39E8F}"/>
              </a:ext>
            </a:extLst>
          </p:cNvPr>
          <p:cNvGrpSpPr/>
          <p:nvPr/>
        </p:nvGrpSpPr>
        <p:grpSpPr>
          <a:xfrm>
            <a:off x="146335" y="1045029"/>
            <a:ext cx="11481196" cy="5485506"/>
            <a:chOff x="289494" y="811003"/>
            <a:chExt cx="21870621" cy="12250066"/>
          </a:xfrm>
        </p:grpSpPr>
        <p:sp>
          <p:nvSpPr>
            <p:cNvPr id="10" name="矩形: 圓角 1">
              <a:extLst>
                <a:ext uri="{FF2B5EF4-FFF2-40B4-BE49-F238E27FC236}">
                  <a16:creationId xmlns:a16="http://schemas.microsoft.com/office/drawing/2014/main" id="{BF8C0981-4910-874F-B0BB-924069121BBD}"/>
                </a:ext>
              </a:extLst>
            </p:cNvPr>
            <p:cNvSpPr/>
            <p:nvPr/>
          </p:nvSpPr>
          <p:spPr>
            <a:xfrm>
              <a:off x="1437346" y="2558747"/>
              <a:ext cx="8009240" cy="3648200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矩形: 圓角 23">
              <a:extLst>
                <a:ext uri="{FF2B5EF4-FFF2-40B4-BE49-F238E27FC236}">
                  <a16:creationId xmlns:a16="http://schemas.microsoft.com/office/drawing/2014/main" id="{85875A95-8F5E-7E4D-BEEC-174AE2208E54}"/>
                </a:ext>
              </a:extLst>
            </p:cNvPr>
            <p:cNvSpPr/>
            <p:nvPr/>
          </p:nvSpPr>
          <p:spPr>
            <a:xfrm>
              <a:off x="4515621" y="3488771"/>
              <a:ext cx="4688777" cy="2380438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BE4352B-EF11-014B-ABBE-0D6470FDBB1E}"/>
                </a:ext>
              </a:extLst>
            </p:cNvPr>
            <p:cNvSpPr/>
            <p:nvPr/>
          </p:nvSpPr>
          <p:spPr>
            <a:xfrm>
              <a:off x="13398055" y="5307233"/>
              <a:ext cx="8762060" cy="6956930"/>
            </a:xfrm>
            <a:prstGeom prst="ellipse">
              <a:avLst/>
            </a:prstGeom>
            <a:ln w="38100">
              <a:solidFill>
                <a:schemeClr val="tx1"/>
              </a:solidFill>
              <a:prstDash val="dash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37AFCB52-6BA5-FA4A-A69F-19C31784AF35}"/>
                </a:ext>
              </a:extLst>
            </p:cNvPr>
            <p:cNvSpPr/>
            <p:nvPr/>
          </p:nvSpPr>
          <p:spPr>
            <a:xfrm>
              <a:off x="13398056" y="5611960"/>
              <a:ext cx="8219335" cy="6123447"/>
            </a:xfrm>
            <a:prstGeom prst="ellipse">
              <a:avLst/>
            </a:prstGeom>
            <a:ln w="38100">
              <a:solidFill>
                <a:schemeClr val="tx1"/>
              </a:solidFill>
              <a:prstDash val="dash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8D70121F-8526-444E-A14E-1D75F4DCF6FC}"/>
                </a:ext>
              </a:extLst>
            </p:cNvPr>
            <p:cNvSpPr/>
            <p:nvPr/>
          </p:nvSpPr>
          <p:spPr>
            <a:xfrm>
              <a:off x="13526042" y="5167598"/>
              <a:ext cx="8634073" cy="6909644"/>
            </a:xfrm>
            <a:prstGeom prst="ellipse">
              <a:avLst/>
            </a:prstGeom>
            <a:ln w="38100">
              <a:solidFill>
                <a:schemeClr val="tx1"/>
              </a:solidFill>
              <a:prstDash val="dash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矩形: 圓角 22">
              <a:extLst>
                <a:ext uri="{FF2B5EF4-FFF2-40B4-BE49-F238E27FC236}">
                  <a16:creationId xmlns:a16="http://schemas.microsoft.com/office/drawing/2014/main" id="{41ECAAA5-BE56-8440-A915-DDCE8747FEB0}"/>
                </a:ext>
              </a:extLst>
            </p:cNvPr>
            <p:cNvSpPr/>
            <p:nvPr/>
          </p:nvSpPr>
          <p:spPr>
            <a:xfrm>
              <a:off x="10642382" y="811003"/>
              <a:ext cx="2816561" cy="3225559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矩形: 圓角 23">
              <a:extLst>
                <a:ext uri="{FF2B5EF4-FFF2-40B4-BE49-F238E27FC236}">
                  <a16:creationId xmlns:a16="http://schemas.microsoft.com/office/drawing/2014/main" id="{09D4570A-983A-5C4F-A14D-9D7060782C37}"/>
                </a:ext>
              </a:extLst>
            </p:cNvPr>
            <p:cNvSpPr/>
            <p:nvPr/>
          </p:nvSpPr>
          <p:spPr>
            <a:xfrm>
              <a:off x="1883853" y="3557284"/>
              <a:ext cx="2414887" cy="2117488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矩形: 圓角 21">
              <a:extLst>
                <a:ext uri="{FF2B5EF4-FFF2-40B4-BE49-F238E27FC236}">
                  <a16:creationId xmlns:a16="http://schemas.microsoft.com/office/drawing/2014/main" id="{F0758343-C454-B644-AE43-CF57CFDE3849}"/>
                </a:ext>
              </a:extLst>
            </p:cNvPr>
            <p:cNvSpPr/>
            <p:nvPr/>
          </p:nvSpPr>
          <p:spPr>
            <a:xfrm>
              <a:off x="19066891" y="7533282"/>
              <a:ext cx="2427332" cy="2914189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矩形: 圓角 20">
              <a:extLst>
                <a:ext uri="{FF2B5EF4-FFF2-40B4-BE49-F238E27FC236}">
                  <a16:creationId xmlns:a16="http://schemas.microsoft.com/office/drawing/2014/main" id="{5D7578A6-F978-F24C-B36E-496683CA3B0B}"/>
                </a:ext>
              </a:extLst>
            </p:cNvPr>
            <p:cNvSpPr/>
            <p:nvPr/>
          </p:nvSpPr>
          <p:spPr>
            <a:xfrm>
              <a:off x="16225776" y="7500723"/>
              <a:ext cx="2414889" cy="3332914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矩形: 圓角 6">
              <a:extLst>
                <a:ext uri="{FF2B5EF4-FFF2-40B4-BE49-F238E27FC236}">
                  <a16:creationId xmlns:a16="http://schemas.microsoft.com/office/drawing/2014/main" id="{1D9FC3F7-BABF-514E-BF03-09E60AA7B050}"/>
                </a:ext>
              </a:extLst>
            </p:cNvPr>
            <p:cNvSpPr/>
            <p:nvPr/>
          </p:nvSpPr>
          <p:spPr>
            <a:xfrm>
              <a:off x="16447668" y="7630727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商品價格</a:t>
              </a:r>
            </a:p>
          </p:txBody>
        </p:sp>
        <p:sp>
          <p:nvSpPr>
            <p:cNvPr id="24" name="矩形: 圓角 7">
              <a:extLst>
                <a:ext uri="{FF2B5EF4-FFF2-40B4-BE49-F238E27FC236}">
                  <a16:creationId xmlns:a16="http://schemas.microsoft.com/office/drawing/2014/main" id="{17506D28-CF28-BB44-85F9-3D8E5661EBED}"/>
                </a:ext>
              </a:extLst>
            </p:cNvPr>
            <p:cNvSpPr/>
            <p:nvPr/>
          </p:nvSpPr>
          <p:spPr>
            <a:xfrm>
              <a:off x="19327709" y="8532854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廣告</a:t>
              </a:r>
            </a:p>
          </p:txBody>
        </p:sp>
        <p:sp>
          <p:nvSpPr>
            <p:cNvPr id="25" name="矩形: 圓角 8">
              <a:extLst>
                <a:ext uri="{FF2B5EF4-FFF2-40B4-BE49-F238E27FC236}">
                  <a16:creationId xmlns:a16="http://schemas.microsoft.com/office/drawing/2014/main" id="{1E62559A-B027-224A-B9EE-099E6FF1F16F}"/>
                </a:ext>
              </a:extLst>
            </p:cNvPr>
            <p:cNvSpPr/>
            <p:nvPr/>
          </p:nvSpPr>
          <p:spPr>
            <a:xfrm>
              <a:off x="19286258" y="7645949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促銷方案</a:t>
              </a:r>
            </a:p>
          </p:txBody>
        </p:sp>
        <p:sp>
          <p:nvSpPr>
            <p:cNvPr id="27" name="矩形: 圓角 10">
              <a:extLst>
                <a:ext uri="{FF2B5EF4-FFF2-40B4-BE49-F238E27FC236}">
                  <a16:creationId xmlns:a16="http://schemas.microsoft.com/office/drawing/2014/main" id="{C422138B-31BE-A548-BF01-925D6A23D7A5}"/>
                </a:ext>
              </a:extLst>
            </p:cNvPr>
            <p:cNvSpPr/>
            <p:nvPr/>
          </p:nvSpPr>
          <p:spPr>
            <a:xfrm>
              <a:off x="14094089" y="8685152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商品擺放位置</a:t>
              </a:r>
            </a:p>
          </p:txBody>
        </p:sp>
        <p:sp>
          <p:nvSpPr>
            <p:cNvPr id="28" name="矩形: 圓角 11">
              <a:extLst>
                <a:ext uri="{FF2B5EF4-FFF2-40B4-BE49-F238E27FC236}">
                  <a16:creationId xmlns:a16="http://schemas.microsoft.com/office/drawing/2014/main" id="{FFB7272E-0857-2946-9E99-5039AB1937AD}"/>
                </a:ext>
              </a:extLst>
            </p:cNvPr>
            <p:cNvSpPr/>
            <p:nvPr/>
          </p:nvSpPr>
          <p:spPr>
            <a:xfrm>
              <a:off x="10884909" y="950912"/>
              <a:ext cx="1946481" cy="91513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商家特性</a:t>
              </a:r>
              <a:r>
                <a:rPr lang="en-US" altLang="zh-TW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種類</a:t>
              </a:r>
              <a:r>
                <a:rPr lang="en-US" altLang="zh-TW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矩形: 圓角 12">
              <a:extLst>
                <a:ext uri="{FF2B5EF4-FFF2-40B4-BE49-F238E27FC236}">
                  <a16:creationId xmlns:a16="http://schemas.microsoft.com/office/drawing/2014/main" id="{D6960168-89ED-9E43-BF30-DCC9B2F87C63}"/>
                </a:ext>
              </a:extLst>
            </p:cNvPr>
            <p:cNvSpPr/>
            <p:nvPr/>
          </p:nvSpPr>
          <p:spPr>
            <a:xfrm>
              <a:off x="10884909" y="1989318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商圈特性</a:t>
              </a:r>
            </a:p>
          </p:txBody>
        </p:sp>
        <p:sp>
          <p:nvSpPr>
            <p:cNvPr id="30" name="矩形: 圓角 13">
              <a:extLst>
                <a:ext uri="{FF2B5EF4-FFF2-40B4-BE49-F238E27FC236}">
                  <a16:creationId xmlns:a16="http://schemas.microsoft.com/office/drawing/2014/main" id="{7B9CF027-93DE-2548-97C7-AFECAAF6EB9C}"/>
                </a:ext>
              </a:extLst>
            </p:cNvPr>
            <p:cNvSpPr/>
            <p:nvPr/>
          </p:nvSpPr>
          <p:spPr>
            <a:xfrm>
              <a:off x="2126380" y="4788615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氣候</a:t>
              </a:r>
            </a:p>
          </p:txBody>
        </p:sp>
        <p:sp>
          <p:nvSpPr>
            <p:cNvPr id="31" name="矩形: 圓角 14">
              <a:extLst>
                <a:ext uri="{FF2B5EF4-FFF2-40B4-BE49-F238E27FC236}">
                  <a16:creationId xmlns:a16="http://schemas.microsoft.com/office/drawing/2014/main" id="{1E5F8B29-7B9F-4E45-B8FE-7CA408E74BB5}"/>
                </a:ext>
              </a:extLst>
            </p:cNvPr>
            <p:cNvSpPr/>
            <p:nvPr/>
          </p:nvSpPr>
          <p:spPr>
            <a:xfrm>
              <a:off x="2126380" y="3696978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天氣</a:t>
              </a:r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矩形: 圓角 16">
              <a:extLst>
                <a:ext uri="{FF2B5EF4-FFF2-40B4-BE49-F238E27FC236}">
                  <a16:creationId xmlns:a16="http://schemas.microsoft.com/office/drawing/2014/main" id="{3AD3D652-8EDE-3D49-9B0F-EE10146652C7}"/>
                </a:ext>
              </a:extLst>
            </p:cNvPr>
            <p:cNvSpPr/>
            <p:nvPr/>
          </p:nvSpPr>
          <p:spPr>
            <a:xfrm>
              <a:off x="16447668" y="8679040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商品壽命</a:t>
              </a:r>
            </a:p>
          </p:txBody>
        </p:sp>
        <p:sp>
          <p:nvSpPr>
            <p:cNvPr id="33" name="矩形: 圓角 17">
              <a:extLst>
                <a:ext uri="{FF2B5EF4-FFF2-40B4-BE49-F238E27FC236}">
                  <a16:creationId xmlns:a16="http://schemas.microsoft.com/office/drawing/2014/main" id="{7BB511EA-E888-9045-9B11-E98C99FB7C76}"/>
                </a:ext>
              </a:extLst>
            </p:cNvPr>
            <p:cNvSpPr/>
            <p:nvPr/>
          </p:nvSpPr>
          <p:spPr>
            <a:xfrm>
              <a:off x="16447668" y="9774994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樣式類型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EE0B4881-2AB5-4141-8AAD-889282D03CEF}"/>
                </a:ext>
              </a:extLst>
            </p:cNvPr>
            <p:cNvSpPr txBox="1"/>
            <p:nvPr/>
          </p:nvSpPr>
          <p:spPr>
            <a:xfrm>
              <a:off x="15119450" y="6056218"/>
              <a:ext cx="4180953" cy="82478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(</a:t>
              </a:r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各店</a:t>
              </a:r>
              <a:r>
                <a: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)</a:t>
              </a:r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內部影響因素</a:t>
              </a: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AA3E80DF-E45E-F240-B7DE-381ED526BA30}"/>
                </a:ext>
              </a:extLst>
            </p:cNvPr>
            <p:cNvSpPr txBox="1"/>
            <p:nvPr/>
          </p:nvSpPr>
          <p:spPr>
            <a:xfrm>
              <a:off x="3575312" y="2611400"/>
              <a:ext cx="2990058" cy="82478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外部影響因素</a:t>
              </a:r>
            </a:p>
          </p:txBody>
        </p:sp>
        <p:sp>
          <p:nvSpPr>
            <p:cNvPr id="36" name="矩形: 圓角 24">
              <a:extLst>
                <a:ext uri="{FF2B5EF4-FFF2-40B4-BE49-F238E27FC236}">
                  <a16:creationId xmlns:a16="http://schemas.microsoft.com/office/drawing/2014/main" id="{863E8730-279B-854E-A69F-BFBCC8FA8EC8}"/>
                </a:ext>
              </a:extLst>
            </p:cNvPr>
            <p:cNvSpPr/>
            <p:nvPr/>
          </p:nvSpPr>
          <p:spPr>
            <a:xfrm>
              <a:off x="16802739" y="1281097"/>
              <a:ext cx="1946481" cy="92309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事件</a:t>
              </a:r>
            </a:p>
          </p:txBody>
        </p:sp>
        <p:sp>
          <p:nvSpPr>
            <p:cNvPr id="37" name="矩形: 圓角 25">
              <a:extLst>
                <a:ext uri="{FF2B5EF4-FFF2-40B4-BE49-F238E27FC236}">
                  <a16:creationId xmlns:a16="http://schemas.microsoft.com/office/drawing/2014/main" id="{1597E27E-1C37-7344-B100-9F841F00BE09}"/>
                </a:ext>
              </a:extLst>
            </p:cNvPr>
            <p:cNvSpPr/>
            <p:nvPr/>
          </p:nvSpPr>
          <p:spPr>
            <a:xfrm>
              <a:off x="7065510" y="3655235"/>
              <a:ext cx="1979132" cy="989396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口碑</a:t>
              </a:r>
            </a:p>
          </p:txBody>
        </p:sp>
        <p:cxnSp>
          <p:nvCxnSpPr>
            <p:cNvPr id="38" name="直線單箭頭接點 67">
              <a:extLst>
                <a:ext uri="{FF2B5EF4-FFF2-40B4-BE49-F238E27FC236}">
                  <a16:creationId xmlns:a16="http://schemas.microsoft.com/office/drawing/2014/main" id="{6B784DDC-6BD6-874F-9267-8125B1306794}"/>
                </a:ext>
              </a:extLst>
            </p:cNvPr>
            <p:cNvCxnSpPr>
              <a:cxnSpLocks/>
              <a:stCxn id="10" idx="3"/>
              <a:endCxn id="18" idx="1"/>
            </p:cNvCxnSpPr>
            <p:nvPr/>
          </p:nvCxnSpPr>
          <p:spPr>
            <a:xfrm>
              <a:off x="9446586" y="4382848"/>
              <a:ext cx="5343886" cy="179664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23EF1E5-DAAA-D947-8329-BDE9390C5857}"/>
                </a:ext>
              </a:extLst>
            </p:cNvPr>
            <p:cNvSpPr/>
            <p:nvPr/>
          </p:nvSpPr>
          <p:spPr>
            <a:xfrm>
              <a:off x="10594469" y="4722826"/>
              <a:ext cx="3478630" cy="75604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>
              <a:spAutoFit/>
            </a:bodyPr>
            <a:lstStyle/>
            <a:p>
              <a:r>
                <a:rPr lang="zh-TW" altLang="en-US" sz="16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銷售影響程度分析</a:t>
              </a:r>
            </a:p>
          </p:txBody>
        </p:sp>
        <p:sp>
          <p:nvSpPr>
            <p:cNvPr id="40" name="矩形: 圓角 25">
              <a:extLst>
                <a:ext uri="{FF2B5EF4-FFF2-40B4-BE49-F238E27FC236}">
                  <a16:creationId xmlns:a16="http://schemas.microsoft.com/office/drawing/2014/main" id="{2D657EC3-3B04-784F-B1D9-8D9ABF12E427}"/>
                </a:ext>
              </a:extLst>
            </p:cNvPr>
            <p:cNvSpPr/>
            <p:nvPr/>
          </p:nvSpPr>
          <p:spPr>
            <a:xfrm>
              <a:off x="4775492" y="4782263"/>
              <a:ext cx="1946481" cy="916093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競爭者</a:t>
              </a:r>
            </a:p>
          </p:txBody>
        </p:sp>
        <p:sp>
          <p:nvSpPr>
            <p:cNvPr id="41" name="矩形: 圓角 24">
              <a:extLst>
                <a:ext uri="{FF2B5EF4-FFF2-40B4-BE49-F238E27FC236}">
                  <a16:creationId xmlns:a16="http://schemas.microsoft.com/office/drawing/2014/main" id="{D28F895C-A2DC-5443-AD0C-E65EA2B53307}"/>
                </a:ext>
              </a:extLst>
            </p:cNvPr>
            <p:cNvSpPr/>
            <p:nvPr/>
          </p:nvSpPr>
          <p:spPr>
            <a:xfrm>
              <a:off x="7098161" y="4782263"/>
              <a:ext cx="1946481" cy="943234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替代性</a:t>
              </a:r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</a:t>
              </a:r>
            </a:p>
          </p:txBody>
        </p:sp>
        <p:sp>
          <p:nvSpPr>
            <p:cNvPr id="42" name="矩形: 圓角 27">
              <a:extLst>
                <a:ext uri="{FF2B5EF4-FFF2-40B4-BE49-F238E27FC236}">
                  <a16:creationId xmlns:a16="http://schemas.microsoft.com/office/drawing/2014/main" id="{96FB27CA-6F33-3042-809F-A6746CDD48A1}"/>
                </a:ext>
              </a:extLst>
            </p:cNvPr>
            <p:cNvSpPr/>
            <p:nvPr/>
          </p:nvSpPr>
          <p:spPr>
            <a:xfrm>
              <a:off x="5448589" y="7247769"/>
              <a:ext cx="5228814" cy="3315456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25B8DE9C-60E2-3543-9028-4E2AF3A01F6F}"/>
                </a:ext>
              </a:extLst>
            </p:cNvPr>
            <p:cNvSpPr txBox="1"/>
            <p:nvPr/>
          </p:nvSpPr>
          <p:spPr>
            <a:xfrm>
              <a:off x="7161565" y="7523697"/>
              <a:ext cx="1670915" cy="82478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競爭者</a:t>
              </a:r>
            </a:p>
          </p:txBody>
        </p:sp>
        <p:sp>
          <p:nvSpPr>
            <p:cNvPr id="44" name="矩形: 圓角 29">
              <a:extLst>
                <a:ext uri="{FF2B5EF4-FFF2-40B4-BE49-F238E27FC236}">
                  <a16:creationId xmlns:a16="http://schemas.microsoft.com/office/drawing/2014/main" id="{1DFC38C4-654A-4241-B651-CB2A934E1291}"/>
                </a:ext>
              </a:extLst>
            </p:cNvPr>
            <p:cNvSpPr/>
            <p:nvPr/>
          </p:nvSpPr>
          <p:spPr>
            <a:xfrm>
              <a:off x="5932925" y="8401070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聲量大小</a:t>
              </a:r>
            </a:p>
          </p:txBody>
        </p:sp>
        <p:sp>
          <p:nvSpPr>
            <p:cNvPr id="45" name="矩形: 圓角 35">
              <a:extLst>
                <a:ext uri="{FF2B5EF4-FFF2-40B4-BE49-F238E27FC236}">
                  <a16:creationId xmlns:a16="http://schemas.microsoft.com/office/drawing/2014/main" id="{E96D8AE9-78E4-494B-8A91-358B225509A0}"/>
                </a:ext>
              </a:extLst>
            </p:cNvPr>
            <p:cNvSpPr/>
            <p:nvPr/>
          </p:nvSpPr>
          <p:spPr>
            <a:xfrm>
              <a:off x="8169944" y="9483402"/>
              <a:ext cx="1946481" cy="862039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正負面</a:t>
              </a:r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影響</a:t>
              </a:r>
            </a:p>
          </p:txBody>
        </p:sp>
        <p:sp>
          <p:nvSpPr>
            <p:cNvPr id="46" name="矩形: 圓角 53">
              <a:extLst>
                <a:ext uri="{FF2B5EF4-FFF2-40B4-BE49-F238E27FC236}">
                  <a16:creationId xmlns:a16="http://schemas.microsoft.com/office/drawing/2014/main" id="{A414A34D-2C6C-6647-B96E-BDF45ABBC6A8}"/>
                </a:ext>
              </a:extLst>
            </p:cNvPr>
            <p:cNvSpPr/>
            <p:nvPr/>
          </p:nvSpPr>
          <p:spPr>
            <a:xfrm>
              <a:off x="8169944" y="8409486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影響時間</a:t>
              </a:r>
            </a:p>
          </p:txBody>
        </p:sp>
        <p:sp>
          <p:nvSpPr>
            <p:cNvPr id="47" name="矩形: 圓角 77">
              <a:extLst>
                <a:ext uri="{FF2B5EF4-FFF2-40B4-BE49-F238E27FC236}">
                  <a16:creationId xmlns:a16="http://schemas.microsoft.com/office/drawing/2014/main" id="{94B08F6F-86A4-0141-9E51-1FE049A8515F}"/>
                </a:ext>
              </a:extLst>
            </p:cNvPr>
            <p:cNvSpPr/>
            <p:nvPr/>
          </p:nvSpPr>
          <p:spPr>
            <a:xfrm>
              <a:off x="5932925" y="9459391"/>
              <a:ext cx="2145511" cy="886050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市占率</a:t>
              </a:r>
            </a:p>
          </p:txBody>
        </p:sp>
        <p:sp>
          <p:nvSpPr>
            <p:cNvPr id="48" name="矩形: 圓角 27">
              <a:extLst>
                <a:ext uri="{FF2B5EF4-FFF2-40B4-BE49-F238E27FC236}">
                  <a16:creationId xmlns:a16="http://schemas.microsoft.com/office/drawing/2014/main" id="{88E785E9-C701-2D42-BF7D-8F7E7B5DD09A}"/>
                </a:ext>
              </a:extLst>
            </p:cNvPr>
            <p:cNvSpPr/>
            <p:nvPr/>
          </p:nvSpPr>
          <p:spPr>
            <a:xfrm>
              <a:off x="6822824" y="11850730"/>
              <a:ext cx="2462229" cy="1210339"/>
            </a:xfrm>
            <a:prstGeom prst="roundRect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F66F5C59-85D4-C74C-8B99-3DBDA5B7C116}"/>
                </a:ext>
              </a:extLst>
            </p:cNvPr>
            <p:cNvSpPr txBox="1"/>
            <p:nvPr/>
          </p:nvSpPr>
          <p:spPr>
            <a:xfrm>
              <a:off x="7442791" y="12077244"/>
              <a:ext cx="1231201" cy="82478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同業</a:t>
              </a:r>
            </a:p>
          </p:txBody>
        </p:sp>
        <p:cxnSp>
          <p:nvCxnSpPr>
            <p:cNvPr id="50" name="直線單箭頭接點 56">
              <a:extLst>
                <a:ext uri="{FF2B5EF4-FFF2-40B4-BE49-F238E27FC236}">
                  <a16:creationId xmlns:a16="http://schemas.microsoft.com/office/drawing/2014/main" id="{ABF7FED7-3D5F-8C4A-B584-4AB5899EC1AA}"/>
                </a:ext>
              </a:extLst>
            </p:cNvPr>
            <p:cNvCxnSpPr>
              <a:endCxn id="42" idx="2"/>
            </p:cNvCxnSpPr>
            <p:nvPr/>
          </p:nvCxnSpPr>
          <p:spPr>
            <a:xfrm flipH="1" flipV="1">
              <a:off x="8062997" y="10563226"/>
              <a:ext cx="15438" cy="12875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46AD7D60-E70F-FD4D-B5D4-9799E6FE8FA0}"/>
                </a:ext>
              </a:extLst>
            </p:cNvPr>
            <p:cNvSpPr/>
            <p:nvPr/>
          </p:nvSpPr>
          <p:spPr>
            <a:xfrm>
              <a:off x="6714104" y="11089187"/>
              <a:ext cx="2696915" cy="75604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wrap="none">
              <a:spAutoFit/>
            </a:bodyPr>
            <a:lstStyle/>
            <a:p>
              <a:r>
                <a:rPr lang="zh-TW" altLang="en-US" sz="16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競爭關係分析</a:t>
              </a:r>
            </a:p>
          </p:txBody>
        </p:sp>
        <p:cxnSp>
          <p:nvCxnSpPr>
            <p:cNvPr id="52" name="直線單箭頭接點 58">
              <a:extLst>
                <a:ext uri="{FF2B5EF4-FFF2-40B4-BE49-F238E27FC236}">
                  <a16:creationId xmlns:a16="http://schemas.microsoft.com/office/drawing/2014/main" id="{D2CBB8FE-2EDA-E14F-A8F8-112891618682}"/>
                </a:ext>
              </a:extLst>
            </p:cNvPr>
            <p:cNvCxnSpPr>
              <a:cxnSpLocks/>
              <a:stCxn id="40" idx="2"/>
              <a:endCxn id="42" idx="0"/>
            </p:cNvCxnSpPr>
            <p:nvPr/>
          </p:nvCxnSpPr>
          <p:spPr>
            <a:xfrm>
              <a:off x="5748734" y="5698356"/>
              <a:ext cx="2314263" cy="15494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矩形: 圓角 14">
              <a:extLst>
                <a:ext uri="{FF2B5EF4-FFF2-40B4-BE49-F238E27FC236}">
                  <a16:creationId xmlns:a16="http://schemas.microsoft.com/office/drawing/2014/main" id="{2838C3DD-86A7-D64D-B673-D892380591A2}"/>
                </a:ext>
              </a:extLst>
            </p:cNvPr>
            <p:cNvSpPr/>
            <p:nvPr/>
          </p:nvSpPr>
          <p:spPr>
            <a:xfrm>
              <a:off x="14043626" y="7631615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新品上市</a:t>
              </a:r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4" name="矩形: 圓角 12">
              <a:extLst>
                <a:ext uri="{FF2B5EF4-FFF2-40B4-BE49-F238E27FC236}">
                  <a16:creationId xmlns:a16="http://schemas.microsoft.com/office/drawing/2014/main" id="{F095E955-60AF-9C49-BFF1-FFED9E89ABF9}"/>
                </a:ext>
              </a:extLst>
            </p:cNvPr>
            <p:cNvSpPr/>
            <p:nvPr/>
          </p:nvSpPr>
          <p:spPr>
            <a:xfrm>
              <a:off x="10860091" y="3015099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消費者特性</a:t>
              </a:r>
            </a:p>
          </p:txBody>
        </p:sp>
        <p:cxnSp>
          <p:nvCxnSpPr>
            <p:cNvPr id="55" name="直線單箭頭接點 82">
              <a:extLst>
                <a:ext uri="{FF2B5EF4-FFF2-40B4-BE49-F238E27FC236}">
                  <a16:creationId xmlns:a16="http://schemas.microsoft.com/office/drawing/2014/main" id="{88A0C286-4112-A347-96B9-1FFF60AB4193}"/>
                </a:ext>
              </a:extLst>
            </p:cNvPr>
            <p:cNvCxnSpPr>
              <a:cxnSpLocks/>
            </p:cNvCxnSpPr>
            <p:nvPr/>
          </p:nvCxnSpPr>
          <p:spPr>
            <a:xfrm>
              <a:off x="11841742" y="3958446"/>
              <a:ext cx="2995254" cy="20977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矩形: 圓角 7">
              <a:extLst>
                <a:ext uri="{FF2B5EF4-FFF2-40B4-BE49-F238E27FC236}">
                  <a16:creationId xmlns:a16="http://schemas.microsoft.com/office/drawing/2014/main" id="{98C215C4-EB72-344D-A12D-4CF3FF27321E}"/>
                </a:ext>
              </a:extLst>
            </p:cNvPr>
            <p:cNvSpPr/>
            <p:nvPr/>
          </p:nvSpPr>
          <p:spPr>
            <a:xfrm>
              <a:off x="14094089" y="9758101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節慶</a:t>
              </a:r>
            </a:p>
          </p:txBody>
        </p:sp>
        <p:sp>
          <p:nvSpPr>
            <p:cNvPr id="57" name="矩形: 圓角 7">
              <a:extLst>
                <a:ext uri="{FF2B5EF4-FFF2-40B4-BE49-F238E27FC236}">
                  <a16:creationId xmlns:a16="http://schemas.microsoft.com/office/drawing/2014/main" id="{1DFCB968-A3D6-EF4D-A852-C09C8EEB847B}"/>
                </a:ext>
              </a:extLst>
            </p:cNvPr>
            <p:cNvSpPr/>
            <p:nvPr/>
          </p:nvSpPr>
          <p:spPr>
            <a:xfrm>
              <a:off x="19327709" y="9485838"/>
              <a:ext cx="1946481" cy="7742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行銷方法</a:t>
              </a:r>
            </a:p>
          </p:txBody>
        </p:sp>
        <p:sp>
          <p:nvSpPr>
            <p:cNvPr id="58" name="矩形: 圓角 40">
              <a:extLst>
                <a:ext uri="{FF2B5EF4-FFF2-40B4-BE49-F238E27FC236}">
                  <a16:creationId xmlns:a16="http://schemas.microsoft.com/office/drawing/2014/main" id="{C9135E68-04F0-824C-A475-F52A974B225F}"/>
                </a:ext>
              </a:extLst>
            </p:cNvPr>
            <p:cNvSpPr/>
            <p:nvPr/>
          </p:nvSpPr>
          <p:spPr>
            <a:xfrm>
              <a:off x="289494" y="7518997"/>
              <a:ext cx="3243517" cy="529671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836A5B4F-9A7E-DC41-8DC3-5BE587290188}"/>
                </a:ext>
              </a:extLst>
            </p:cNvPr>
            <p:cNvSpPr txBox="1"/>
            <p:nvPr/>
          </p:nvSpPr>
          <p:spPr>
            <a:xfrm>
              <a:off x="327552" y="6903604"/>
              <a:ext cx="3659212" cy="68731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銷售影響程度分析</a:t>
              </a:r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FDE4C41A-80F7-7A4D-ABFF-58B914190AC8}"/>
                </a:ext>
              </a:extLst>
            </p:cNvPr>
            <p:cNvSpPr/>
            <p:nvPr/>
          </p:nvSpPr>
          <p:spPr>
            <a:xfrm>
              <a:off x="482783" y="7809790"/>
              <a:ext cx="2707605" cy="936808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影響大小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關聯性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3395643D-4133-3047-A2B7-C4CB2DE5608F}"/>
                </a:ext>
              </a:extLst>
            </p:cNvPr>
            <p:cNvSpPr/>
            <p:nvPr/>
          </p:nvSpPr>
          <p:spPr>
            <a:xfrm>
              <a:off x="503894" y="8990987"/>
              <a:ext cx="2707605" cy="767114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影響時間</a:t>
              </a:r>
            </a:p>
          </p:txBody>
        </p: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A54075C1-EB22-A04F-9375-170C129BDE9C}"/>
                </a:ext>
              </a:extLst>
            </p:cNvPr>
            <p:cNvSpPr/>
            <p:nvPr/>
          </p:nvSpPr>
          <p:spPr>
            <a:xfrm>
              <a:off x="503894" y="10000923"/>
              <a:ext cx="2707605" cy="845436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影響範圍</a:t>
              </a:r>
            </a:p>
          </p:txBody>
        </p:sp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9CB9CE72-B829-AB45-B2BE-75146560E878}"/>
                </a:ext>
              </a:extLst>
            </p:cNvPr>
            <p:cNvSpPr/>
            <p:nvPr/>
          </p:nvSpPr>
          <p:spPr>
            <a:xfrm>
              <a:off x="475991" y="11089184"/>
              <a:ext cx="2707605" cy="1343490"/>
            </a:xfrm>
            <a:prstGeom prst="ellips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對市場正負面影響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極性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CCAD4D78-B3BF-004F-9E95-D07F5A936A2D}"/>
                </a:ext>
              </a:extLst>
            </p:cNvPr>
            <p:cNvSpPr txBox="1"/>
            <p:nvPr/>
          </p:nvSpPr>
          <p:spPr>
            <a:xfrm>
              <a:off x="16826028" y="6806722"/>
              <a:ext cx="1133487" cy="75604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</a:t>
              </a: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4B8280DC-DEBB-6D4A-9D07-9FB6CCAC49CD}"/>
                </a:ext>
              </a:extLst>
            </p:cNvPr>
            <p:cNvSpPr txBox="1"/>
            <p:nvPr/>
          </p:nvSpPr>
          <p:spPr>
            <a:xfrm>
              <a:off x="19534150" y="6800657"/>
              <a:ext cx="1133487" cy="75604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TW" alt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行銷</a:t>
              </a:r>
            </a:p>
          </p:txBody>
        </p:sp>
        <p:sp>
          <p:nvSpPr>
            <p:cNvPr id="66" name="矩形: 圓角 79">
              <a:extLst>
                <a:ext uri="{FF2B5EF4-FFF2-40B4-BE49-F238E27FC236}">
                  <a16:creationId xmlns:a16="http://schemas.microsoft.com/office/drawing/2014/main" id="{FF073910-D529-664B-940A-2D06A794314C}"/>
                </a:ext>
              </a:extLst>
            </p:cNvPr>
            <p:cNvSpPr/>
            <p:nvPr/>
          </p:nvSpPr>
          <p:spPr>
            <a:xfrm>
              <a:off x="16309481" y="2473030"/>
              <a:ext cx="2933002" cy="1084138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政經社會情勢</a:t>
              </a:r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7" name="直線單箭頭接點 4">
              <a:extLst>
                <a:ext uri="{FF2B5EF4-FFF2-40B4-BE49-F238E27FC236}">
                  <a16:creationId xmlns:a16="http://schemas.microsoft.com/office/drawing/2014/main" id="{6A502631-9B18-0248-A308-0D41927FBFAE}"/>
                </a:ext>
              </a:extLst>
            </p:cNvPr>
            <p:cNvCxnSpPr>
              <a:stCxn id="66" idx="2"/>
              <a:endCxn id="18" idx="0"/>
            </p:cNvCxnSpPr>
            <p:nvPr/>
          </p:nvCxnSpPr>
          <p:spPr>
            <a:xfrm>
              <a:off x="17775982" y="3557169"/>
              <a:ext cx="67097" cy="16104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矩形: 圓角 80">
              <a:extLst>
                <a:ext uri="{FF2B5EF4-FFF2-40B4-BE49-F238E27FC236}">
                  <a16:creationId xmlns:a16="http://schemas.microsoft.com/office/drawing/2014/main" id="{54C6B5D1-1063-B641-8C81-1B4955F3BD98}"/>
                </a:ext>
              </a:extLst>
            </p:cNvPr>
            <p:cNvSpPr/>
            <p:nvPr/>
          </p:nvSpPr>
          <p:spPr>
            <a:xfrm>
              <a:off x="4800999" y="3693791"/>
              <a:ext cx="1935532" cy="949571"/>
            </a:xfrm>
            <a:prstGeom prst="round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供應商</a:t>
              </a:r>
            </a:p>
          </p:txBody>
        </p:sp>
        <p:cxnSp>
          <p:nvCxnSpPr>
            <p:cNvPr id="69" name="直線單箭頭接點 9">
              <a:extLst>
                <a:ext uri="{FF2B5EF4-FFF2-40B4-BE49-F238E27FC236}">
                  <a16:creationId xmlns:a16="http://schemas.microsoft.com/office/drawing/2014/main" id="{3CD18A9C-E694-0543-9C66-7A33B312AD09}"/>
                </a:ext>
              </a:extLst>
            </p:cNvPr>
            <p:cNvCxnSpPr>
              <a:stCxn id="36" idx="2"/>
              <a:endCxn id="66" idx="0"/>
            </p:cNvCxnSpPr>
            <p:nvPr/>
          </p:nvCxnSpPr>
          <p:spPr>
            <a:xfrm>
              <a:off x="17775981" y="2204187"/>
              <a:ext cx="2" cy="2688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CuadroTexto 664">
            <a:extLst>
              <a:ext uri="{FF2B5EF4-FFF2-40B4-BE49-F238E27FC236}">
                <a16:creationId xmlns:a16="http://schemas.microsoft.com/office/drawing/2014/main" id="{E4D7E5D0-BE90-9544-A6A1-665696BD4B09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零售業績影響因素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948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CuadroTexto 728">
            <a:extLst>
              <a:ext uri="{FF2B5EF4-FFF2-40B4-BE49-F238E27FC236}">
                <a16:creationId xmlns:a16="http://schemas.microsoft.com/office/drawing/2014/main" id="{B4423B1B-ADB8-4D49-AB04-3E6DC09335BE}"/>
              </a:ext>
            </a:extLst>
          </p:cNvPr>
          <p:cNvSpPr txBox="1"/>
          <p:nvPr/>
        </p:nvSpPr>
        <p:spPr>
          <a:xfrm>
            <a:off x="190800" y="180000"/>
            <a:ext cx="63914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預測方法設計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—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概念設計</a:t>
            </a:r>
          </a:p>
        </p:txBody>
      </p:sp>
      <p:sp>
        <p:nvSpPr>
          <p:cNvPr id="148" name="矩形: 圓角 1">
            <a:extLst>
              <a:ext uri="{FF2B5EF4-FFF2-40B4-BE49-F238E27FC236}">
                <a16:creationId xmlns:a16="http://schemas.microsoft.com/office/drawing/2014/main" id="{CD734911-08AE-974F-B0FB-6837C148060C}"/>
              </a:ext>
            </a:extLst>
          </p:cNvPr>
          <p:cNvSpPr/>
          <p:nvPr/>
        </p:nvSpPr>
        <p:spPr>
          <a:xfrm>
            <a:off x="2186960" y="2584580"/>
            <a:ext cx="3247053" cy="26213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49" name="矩形: 圓角 3">
            <a:extLst>
              <a:ext uri="{FF2B5EF4-FFF2-40B4-BE49-F238E27FC236}">
                <a16:creationId xmlns:a16="http://schemas.microsoft.com/office/drawing/2014/main" id="{F8B34579-EBA2-4245-B571-77FEB8154240}"/>
              </a:ext>
            </a:extLst>
          </p:cNvPr>
          <p:cNvSpPr/>
          <p:nvPr/>
        </p:nvSpPr>
        <p:spPr>
          <a:xfrm>
            <a:off x="7263805" y="2811710"/>
            <a:ext cx="1889526" cy="69104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預測</a:t>
            </a:r>
          </a:p>
        </p:txBody>
      </p:sp>
      <p:sp>
        <p:nvSpPr>
          <p:cNvPr id="150" name="矩形: 圓角 4">
            <a:extLst>
              <a:ext uri="{FF2B5EF4-FFF2-40B4-BE49-F238E27FC236}">
                <a16:creationId xmlns:a16="http://schemas.microsoft.com/office/drawing/2014/main" id="{D0692D30-1CEE-8E47-834D-75EB38076108}"/>
              </a:ext>
            </a:extLst>
          </p:cNvPr>
          <p:cNvSpPr/>
          <p:nvPr/>
        </p:nvSpPr>
        <p:spPr>
          <a:xfrm>
            <a:off x="2465909" y="2811710"/>
            <a:ext cx="2516698" cy="931178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>
                <a:ea typeface="Microsoft JhengHei" panose="020B0604030504040204" pitchFamily="34" charset="-120"/>
              </a:rPr>
              <a:t>社群媒體為基之影響因素分析</a:t>
            </a:r>
            <a:endParaRPr lang="zh-TW" altLang="en-US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cxnSp>
        <p:nvCxnSpPr>
          <p:cNvPr id="151" name="直線單箭頭接點 5">
            <a:extLst>
              <a:ext uri="{FF2B5EF4-FFF2-40B4-BE49-F238E27FC236}">
                <a16:creationId xmlns:a16="http://schemas.microsoft.com/office/drawing/2014/main" id="{A22C3C4E-69A3-444E-928B-89B591BC930E}"/>
              </a:ext>
            </a:extLst>
          </p:cNvPr>
          <p:cNvCxnSpPr>
            <a:cxnSpLocks/>
            <a:stCxn id="150" idx="3"/>
            <a:endCxn id="149" idx="1"/>
          </p:cNvCxnSpPr>
          <p:nvPr/>
        </p:nvCxnSpPr>
        <p:spPr>
          <a:xfrm flipV="1">
            <a:off x="4982607" y="3157230"/>
            <a:ext cx="2281198" cy="120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矩形: 圓角 6">
            <a:extLst>
              <a:ext uri="{FF2B5EF4-FFF2-40B4-BE49-F238E27FC236}">
                <a16:creationId xmlns:a16="http://schemas.microsoft.com/office/drawing/2014/main" id="{823E4727-D4BA-4F49-8D2F-5834BCC1240C}"/>
              </a:ext>
            </a:extLst>
          </p:cNvPr>
          <p:cNvSpPr/>
          <p:nvPr/>
        </p:nvSpPr>
        <p:spPr>
          <a:xfrm>
            <a:off x="2465908" y="3915062"/>
            <a:ext cx="2516698" cy="93117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外部環境影響因素資料</a:t>
            </a:r>
            <a:r>
              <a:rPr lang="zh-TW" altLang="en-US" dirty="0">
                <a:solidFill>
                  <a:schemeClr val="tx1"/>
                </a:solidFill>
                <a:ea typeface="Microsoft JhengHei" panose="020B0604030504040204" pitchFamily="34" charset="-120"/>
              </a:rPr>
              <a:t>蒐集 </a:t>
            </a:r>
            <a:r>
              <a:rPr lang="en-US" altLang="zh-TW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天氣  事件</a:t>
            </a:r>
            <a:r>
              <a:rPr lang="en-US" altLang="zh-TW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...)</a:t>
            </a:r>
            <a:endParaRPr lang="zh-TW" altLang="en-US" b="1" dirty="0">
              <a:solidFill>
                <a:schemeClr val="tx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53" name="矩形: 圓角 7">
            <a:extLst>
              <a:ext uri="{FF2B5EF4-FFF2-40B4-BE49-F238E27FC236}">
                <a16:creationId xmlns:a16="http://schemas.microsoft.com/office/drawing/2014/main" id="{58AC8FCA-6453-604A-A1FC-BCDC6EC239B8}"/>
              </a:ext>
            </a:extLst>
          </p:cNvPr>
          <p:cNvSpPr/>
          <p:nvPr/>
        </p:nvSpPr>
        <p:spPr>
          <a:xfrm>
            <a:off x="4837651" y="1280719"/>
            <a:ext cx="2516698" cy="931178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重要影響因素分析</a:t>
            </a:r>
            <a:endParaRPr lang="en-US" altLang="zh-TW" dirty="0"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600" b="1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600" b="1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銷售影響程度分析</a:t>
            </a:r>
            <a:r>
              <a:rPr lang="en-US" altLang="zh-TW" sz="1600" b="1" dirty="0">
                <a:solidFill>
                  <a:srgbClr val="FF0000"/>
                </a:solidFill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6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cxnSp>
        <p:nvCxnSpPr>
          <p:cNvPr id="154" name="直線單箭頭接點 8">
            <a:extLst>
              <a:ext uri="{FF2B5EF4-FFF2-40B4-BE49-F238E27FC236}">
                <a16:creationId xmlns:a16="http://schemas.microsoft.com/office/drawing/2014/main" id="{47E5B8D5-F0D0-7F46-A9FD-54C927268443}"/>
              </a:ext>
            </a:extLst>
          </p:cNvPr>
          <p:cNvCxnSpPr>
            <a:cxnSpLocks/>
            <a:stCxn id="152" idx="3"/>
            <a:endCxn id="149" idx="1"/>
          </p:cNvCxnSpPr>
          <p:nvPr/>
        </p:nvCxnSpPr>
        <p:spPr>
          <a:xfrm flipV="1">
            <a:off x="4982606" y="3157230"/>
            <a:ext cx="2281199" cy="1223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直線接點 154">
            <a:extLst>
              <a:ext uri="{FF2B5EF4-FFF2-40B4-BE49-F238E27FC236}">
                <a16:creationId xmlns:a16="http://schemas.microsoft.com/office/drawing/2014/main" id="{B0088842-47D9-744D-AD59-1D125C136A49}"/>
              </a:ext>
            </a:extLst>
          </p:cNvPr>
          <p:cNvCxnSpPr/>
          <p:nvPr/>
        </p:nvCxnSpPr>
        <p:spPr>
          <a:xfrm flipV="1">
            <a:off x="2097248" y="2346121"/>
            <a:ext cx="8330268" cy="153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直線單箭頭接點 10">
            <a:extLst>
              <a:ext uri="{FF2B5EF4-FFF2-40B4-BE49-F238E27FC236}">
                <a16:creationId xmlns:a16="http://schemas.microsoft.com/office/drawing/2014/main" id="{7A3431E6-D1D0-6740-B53C-CA02337B6AF9}"/>
              </a:ext>
            </a:extLst>
          </p:cNvPr>
          <p:cNvCxnSpPr>
            <a:cxnSpLocks/>
            <a:stCxn id="153" idx="2"/>
            <a:endCxn id="150" idx="0"/>
          </p:cNvCxnSpPr>
          <p:nvPr/>
        </p:nvCxnSpPr>
        <p:spPr>
          <a:xfrm flipH="1">
            <a:off x="3724258" y="2211897"/>
            <a:ext cx="2371742" cy="599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線單箭頭接點 11">
            <a:extLst>
              <a:ext uri="{FF2B5EF4-FFF2-40B4-BE49-F238E27FC236}">
                <a16:creationId xmlns:a16="http://schemas.microsoft.com/office/drawing/2014/main" id="{C87E1B2A-0D9B-1443-A34C-9DB7BF0ABA09}"/>
              </a:ext>
            </a:extLst>
          </p:cNvPr>
          <p:cNvCxnSpPr>
            <a:cxnSpLocks/>
            <a:stCxn id="153" idx="2"/>
            <a:endCxn id="149" idx="0"/>
          </p:cNvCxnSpPr>
          <p:nvPr/>
        </p:nvCxnSpPr>
        <p:spPr>
          <a:xfrm>
            <a:off x="6096000" y="2211897"/>
            <a:ext cx="2112568" cy="599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直線單箭頭接點 12">
            <a:extLst>
              <a:ext uri="{FF2B5EF4-FFF2-40B4-BE49-F238E27FC236}">
                <a16:creationId xmlns:a16="http://schemas.microsoft.com/office/drawing/2014/main" id="{8601D499-2C42-154E-8711-B123E3DBB719}"/>
              </a:ext>
            </a:extLst>
          </p:cNvPr>
          <p:cNvCxnSpPr>
            <a:stCxn id="153" idx="2"/>
            <a:endCxn id="152" idx="0"/>
          </p:cNvCxnSpPr>
          <p:nvPr/>
        </p:nvCxnSpPr>
        <p:spPr>
          <a:xfrm flipH="1">
            <a:off x="3724257" y="2211897"/>
            <a:ext cx="2371743" cy="170316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" name="矩形: 圓角 13">
            <a:extLst>
              <a:ext uri="{FF2B5EF4-FFF2-40B4-BE49-F238E27FC236}">
                <a16:creationId xmlns:a16="http://schemas.microsoft.com/office/drawing/2014/main" id="{FACA6AF6-ED98-F74F-9ACE-68C4ABB8B917}"/>
              </a:ext>
            </a:extLst>
          </p:cNvPr>
          <p:cNvSpPr/>
          <p:nvPr/>
        </p:nvSpPr>
        <p:spPr>
          <a:xfrm>
            <a:off x="4143180" y="5648934"/>
            <a:ext cx="2516698" cy="9311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內部影響因素資料蒐集</a:t>
            </a:r>
          </a:p>
        </p:txBody>
      </p:sp>
      <p:sp>
        <p:nvSpPr>
          <p:cNvPr id="160" name="文字方塊 159">
            <a:extLst>
              <a:ext uri="{FF2B5EF4-FFF2-40B4-BE49-F238E27FC236}">
                <a16:creationId xmlns:a16="http://schemas.microsoft.com/office/drawing/2014/main" id="{A2568CDF-1963-F846-970D-7B03DC43A83D}"/>
              </a:ext>
            </a:extLst>
          </p:cNvPr>
          <p:cNvSpPr txBox="1"/>
          <p:nvPr/>
        </p:nvSpPr>
        <p:spPr>
          <a:xfrm>
            <a:off x="956818" y="4858347"/>
            <a:ext cx="5603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外部影響因素分析</a:t>
            </a:r>
          </a:p>
        </p:txBody>
      </p:sp>
      <p:sp>
        <p:nvSpPr>
          <p:cNvPr id="161" name="雲朵形 15">
            <a:extLst>
              <a:ext uri="{FF2B5EF4-FFF2-40B4-BE49-F238E27FC236}">
                <a16:creationId xmlns:a16="http://schemas.microsoft.com/office/drawing/2014/main" id="{16B831BD-67B8-674C-9F7A-085D0EBBC65E}"/>
              </a:ext>
            </a:extLst>
          </p:cNvPr>
          <p:cNvSpPr/>
          <p:nvPr/>
        </p:nvSpPr>
        <p:spPr>
          <a:xfrm>
            <a:off x="187041" y="2866096"/>
            <a:ext cx="1539551" cy="822406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社群媒體評論</a:t>
            </a:r>
          </a:p>
        </p:txBody>
      </p:sp>
      <p:cxnSp>
        <p:nvCxnSpPr>
          <p:cNvPr id="162" name="直線單箭頭接點 16">
            <a:extLst>
              <a:ext uri="{FF2B5EF4-FFF2-40B4-BE49-F238E27FC236}">
                <a16:creationId xmlns:a16="http://schemas.microsoft.com/office/drawing/2014/main" id="{0A1B919E-C7E1-7740-8C68-EDF4ED7D4BAF}"/>
              </a:ext>
            </a:extLst>
          </p:cNvPr>
          <p:cNvCxnSpPr>
            <a:stCxn id="161" idx="0"/>
            <a:endCxn id="150" idx="1"/>
          </p:cNvCxnSpPr>
          <p:nvPr/>
        </p:nvCxnSpPr>
        <p:spPr>
          <a:xfrm>
            <a:off x="1725309" y="3277299"/>
            <a:ext cx="740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線單箭頭接點 17">
            <a:extLst>
              <a:ext uri="{FF2B5EF4-FFF2-40B4-BE49-F238E27FC236}">
                <a16:creationId xmlns:a16="http://schemas.microsoft.com/office/drawing/2014/main" id="{C95D96EC-B15A-3C4F-8FF1-05FEB49450F5}"/>
              </a:ext>
            </a:extLst>
          </p:cNvPr>
          <p:cNvCxnSpPr>
            <a:cxnSpLocks/>
            <a:stCxn id="159" idx="0"/>
            <a:endCxn id="149" idx="1"/>
          </p:cNvCxnSpPr>
          <p:nvPr/>
        </p:nvCxnSpPr>
        <p:spPr>
          <a:xfrm flipV="1">
            <a:off x="5401529" y="3157230"/>
            <a:ext cx="1862276" cy="2491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矩形: 圓角 18">
            <a:extLst>
              <a:ext uri="{FF2B5EF4-FFF2-40B4-BE49-F238E27FC236}">
                <a16:creationId xmlns:a16="http://schemas.microsoft.com/office/drawing/2014/main" id="{722DC315-1A35-754B-8014-BE81BD3EBF5D}"/>
              </a:ext>
            </a:extLst>
          </p:cNvPr>
          <p:cNvSpPr/>
          <p:nvPr/>
        </p:nvSpPr>
        <p:spPr>
          <a:xfrm>
            <a:off x="9818990" y="2812513"/>
            <a:ext cx="1889526" cy="6910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評量優化</a:t>
            </a:r>
          </a:p>
        </p:txBody>
      </p:sp>
      <p:cxnSp>
        <p:nvCxnSpPr>
          <p:cNvPr id="165" name="直線單箭頭接點 19">
            <a:extLst>
              <a:ext uri="{FF2B5EF4-FFF2-40B4-BE49-F238E27FC236}">
                <a16:creationId xmlns:a16="http://schemas.microsoft.com/office/drawing/2014/main" id="{428063E0-BD62-3D43-B0FF-BB8CC39126E6}"/>
              </a:ext>
            </a:extLst>
          </p:cNvPr>
          <p:cNvCxnSpPr>
            <a:cxnSpLocks/>
            <a:stCxn id="149" idx="3"/>
            <a:endCxn id="164" idx="1"/>
          </p:cNvCxnSpPr>
          <p:nvPr/>
        </p:nvCxnSpPr>
        <p:spPr>
          <a:xfrm>
            <a:off x="9153331" y="3157230"/>
            <a:ext cx="665659" cy="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橢圓 165">
            <a:extLst>
              <a:ext uri="{FF2B5EF4-FFF2-40B4-BE49-F238E27FC236}">
                <a16:creationId xmlns:a16="http://schemas.microsoft.com/office/drawing/2014/main" id="{C81401DE-A018-A847-96F8-FB6EA3A67A22}"/>
              </a:ext>
            </a:extLst>
          </p:cNvPr>
          <p:cNvSpPr/>
          <p:nvPr/>
        </p:nvSpPr>
        <p:spPr>
          <a:xfrm>
            <a:off x="9853989" y="1313940"/>
            <a:ext cx="2036444" cy="8423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預測模型</a:t>
            </a:r>
            <a:endParaRPr lang="en-US" altLang="zh-TW" dirty="0">
              <a:ea typeface="Microsoft JhengHei" panose="020B0604030504040204" pitchFamily="34" charset="-120"/>
            </a:endParaRPr>
          </a:p>
        </p:txBody>
      </p:sp>
      <p:cxnSp>
        <p:nvCxnSpPr>
          <p:cNvPr id="167" name="直線單箭頭接點 21">
            <a:extLst>
              <a:ext uri="{FF2B5EF4-FFF2-40B4-BE49-F238E27FC236}">
                <a16:creationId xmlns:a16="http://schemas.microsoft.com/office/drawing/2014/main" id="{C1EBAA8A-0221-5849-94E9-0368DBD2A365}"/>
              </a:ext>
            </a:extLst>
          </p:cNvPr>
          <p:cNvCxnSpPr>
            <a:cxnSpLocks/>
            <a:stCxn id="166" idx="4"/>
          </p:cNvCxnSpPr>
          <p:nvPr/>
        </p:nvCxnSpPr>
        <p:spPr>
          <a:xfrm flipH="1">
            <a:off x="8647969" y="2156263"/>
            <a:ext cx="2224242" cy="6156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直線單箭頭接點 22">
            <a:extLst>
              <a:ext uri="{FF2B5EF4-FFF2-40B4-BE49-F238E27FC236}">
                <a16:creationId xmlns:a16="http://schemas.microsoft.com/office/drawing/2014/main" id="{7A423948-8BE3-FD46-B2B1-D39FC8095DE1}"/>
              </a:ext>
            </a:extLst>
          </p:cNvPr>
          <p:cNvCxnSpPr>
            <a:cxnSpLocks/>
            <a:stCxn id="164" idx="0"/>
          </p:cNvCxnSpPr>
          <p:nvPr/>
        </p:nvCxnSpPr>
        <p:spPr>
          <a:xfrm flipV="1">
            <a:off x="10763753" y="2156263"/>
            <a:ext cx="255700" cy="6562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直線單箭頭接點 23">
            <a:extLst>
              <a:ext uri="{FF2B5EF4-FFF2-40B4-BE49-F238E27FC236}">
                <a16:creationId xmlns:a16="http://schemas.microsoft.com/office/drawing/2014/main" id="{E0869B2C-E422-8A47-B91B-3B7ABC1C8A31}"/>
              </a:ext>
            </a:extLst>
          </p:cNvPr>
          <p:cNvCxnSpPr>
            <a:cxnSpLocks/>
            <a:stCxn id="153" idx="3"/>
            <a:endCxn id="171" idx="1"/>
          </p:cNvCxnSpPr>
          <p:nvPr/>
        </p:nvCxnSpPr>
        <p:spPr>
          <a:xfrm>
            <a:off x="7354349" y="1746308"/>
            <a:ext cx="439401" cy="13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AD6887A9-A748-144D-B7D5-5B4ADEF6B918}"/>
              </a:ext>
            </a:extLst>
          </p:cNvPr>
          <p:cNvSpPr txBox="1"/>
          <p:nvPr/>
        </p:nvSpPr>
        <p:spPr>
          <a:xfrm>
            <a:off x="563433" y="1703556"/>
            <a:ext cx="324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ea typeface="Microsoft JhengHei" panose="020B0604030504040204" pitchFamily="34" charset="-120"/>
              </a:rPr>
              <a:t>社群媒體為基之影響因素分析</a:t>
            </a:r>
          </a:p>
        </p:txBody>
      </p:sp>
      <p:sp>
        <p:nvSpPr>
          <p:cNvPr id="171" name="矩形: 圓角 25">
            <a:extLst>
              <a:ext uri="{FF2B5EF4-FFF2-40B4-BE49-F238E27FC236}">
                <a16:creationId xmlns:a16="http://schemas.microsoft.com/office/drawing/2014/main" id="{2A87481C-B409-2F43-BBA4-B4BFA347E6F9}"/>
              </a:ext>
            </a:extLst>
          </p:cNvPr>
          <p:cNvSpPr/>
          <p:nvPr/>
        </p:nvSpPr>
        <p:spPr>
          <a:xfrm>
            <a:off x="7793750" y="1454360"/>
            <a:ext cx="1620838" cy="58668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ea typeface="Microsoft JhengHei" panose="020B0604030504040204" pitchFamily="34" charset="-120"/>
              </a:rPr>
              <a:t>預測模型建立</a:t>
            </a:r>
          </a:p>
        </p:txBody>
      </p:sp>
      <p:cxnSp>
        <p:nvCxnSpPr>
          <p:cNvPr id="172" name="直線單箭頭接點 26">
            <a:extLst>
              <a:ext uri="{FF2B5EF4-FFF2-40B4-BE49-F238E27FC236}">
                <a16:creationId xmlns:a16="http://schemas.microsoft.com/office/drawing/2014/main" id="{8C07FD14-9132-1940-BE63-DEC4C03082F9}"/>
              </a:ext>
            </a:extLst>
          </p:cNvPr>
          <p:cNvCxnSpPr>
            <a:cxnSpLocks/>
            <a:stCxn id="171" idx="3"/>
            <a:endCxn id="166" idx="2"/>
          </p:cNvCxnSpPr>
          <p:nvPr/>
        </p:nvCxnSpPr>
        <p:spPr>
          <a:xfrm flipV="1">
            <a:off x="9414588" y="1735102"/>
            <a:ext cx="439401" cy="126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794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CuadroTexto 728">
            <a:extLst>
              <a:ext uri="{FF2B5EF4-FFF2-40B4-BE49-F238E27FC236}">
                <a16:creationId xmlns:a16="http://schemas.microsoft.com/office/drawing/2014/main" id="{B4423B1B-ADB8-4D49-AB04-3E6DC09335BE}"/>
              </a:ext>
            </a:extLst>
          </p:cNvPr>
          <p:cNvSpPr txBox="1"/>
          <p:nvPr/>
        </p:nvSpPr>
        <p:spPr>
          <a:xfrm>
            <a:off x="190800" y="180000"/>
            <a:ext cx="75200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社群媒體為基之影響因素分析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47EFE4B-173A-4B4E-8F83-5BA3450359BC}"/>
              </a:ext>
            </a:extLst>
          </p:cNvPr>
          <p:cNvSpPr/>
          <p:nvPr/>
        </p:nvSpPr>
        <p:spPr>
          <a:xfrm>
            <a:off x="7519147" y="985212"/>
            <a:ext cx="1709078" cy="582941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ea typeface="Microsoft JhengHei" panose="020B0604030504040204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EE434D1-B32C-A54C-B711-96DC2C1F0428}"/>
              </a:ext>
            </a:extLst>
          </p:cNvPr>
          <p:cNvSpPr/>
          <p:nvPr/>
        </p:nvSpPr>
        <p:spPr>
          <a:xfrm>
            <a:off x="9804246" y="2134112"/>
            <a:ext cx="1535826" cy="3445034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ea typeface="Microsoft JhengHei" panose="020B06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86B4AC3-9EDB-3940-8529-D716BA76C2C2}"/>
              </a:ext>
            </a:extLst>
          </p:cNvPr>
          <p:cNvSpPr/>
          <p:nvPr/>
        </p:nvSpPr>
        <p:spPr>
          <a:xfrm>
            <a:off x="5277271" y="4847599"/>
            <a:ext cx="1535826" cy="196702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ea typeface="Microsoft JhengHei" panose="020B0604030504040204" pitchFamily="34" charset="-120"/>
            </a:endParaRPr>
          </a:p>
        </p:txBody>
      </p:sp>
      <p:sp>
        <p:nvSpPr>
          <p:cNvPr id="37" name="矩形: 圓角 4">
            <a:extLst>
              <a:ext uri="{FF2B5EF4-FFF2-40B4-BE49-F238E27FC236}">
                <a16:creationId xmlns:a16="http://schemas.microsoft.com/office/drawing/2014/main" id="{90D1C1B9-1D6D-E14E-9D49-772DCAA808C5}"/>
              </a:ext>
            </a:extLst>
          </p:cNvPr>
          <p:cNvSpPr/>
          <p:nvPr/>
        </p:nvSpPr>
        <p:spPr>
          <a:xfrm>
            <a:off x="5342987" y="4923212"/>
            <a:ext cx="1364102" cy="504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政治</a:t>
            </a:r>
          </a:p>
        </p:txBody>
      </p:sp>
      <p:sp>
        <p:nvSpPr>
          <p:cNvPr id="38" name="矩形: 圓角 8">
            <a:extLst>
              <a:ext uri="{FF2B5EF4-FFF2-40B4-BE49-F238E27FC236}">
                <a16:creationId xmlns:a16="http://schemas.microsoft.com/office/drawing/2014/main" id="{193CD9E9-C65C-8842-97EA-8608405A2BEE}"/>
              </a:ext>
            </a:extLst>
          </p:cNvPr>
          <p:cNvSpPr/>
          <p:nvPr/>
        </p:nvSpPr>
        <p:spPr>
          <a:xfrm>
            <a:off x="1863884" y="3610298"/>
            <a:ext cx="1140903" cy="5347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口碑</a:t>
            </a:r>
          </a:p>
        </p:txBody>
      </p:sp>
      <p:sp>
        <p:nvSpPr>
          <p:cNvPr id="39" name="矩形: 圓角 44">
            <a:extLst>
              <a:ext uri="{FF2B5EF4-FFF2-40B4-BE49-F238E27FC236}">
                <a16:creationId xmlns:a16="http://schemas.microsoft.com/office/drawing/2014/main" id="{615515DD-D36E-C041-9DAA-0DABFA74E52F}"/>
              </a:ext>
            </a:extLst>
          </p:cNvPr>
          <p:cNvSpPr/>
          <p:nvPr/>
        </p:nvSpPr>
        <p:spPr>
          <a:xfrm>
            <a:off x="3789298" y="5231541"/>
            <a:ext cx="1340840" cy="5347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事件</a:t>
            </a:r>
          </a:p>
        </p:txBody>
      </p:sp>
      <p:cxnSp>
        <p:nvCxnSpPr>
          <p:cNvPr id="40" name="直線單箭頭接點 48">
            <a:extLst>
              <a:ext uri="{FF2B5EF4-FFF2-40B4-BE49-F238E27FC236}">
                <a16:creationId xmlns:a16="http://schemas.microsoft.com/office/drawing/2014/main" id="{F94F2440-462C-564B-8930-2B6CBEA2ED18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3004787" y="3877698"/>
            <a:ext cx="784511" cy="1621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: 圓角 95">
            <a:extLst>
              <a:ext uri="{FF2B5EF4-FFF2-40B4-BE49-F238E27FC236}">
                <a16:creationId xmlns:a16="http://schemas.microsoft.com/office/drawing/2014/main" id="{1027D466-84D7-6246-91DF-53616C551ED3}"/>
              </a:ext>
            </a:extLst>
          </p:cNvPr>
          <p:cNvSpPr/>
          <p:nvPr/>
        </p:nvSpPr>
        <p:spPr>
          <a:xfrm>
            <a:off x="5342987" y="5572590"/>
            <a:ext cx="1364102" cy="504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經濟</a:t>
            </a:r>
          </a:p>
        </p:txBody>
      </p:sp>
      <p:sp>
        <p:nvSpPr>
          <p:cNvPr id="42" name="矩形: 圓角 96">
            <a:extLst>
              <a:ext uri="{FF2B5EF4-FFF2-40B4-BE49-F238E27FC236}">
                <a16:creationId xmlns:a16="http://schemas.microsoft.com/office/drawing/2014/main" id="{9D49C7BD-E74D-C944-935B-D77E85E4E908}"/>
              </a:ext>
            </a:extLst>
          </p:cNvPr>
          <p:cNvSpPr/>
          <p:nvPr/>
        </p:nvSpPr>
        <p:spPr>
          <a:xfrm>
            <a:off x="5359535" y="6232894"/>
            <a:ext cx="1364102" cy="504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社會</a:t>
            </a: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1CB9BFEE-B702-7A4E-BFD4-05BC16095FFB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 flipV="1">
            <a:off x="5130138" y="5175369"/>
            <a:ext cx="212849" cy="3235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02AFEEEE-7E89-F146-9324-8ECBAEE5F31B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5130138" y="5498941"/>
            <a:ext cx="212849" cy="3258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B4D48CDB-1087-5D42-A510-ED390B87FB8D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>
            <a:off x="5130138" y="5498941"/>
            <a:ext cx="229397" cy="9861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: 圓角 138">
            <a:extLst>
              <a:ext uri="{FF2B5EF4-FFF2-40B4-BE49-F238E27FC236}">
                <a16:creationId xmlns:a16="http://schemas.microsoft.com/office/drawing/2014/main" id="{7BBBE906-6B41-2741-8505-D53C3D4513A9}"/>
              </a:ext>
            </a:extLst>
          </p:cNvPr>
          <p:cNvSpPr/>
          <p:nvPr/>
        </p:nvSpPr>
        <p:spPr>
          <a:xfrm>
            <a:off x="7718952" y="6036110"/>
            <a:ext cx="1364103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影響</a:t>
            </a:r>
          </a:p>
        </p:txBody>
      </p:sp>
      <p:cxnSp>
        <p:nvCxnSpPr>
          <p:cNvPr id="47" name="直線單箭頭接點 145">
            <a:extLst>
              <a:ext uri="{FF2B5EF4-FFF2-40B4-BE49-F238E27FC236}">
                <a16:creationId xmlns:a16="http://schemas.microsoft.com/office/drawing/2014/main" id="{134C23EE-B50F-EF46-BC4E-2EE1137A79F9}"/>
              </a:ext>
            </a:extLst>
          </p:cNvPr>
          <p:cNvCxnSpPr>
            <a:cxnSpLocks/>
            <a:stCxn id="36" idx="3"/>
            <a:endCxn id="46" idx="1"/>
          </p:cNvCxnSpPr>
          <p:nvPr/>
        </p:nvCxnSpPr>
        <p:spPr>
          <a:xfrm>
            <a:off x="6813097" y="5831114"/>
            <a:ext cx="905855" cy="472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: 圓角 43">
            <a:extLst>
              <a:ext uri="{FF2B5EF4-FFF2-40B4-BE49-F238E27FC236}">
                <a16:creationId xmlns:a16="http://schemas.microsoft.com/office/drawing/2014/main" id="{04F7B7CF-E9D1-0A40-B036-10B461CCB260}"/>
              </a:ext>
            </a:extLst>
          </p:cNvPr>
          <p:cNvSpPr/>
          <p:nvPr/>
        </p:nvSpPr>
        <p:spPr>
          <a:xfrm>
            <a:off x="3800253" y="2536990"/>
            <a:ext cx="1340840" cy="5347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消費者</a:t>
            </a:r>
          </a:p>
        </p:txBody>
      </p:sp>
      <p:sp>
        <p:nvSpPr>
          <p:cNvPr id="49" name="矩形: 圓角 45">
            <a:extLst>
              <a:ext uri="{FF2B5EF4-FFF2-40B4-BE49-F238E27FC236}">
                <a16:creationId xmlns:a16="http://schemas.microsoft.com/office/drawing/2014/main" id="{27053893-1BE3-C344-8EAE-DF828F7D896C}"/>
              </a:ext>
            </a:extLst>
          </p:cNvPr>
          <p:cNvSpPr/>
          <p:nvPr/>
        </p:nvSpPr>
        <p:spPr>
          <a:xfrm>
            <a:off x="3806498" y="1681655"/>
            <a:ext cx="1340840" cy="5347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商品</a:t>
            </a:r>
          </a:p>
        </p:txBody>
      </p:sp>
      <p:cxnSp>
        <p:nvCxnSpPr>
          <p:cNvPr id="50" name="直線單箭頭接點 2">
            <a:extLst>
              <a:ext uri="{FF2B5EF4-FFF2-40B4-BE49-F238E27FC236}">
                <a16:creationId xmlns:a16="http://schemas.microsoft.com/office/drawing/2014/main" id="{57BE6D66-943B-3748-8709-A2449330283D}"/>
              </a:ext>
            </a:extLst>
          </p:cNvPr>
          <p:cNvCxnSpPr>
            <a:cxnSpLocks/>
            <a:stCxn id="38" idx="3"/>
            <a:endCxn id="48" idx="1"/>
          </p:cNvCxnSpPr>
          <p:nvPr/>
        </p:nvCxnSpPr>
        <p:spPr>
          <a:xfrm flipV="1">
            <a:off x="3004787" y="2804390"/>
            <a:ext cx="795466" cy="1073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47">
            <a:extLst>
              <a:ext uri="{FF2B5EF4-FFF2-40B4-BE49-F238E27FC236}">
                <a16:creationId xmlns:a16="http://schemas.microsoft.com/office/drawing/2014/main" id="{F4E73A29-0DCB-624C-9605-B7CBEDE39733}"/>
              </a:ext>
            </a:extLst>
          </p:cNvPr>
          <p:cNvCxnSpPr>
            <a:cxnSpLocks/>
            <a:stCxn id="38" idx="3"/>
            <a:endCxn id="49" idx="1"/>
          </p:cNvCxnSpPr>
          <p:nvPr/>
        </p:nvCxnSpPr>
        <p:spPr>
          <a:xfrm flipV="1">
            <a:off x="3004787" y="1949055"/>
            <a:ext cx="801711" cy="1928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6241A96A-1D1C-C74E-A998-98FAB38DAB98}"/>
              </a:ext>
            </a:extLst>
          </p:cNvPr>
          <p:cNvSpPr/>
          <p:nvPr/>
        </p:nvSpPr>
        <p:spPr>
          <a:xfrm>
            <a:off x="3785640" y="3424147"/>
            <a:ext cx="1340840" cy="5347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供應商</a:t>
            </a:r>
          </a:p>
        </p:txBody>
      </p:sp>
      <p:cxnSp>
        <p:nvCxnSpPr>
          <p:cNvPr id="53" name="直線單箭頭接點 58">
            <a:extLst>
              <a:ext uri="{FF2B5EF4-FFF2-40B4-BE49-F238E27FC236}">
                <a16:creationId xmlns:a16="http://schemas.microsoft.com/office/drawing/2014/main" id="{6F33DBE1-E98F-DD4E-9D87-5D656F7BFB7C}"/>
              </a:ext>
            </a:extLst>
          </p:cNvPr>
          <p:cNvCxnSpPr>
            <a:cxnSpLocks/>
            <a:stCxn id="38" idx="3"/>
            <a:endCxn id="52" idx="1"/>
          </p:cNvCxnSpPr>
          <p:nvPr/>
        </p:nvCxnSpPr>
        <p:spPr>
          <a:xfrm flipV="1">
            <a:off x="3004787" y="3691547"/>
            <a:ext cx="780853" cy="186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矩形: 圓角 80">
            <a:extLst>
              <a:ext uri="{FF2B5EF4-FFF2-40B4-BE49-F238E27FC236}">
                <a16:creationId xmlns:a16="http://schemas.microsoft.com/office/drawing/2014/main" id="{89BC2B48-23DD-1D4B-B3E6-4AB3CF028D40}"/>
              </a:ext>
            </a:extLst>
          </p:cNvPr>
          <p:cNvSpPr/>
          <p:nvPr/>
        </p:nvSpPr>
        <p:spPr>
          <a:xfrm>
            <a:off x="7743257" y="1082860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熱賣商品</a:t>
            </a:r>
          </a:p>
        </p:txBody>
      </p:sp>
      <p:sp>
        <p:nvSpPr>
          <p:cNvPr id="55" name="矩形: 圓角 81">
            <a:extLst>
              <a:ext uri="{FF2B5EF4-FFF2-40B4-BE49-F238E27FC236}">
                <a16:creationId xmlns:a16="http://schemas.microsoft.com/office/drawing/2014/main" id="{D243178F-218B-1241-92A8-7B644CFC5F12}"/>
              </a:ext>
            </a:extLst>
          </p:cNvPr>
          <p:cNvSpPr/>
          <p:nvPr/>
        </p:nvSpPr>
        <p:spPr>
          <a:xfrm>
            <a:off x="7750474" y="1707453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替代商品</a:t>
            </a:r>
          </a:p>
        </p:txBody>
      </p:sp>
      <p:cxnSp>
        <p:nvCxnSpPr>
          <p:cNvPr id="56" name="直線單箭頭接點 28">
            <a:extLst>
              <a:ext uri="{FF2B5EF4-FFF2-40B4-BE49-F238E27FC236}">
                <a16:creationId xmlns:a16="http://schemas.microsoft.com/office/drawing/2014/main" id="{D4B10A2D-EE8B-1347-9435-0329D463AFD5}"/>
              </a:ext>
            </a:extLst>
          </p:cNvPr>
          <p:cNvCxnSpPr>
            <a:stCxn id="49" idx="3"/>
            <a:endCxn id="54" idx="1"/>
          </p:cNvCxnSpPr>
          <p:nvPr/>
        </p:nvCxnSpPr>
        <p:spPr>
          <a:xfrm flipV="1">
            <a:off x="5147338" y="1350260"/>
            <a:ext cx="2595919" cy="598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線單箭頭接點 83">
            <a:extLst>
              <a:ext uri="{FF2B5EF4-FFF2-40B4-BE49-F238E27FC236}">
                <a16:creationId xmlns:a16="http://schemas.microsoft.com/office/drawing/2014/main" id="{ED8F5805-458B-A445-A0DA-1CFC78D8AEC8}"/>
              </a:ext>
            </a:extLst>
          </p:cNvPr>
          <p:cNvCxnSpPr>
            <a:cxnSpLocks/>
            <a:stCxn id="49" idx="3"/>
            <a:endCxn id="55" idx="1"/>
          </p:cNvCxnSpPr>
          <p:nvPr/>
        </p:nvCxnSpPr>
        <p:spPr>
          <a:xfrm>
            <a:off x="5147338" y="1949055"/>
            <a:ext cx="2603136" cy="25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矩形: 圓角 86">
            <a:extLst>
              <a:ext uri="{FF2B5EF4-FFF2-40B4-BE49-F238E27FC236}">
                <a16:creationId xmlns:a16="http://schemas.microsoft.com/office/drawing/2014/main" id="{10EAFBFE-8102-6243-9356-286E41CAAD7E}"/>
              </a:ext>
            </a:extLst>
          </p:cNvPr>
          <p:cNvSpPr/>
          <p:nvPr/>
        </p:nvSpPr>
        <p:spPr>
          <a:xfrm>
            <a:off x="7743257" y="4165097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口碑分析</a:t>
            </a:r>
            <a:r>
              <a:rPr lang="en-US" altLang="zh-TW" dirty="0"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ea typeface="Microsoft JhengHei" panose="020B0604030504040204" pitchFamily="34" charset="-120"/>
              </a:rPr>
              <a:t>評價</a:t>
            </a:r>
            <a:r>
              <a:rPr lang="en-US" altLang="zh-TW" dirty="0">
                <a:ea typeface="Microsoft JhengHei" panose="020B0604030504040204" pitchFamily="34" charset="-120"/>
              </a:rPr>
              <a:t>)</a:t>
            </a:r>
            <a:endParaRPr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59" name="矩形: 圓角 87">
            <a:extLst>
              <a:ext uri="{FF2B5EF4-FFF2-40B4-BE49-F238E27FC236}">
                <a16:creationId xmlns:a16="http://schemas.microsoft.com/office/drawing/2014/main" id="{A7218721-9F7F-3D49-9472-5A3167F0CE18}"/>
              </a:ext>
            </a:extLst>
          </p:cNvPr>
          <p:cNvSpPr/>
          <p:nvPr/>
        </p:nvSpPr>
        <p:spPr>
          <a:xfrm>
            <a:off x="7750474" y="4784603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標竿分析</a:t>
            </a:r>
          </a:p>
        </p:txBody>
      </p:sp>
      <p:cxnSp>
        <p:nvCxnSpPr>
          <p:cNvPr id="60" name="直線單箭頭接點 88">
            <a:extLst>
              <a:ext uri="{FF2B5EF4-FFF2-40B4-BE49-F238E27FC236}">
                <a16:creationId xmlns:a16="http://schemas.microsoft.com/office/drawing/2014/main" id="{E73D3333-6263-5D46-917A-9732096AF006}"/>
              </a:ext>
            </a:extLst>
          </p:cNvPr>
          <p:cNvCxnSpPr>
            <a:cxnSpLocks/>
            <a:stCxn id="52" idx="3"/>
            <a:endCxn id="59" idx="1"/>
          </p:cNvCxnSpPr>
          <p:nvPr/>
        </p:nvCxnSpPr>
        <p:spPr>
          <a:xfrm>
            <a:off x="5126480" y="3691547"/>
            <a:ext cx="2623994" cy="1360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90">
            <a:extLst>
              <a:ext uri="{FF2B5EF4-FFF2-40B4-BE49-F238E27FC236}">
                <a16:creationId xmlns:a16="http://schemas.microsoft.com/office/drawing/2014/main" id="{E1C849CE-090B-A94F-B630-CD02880C73A2}"/>
              </a:ext>
            </a:extLst>
          </p:cNvPr>
          <p:cNvCxnSpPr>
            <a:cxnSpLocks/>
            <a:stCxn id="52" idx="3"/>
            <a:endCxn id="58" idx="1"/>
          </p:cNvCxnSpPr>
          <p:nvPr/>
        </p:nvCxnSpPr>
        <p:spPr>
          <a:xfrm>
            <a:off x="5126480" y="3691547"/>
            <a:ext cx="2616777" cy="740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105">
            <a:extLst>
              <a:ext uri="{FF2B5EF4-FFF2-40B4-BE49-F238E27FC236}">
                <a16:creationId xmlns:a16="http://schemas.microsoft.com/office/drawing/2014/main" id="{E8B9940C-7279-994F-B856-EA7B93AFCF0A}"/>
              </a:ext>
            </a:extLst>
          </p:cNvPr>
          <p:cNvCxnSpPr>
            <a:cxnSpLocks/>
            <a:stCxn id="48" idx="3"/>
            <a:endCxn id="76" idx="1"/>
          </p:cNvCxnSpPr>
          <p:nvPr/>
        </p:nvCxnSpPr>
        <p:spPr>
          <a:xfrm>
            <a:off x="5141093" y="2804390"/>
            <a:ext cx="2594873" cy="378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110">
            <a:extLst>
              <a:ext uri="{FF2B5EF4-FFF2-40B4-BE49-F238E27FC236}">
                <a16:creationId xmlns:a16="http://schemas.microsoft.com/office/drawing/2014/main" id="{FECF2245-490A-C14A-A79E-1AA24542B2D7}"/>
              </a:ext>
            </a:extLst>
          </p:cNvPr>
          <p:cNvCxnSpPr>
            <a:cxnSpLocks/>
            <a:stCxn id="48" idx="3"/>
            <a:endCxn id="77" idx="1"/>
          </p:cNvCxnSpPr>
          <p:nvPr/>
        </p:nvCxnSpPr>
        <p:spPr>
          <a:xfrm>
            <a:off x="5141093" y="2804390"/>
            <a:ext cx="2620336" cy="1013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矩形: 圓角 111">
            <a:extLst>
              <a:ext uri="{FF2B5EF4-FFF2-40B4-BE49-F238E27FC236}">
                <a16:creationId xmlns:a16="http://schemas.microsoft.com/office/drawing/2014/main" id="{C04E5BD7-AF1B-C343-AF0A-3D70CB8A1FD4}"/>
              </a:ext>
            </a:extLst>
          </p:cNvPr>
          <p:cNvSpPr/>
          <p:nvPr/>
        </p:nvSpPr>
        <p:spPr>
          <a:xfrm>
            <a:off x="9901739" y="2280245"/>
            <a:ext cx="1340840" cy="5347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現況掌握</a:t>
            </a:r>
          </a:p>
        </p:txBody>
      </p:sp>
      <p:sp>
        <p:nvSpPr>
          <p:cNvPr id="65" name="矩形: 圓角 113">
            <a:extLst>
              <a:ext uri="{FF2B5EF4-FFF2-40B4-BE49-F238E27FC236}">
                <a16:creationId xmlns:a16="http://schemas.microsoft.com/office/drawing/2014/main" id="{4AC38325-1198-BD46-8C9A-CAC29132B1EB}"/>
              </a:ext>
            </a:extLst>
          </p:cNvPr>
          <p:cNvSpPr/>
          <p:nvPr/>
        </p:nvSpPr>
        <p:spPr>
          <a:xfrm>
            <a:off x="9918287" y="2908734"/>
            <a:ext cx="1340840" cy="5347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趨勢分析</a:t>
            </a:r>
          </a:p>
        </p:txBody>
      </p:sp>
      <p:sp>
        <p:nvSpPr>
          <p:cNvPr id="66" name="矩形: 圓角 115">
            <a:extLst>
              <a:ext uri="{FF2B5EF4-FFF2-40B4-BE49-F238E27FC236}">
                <a16:creationId xmlns:a16="http://schemas.microsoft.com/office/drawing/2014/main" id="{776231A8-6B99-214E-B7B9-B54308D618DF}"/>
              </a:ext>
            </a:extLst>
          </p:cNvPr>
          <p:cNvSpPr/>
          <p:nvPr/>
        </p:nvSpPr>
        <p:spPr>
          <a:xfrm>
            <a:off x="9918287" y="3581819"/>
            <a:ext cx="1340840" cy="5347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預測</a:t>
            </a:r>
          </a:p>
        </p:txBody>
      </p:sp>
      <p:sp>
        <p:nvSpPr>
          <p:cNvPr id="67" name="矩形: 圓角 117">
            <a:extLst>
              <a:ext uri="{FF2B5EF4-FFF2-40B4-BE49-F238E27FC236}">
                <a16:creationId xmlns:a16="http://schemas.microsoft.com/office/drawing/2014/main" id="{EFB35B71-7171-3E4B-816D-C76C2A4D4E6E}"/>
              </a:ext>
            </a:extLst>
          </p:cNvPr>
          <p:cNvSpPr/>
          <p:nvPr/>
        </p:nvSpPr>
        <p:spPr>
          <a:xfrm>
            <a:off x="9918287" y="4225382"/>
            <a:ext cx="1340840" cy="5347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原因分析</a:t>
            </a:r>
          </a:p>
        </p:txBody>
      </p:sp>
      <p:sp>
        <p:nvSpPr>
          <p:cNvPr id="68" name="矩形: 圓角 126">
            <a:extLst>
              <a:ext uri="{FF2B5EF4-FFF2-40B4-BE49-F238E27FC236}">
                <a16:creationId xmlns:a16="http://schemas.microsoft.com/office/drawing/2014/main" id="{CCA705FC-13F6-A64F-BAD3-C5F77EE2AD00}"/>
              </a:ext>
            </a:extLst>
          </p:cNvPr>
          <p:cNvSpPr/>
          <p:nvPr/>
        </p:nvSpPr>
        <p:spPr>
          <a:xfrm>
            <a:off x="9918287" y="4868945"/>
            <a:ext cx="1340840" cy="53479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對策分析</a:t>
            </a:r>
          </a:p>
        </p:txBody>
      </p:sp>
      <p:cxnSp>
        <p:nvCxnSpPr>
          <p:cNvPr id="69" name="直線單箭頭接點 84">
            <a:extLst>
              <a:ext uri="{FF2B5EF4-FFF2-40B4-BE49-F238E27FC236}">
                <a16:creationId xmlns:a16="http://schemas.microsoft.com/office/drawing/2014/main" id="{B916D249-00D6-B440-9BC4-C1B4758264CE}"/>
              </a:ext>
            </a:extLst>
          </p:cNvPr>
          <p:cNvCxnSpPr>
            <a:cxnSpLocks/>
            <a:stCxn id="35" idx="1"/>
            <a:endCxn id="34" idx="3"/>
          </p:cNvCxnSpPr>
          <p:nvPr/>
        </p:nvCxnSpPr>
        <p:spPr>
          <a:xfrm flipH="1">
            <a:off x="9228225" y="3856629"/>
            <a:ext cx="576021" cy="4329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: 圓角 131">
            <a:extLst>
              <a:ext uri="{FF2B5EF4-FFF2-40B4-BE49-F238E27FC236}">
                <a16:creationId xmlns:a16="http://schemas.microsoft.com/office/drawing/2014/main" id="{416C34D6-AF67-D548-A4AB-5E9DAD3593A0}"/>
              </a:ext>
            </a:extLst>
          </p:cNvPr>
          <p:cNvSpPr/>
          <p:nvPr/>
        </p:nvSpPr>
        <p:spPr>
          <a:xfrm>
            <a:off x="7743257" y="5404407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競爭者分析</a:t>
            </a:r>
          </a:p>
        </p:txBody>
      </p:sp>
      <p:cxnSp>
        <p:nvCxnSpPr>
          <p:cNvPr id="71" name="直線單箭頭接點 140">
            <a:extLst>
              <a:ext uri="{FF2B5EF4-FFF2-40B4-BE49-F238E27FC236}">
                <a16:creationId xmlns:a16="http://schemas.microsoft.com/office/drawing/2014/main" id="{E9C81D91-8A7F-534F-9D2F-936E550C3979}"/>
              </a:ext>
            </a:extLst>
          </p:cNvPr>
          <p:cNvCxnSpPr>
            <a:cxnSpLocks/>
            <a:stCxn id="48" idx="3"/>
            <a:endCxn id="75" idx="1"/>
          </p:cNvCxnSpPr>
          <p:nvPr/>
        </p:nvCxnSpPr>
        <p:spPr>
          <a:xfrm flipV="1">
            <a:off x="5141093" y="2562336"/>
            <a:ext cx="2609381" cy="242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線單箭頭接點 142">
            <a:extLst>
              <a:ext uri="{FF2B5EF4-FFF2-40B4-BE49-F238E27FC236}">
                <a16:creationId xmlns:a16="http://schemas.microsoft.com/office/drawing/2014/main" id="{55060F4E-500A-F940-9696-0FC923DDB818}"/>
              </a:ext>
            </a:extLst>
          </p:cNvPr>
          <p:cNvCxnSpPr>
            <a:cxnSpLocks/>
            <a:stCxn id="49" idx="3"/>
            <a:endCxn id="75" idx="1"/>
          </p:cNvCxnSpPr>
          <p:nvPr/>
        </p:nvCxnSpPr>
        <p:spPr>
          <a:xfrm>
            <a:off x="5147338" y="1949055"/>
            <a:ext cx="2603136" cy="613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矩形: 圓角 52">
            <a:extLst>
              <a:ext uri="{FF2B5EF4-FFF2-40B4-BE49-F238E27FC236}">
                <a16:creationId xmlns:a16="http://schemas.microsoft.com/office/drawing/2014/main" id="{2710456C-E8E7-D441-B069-E04870914CAE}"/>
              </a:ext>
            </a:extLst>
          </p:cNvPr>
          <p:cNvSpPr/>
          <p:nvPr/>
        </p:nvSpPr>
        <p:spPr>
          <a:xfrm>
            <a:off x="3800253" y="4315945"/>
            <a:ext cx="1340840" cy="5347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通路</a:t>
            </a:r>
          </a:p>
        </p:txBody>
      </p:sp>
      <p:cxnSp>
        <p:nvCxnSpPr>
          <p:cNvPr id="74" name="直線單箭頭接點 53">
            <a:extLst>
              <a:ext uri="{FF2B5EF4-FFF2-40B4-BE49-F238E27FC236}">
                <a16:creationId xmlns:a16="http://schemas.microsoft.com/office/drawing/2014/main" id="{9966FB61-CAB0-EE46-9091-654FAD08A89B}"/>
              </a:ext>
            </a:extLst>
          </p:cNvPr>
          <p:cNvCxnSpPr>
            <a:cxnSpLocks/>
            <a:stCxn id="38" idx="3"/>
            <a:endCxn id="73" idx="1"/>
          </p:cNvCxnSpPr>
          <p:nvPr/>
        </p:nvCxnSpPr>
        <p:spPr>
          <a:xfrm>
            <a:off x="3004787" y="3877698"/>
            <a:ext cx="795466" cy="705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矩形: 圓角 59">
            <a:extLst>
              <a:ext uri="{FF2B5EF4-FFF2-40B4-BE49-F238E27FC236}">
                <a16:creationId xmlns:a16="http://schemas.microsoft.com/office/drawing/2014/main" id="{478380E7-A185-3C4A-800A-AD664C4F9C8E}"/>
              </a:ext>
            </a:extLst>
          </p:cNvPr>
          <p:cNvSpPr/>
          <p:nvPr/>
        </p:nvSpPr>
        <p:spPr>
          <a:xfrm>
            <a:off x="7750474" y="2294936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市場區隔</a:t>
            </a:r>
          </a:p>
        </p:txBody>
      </p:sp>
      <p:sp>
        <p:nvSpPr>
          <p:cNvPr id="76" name="矩形: 圓角 66">
            <a:extLst>
              <a:ext uri="{FF2B5EF4-FFF2-40B4-BE49-F238E27FC236}">
                <a16:creationId xmlns:a16="http://schemas.microsoft.com/office/drawing/2014/main" id="{4513AB3B-B0FD-2340-84E2-08CE42746BCC}"/>
              </a:ext>
            </a:extLst>
          </p:cNvPr>
          <p:cNvSpPr/>
          <p:nvPr/>
        </p:nvSpPr>
        <p:spPr>
          <a:xfrm>
            <a:off x="7735966" y="2915783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樣貌</a:t>
            </a:r>
          </a:p>
        </p:txBody>
      </p:sp>
      <p:sp>
        <p:nvSpPr>
          <p:cNvPr id="77" name="矩形: 圓角 67">
            <a:extLst>
              <a:ext uri="{FF2B5EF4-FFF2-40B4-BE49-F238E27FC236}">
                <a16:creationId xmlns:a16="http://schemas.microsoft.com/office/drawing/2014/main" id="{D9C2233C-1EE6-4A47-8EE0-FE4DFCC34518}"/>
              </a:ext>
            </a:extLst>
          </p:cNvPr>
          <p:cNvSpPr/>
          <p:nvPr/>
        </p:nvSpPr>
        <p:spPr>
          <a:xfrm>
            <a:off x="7761429" y="3550746"/>
            <a:ext cx="1340840" cy="5347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ea typeface="Microsoft JhengHei" panose="020B0604030504040204" pitchFamily="34" charset="-120"/>
              </a:rPr>
              <a:t>喜好</a:t>
            </a:r>
            <a:endParaRPr lang="en-US" altLang="zh-TW" dirty="0"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200" dirty="0">
                <a:ea typeface="Microsoft JhengHei" panose="020B0604030504040204" pitchFamily="34" charset="-120"/>
              </a:rPr>
              <a:t>(</a:t>
            </a:r>
            <a:r>
              <a:rPr lang="zh-TW" altLang="en-US" sz="1200" dirty="0">
                <a:ea typeface="Microsoft JhengHei" panose="020B0604030504040204" pitchFamily="34" charset="-120"/>
              </a:rPr>
              <a:t>個性</a:t>
            </a:r>
            <a:r>
              <a:rPr lang="en-US" altLang="zh-TW" sz="1200" dirty="0">
                <a:ea typeface="Microsoft JhengHei" panose="020B0604030504040204" pitchFamily="34" charset="-120"/>
              </a:rPr>
              <a:t>,</a:t>
            </a:r>
            <a:r>
              <a:rPr lang="zh-TW" altLang="en-US" sz="1200" dirty="0">
                <a:ea typeface="Microsoft JhengHei" panose="020B0604030504040204" pitchFamily="34" charset="-120"/>
              </a:rPr>
              <a:t>消費模式</a:t>
            </a:r>
            <a:r>
              <a:rPr lang="en-US" altLang="zh-TW" sz="1200" dirty="0">
                <a:ea typeface="Microsoft JhengHei" panose="020B0604030504040204" pitchFamily="34" charset="-120"/>
              </a:rPr>
              <a:t>)</a:t>
            </a:r>
            <a:endParaRPr lang="zh-TW" altLang="en-US" sz="1200" dirty="0">
              <a:ea typeface="Microsoft JhengHei" panose="020B0604030504040204" pitchFamily="34" charset="-120"/>
            </a:endParaRPr>
          </a:p>
        </p:txBody>
      </p:sp>
      <p:cxnSp>
        <p:nvCxnSpPr>
          <p:cNvPr id="78" name="直線單箭頭接點 76">
            <a:extLst>
              <a:ext uri="{FF2B5EF4-FFF2-40B4-BE49-F238E27FC236}">
                <a16:creationId xmlns:a16="http://schemas.microsoft.com/office/drawing/2014/main" id="{FB704BDB-62FC-8A47-BA28-3C1584112653}"/>
              </a:ext>
            </a:extLst>
          </p:cNvPr>
          <p:cNvCxnSpPr>
            <a:cxnSpLocks/>
            <a:stCxn id="52" idx="3"/>
            <a:endCxn id="70" idx="1"/>
          </p:cNvCxnSpPr>
          <p:nvPr/>
        </p:nvCxnSpPr>
        <p:spPr>
          <a:xfrm>
            <a:off x="5126480" y="3691547"/>
            <a:ext cx="2616777" cy="1980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橢圓 79">
            <a:extLst>
              <a:ext uri="{FF2B5EF4-FFF2-40B4-BE49-F238E27FC236}">
                <a16:creationId xmlns:a16="http://schemas.microsoft.com/office/drawing/2014/main" id="{B161E5F8-F124-3C4B-AECE-C2A3C04B4DD0}"/>
              </a:ext>
            </a:extLst>
          </p:cNvPr>
          <p:cNvSpPr/>
          <p:nvPr/>
        </p:nvSpPr>
        <p:spPr>
          <a:xfrm>
            <a:off x="7619229" y="3994383"/>
            <a:ext cx="1586204" cy="81217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Microsoft JhengHei" panose="020B0604030504040204" pitchFamily="34" charset="-12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026E5F80-B7E1-6A45-99BE-8BAB2EA0E7FA}"/>
              </a:ext>
            </a:extLst>
          </p:cNvPr>
          <p:cNvSpPr/>
          <p:nvPr/>
        </p:nvSpPr>
        <p:spPr>
          <a:xfrm>
            <a:off x="7661068" y="5242876"/>
            <a:ext cx="1586204" cy="81217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4668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adroTexto 728">
            <a:extLst>
              <a:ext uri="{FF2B5EF4-FFF2-40B4-BE49-F238E27FC236}">
                <a16:creationId xmlns:a16="http://schemas.microsoft.com/office/drawing/2014/main" id="{C4FA0FC6-0F14-8C44-869F-8056EC96A704}"/>
              </a:ext>
            </a:extLst>
          </p:cNvPr>
          <p:cNvSpPr txBox="1"/>
          <p:nvPr/>
        </p:nvSpPr>
        <p:spPr>
          <a:xfrm>
            <a:off x="190800" y="180000"/>
            <a:ext cx="1983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FOCUS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543E85-9D5E-7C4E-955F-3C3276EE5E1C}"/>
              </a:ext>
            </a:extLst>
          </p:cNvPr>
          <p:cNvSpPr txBox="1"/>
          <p:nvPr/>
        </p:nvSpPr>
        <p:spPr>
          <a:xfrm>
            <a:off x="791504" y="2264865"/>
            <a:ext cx="103407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影響銷售量的重要因素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競爭者分析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評價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口碑分析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銷售預測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9274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adroTexto 728">
            <a:extLst>
              <a:ext uri="{FF2B5EF4-FFF2-40B4-BE49-F238E27FC236}">
                <a16:creationId xmlns:a16="http://schemas.microsoft.com/office/drawing/2014/main" id="{C4FA0FC6-0F14-8C44-869F-8056EC96A704}"/>
              </a:ext>
            </a:extLst>
          </p:cNvPr>
          <p:cNvSpPr txBox="1"/>
          <p:nvPr/>
        </p:nvSpPr>
        <p:spPr>
          <a:xfrm>
            <a:off x="190800" y="180000"/>
            <a:ext cx="45239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The AI Solutions</a:t>
            </a:r>
          </a:p>
        </p:txBody>
      </p:sp>
      <p:sp>
        <p:nvSpPr>
          <p:cNvPr id="10" name="圓角矩形 4">
            <a:extLst>
              <a:ext uri="{FF2B5EF4-FFF2-40B4-BE49-F238E27FC236}">
                <a16:creationId xmlns:a16="http://schemas.microsoft.com/office/drawing/2014/main" id="{C93237F5-36C9-D645-A2D9-BF713B3AA0A4}"/>
              </a:ext>
            </a:extLst>
          </p:cNvPr>
          <p:cNvSpPr/>
          <p:nvPr/>
        </p:nvSpPr>
        <p:spPr>
          <a:xfrm>
            <a:off x="3924672" y="2369503"/>
            <a:ext cx="1659795" cy="996043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問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問題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1" name="直線單箭頭接點 23">
            <a:extLst>
              <a:ext uri="{FF2B5EF4-FFF2-40B4-BE49-F238E27FC236}">
                <a16:creationId xmlns:a16="http://schemas.microsoft.com/office/drawing/2014/main" id="{F6A1F303-0EEF-7A42-A1D5-466F0B7F336E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5584467" y="2866914"/>
            <a:ext cx="723013" cy="611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14" name="圓角矩形 6">
            <a:extLst>
              <a:ext uri="{FF2B5EF4-FFF2-40B4-BE49-F238E27FC236}">
                <a16:creationId xmlns:a16="http://schemas.microsoft.com/office/drawing/2014/main" id="{445B94F5-DEFB-6E4A-884D-FC434FA2B343}"/>
              </a:ext>
            </a:extLst>
          </p:cNvPr>
          <p:cNvSpPr/>
          <p:nvPr/>
        </p:nvSpPr>
        <p:spPr>
          <a:xfrm>
            <a:off x="8713435" y="2368892"/>
            <a:ext cx="1959563" cy="996044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收集相關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歷史資料</a:t>
            </a:r>
          </a:p>
        </p:txBody>
      </p:sp>
      <p:sp>
        <p:nvSpPr>
          <p:cNvPr id="16" name="圓角矩形 6">
            <a:extLst>
              <a:ext uri="{FF2B5EF4-FFF2-40B4-BE49-F238E27FC236}">
                <a16:creationId xmlns:a16="http://schemas.microsoft.com/office/drawing/2014/main" id="{28FE3571-BBC0-974D-8F90-D3F492F54CD1}"/>
              </a:ext>
            </a:extLst>
          </p:cNvPr>
          <p:cNvSpPr/>
          <p:nvPr/>
        </p:nvSpPr>
        <p:spPr>
          <a:xfrm>
            <a:off x="6307480" y="2368892"/>
            <a:ext cx="1659795" cy="996043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將問題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化成函數</a:t>
            </a:r>
          </a:p>
        </p:txBody>
      </p:sp>
      <p:sp>
        <p:nvSpPr>
          <p:cNvPr id="18" name="圓角矩形 6">
            <a:extLst>
              <a:ext uri="{FF2B5EF4-FFF2-40B4-BE49-F238E27FC236}">
                <a16:creationId xmlns:a16="http://schemas.microsoft.com/office/drawing/2014/main" id="{E1ACF14C-9DB4-2844-81C0-2424A836E4ED}"/>
              </a:ext>
            </a:extLst>
          </p:cNvPr>
          <p:cNvSpPr/>
          <p:nvPr/>
        </p:nvSpPr>
        <p:spPr>
          <a:xfrm>
            <a:off x="1502270" y="2369503"/>
            <a:ext cx="1659795" cy="996043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應用領域觀察</a:t>
            </a:r>
          </a:p>
        </p:txBody>
      </p:sp>
      <p:sp>
        <p:nvSpPr>
          <p:cNvPr id="20" name="圓角矩形 6">
            <a:extLst>
              <a:ext uri="{FF2B5EF4-FFF2-40B4-BE49-F238E27FC236}">
                <a16:creationId xmlns:a16="http://schemas.microsoft.com/office/drawing/2014/main" id="{0247D80B-BCC4-2942-B7DB-83A2A92C3A4F}"/>
              </a:ext>
            </a:extLst>
          </p:cNvPr>
          <p:cNvSpPr/>
          <p:nvPr/>
        </p:nvSpPr>
        <p:spPr>
          <a:xfrm>
            <a:off x="1541130" y="4550048"/>
            <a:ext cx="1932754" cy="1061355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選擇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學習模型</a:t>
            </a:r>
          </a:p>
        </p:txBody>
      </p:sp>
      <p:cxnSp>
        <p:nvCxnSpPr>
          <p:cNvPr id="29" name="直線單箭頭接點 33">
            <a:extLst>
              <a:ext uri="{FF2B5EF4-FFF2-40B4-BE49-F238E27FC236}">
                <a16:creationId xmlns:a16="http://schemas.microsoft.com/office/drawing/2014/main" id="{22C66691-5952-0A47-B522-092EE5DB4969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3162065" y="2867525"/>
            <a:ext cx="762607" cy="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32" name="直線單箭頭接點 33">
            <a:extLst>
              <a:ext uri="{FF2B5EF4-FFF2-40B4-BE49-F238E27FC236}">
                <a16:creationId xmlns:a16="http://schemas.microsoft.com/office/drawing/2014/main" id="{63F40C0F-3A75-6A47-88C0-5BA4E68F78C2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7967275" y="2866914"/>
            <a:ext cx="746160" cy="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37" name="圓角矩形 6">
            <a:extLst>
              <a:ext uri="{FF2B5EF4-FFF2-40B4-BE49-F238E27FC236}">
                <a16:creationId xmlns:a16="http://schemas.microsoft.com/office/drawing/2014/main" id="{0047446D-0A2A-E447-A9D7-94259A423504}"/>
              </a:ext>
            </a:extLst>
          </p:cNvPr>
          <p:cNvSpPr/>
          <p:nvPr/>
        </p:nvSpPr>
        <p:spPr>
          <a:xfrm>
            <a:off x="4216126" y="4550048"/>
            <a:ext cx="1932754" cy="1061355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建構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</a:t>
            </a:r>
          </a:p>
        </p:txBody>
      </p:sp>
      <p:cxnSp>
        <p:nvCxnSpPr>
          <p:cNvPr id="40" name="肘形接點 39">
            <a:extLst>
              <a:ext uri="{FF2B5EF4-FFF2-40B4-BE49-F238E27FC236}">
                <a16:creationId xmlns:a16="http://schemas.microsoft.com/office/drawing/2014/main" id="{4031AF2A-C3BC-1040-91EE-23BD1C14DD98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 flipH="1">
            <a:off x="1541130" y="2866914"/>
            <a:ext cx="9131868" cy="2213812"/>
          </a:xfrm>
          <a:prstGeom prst="bentConnector5">
            <a:avLst>
              <a:gd name="adj1" fmla="val -2503"/>
              <a:gd name="adj2" fmla="val 49262"/>
              <a:gd name="adj3" fmla="val 102503"/>
            </a:avLst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43" name="圓角矩形 4">
            <a:extLst>
              <a:ext uri="{FF2B5EF4-FFF2-40B4-BE49-F238E27FC236}">
                <a16:creationId xmlns:a16="http://schemas.microsoft.com/office/drawing/2014/main" id="{73BD8AEA-0CCA-E34F-A6C8-4FF7EFCC29E0}"/>
              </a:ext>
            </a:extLst>
          </p:cNvPr>
          <p:cNvSpPr/>
          <p:nvPr/>
        </p:nvSpPr>
        <p:spPr>
          <a:xfrm>
            <a:off x="6896034" y="4550048"/>
            <a:ext cx="1659795" cy="1061355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回答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2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問題</a:t>
            </a:r>
            <a:endParaRPr lang="en-US" altLang="zh-TW" sz="2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44" name="直線單箭頭接點 33">
            <a:extLst>
              <a:ext uri="{FF2B5EF4-FFF2-40B4-BE49-F238E27FC236}">
                <a16:creationId xmlns:a16="http://schemas.microsoft.com/office/drawing/2014/main" id="{88DA586A-DE5F-4647-AA38-6EC348A9F22C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133427" y="5080115"/>
            <a:ext cx="762607" cy="611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51" name="直線單箭頭接點 33">
            <a:extLst>
              <a:ext uri="{FF2B5EF4-FFF2-40B4-BE49-F238E27FC236}">
                <a16:creationId xmlns:a16="http://schemas.microsoft.com/office/drawing/2014/main" id="{3F4BEA9B-7546-AC48-8B20-8F2AD387FBF3}"/>
              </a:ext>
            </a:extLst>
          </p:cNvPr>
          <p:cNvCxnSpPr>
            <a:cxnSpLocks/>
            <a:stCxn id="20" idx="3"/>
            <a:endCxn id="37" idx="1"/>
          </p:cNvCxnSpPr>
          <p:nvPr/>
        </p:nvCxnSpPr>
        <p:spPr>
          <a:xfrm>
            <a:off x="3473884" y="5080726"/>
            <a:ext cx="742242" cy="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010438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543E85-9D5E-7C4E-955F-3C3276EE5E1C}"/>
              </a:ext>
            </a:extLst>
          </p:cNvPr>
          <p:cNvSpPr txBox="1"/>
          <p:nvPr/>
        </p:nvSpPr>
        <p:spPr>
          <a:xfrm>
            <a:off x="791504" y="2264865"/>
            <a:ext cx="103407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影響銷售量的重要因素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競爭者分析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評價</a:t>
            </a:r>
            <a:r>
              <a:rPr lang="en-US" altLang="zh-TW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口碑分析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銷售預測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CuadroTexto 728">
            <a:extLst>
              <a:ext uri="{FF2B5EF4-FFF2-40B4-BE49-F238E27FC236}">
                <a16:creationId xmlns:a16="http://schemas.microsoft.com/office/drawing/2014/main" id="{3DDB7470-72E8-E542-B9B1-348B087857DD}"/>
              </a:ext>
            </a:extLst>
          </p:cNvPr>
          <p:cNvSpPr txBox="1"/>
          <p:nvPr/>
        </p:nvSpPr>
        <p:spPr>
          <a:xfrm>
            <a:off x="190800" y="180000"/>
            <a:ext cx="1983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4232716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D902F32-F78C-3746-91F9-87AEA0670778}"/>
              </a:ext>
            </a:extLst>
          </p:cNvPr>
          <p:cNvSpPr txBox="1"/>
          <p:nvPr/>
        </p:nvSpPr>
        <p:spPr>
          <a:xfrm>
            <a:off x="779929" y="2626447"/>
            <a:ext cx="10340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請問哪些是影響銷售量的重要因素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</p:txBody>
      </p:sp>
      <p:sp>
        <p:nvSpPr>
          <p:cNvPr id="14" name="CuadroTexto 728">
            <a:extLst>
              <a:ext uri="{FF2B5EF4-FFF2-40B4-BE49-F238E27FC236}">
                <a16:creationId xmlns:a16="http://schemas.microsoft.com/office/drawing/2014/main" id="{F5A6CF1E-497A-2F40-93AA-62FBA34E1F5B}"/>
              </a:ext>
            </a:extLst>
          </p:cNvPr>
          <p:cNvSpPr txBox="1"/>
          <p:nvPr/>
        </p:nvSpPr>
        <p:spPr>
          <a:xfrm>
            <a:off x="190800" y="210133"/>
            <a:ext cx="33297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1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問問題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45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444532-EC6F-8C49-B7B1-D92EDC2AB032}"/>
              </a:ext>
            </a:extLst>
          </p:cNvPr>
          <p:cNvSpPr/>
          <p:nvPr/>
        </p:nvSpPr>
        <p:spPr bwMode="auto">
          <a:xfrm>
            <a:off x="6318349" y="3771137"/>
            <a:ext cx="1877380" cy="115182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2920A543-8BD7-E84E-8A39-74100BA76FDE}"/>
              </a:ext>
            </a:extLst>
          </p:cNvPr>
          <p:cNvSpPr/>
          <p:nvPr/>
        </p:nvSpPr>
        <p:spPr bwMode="auto">
          <a:xfrm>
            <a:off x="5328889" y="4288637"/>
            <a:ext cx="804588" cy="45870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1" name="向右箭號 10">
            <a:extLst>
              <a:ext uri="{FF2B5EF4-FFF2-40B4-BE49-F238E27FC236}">
                <a16:creationId xmlns:a16="http://schemas.microsoft.com/office/drawing/2014/main" id="{92E6F159-8FF5-BA45-B984-0B3659315204}"/>
              </a:ext>
            </a:extLst>
          </p:cNvPr>
          <p:cNvSpPr/>
          <p:nvPr/>
        </p:nvSpPr>
        <p:spPr bwMode="auto">
          <a:xfrm>
            <a:off x="8339708" y="4239067"/>
            <a:ext cx="777397" cy="50827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28FD65-D3EC-3C41-9F3F-971CF4CE1AE1}"/>
              </a:ext>
            </a:extLst>
          </p:cNvPr>
          <p:cNvSpPr/>
          <p:nvPr/>
        </p:nvSpPr>
        <p:spPr>
          <a:xfrm>
            <a:off x="7065873" y="3916475"/>
            <a:ext cx="378630" cy="8308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799" b="1" dirty="0">
                <a:solidFill>
                  <a:schemeClr val="bg1"/>
                </a:solidFill>
                <a:ea typeface="Microsoft JhengHei" panose="020B0604030504040204" pitchFamily="34" charset="-120"/>
              </a:rPr>
              <a:t>f</a:t>
            </a:r>
            <a:endParaRPr lang="zh-TW" altLang="en-US" sz="4799" b="1" dirty="0">
              <a:solidFill>
                <a:schemeClr val="bg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F0CAA66D-BE3B-C348-BA67-B31611C7F8FA}"/>
              </a:ext>
            </a:extLst>
          </p:cNvPr>
          <p:cNvSpPr/>
          <p:nvPr/>
        </p:nvSpPr>
        <p:spPr bwMode="auto">
          <a:xfrm>
            <a:off x="2727217" y="1458781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CCA27B-DD97-574C-971E-508E8B4627E2}"/>
              </a:ext>
            </a:extLst>
          </p:cNvPr>
          <p:cNvSpPr/>
          <p:nvPr/>
        </p:nvSpPr>
        <p:spPr>
          <a:xfrm>
            <a:off x="2975115" y="150116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輸入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C740EAA0-8F2F-014F-90F8-2949C9795626}"/>
              </a:ext>
            </a:extLst>
          </p:cNvPr>
          <p:cNvSpPr/>
          <p:nvPr/>
        </p:nvSpPr>
        <p:spPr bwMode="auto">
          <a:xfrm>
            <a:off x="9634234" y="1446010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solidFill>
                <a:schemeClr val="lt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714E49-88AD-FC41-A742-A03E5854A4B3}"/>
              </a:ext>
            </a:extLst>
          </p:cNvPr>
          <p:cNvSpPr/>
          <p:nvPr/>
        </p:nvSpPr>
        <p:spPr>
          <a:xfrm>
            <a:off x="9882132" y="148839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輸出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6CE427-C7D7-534F-94FA-492DEB9CDD02}"/>
              </a:ext>
            </a:extLst>
          </p:cNvPr>
          <p:cNvSpPr/>
          <p:nvPr/>
        </p:nvSpPr>
        <p:spPr>
          <a:xfrm>
            <a:off x="9403152" y="4279411"/>
            <a:ext cx="25583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>
                <a:ea typeface="Microsoft JhengHei" panose="020B0604030504040204" pitchFamily="34" charset="-120"/>
              </a:rPr>
              <a:t>重要影響因素</a:t>
            </a:r>
          </a:p>
          <a:p>
            <a:endParaRPr lang="zh-TW" altLang="en-US" sz="2800" b="1" dirty="0"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81A3AA-06ED-6547-804B-7AE2D7BEE128}"/>
              </a:ext>
            </a:extLst>
          </p:cNvPr>
          <p:cNvSpPr/>
          <p:nvPr/>
        </p:nvSpPr>
        <p:spPr>
          <a:xfrm>
            <a:off x="506886" y="4279411"/>
            <a:ext cx="53045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>
                <a:ea typeface="Microsoft JhengHei" panose="020B0604030504040204" pitchFamily="34" charset="-120"/>
              </a:rPr>
              <a:t>內外部所有影響因素銷售量</a:t>
            </a:r>
          </a:p>
        </p:txBody>
      </p:sp>
      <p:sp>
        <p:nvSpPr>
          <p:cNvPr id="27" name="CuadroTexto 728">
            <a:extLst>
              <a:ext uri="{FF2B5EF4-FFF2-40B4-BE49-F238E27FC236}">
                <a16:creationId xmlns:a16="http://schemas.microsoft.com/office/drawing/2014/main" id="{D9090E6E-0410-384E-95F2-F6D36D773407}"/>
              </a:ext>
            </a:extLst>
          </p:cNvPr>
          <p:cNvSpPr txBox="1"/>
          <p:nvPr/>
        </p:nvSpPr>
        <p:spPr>
          <a:xfrm>
            <a:off x="190800" y="180000"/>
            <a:ext cx="55867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2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將問題化成函數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034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uadroTexto 728">
            <a:extLst>
              <a:ext uri="{FF2B5EF4-FFF2-40B4-BE49-F238E27FC236}">
                <a16:creationId xmlns:a16="http://schemas.microsoft.com/office/drawing/2014/main" id="{712DB203-F1D8-8141-A802-51FC604E73D7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3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）歷史資料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8E7FF3A-FCE0-EA41-A5D2-F25761F1DAB8}"/>
              </a:ext>
            </a:extLst>
          </p:cNvPr>
          <p:cNvSpPr txBox="1"/>
          <p:nvPr/>
        </p:nvSpPr>
        <p:spPr>
          <a:xfrm>
            <a:off x="5966085" y="13790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7A7E2432-3563-9247-ADB7-E722A8DC17E5}"/>
              </a:ext>
            </a:extLst>
          </p:cNvPr>
          <p:cNvSpPr/>
          <p:nvPr/>
        </p:nvSpPr>
        <p:spPr>
          <a:xfrm>
            <a:off x="8886162" y="1953959"/>
            <a:ext cx="3158148" cy="1548603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A77C2217-4165-2C4D-BDCC-E2E43BC5B111}"/>
              </a:ext>
            </a:extLst>
          </p:cNvPr>
          <p:cNvSpPr/>
          <p:nvPr/>
        </p:nvSpPr>
        <p:spPr>
          <a:xfrm>
            <a:off x="124244" y="1883658"/>
            <a:ext cx="8687770" cy="4884297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63CFC167-6CA8-984B-BA09-D858E65FFB09}"/>
              </a:ext>
            </a:extLst>
          </p:cNvPr>
          <p:cNvSpPr txBox="1"/>
          <p:nvPr/>
        </p:nvSpPr>
        <p:spPr>
          <a:xfrm>
            <a:off x="578525" y="1883658"/>
            <a:ext cx="4461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Input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：所有影響因素和銷售量之間的關係</a:t>
            </a:r>
          </a:p>
        </p:txBody>
      </p:sp>
      <p:graphicFrame>
        <p:nvGraphicFramePr>
          <p:cNvPr id="40" name="表格 9">
            <a:extLst>
              <a:ext uri="{FF2B5EF4-FFF2-40B4-BE49-F238E27FC236}">
                <a16:creationId xmlns:a16="http://schemas.microsoft.com/office/drawing/2014/main" id="{602390C0-B764-5045-AB7C-42C1E0390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01605"/>
              </p:ext>
            </p:extLst>
          </p:nvPr>
        </p:nvGraphicFramePr>
        <p:xfrm>
          <a:off x="578525" y="2432850"/>
          <a:ext cx="4207434" cy="425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330">
                  <a:extLst>
                    <a:ext uri="{9D8B030D-6E8A-4147-A177-3AD203B41FA5}">
                      <a16:colId xmlns:a16="http://schemas.microsoft.com/office/drawing/2014/main" val="1793532398"/>
                    </a:ext>
                  </a:extLst>
                </a:gridCol>
                <a:gridCol w="2969104">
                  <a:extLst>
                    <a:ext uri="{9D8B030D-6E8A-4147-A177-3AD203B41FA5}">
                      <a16:colId xmlns:a16="http://schemas.microsoft.com/office/drawing/2014/main" val="3699370075"/>
                    </a:ext>
                  </a:extLst>
                </a:gridCol>
              </a:tblGrid>
              <a:tr h="352296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外部影響因素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資料處理方式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392912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天氣、氣候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氣溫：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℃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晴、陰、雨：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213905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口碑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（聲量值）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競爭者口碑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(-10 ~ +10)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消費者口碑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(-10 ~ +10)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590173"/>
                  </a:ext>
                </a:extLst>
              </a:tr>
              <a:tr h="2633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替代性商品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種類數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284215"/>
                  </a:ext>
                </a:extLst>
              </a:tr>
              <a:tr h="352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供應商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廠商編碼：（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廠商為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廠商為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）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91898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競爭者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聲量大小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(-10 ~ +10)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市占率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827001"/>
                  </a:ext>
                </a:extLst>
              </a:tr>
              <a:tr h="614419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事件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（政經社會情勢）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影響程度：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(0-10)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906993"/>
                  </a:ext>
                </a:extLst>
              </a:tr>
              <a:tr h="352296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商圈特性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住宅區、住商混合、商業區：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787491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消費者特性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依照目前所得稅課稅級距共五級：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(0,1,2,3,4)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08593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商家特性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食、衣、住、行、育、樂、複合式：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(0,1,2,3,4,5,6)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215841"/>
                  </a:ext>
                </a:extLst>
              </a:tr>
            </a:tbl>
          </a:graphicData>
        </a:graphic>
      </p:graphicFrame>
      <p:graphicFrame>
        <p:nvGraphicFramePr>
          <p:cNvPr id="41" name="表格 4">
            <a:extLst>
              <a:ext uri="{FF2B5EF4-FFF2-40B4-BE49-F238E27FC236}">
                <a16:creationId xmlns:a16="http://schemas.microsoft.com/office/drawing/2014/main" id="{1B5A10D9-E946-8849-ABB3-1F4CFD83A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74785"/>
              </p:ext>
            </p:extLst>
          </p:nvPr>
        </p:nvGraphicFramePr>
        <p:xfrm>
          <a:off x="4860107" y="2714754"/>
          <a:ext cx="3777799" cy="2932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879">
                  <a:extLst>
                    <a:ext uri="{9D8B030D-6E8A-4147-A177-3AD203B41FA5}">
                      <a16:colId xmlns:a16="http://schemas.microsoft.com/office/drawing/2014/main" val="185999602"/>
                    </a:ext>
                  </a:extLst>
                </a:gridCol>
                <a:gridCol w="2665920">
                  <a:extLst>
                    <a:ext uri="{9D8B030D-6E8A-4147-A177-3AD203B41FA5}">
                      <a16:colId xmlns:a16="http://schemas.microsoft.com/office/drawing/2014/main" val="3404029661"/>
                    </a:ext>
                  </a:extLst>
                </a:gridCol>
              </a:tblGrid>
              <a:tr h="357172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內部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影響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資料處理方式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2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新品上市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有新品上市：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，沒新品：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0</a:t>
                      </a:r>
                      <a:endParaRPr lang="zh-TW" altLang="en-US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971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商品擺放位置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門口、中間、末端：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(0,1,2)</a:t>
                      </a:r>
                      <a:endParaRPr lang="zh-TW" altLang="en-US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22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節慶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有節慶：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，沒節慶：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309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商品特性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商品價格：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TWD</a:t>
                      </a: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商品壽命：幾天</a:t>
                      </a:r>
                      <a:endParaRPr lang="en-US" altLang="zh-TW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樣式類型：</a:t>
                      </a:r>
                      <a:endParaRPr lang="en-US" altLang="zh-TW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食、衣、住、行、育、樂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(0,1,2,3,4,5)</a:t>
                      </a:r>
                      <a:endParaRPr lang="zh-TW" altLang="en-US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969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行銷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促銷方案：方案 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、方案 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2……</a:t>
                      </a: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廣告：種類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、種類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2</a:t>
                      </a: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行銷方法：方法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 、方法 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……</a:t>
                      </a:r>
                      <a:endParaRPr lang="zh-TW" altLang="en-US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267616"/>
                  </a:ext>
                </a:extLst>
              </a:tr>
            </a:tbl>
          </a:graphicData>
        </a:graphic>
      </p:graphicFrame>
      <p:sp>
        <p:nvSpPr>
          <p:cNvPr id="42" name="圓角矩形 41">
            <a:extLst>
              <a:ext uri="{FF2B5EF4-FFF2-40B4-BE49-F238E27FC236}">
                <a16:creationId xmlns:a16="http://schemas.microsoft.com/office/drawing/2014/main" id="{72F27BA9-5458-0843-AA17-962B7857EAB0}"/>
              </a:ext>
            </a:extLst>
          </p:cNvPr>
          <p:cNvSpPr/>
          <p:nvPr/>
        </p:nvSpPr>
        <p:spPr>
          <a:xfrm>
            <a:off x="4983007" y="5891703"/>
            <a:ext cx="2202540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商品的銷售量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1E9F8CF-22CA-754B-BFEF-71626A914CF0}"/>
              </a:ext>
            </a:extLst>
          </p:cNvPr>
          <p:cNvSpPr/>
          <p:nvPr/>
        </p:nvSpPr>
        <p:spPr>
          <a:xfrm>
            <a:off x="8886162" y="1983591"/>
            <a:ext cx="30464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Output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：與銷售量關聯度較高的因素</a:t>
            </a:r>
          </a:p>
        </p:txBody>
      </p:sp>
      <p:sp>
        <p:nvSpPr>
          <p:cNvPr id="44" name="圓角矩形 43">
            <a:extLst>
              <a:ext uri="{FF2B5EF4-FFF2-40B4-BE49-F238E27FC236}">
                <a16:creationId xmlns:a16="http://schemas.microsoft.com/office/drawing/2014/main" id="{8A8DA272-1113-3747-912A-FF3098389A42}"/>
              </a:ext>
            </a:extLst>
          </p:cNvPr>
          <p:cNvSpPr/>
          <p:nvPr/>
        </p:nvSpPr>
        <p:spPr>
          <a:xfrm>
            <a:off x="9631352" y="2847127"/>
            <a:ext cx="155608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重要因素</a:t>
            </a:r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903C000-6E7F-5149-AB17-B44141E79D61}"/>
              </a:ext>
            </a:extLst>
          </p:cNvPr>
          <p:cNvSpPr/>
          <p:nvPr/>
        </p:nvSpPr>
        <p:spPr>
          <a:xfrm>
            <a:off x="7925499" y="978505"/>
            <a:ext cx="2202540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重要影響因素分析</a:t>
            </a:r>
          </a:p>
        </p:txBody>
      </p: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9FC0ACA4-8AE1-654F-8509-8371F84F361F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8088923" y="1572063"/>
            <a:ext cx="937846" cy="31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8270EDA1-158B-A044-8A8B-CAC4BA8989A6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9026769" y="1572063"/>
            <a:ext cx="1055077" cy="349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914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728">
            <a:extLst>
              <a:ext uri="{FF2B5EF4-FFF2-40B4-BE49-F238E27FC236}">
                <a16:creationId xmlns:a16="http://schemas.microsoft.com/office/drawing/2014/main" id="{401FAC5C-84AD-934A-849F-0C3DB9D3E447}"/>
              </a:ext>
            </a:extLst>
          </p:cNvPr>
          <p:cNvSpPr txBox="1"/>
          <p:nvPr/>
        </p:nvSpPr>
        <p:spPr>
          <a:xfrm>
            <a:off x="190800" y="180000"/>
            <a:ext cx="90246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4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）選擇</a:t>
            </a:r>
            <a:r>
              <a:rPr lang="en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Feature Selection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的方法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A407BBC-8D75-4F45-9E9E-76324C56F093}"/>
              </a:ext>
            </a:extLst>
          </p:cNvPr>
          <p:cNvSpPr txBox="1"/>
          <p:nvPr/>
        </p:nvSpPr>
        <p:spPr>
          <a:xfrm>
            <a:off x="519227" y="1472753"/>
            <a:ext cx="87001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在考慮</a:t>
            </a:r>
            <a:r>
              <a:rPr lang="zh-TW" altLang="en-US" sz="1600" b="1" i="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哪一些</a:t>
            </a:r>
            <a:r>
              <a:rPr lang="en-US" altLang="zh-TW" sz="1600" b="1" i="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features</a:t>
            </a:r>
            <a:r>
              <a:rPr lang="zh-TW" altLang="en-US" sz="1600" b="1" i="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要被哪來輸入模型時，</a:t>
            </a:r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一般</a:t>
            </a:r>
            <a:r>
              <a:rPr lang="zh-TW" altLang="en-US" sz="1600" b="1" i="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有三種方法：</a:t>
            </a:r>
            <a:r>
              <a:rPr lang="zh-TW" altLang="en-US" sz="1600" i="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過濾、包裝、嵌入</a:t>
            </a:r>
            <a:endParaRPr lang="en-US" altLang="zh-TW" sz="1600" i="0" dirty="0">
              <a:effectLst/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選擇：</a:t>
            </a:r>
            <a:r>
              <a:rPr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過濾法</a:t>
            </a:r>
            <a:endParaRPr lang="en-US" altLang="zh-TW" sz="16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優點：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選出的特徵子集合可以被用在任何</a:t>
            </a:r>
            <a:r>
              <a:rPr lang="en-US" altLang="zh-TW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AI</a:t>
            </a:r>
            <a:r>
              <a:rPr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演算法</a:t>
            </a:r>
            <a:endParaRPr lang="en-US" altLang="zh-TW" sz="16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不會耗費大量電腦資源</a:t>
            </a:r>
            <a:endParaRPr lang="en-US" altLang="zh-TW" sz="16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88A610-444D-EF4E-AB89-2E199B721184}"/>
              </a:ext>
            </a:extLst>
          </p:cNvPr>
          <p:cNvSpPr/>
          <p:nvPr/>
        </p:nvSpPr>
        <p:spPr>
          <a:xfrm>
            <a:off x="519227" y="2856506"/>
            <a:ext cx="9095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過程：</a:t>
            </a:r>
            <a:br>
              <a:rPr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</a:br>
            <a:endParaRPr lang="en-US" altLang="zh-TW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572639C-DE99-3F41-8805-BB0833254229}"/>
              </a:ext>
            </a:extLst>
          </p:cNvPr>
          <p:cNvSpPr/>
          <p:nvPr/>
        </p:nvSpPr>
        <p:spPr>
          <a:xfrm>
            <a:off x="900688" y="3342970"/>
            <a:ext cx="1996719" cy="4986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移除低變異數的特徵</a:t>
            </a:r>
            <a:endParaRPr lang="zh-TW" altLang="en-US" sz="1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7102FE8-95B6-A04C-A131-467475B7FC0B}"/>
              </a:ext>
            </a:extLst>
          </p:cNvPr>
          <p:cNvSpPr/>
          <p:nvPr/>
        </p:nvSpPr>
        <p:spPr>
          <a:xfrm>
            <a:off x="4450080" y="3404704"/>
            <a:ext cx="1996719" cy="4986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400" b="1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單變量特徵選擇</a:t>
            </a:r>
            <a:endParaRPr lang="zh-TW" altLang="en-US" sz="1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37C5D147-4429-8841-BAEF-8C280EEB940D}"/>
              </a:ext>
            </a:extLst>
          </p:cNvPr>
          <p:cNvCxnSpPr/>
          <p:nvPr/>
        </p:nvCxnSpPr>
        <p:spPr>
          <a:xfrm>
            <a:off x="3303270" y="3551720"/>
            <a:ext cx="880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B3ED185D-0B57-004E-BF56-4B71DAB887B8}"/>
              </a:ext>
            </a:extLst>
          </p:cNvPr>
          <p:cNvSpPr/>
          <p:nvPr/>
        </p:nvSpPr>
        <p:spPr>
          <a:xfrm>
            <a:off x="8465818" y="3437052"/>
            <a:ext cx="1996719" cy="4986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400" b="1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得到過濾後的特徵</a:t>
            </a:r>
            <a:endParaRPr lang="en-US" altLang="zh-TW" sz="1400" b="1" dirty="0">
              <a:solidFill>
                <a:srgbClr val="292929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400" b="1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（重要因素）</a:t>
            </a:r>
            <a:endParaRPr lang="zh-TW" altLang="en-US" sz="1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15EEA21D-DA75-434F-A543-11560F0FDEA7}"/>
              </a:ext>
            </a:extLst>
          </p:cNvPr>
          <p:cNvCxnSpPr/>
          <p:nvPr/>
        </p:nvCxnSpPr>
        <p:spPr>
          <a:xfrm>
            <a:off x="7124700" y="3600717"/>
            <a:ext cx="880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4E89CD4-FBFD-FE43-B68A-DA066172003C}"/>
              </a:ext>
            </a:extLst>
          </p:cNvPr>
          <p:cNvSpPr txBox="1"/>
          <p:nvPr/>
        </p:nvSpPr>
        <p:spPr>
          <a:xfrm>
            <a:off x="768248" y="4397372"/>
            <a:ext cx="24513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scikit-learn</a:t>
            </a:r>
            <a:r>
              <a:rPr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底下的</a:t>
            </a:r>
            <a:r>
              <a:rPr lang="en" altLang="zh-TW" sz="14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VarianceThreshold</a:t>
            </a:r>
            <a:r>
              <a:rPr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套件來篩選沒有必要的特徵</a:t>
            </a:r>
            <a:endParaRPr lang="en-US" altLang="zh-TW" sz="1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這邊將閥值</a:t>
            </a:r>
            <a:r>
              <a:rPr lang="en-US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threshold)</a:t>
            </a:r>
            <a:r>
              <a:rPr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為</a:t>
            </a:r>
            <a:r>
              <a:rPr lang="en-US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0.16,</a:t>
            </a:r>
            <a:r>
              <a:rPr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表示其變異程度低於</a:t>
            </a:r>
            <a:r>
              <a:rPr lang="en-US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0.16</a:t>
            </a:r>
            <a:r>
              <a:rPr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就會被</a:t>
            </a:r>
            <a:r>
              <a:rPr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removed</a:t>
            </a:r>
            <a:endParaRPr kumimoji="1" lang="zh-TW" altLang="en-US" sz="1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AE026205-AF57-DA41-A78A-B12EA8C14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87" y="3903359"/>
            <a:ext cx="1996719" cy="43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645CF94-79AD-0140-AF30-A3F36DB406AE}"/>
              </a:ext>
            </a:extLst>
          </p:cNvPr>
          <p:cNvSpPr/>
          <p:nvPr/>
        </p:nvSpPr>
        <p:spPr>
          <a:xfrm>
            <a:off x="3600546" y="3935707"/>
            <a:ext cx="44842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單獨計算每個</a:t>
            </a:r>
            <a:r>
              <a:rPr lang="en" altLang="zh-TW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feature</a:t>
            </a:r>
            <a:r>
              <a:rPr lang="zh-TW" altLang="en-US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的跟目標的關係，根據得到的關係指標判斷哪些</a:t>
            </a:r>
            <a:r>
              <a:rPr lang="en" altLang="zh-TW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feature</a:t>
            </a:r>
            <a:r>
              <a:rPr lang="zh-TW" altLang="en-US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重要，剔除那些不重要的</a:t>
            </a:r>
            <a:r>
              <a:rPr lang="en" altLang="zh-TW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feature</a:t>
            </a:r>
          </a:p>
          <a:p>
            <a:endParaRPr lang="en" altLang="zh-TW" sz="1200" dirty="0">
              <a:solidFill>
                <a:srgbClr val="292929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zh-TW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Regression: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en" altLang="zh-TW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Pearson correlation coefficient</a:t>
            </a: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去衡量特徵和目標之間關係的強度：</a:t>
            </a:r>
            <a:r>
              <a:rPr lang="en-US" altLang="zh-TW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 </a:t>
            </a: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表示正相關，－</a:t>
            </a:r>
            <a:r>
              <a:rPr lang="en-US" altLang="zh-TW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 </a:t>
            </a: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表示負相關，</a:t>
            </a:r>
            <a:r>
              <a:rPr lang="en-US" altLang="zh-TW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0 </a:t>
            </a: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表示沒有線性相關存在兩個變數之間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這邊則選擇移除和目標相關度小於</a:t>
            </a:r>
            <a:r>
              <a:rPr lang="en-US" altLang="zh-TW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0.5</a:t>
            </a:r>
            <a:r>
              <a:rPr lang="zh-TW" altLang="en-US" sz="1200" dirty="0">
                <a:solidFill>
                  <a:srgbClr val="292929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的特徵</a:t>
            </a:r>
            <a:endParaRPr lang="en" altLang="zh-TW" sz="1200" dirty="0">
              <a:solidFill>
                <a:srgbClr val="292929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" altLang="zh-TW" sz="1200" dirty="0">
              <a:solidFill>
                <a:srgbClr val="292929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Classification: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使用</a:t>
            </a:r>
            <a:r>
              <a:rPr lang="en-US" altLang="zh-TW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chi-</a:t>
            </a:r>
            <a:r>
              <a:rPr lang="en-US" altLang="zh-TW" sz="1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sqrare</a:t>
            </a: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計算分數</a:t>
            </a:r>
            <a:endParaRPr lang="en-US" altLang="zh-TW" sz="1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用</a:t>
            </a:r>
            <a:r>
              <a:rPr lang="en-US" altLang="zh-TW" sz="1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SelectPercentile</a:t>
            </a: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移除得分在</a:t>
            </a:r>
            <a:r>
              <a:rPr lang="en-US" altLang="zh-TW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50%</a:t>
            </a:r>
            <a:r>
              <a:rPr lang="zh-TW" altLang="en-US" sz="1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之後的特徵</a:t>
            </a:r>
            <a:endParaRPr lang="en-US" altLang="zh-TW" sz="1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719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728">
            <a:extLst>
              <a:ext uri="{FF2B5EF4-FFF2-40B4-BE49-F238E27FC236}">
                <a16:creationId xmlns:a16="http://schemas.microsoft.com/office/drawing/2014/main" id="{C6ED7460-76F4-1449-841F-0547682E2327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5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）回答問題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6EB604C-C657-6F49-8350-02FE72D7076E}"/>
              </a:ext>
            </a:extLst>
          </p:cNvPr>
          <p:cNvSpPr txBox="1"/>
          <p:nvPr/>
        </p:nvSpPr>
        <p:spPr>
          <a:xfrm>
            <a:off x="779929" y="2626447"/>
            <a:ext cx="10340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請問哪些是影響銷售量的重要因素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en-US" altLang="zh-TW" sz="4800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41BAD9-D8C3-9A43-93A0-52B972217659}"/>
              </a:ext>
            </a:extLst>
          </p:cNvPr>
          <p:cNvSpPr txBox="1"/>
          <p:nvPr/>
        </p:nvSpPr>
        <p:spPr>
          <a:xfrm>
            <a:off x="10721349" y="2598003"/>
            <a:ext cx="1514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</a:p>
        </p:txBody>
      </p:sp>
    </p:spTree>
    <p:extLst>
      <p:ext uri="{BB962C8B-B14F-4D97-AF65-F5344CB8AC3E}">
        <p14:creationId xmlns:p14="http://schemas.microsoft.com/office/powerpoint/2010/main" val="2883041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543E85-9D5E-7C4E-955F-3C3276EE5E1C}"/>
              </a:ext>
            </a:extLst>
          </p:cNvPr>
          <p:cNvSpPr txBox="1"/>
          <p:nvPr/>
        </p:nvSpPr>
        <p:spPr>
          <a:xfrm>
            <a:off x="791504" y="2264865"/>
            <a:ext cx="103407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影響銷售量的重要因素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競爭者分析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評價</a:t>
            </a:r>
            <a:r>
              <a:rPr lang="en-US" altLang="zh-TW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口碑分析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銷售預測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CuadroTexto 728">
            <a:extLst>
              <a:ext uri="{FF2B5EF4-FFF2-40B4-BE49-F238E27FC236}">
                <a16:creationId xmlns:a16="http://schemas.microsoft.com/office/drawing/2014/main" id="{0E6229B4-EB7F-8B46-8640-7A49E6CAED54}"/>
              </a:ext>
            </a:extLst>
          </p:cNvPr>
          <p:cNvSpPr txBox="1"/>
          <p:nvPr/>
        </p:nvSpPr>
        <p:spPr>
          <a:xfrm>
            <a:off x="190800" y="180000"/>
            <a:ext cx="1983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303159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D902F32-F78C-3746-91F9-87AEA0670778}"/>
              </a:ext>
            </a:extLst>
          </p:cNvPr>
          <p:cNvSpPr txBox="1"/>
          <p:nvPr/>
        </p:nvSpPr>
        <p:spPr>
          <a:xfrm>
            <a:off x="868680" y="2596611"/>
            <a:ext cx="98724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能不能找出競爭者？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能不能找出具競爭力的項目？</a:t>
            </a:r>
          </a:p>
        </p:txBody>
      </p:sp>
      <p:sp>
        <p:nvSpPr>
          <p:cNvPr id="10" name="CuadroTexto 728">
            <a:extLst>
              <a:ext uri="{FF2B5EF4-FFF2-40B4-BE49-F238E27FC236}">
                <a16:creationId xmlns:a16="http://schemas.microsoft.com/office/drawing/2014/main" id="{68B8F7B1-E8F4-F04F-8034-F2C7567D1B36}"/>
              </a:ext>
            </a:extLst>
          </p:cNvPr>
          <p:cNvSpPr txBox="1"/>
          <p:nvPr/>
        </p:nvSpPr>
        <p:spPr>
          <a:xfrm>
            <a:off x="190800" y="210133"/>
            <a:ext cx="33297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1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問問題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148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444532-EC6F-8C49-B7B1-D92EDC2AB032}"/>
              </a:ext>
            </a:extLst>
          </p:cNvPr>
          <p:cNvSpPr/>
          <p:nvPr/>
        </p:nvSpPr>
        <p:spPr bwMode="auto">
          <a:xfrm>
            <a:off x="6318349" y="3771137"/>
            <a:ext cx="1877380" cy="115182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2920A543-8BD7-E84E-8A39-74100BA76FDE}"/>
              </a:ext>
            </a:extLst>
          </p:cNvPr>
          <p:cNvSpPr/>
          <p:nvPr/>
        </p:nvSpPr>
        <p:spPr bwMode="auto">
          <a:xfrm>
            <a:off x="5328889" y="4288637"/>
            <a:ext cx="804588" cy="45870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1" name="向右箭號 10">
            <a:extLst>
              <a:ext uri="{FF2B5EF4-FFF2-40B4-BE49-F238E27FC236}">
                <a16:creationId xmlns:a16="http://schemas.microsoft.com/office/drawing/2014/main" id="{92E6F159-8FF5-BA45-B984-0B3659315204}"/>
              </a:ext>
            </a:extLst>
          </p:cNvPr>
          <p:cNvSpPr/>
          <p:nvPr/>
        </p:nvSpPr>
        <p:spPr bwMode="auto">
          <a:xfrm>
            <a:off x="8339708" y="4239067"/>
            <a:ext cx="777397" cy="50827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28FD65-D3EC-3C41-9F3F-971CF4CE1AE1}"/>
              </a:ext>
            </a:extLst>
          </p:cNvPr>
          <p:cNvSpPr/>
          <p:nvPr/>
        </p:nvSpPr>
        <p:spPr>
          <a:xfrm>
            <a:off x="7065873" y="3916475"/>
            <a:ext cx="378630" cy="8308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799" b="1" dirty="0">
                <a:solidFill>
                  <a:schemeClr val="bg1"/>
                </a:solidFill>
                <a:ea typeface="Microsoft JhengHei" panose="020B0604030504040204" pitchFamily="34" charset="-120"/>
              </a:rPr>
              <a:t>f</a:t>
            </a:r>
            <a:endParaRPr lang="zh-TW" altLang="en-US" sz="4799" b="1" dirty="0">
              <a:solidFill>
                <a:schemeClr val="bg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F0CAA66D-BE3B-C348-BA67-B31611C7F8FA}"/>
              </a:ext>
            </a:extLst>
          </p:cNvPr>
          <p:cNvSpPr/>
          <p:nvPr/>
        </p:nvSpPr>
        <p:spPr bwMode="auto">
          <a:xfrm>
            <a:off x="2727217" y="1458781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CCA27B-DD97-574C-971E-508E8B4627E2}"/>
              </a:ext>
            </a:extLst>
          </p:cNvPr>
          <p:cNvSpPr/>
          <p:nvPr/>
        </p:nvSpPr>
        <p:spPr>
          <a:xfrm>
            <a:off x="2975115" y="150116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輸入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C740EAA0-8F2F-014F-90F8-2949C9795626}"/>
              </a:ext>
            </a:extLst>
          </p:cNvPr>
          <p:cNvSpPr/>
          <p:nvPr/>
        </p:nvSpPr>
        <p:spPr bwMode="auto">
          <a:xfrm>
            <a:off x="9634234" y="1446010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solidFill>
                <a:schemeClr val="lt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714E49-88AD-FC41-A742-A03E5854A4B3}"/>
              </a:ext>
            </a:extLst>
          </p:cNvPr>
          <p:cNvSpPr/>
          <p:nvPr/>
        </p:nvSpPr>
        <p:spPr>
          <a:xfrm>
            <a:off x="9882132" y="148839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輸出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988CFC-017C-A64D-BAFC-816BF9ED5692}"/>
              </a:ext>
            </a:extLst>
          </p:cNvPr>
          <p:cNvSpPr/>
          <p:nvPr/>
        </p:nvSpPr>
        <p:spPr>
          <a:xfrm>
            <a:off x="2542976" y="2093539"/>
            <a:ext cx="43610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競爭者資訊</a:t>
            </a:r>
            <a:endParaRPr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1BEBB87-179A-024C-94AC-011AEEFBA6D5}"/>
              </a:ext>
            </a:extLst>
          </p:cNvPr>
          <p:cNvSpPr/>
          <p:nvPr/>
        </p:nvSpPr>
        <p:spPr>
          <a:xfrm>
            <a:off x="9245530" y="2093539"/>
            <a:ext cx="2073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是否為競爭者</a:t>
            </a:r>
            <a:endParaRPr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6CE427-C7D7-534F-94FA-492DEB9CDD02}"/>
              </a:ext>
            </a:extLst>
          </p:cNvPr>
          <p:cNvSpPr/>
          <p:nvPr/>
        </p:nvSpPr>
        <p:spPr>
          <a:xfrm>
            <a:off x="9433406" y="3931660"/>
            <a:ext cx="17919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競爭者評比競爭力</a:t>
            </a:r>
            <a:endParaRPr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81A3AA-06ED-6547-804B-7AE2D7BEE128}"/>
              </a:ext>
            </a:extLst>
          </p:cNvPr>
          <p:cNvSpPr/>
          <p:nvPr/>
        </p:nvSpPr>
        <p:spPr>
          <a:xfrm>
            <a:off x="392505" y="3080025"/>
            <a:ext cx="530457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ea typeface="Microsoft JhengHei" panose="020B0604030504040204" pitchFamily="34" charset="-120"/>
              </a:rPr>
              <a:t>•分區的店舖數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N</a:t>
            </a:r>
            <a:endParaRPr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r>
              <a:rPr lang="zh-TW" altLang="en-US" dirty="0">
                <a:ea typeface="Microsoft JhengHei" panose="020B0604030504040204" pitchFamily="34" charset="-120"/>
              </a:rPr>
              <a:t>•北、中、南、東、離島 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5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</a:t>
            </a:r>
            <a:endParaRPr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r>
              <a:rPr lang="zh-TW" altLang="en-US" dirty="0">
                <a:ea typeface="Microsoft JhengHei" panose="020B0604030504040204" pitchFamily="34" charset="-120"/>
              </a:rPr>
              <a:t>•商圈型態 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商業、學校、住宅 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</a:t>
            </a:r>
            <a:endParaRPr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r>
              <a:rPr lang="zh-TW" altLang="en-US" dirty="0">
                <a:ea typeface="Microsoft JhengHei" panose="020B0604030504040204" pitchFamily="34" charset="-120"/>
              </a:rPr>
              <a:t>•分區/里人數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10,000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人～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50,000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人</a:t>
            </a:r>
          </a:p>
          <a:p>
            <a:r>
              <a:rPr lang="zh-TW" altLang="en-US" dirty="0">
                <a:ea typeface="Microsoft JhengHei" panose="020B0604030504040204" pitchFamily="34" charset="-120"/>
              </a:rPr>
              <a:t>•種類：生鮮蔬果、五金、食物、民生用品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5</a:t>
            </a:r>
            <a:endParaRPr lang="zh-TW" altLang="en-US" dirty="0">
              <a:ea typeface="Microsoft JhengHei" panose="020B0604030504040204" pitchFamily="34" charset="-120"/>
            </a:endParaRPr>
          </a:p>
          <a:p>
            <a:r>
              <a:rPr lang="zh-TW" altLang="en-US" dirty="0">
                <a:ea typeface="Microsoft JhengHei" panose="020B0604030504040204" pitchFamily="34" charset="-120"/>
              </a:rPr>
              <a:t>•品牌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N</a:t>
            </a:r>
            <a:endParaRPr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r>
              <a:rPr lang="zh-TW" altLang="en-US" dirty="0">
                <a:ea typeface="Microsoft JhengHei" panose="020B0604030504040204" pitchFamily="34" charset="-120"/>
              </a:rPr>
              <a:t>•營業時數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24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小時、12小時、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8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小時 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</a:t>
            </a:r>
            <a:endParaRPr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r>
              <a:rPr lang="zh-TW" altLang="en-US" dirty="0">
                <a:ea typeface="Microsoft JhengHei" panose="020B0604030504040204" pitchFamily="34" charset="-120"/>
              </a:rPr>
              <a:t>•營業時間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0:00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24:00/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9:00～21:30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10:00~22:30</a:t>
            </a:r>
          </a:p>
          <a:p>
            <a:r>
              <a:rPr lang="zh-TW" altLang="en-US" dirty="0">
                <a:ea typeface="Microsoft JhengHei" panose="020B0604030504040204" pitchFamily="34" charset="-120"/>
              </a:rPr>
              <a:t>•銷售- 網路、宅配、一日配、即時配 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～</a:t>
            </a:r>
            <a:r>
              <a:rPr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4</a:t>
            </a:r>
            <a:endParaRPr lang="zh-TW" altLang="en-US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4" name="CuadroTexto 728">
            <a:extLst>
              <a:ext uri="{FF2B5EF4-FFF2-40B4-BE49-F238E27FC236}">
                <a16:creationId xmlns:a16="http://schemas.microsoft.com/office/drawing/2014/main" id="{86E9D364-838F-C245-A750-39F411B2D750}"/>
              </a:ext>
            </a:extLst>
          </p:cNvPr>
          <p:cNvSpPr txBox="1"/>
          <p:nvPr/>
        </p:nvSpPr>
        <p:spPr>
          <a:xfrm>
            <a:off x="190800" y="180000"/>
            <a:ext cx="55867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2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將問題化成函數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170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B7A69F4A-8A9E-444C-95E7-5053007956CE}"/>
              </a:ext>
            </a:extLst>
          </p:cNvPr>
          <p:cNvSpPr/>
          <p:nvPr/>
        </p:nvSpPr>
        <p:spPr>
          <a:xfrm>
            <a:off x="9398115" y="2385955"/>
            <a:ext cx="2141064" cy="4246622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C76CB538-670D-4040-8D95-6265DB1E998E}"/>
              </a:ext>
            </a:extLst>
          </p:cNvPr>
          <p:cNvSpPr/>
          <p:nvPr/>
        </p:nvSpPr>
        <p:spPr>
          <a:xfrm>
            <a:off x="113215" y="2382526"/>
            <a:ext cx="8564892" cy="4250051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74C5626-AA28-A74F-9A01-6EC6A31E4903}"/>
              </a:ext>
            </a:extLst>
          </p:cNvPr>
          <p:cNvSpPr/>
          <p:nvPr/>
        </p:nvSpPr>
        <p:spPr>
          <a:xfrm>
            <a:off x="7992528" y="1286078"/>
            <a:ext cx="1555679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競爭者分析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5E39DA3C-BA33-C341-807F-DE2182E1CAEB}"/>
              </a:ext>
            </a:extLst>
          </p:cNvPr>
          <p:cNvSpPr/>
          <p:nvPr/>
        </p:nvSpPr>
        <p:spPr>
          <a:xfrm>
            <a:off x="370123" y="2999986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分區店舖數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9D8BA002-4A4D-4F40-8AEB-983C5250B2E5}"/>
              </a:ext>
            </a:extLst>
          </p:cNvPr>
          <p:cNvSpPr/>
          <p:nvPr/>
        </p:nvSpPr>
        <p:spPr>
          <a:xfrm>
            <a:off x="370123" y="3858008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區域展店數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1287CB99-48D4-374E-9A4F-FD6DD7341B23}"/>
              </a:ext>
            </a:extLst>
          </p:cNvPr>
          <p:cNvSpPr/>
          <p:nvPr/>
        </p:nvSpPr>
        <p:spPr>
          <a:xfrm>
            <a:off x="370123" y="4699998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商圈型態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4486482D-5CE6-1849-9DF2-00AFEF2DAB23}"/>
              </a:ext>
            </a:extLst>
          </p:cNvPr>
          <p:cNvSpPr/>
          <p:nvPr/>
        </p:nvSpPr>
        <p:spPr>
          <a:xfrm>
            <a:off x="370123" y="5574067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商品種類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D1156A51-3F3C-EC4B-B0F0-FFFCA0D01E82}"/>
              </a:ext>
            </a:extLst>
          </p:cNvPr>
          <p:cNvSpPr/>
          <p:nvPr/>
        </p:nvSpPr>
        <p:spPr>
          <a:xfrm>
            <a:off x="4403662" y="4720039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營業時間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F2A3DB95-3A6D-5441-BD3C-10212B05A0A6}"/>
              </a:ext>
            </a:extLst>
          </p:cNvPr>
          <p:cNvSpPr/>
          <p:nvPr/>
        </p:nvSpPr>
        <p:spPr>
          <a:xfrm>
            <a:off x="4403662" y="2999995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品牌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1320C996-0C41-B54E-A018-B3BB967F5949}"/>
              </a:ext>
            </a:extLst>
          </p:cNvPr>
          <p:cNvSpPr/>
          <p:nvPr/>
        </p:nvSpPr>
        <p:spPr>
          <a:xfrm>
            <a:off x="4403662" y="3825930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營業時數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0132042E-9B4D-BD44-B1AC-E96E60B38EA3}"/>
              </a:ext>
            </a:extLst>
          </p:cNvPr>
          <p:cNvSpPr/>
          <p:nvPr/>
        </p:nvSpPr>
        <p:spPr>
          <a:xfrm>
            <a:off x="2324357" y="3008005"/>
            <a:ext cx="1704624" cy="5693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區域店舖密度</a:t>
            </a:r>
            <a:endParaRPr lang="en-US" altLang="zh-TW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店舖數</a:t>
            </a:r>
            <a:r>
              <a:rPr lang="en-US" altLang="zh-TW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面積</a:t>
            </a:r>
          </a:p>
        </p:txBody>
      </p:sp>
      <p:cxnSp>
        <p:nvCxnSpPr>
          <p:cNvPr id="25" name="直線單箭頭接點 25">
            <a:extLst>
              <a:ext uri="{FF2B5EF4-FFF2-40B4-BE49-F238E27FC236}">
                <a16:creationId xmlns:a16="http://schemas.microsoft.com/office/drawing/2014/main" id="{9B6D18B8-7921-484C-BCEA-B144D792EC04}"/>
              </a:ext>
            </a:extLst>
          </p:cNvPr>
          <p:cNvCxnSpPr>
            <a:stCxn id="16" idx="3"/>
            <a:endCxn id="24" idx="1"/>
          </p:cNvCxnSpPr>
          <p:nvPr/>
        </p:nvCxnSpPr>
        <p:spPr>
          <a:xfrm flipV="1">
            <a:off x="1894080" y="3292678"/>
            <a:ext cx="430277" cy="4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35806164-60B5-CF43-BDC9-2AFD24AD1BDA}"/>
              </a:ext>
            </a:extLst>
          </p:cNvPr>
          <p:cNvSpPr/>
          <p:nvPr/>
        </p:nvSpPr>
        <p:spPr>
          <a:xfrm>
            <a:off x="2339034" y="3739730"/>
            <a:ext cx="1704624" cy="8299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區域涵蓋率</a:t>
            </a:r>
            <a:endParaRPr lang="en-US" altLang="zh-TW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店舖數</a:t>
            </a:r>
            <a:r>
              <a:rPr lang="en-US" altLang="zh-TW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</a:t>
            </a:r>
            <a:r>
              <a:rPr lang="zh-TW" altLang="en-US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面積</a:t>
            </a:r>
          </a:p>
        </p:txBody>
      </p:sp>
      <p:cxnSp>
        <p:nvCxnSpPr>
          <p:cNvPr id="28" name="直線單箭頭接點 29">
            <a:extLst>
              <a:ext uri="{FF2B5EF4-FFF2-40B4-BE49-F238E27FC236}">
                <a16:creationId xmlns:a16="http://schemas.microsoft.com/office/drawing/2014/main" id="{287E6CCF-580F-D241-8F37-659975B8A859}"/>
              </a:ext>
            </a:extLst>
          </p:cNvPr>
          <p:cNvCxnSpPr>
            <a:stCxn id="18" idx="3"/>
            <a:endCxn id="27" idx="1"/>
          </p:cNvCxnSpPr>
          <p:nvPr/>
        </p:nvCxnSpPr>
        <p:spPr>
          <a:xfrm>
            <a:off x="1894080" y="4154710"/>
            <a:ext cx="4449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BFE4DDAD-152E-B840-9E68-D111C7FAB3BC}"/>
              </a:ext>
            </a:extLst>
          </p:cNvPr>
          <p:cNvSpPr/>
          <p:nvPr/>
        </p:nvSpPr>
        <p:spPr>
          <a:xfrm>
            <a:off x="2324357" y="4631835"/>
            <a:ext cx="1704624" cy="7297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商業、學校、住宅</a:t>
            </a:r>
            <a:endParaRPr lang="en-US" altLang="zh-TW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en-US" altLang="zh-TW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3</a:t>
            </a:r>
            <a:r>
              <a:rPr lang="zh-TW" altLang="en-US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～</a:t>
            </a:r>
            <a:r>
              <a:rPr lang="en-US" altLang="zh-TW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</a:t>
            </a:r>
            <a:endParaRPr lang="zh-TW" altLang="en-US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C1E75092-DC67-EC42-9924-AE53FDC160B3}"/>
              </a:ext>
            </a:extLst>
          </p:cNvPr>
          <p:cNvSpPr/>
          <p:nvPr/>
        </p:nvSpPr>
        <p:spPr>
          <a:xfrm>
            <a:off x="2324357" y="5457791"/>
            <a:ext cx="1704624" cy="8139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生鮮蔬果、五金、食物、民生用品</a:t>
            </a:r>
            <a:endParaRPr lang="en-US" altLang="zh-TW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en-US" altLang="zh-TW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zh-TW" altLang="en-US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～</a:t>
            </a:r>
            <a:r>
              <a:rPr lang="en-US" altLang="zh-TW" sz="1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5</a:t>
            </a:r>
            <a:endParaRPr lang="zh-TW" altLang="en-US" sz="1400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1" name="直線單箭頭接點 39">
            <a:extLst>
              <a:ext uri="{FF2B5EF4-FFF2-40B4-BE49-F238E27FC236}">
                <a16:creationId xmlns:a16="http://schemas.microsoft.com/office/drawing/2014/main" id="{0646F182-997E-6D40-BDD2-8F0C5C381E26}"/>
              </a:ext>
            </a:extLst>
          </p:cNvPr>
          <p:cNvCxnSpPr>
            <a:stCxn id="19" idx="3"/>
            <a:endCxn id="29" idx="1"/>
          </p:cNvCxnSpPr>
          <p:nvPr/>
        </p:nvCxnSpPr>
        <p:spPr>
          <a:xfrm>
            <a:off x="1894080" y="4996700"/>
            <a:ext cx="4302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43">
            <a:extLst>
              <a:ext uri="{FF2B5EF4-FFF2-40B4-BE49-F238E27FC236}">
                <a16:creationId xmlns:a16="http://schemas.microsoft.com/office/drawing/2014/main" id="{F6A61083-CA19-EC43-B6C4-8B72293A49C7}"/>
              </a:ext>
            </a:extLst>
          </p:cNvPr>
          <p:cNvCxnSpPr>
            <a:stCxn id="20" idx="3"/>
            <a:endCxn id="30" idx="1"/>
          </p:cNvCxnSpPr>
          <p:nvPr/>
        </p:nvCxnSpPr>
        <p:spPr>
          <a:xfrm flipV="1">
            <a:off x="1894080" y="5864757"/>
            <a:ext cx="430277" cy="60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46C05C63-59A5-5443-AED7-25AEA2937B97}"/>
              </a:ext>
            </a:extLst>
          </p:cNvPr>
          <p:cNvSpPr/>
          <p:nvPr/>
        </p:nvSpPr>
        <p:spPr>
          <a:xfrm>
            <a:off x="6412204" y="3012024"/>
            <a:ext cx="1704624" cy="5693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種類</a:t>
            </a:r>
            <a:endParaRPr lang="en-US" altLang="zh-TW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10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～</a:t>
            </a:r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100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＋</a:t>
            </a: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7BF11631-02C8-5845-B81C-15F11AADBA16}"/>
              </a:ext>
            </a:extLst>
          </p:cNvPr>
          <p:cNvSpPr/>
          <p:nvPr/>
        </p:nvSpPr>
        <p:spPr>
          <a:xfrm>
            <a:off x="6412204" y="3809892"/>
            <a:ext cx="1704624" cy="6254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8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小時、</a:t>
            </a:r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12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小時、</a:t>
            </a:r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24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小時</a:t>
            </a:r>
            <a:endParaRPr lang="en-US" altLang="zh-TW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5" name="直線單箭頭接點 52">
            <a:extLst>
              <a:ext uri="{FF2B5EF4-FFF2-40B4-BE49-F238E27FC236}">
                <a16:creationId xmlns:a16="http://schemas.microsoft.com/office/drawing/2014/main" id="{120884D3-B72C-6745-B018-84FA89394C63}"/>
              </a:ext>
            </a:extLst>
          </p:cNvPr>
          <p:cNvCxnSpPr>
            <a:stCxn id="22" idx="3"/>
            <a:endCxn id="33" idx="1"/>
          </p:cNvCxnSpPr>
          <p:nvPr/>
        </p:nvCxnSpPr>
        <p:spPr>
          <a:xfrm>
            <a:off x="5927619" y="3296697"/>
            <a:ext cx="4845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55">
            <a:extLst>
              <a:ext uri="{FF2B5EF4-FFF2-40B4-BE49-F238E27FC236}">
                <a16:creationId xmlns:a16="http://schemas.microsoft.com/office/drawing/2014/main" id="{6400BC1D-6C9E-024B-8E75-5E6EEB0935ED}"/>
              </a:ext>
            </a:extLst>
          </p:cNvPr>
          <p:cNvCxnSpPr>
            <a:stCxn id="23" idx="3"/>
            <a:endCxn id="34" idx="1"/>
          </p:cNvCxnSpPr>
          <p:nvPr/>
        </p:nvCxnSpPr>
        <p:spPr>
          <a:xfrm>
            <a:off x="5927619" y="4122632"/>
            <a:ext cx="48458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9E9E9E9E-5551-8242-B47E-B5C6280D8540}"/>
              </a:ext>
            </a:extLst>
          </p:cNvPr>
          <p:cNvSpPr/>
          <p:nvPr/>
        </p:nvSpPr>
        <p:spPr>
          <a:xfrm>
            <a:off x="6484374" y="4631827"/>
            <a:ext cx="1704624" cy="874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0:00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～</a:t>
            </a:r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24:00</a:t>
            </a:r>
          </a:p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9:00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～</a:t>
            </a:r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21:30</a:t>
            </a:r>
          </a:p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10:00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～</a:t>
            </a:r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22:30</a:t>
            </a:r>
          </a:p>
        </p:txBody>
      </p:sp>
      <p:cxnSp>
        <p:nvCxnSpPr>
          <p:cNvPr id="38" name="直線單箭頭接點 65">
            <a:extLst>
              <a:ext uri="{FF2B5EF4-FFF2-40B4-BE49-F238E27FC236}">
                <a16:creationId xmlns:a16="http://schemas.microsoft.com/office/drawing/2014/main" id="{E2CC843B-3BF1-1A43-B31B-9DDE5FE91966}"/>
              </a:ext>
            </a:extLst>
          </p:cNvPr>
          <p:cNvCxnSpPr>
            <a:endCxn id="37" idx="1"/>
          </p:cNvCxnSpPr>
          <p:nvPr/>
        </p:nvCxnSpPr>
        <p:spPr>
          <a:xfrm>
            <a:off x="5927619" y="5068867"/>
            <a:ext cx="556755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ABEB1D5A-0938-2A48-9F32-27E2D0FAB753}"/>
              </a:ext>
            </a:extLst>
          </p:cNvPr>
          <p:cNvSpPr/>
          <p:nvPr/>
        </p:nvSpPr>
        <p:spPr>
          <a:xfrm>
            <a:off x="4403662" y="5566043"/>
            <a:ext cx="1523957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銷售方式</a:t>
            </a:r>
            <a:r>
              <a:rPr lang="en-US" altLang="zh-TW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	</a:t>
            </a:r>
            <a:endParaRPr lang="zh-TW" altLang="en-US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205F087A-230F-3842-9F43-837BA820B8B2}"/>
              </a:ext>
            </a:extLst>
          </p:cNvPr>
          <p:cNvSpPr/>
          <p:nvPr/>
        </p:nvSpPr>
        <p:spPr>
          <a:xfrm>
            <a:off x="6484374" y="5531959"/>
            <a:ext cx="1704624" cy="6615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店舖、宅配、一日配、即時配</a:t>
            </a:r>
            <a:endParaRPr lang="en-US" altLang="zh-TW" sz="1400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1</a:t>
            </a:r>
            <a:r>
              <a:rPr lang="zh-TW" alt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～</a:t>
            </a:r>
            <a:r>
              <a:rPr lang="en-US" altLang="zh-TW" sz="1400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4</a:t>
            </a:r>
          </a:p>
        </p:txBody>
      </p:sp>
      <p:cxnSp>
        <p:nvCxnSpPr>
          <p:cNvPr id="41" name="直線單箭頭接點 71">
            <a:extLst>
              <a:ext uri="{FF2B5EF4-FFF2-40B4-BE49-F238E27FC236}">
                <a16:creationId xmlns:a16="http://schemas.microsoft.com/office/drawing/2014/main" id="{CBB4A50C-B89D-A241-BC09-568B35A80F38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5927619" y="5862744"/>
            <a:ext cx="5567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F2EFE4E5-6A31-AA4E-8F05-A3168970CFFE}"/>
              </a:ext>
            </a:extLst>
          </p:cNvPr>
          <p:cNvSpPr txBox="1"/>
          <p:nvPr/>
        </p:nvSpPr>
        <p:spPr>
          <a:xfrm>
            <a:off x="546878" y="2409303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Input(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影響因素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9A5DF686-2DB2-8F46-A69C-C7DEF0095C45}"/>
              </a:ext>
            </a:extLst>
          </p:cNvPr>
          <p:cNvSpPr/>
          <p:nvPr/>
        </p:nvSpPr>
        <p:spPr>
          <a:xfrm>
            <a:off x="9690808" y="2842467"/>
            <a:ext cx="1555679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競爭者</a:t>
            </a:r>
          </a:p>
        </p:txBody>
      </p:sp>
      <p:cxnSp>
        <p:nvCxnSpPr>
          <p:cNvPr id="44" name="直線單箭頭接點 90">
            <a:extLst>
              <a:ext uri="{FF2B5EF4-FFF2-40B4-BE49-F238E27FC236}">
                <a16:creationId xmlns:a16="http://schemas.microsoft.com/office/drawing/2014/main" id="{6351CDEE-8C20-4045-B3C0-40DA9B28A48F}"/>
              </a:ext>
            </a:extLst>
          </p:cNvPr>
          <p:cNvCxnSpPr>
            <a:stCxn id="14" idx="2"/>
          </p:cNvCxnSpPr>
          <p:nvPr/>
        </p:nvCxnSpPr>
        <p:spPr>
          <a:xfrm flipH="1">
            <a:off x="6296474" y="1879482"/>
            <a:ext cx="2473894" cy="5030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91">
            <a:extLst>
              <a:ext uri="{FF2B5EF4-FFF2-40B4-BE49-F238E27FC236}">
                <a16:creationId xmlns:a16="http://schemas.microsoft.com/office/drawing/2014/main" id="{20218403-7CC0-DE48-A2E2-10CCB7FD91D5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>
            <a:off x="8770368" y="1879482"/>
            <a:ext cx="1698280" cy="5064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CuadroTexto 728">
            <a:extLst>
              <a:ext uri="{FF2B5EF4-FFF2-40B4-BE49-F238E27FC236}">
                <a16:creationId xmlns:a16="http://schemas.microsoft.com/office/drawing/2014/main" id="{20F7B1BF-687B-C245-8F29-FE2D148EB0BC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3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）歷史資料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5CA4696-A965-9C44-BC77-A5C673BAB03A}"/>
              </a:ext>
            </a:extLst>
          </p:cNvPr>
          <p:cNvSpPr/>
          <p:nvPr/>
        </p:nvSpPr>
        <p:spPr>
          <a:xfrm>
            <a:off x="9681039" y="2486333"/>
            <a:ext cx="30464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Output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：</a:t>
            </a:r>
            <a:endParaRPr lang="zh-TW" altLang="en-US" b="1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771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CC18F8-8A10-7A4F-8FD0-77AC56EF4BC9}"/>
              </a:ext>
            </a:extLst>
          </p:cNvPr>
          <p:cNvSpPr txBox="1"/>
          <p:nvPr/>
        </p:nvSpPr>
        <p:spPr>
          <a:xfrm>
            <a:off x="190800" y="1360818"/>
            <a:ext cx="11884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將特徵以條件判斷的方式決定答案，</a:t>
            </a:r>
            <a:r>
              <a:rPr lang="zh-TW" altLang="en-US" b="1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去判斷是否為競爭者 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會受到各個因素的影響</a:t>
            </a:r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選擇 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: 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決策樹（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Decision Tree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）</a:t>
            </a:r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當數據集的輸出爲連續性數值時，該樹算法就是一個迴歸樹。透過樹的展開，並用葉節點的均值作爲預測值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D540910-BF7A-324A-9E08-1345012D494F}"/>
              </a:ext>
            </a:extLst>
          </p:cNvPr>
          <p:cNvSpPr txBox="1"/>
          <p:nvPr/>
        </p:nvSpPr>
        <p:spPr>
          <a:xfrm>
            <a:off x="6360459" y="5581589"/>
            <a:ext cx="599441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Input : </a:t>
            </a:r>
          </a:p>
          <a:p>
            <a:r>
              <a:rPr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            </a:t>
            </a:r>
            <a:r>
              <a:rPr lang="en-US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X_train</a:t>
            </a:r>
            <a:r>
              <a:rPr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: </a:t>
            </a:r>
            <a:r>
              <a:rPr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影響因素資料</a:t>
            </a:r>
            <a:endParaRPr lang="en-US" altLang="zh-TW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例如三個變量就會有</a:t>
            </a:r>
            <a:r>
              <a:rPr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X1,X2,X3)  </a:t>
            </a:r>
          </a:p>
          <a:p>
            <a:r>
              <a:rPr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             </a:t>
            </a:r>
            <a:r>
              <a:rPr lang="en-US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Y_train</a:t>
            </a:r>
            <a:r>
              <a:rPr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:</a:t>
            </a:r>
            <a:r>
              <a:rPr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競爭者標籤</a:t>
            </a:r>
            <a:endParaRPr lang="en-US" altLang="zh-TW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32EA8C-7C82-2F4F-9F2E-17BB05596ACB}"/>
              </a:ext>
            </a:extLst>
          </p:cNvPr>
          <p:cNvSpPr/>
          <p:nvPr/>
        </p:nvSpPr>
        <p:spPr>
          <a:xfrm>
            <a:off x="4138246" y="2733336"/>
            <a:ext cx="6094413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Output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: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競爭者</a:t>
            </a:r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6" name="直線單箭頭接點 10">
            <a:extLst>
              <a:ext uri="{FF2B5EF4-FFF2-40B4-BE49-F238E27FC236}">
                <a16:creationId xmlns:a16="http://schemas.microsoft.com/office/drawing/2014/main" id="{0DEFEE47-C577-9749-8416-9A550CF7CAFA}"/>
              </a:ext>
            </a:extLst>
          </p:cNvPr>
          <p:cNvCxnSpPr/>
          <p:nvPr/>
        </p:nvCxnSpPr>
        <p:spPr>
          <a:xfrm flipV="1">
            <a:off x="4652588" y="5019703"/>
            <a:ext cx="360853" cy="16144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8" name="圖片 17">
            <a:extLst>
              <a:ext uri="{FF2B5EF4-FFF2-40B4-BE49-F238E27FC236}">
                <a16:creationId xmlns:a16="http://schemas.microsoft.com/office/drawing/2014/main" id="{EEF6D821-5271-C34D-AD88-D57C13600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45" y="3250767"/>
            <a:ext cx="7727450" cy="223471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CD931EB0-6E35-1247-988C-BA91C3EFC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34" y="5789820"/>
            <a:ext cx="5647802" cy="79089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8891CC11-44A8-014D-BD4E-9870F628C93A}"/>
              </a:ext>
            </a:extLst>
          </p:cNvPr>
          <p:cNvSpPr txBox="1"/>
          <p:nvPr/>
        </p:nvSpPr>
        <p:spPr>
          <a:xfrm>
            <a:off x="8292612" y="2985645"/>
            <a:ext cx="3880092" cy="181588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sz="1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優點：</a:t>
            </a:r>
            <a:endParaRPr kumimoji="1" lang="en-US" altLang="zh-TW" sz="16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42875" indent="-142875"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簡單且高度的可解釋性</a:t>
            </a:r>
            <a:endParaRPr kumimoji="1" lang="en-US" altLang="zh-TW" sz="16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42875" indent="-142875"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每個決策階段都相當明確清楚</a:t>
            </a:r>
            <a:endParaRPr kumimoji="1" lang="en-US" altLang="zh-TW" sz="16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42875" indent="-142875"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幾乎沒有要調整的參數</a:t>
            </a:r>
            <a:endParaRPr kumimoji="1" lang="en-US" altLang="zh-TW" sz="16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sz="16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1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缺點：</a:t>
            </a:r>
            <a:endParaRPr kumimoji="1" lang="en-US" altLang="zh-TW" sz="16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142875" indent="-142875"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當標籤類別種類多時，樹會很複雜</a:t>
            </a:r>
            <a:endParaRPr kumimoji="1" lang="en-US" altLang="zh-TW" sz="16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CuadroTexto 728">
            <a:extLst>
              <a:ext uri="{FF2B5EF4-FFF2-40B4-BE49-F238E27FC236}">
                <a16:creationId xmlns:a16="http://schemas.microsoft.com/office/drawing/2014/main" id="{401FAC5C-84AD-934A-849F-0C3DB9D3E447}"/>
              </a:ext>
            </a:extLst>
          </p:cNvPr>
          <p:cNvSpPr txBox="1"/>
          <p:nvPr/>
        </p:nvSpPr>
        <p:spPr>
          <a:xfrm>
            <a:off x="190800" y="180000"/>
            <a:ext cx="50225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4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）選擇學習模型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134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728">
            <a:extLst>
              <a:ext uri="{FF2B5EF4-FFF2-40B4-BE49-F238E27FC236}">
                <a16:creationId xmlns:a16="http://schemas.microsoft.com/office/drawing/2014/main" id="{C6ED7460-76F4-1449-841F-0547682E2327}"/>
              </a:ext>
            </a:extLst>
          </p:cNvPr>
          <p:cNvSpPr txBox="1"/>
          <p:nvPr/>
        </p:nvSpPr>
        <p:spPr>
          <a:xfrm>
            <a:off x="190802" y="180000"/>
            <a:ext cx="35573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5</a:t>
            </a:r>
            <a:r>
              <a:rPr lang="zh-TW" altLang="en-US" sz="4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）回答問題</a:t>
            </a:r>
            <a:endParaRPr lang="en-US" sz="40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6C4C8BA-25D6-D542-8800-DB52982CD248}"/>
              </a:ext>
            </a:extLst>
          </p:cNvPr>
          <p:cNvSpPr txBox="1"/>
          <p:nvPr/>
        </p:nvSpPr>
        <p:spPr>
          <a:xfrm>
            <a:off x="960120" y="2596611"/>
            <a:ext cx="10637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能不能找出競爭者？</a:t>
            </a:r>
            <a:r>
              <a:rPr lang="zh-TW" altLang="en-US" sz="4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  <a:endParaRPr lang="en-US" altLang="zh-TW" sz="4800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能不能找出具競爭力的項目？</a:t>
            </a:r>
            <a:r>
              <a:rPr lang="zh-TW" altLang="en-US" sz="4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5589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543E85-9D5E-7C4E-955F-3C3276EE5E1C}"/>
              </a:ext>
            </a:extLst>
          </p:cNvPr>
          <p:cNvSpPr txBox="1"/>
          <p:nvPr/>
        </p:nvSpPr>
        <p:spPr>
          <a:xfrm>
            <a:off x="791504" y="2264865"/>
            <a:ext cx="103407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影響銷售量的重要因素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競爭者分析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評價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口碑分析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銷售預測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CuadroTexto 728">
            <a:extLst>
              <a:ext uri="{FF2B5EF4-FFF2-40B4-BE49-F238E27FC236}">
                <a16:creationId xmlns:a16="http://schemas.microsoft.com/office/drawing/2014/main" id="{D5385D6D-F33F-2A43-8263-0E38C450A0B4}"/>
              </a:ext>
            </a:extLst>
          </p:cNvPr>
          <p:cNvSpPr txBox="1"/>
          <p:nvPr/>
        </p:nvSpPr>
        <p:spPr>
          <a:xfrm>
            <a:off x="190800" y="180000"/>
            <a:ext cx="1983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40165875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F6751FA-E58B-AF43-BE24-C9FC87D3C987}"/>
              </a:ext>
            </a:extLst>
          </p:cNvPr>
          <p:cNvSpPr txBox="1"/>
          <p:nvPr/>
        </p:nvSpPr>
        <p:spPr>
          <a:xfrm>
            <a:off x="509244" y="2351166"/>
            <a:ext cx="98855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請問目標商店的評價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口碑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086" indent="-45708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請問目標商店的評價是上升或下降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CuadroTexto 728">
            <a:extLst>
              <a:ext uri="{FF2B5EF4-FFF2-40B4-BE49-F238E27FC236}">
                <a16:creationId xmlns:a16="http://schemas.microsoft.com/office/drawing/2014/main" id="{A3FBD02B-9A08-DC4B-A4FE-374F7AA537DF}"/>
              </a:ext>
            </a:extLst>
          </p:cNvPr>
          <p:cNvSpPr txBox="1"/>
          <p:nvPr/>
        </p:nvSpPr>
        <p:spPr>
          <a:xfrm>
            <a:off x="190800" y="210133"/>
            <a:ext cx="33297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1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問問題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299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49E428-9F6A-8440-91FA-67CED796D4B0}"/>
              </a:ext>
            </a:extLst>
          </p:cNvPr>
          <p:cNvSpPr/>
          <p:nvPr/>
        </p:nvSpPr>
        <p:spPr bwMode="auto">
          <a:xfrm>
            <a:off x="5496547" y="4187829"/>
            <a:ext cx="1877380" cy="115182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D528C847-6056-7041-8B3B-F953159F8785}"/>
              </a:ext>
            </a:extLst>
          </p:cNvPr>
          <p:cNvSpPr/>
          <p:nvPr/>
        </p:nvSpPr>
        <p:spPr bwMode="auto">
          <a:xfrm>
            <a:off x="4368191" y="4601154"/>
            <a:ext cx="804588" cy="45870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1" name="向右箭號 10">
            <a:extLst>
              <a:ext uri="{FF2B5EF4-FFF2-40B4-BE49-F238E27FC236}">
                <a16:creationId xmlns:a16="http://schemas.microsoft.com/office/drawing/2014/main" id="{4CBCF769-49BA-8D4A-8B5E-989A67DD3512}"/>
              </a:ext>
            </a:extLst>
          </p:cNvPr>
          <p:cNvSpPr/>
          <p:nvPr/>
        </p:nvSpPr>
        <p:spPr bwMode="auto">
          <a:xfrm>
            <a:off x="7645231" y="4551584"/>
            <a:ext cx="777397" cy="50827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46EADD-2FFA-E743-9E1F-04D284EBE86F}"/>
              </a:ext>
            </a:extLst>
          </p:cNvPr>
          <p:cNvSpPr/>
          <p:nvPr/>
        </p:nvSpPr>
        <p:spPr>
          <a:xfrm>
            <a:off x="6244071" y="4333167"/>
            <a:ext cx="378630" cy="8308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799" b="1" dirty="0">
                <a:solidFill>
                  <a:schemeClr val="bg1"/>
                </a:solidFill>
                <a:ea typeface="Microsoft JhengHei" panose="020B0604030504040204" pitchFamily="34" charset="-120"/>
              </a:rPr>
              <a:t>f</a:t>
            </a:r>
            <a:endParaRPr lang="zh-TW" altLang="en-US" sz="4799" b="1" dirty="0">
              <a:solidFill>
                <a:schemeClr val="bg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10908898-D648-C54F-AE20-9A3214C21004}"/>
              </a:ext>
            </a:extLst>
          </p:cNvPr>
          <p:cNvSpPr/>
          <p:nvPr/>
        </p:nvSpPr>
        <p:spPr bwMode="auto">
          <a:xfrm>
            <a:off x="2058410" y="1592276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F93C8D-E9DC-554E-A155-B43E9B8C83A9}"/>
              </a:ext>
            </a:extLst>
          </p:cNvPr>
          <p:cNvSpPr/>
          <p:nvPr/>
        </p:nvSpPr>
        <p:spPr>
          <a:xfrm>
            <a:off x="2306308" y="163465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輸入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CD222EB9-0AA0-5B43-8F85-5D532E608B1B}"/>
              </a:ext>
            </a:extLst>
          </p:cNvPr>
          <p:cNvSpPr/>
          <p:nvPr/>
        </p:nvSpPr>
        <p:spPr bwMode="auto">
          <a:xfrm>
            <a:off x="9047905" y="1676842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solidFill>
                <a:schemeClr val="lt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52CFF1-DEC4-EE45-A91E-6DC5F3C2BBCD}"/>
              </a:ext>
            </a:extLst>
          </p:cNvPr>
          <p:cNvSpPr/>
          <p:nvPr/>
        </p:nvSpPr>
        <p:spPr>
          <a:xfrm>
            <a:off x="9295803" y="171922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輸出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ADBD57-D1CB-0E40-BBD7-2DD119EA6852}"/>
              </a:ext>
            </a:extLst>
          </p:cNvPr>
          <p:cNvSpPr/>
          <p:nvPr/>
        </p:nvSpPr>
        <p:spPr>
          <a:xfrm>
            <a:off x="925986" y="2324371"/>
            <a:ext cx="43610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目標店家的社群媒體評論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5C1AB4-F4EF-E649-852D-28FEB0D62DD0}"/>
              </a:ext>
            </a:extLst>
          </p:cNvPr>
          <p:cNvSpPr/>
          <p:nvPr/>
        </p:nvSpPr>
        <p:spPr>
          <a:xfrm>
            <a:off x="8659201" y="2324371"/>
            <a:ext cx="2398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對應商店的口碑</a:t>
            </a:r>
            <a:endParaRPr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45C0E6-BA67-8849-A161-3AD16FD5CFA3}"/>
              </a:ext>
            </a:extLst>
          </p:cNvPr>
          <p:cNvSpPr/>
          <p:nvPr/>
        </p:nvSpPr>
        <p:spPr>
          <a:xfrm>
            <a:off x="8659201" y="4269704"/>
            <a:ext cx="25579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商店口碑</a:t>
            </a:r>
            <a:r>
              <a:rPr lang="en-US" altLang="zh-TW" sz="2400" b="1" dirty="0">
                <a:ea typeface="Microsoft JhengHei" panose="020B0604030504040204" pitchFamily="34" charset="-120"/>
              </a:rPr>
              <a:t>(</a:t>
            </a:r>
            <a:r>
              <a:rPr lang="zh-TW" altLang="en-US" sz="2400" b="1" dirty="0">
                <a:ea typeface="Microsoft JhengHei" panose="020B0604030504040204" pitchFamily="34" charset="-120"/>
              </a:rPr>
              <a:t>聲量值</a:t>
            </a:r>
            <a:r>
              <a:rPr lang="en-US" altLang="zh-TW" sz="2400" b="1" dirty="0">
                <a:ea typeface="Microsoft JhengHei" panose="020B0604030504040204" pitchFamily="34" charset="-120"/>
              </a:rPr>
              <a:t>)</a:t>
            </a:r>
          </a:p>
          <a:p>
            <a:endParaRPr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C36932-265C-A045-975A-396E8661F7D5}"/>
              </a:ext>
            </a:extLst>
          </p:cNvPr>
          <p:cNvSpPr/>
          <p:nvPr/>
        </p:nvSpPr>
        <p:spPr>
          <a:xfrm>
            <a:off x="9166186" y="4900646"/>
            <a:ext cx="1289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-10~+10</a:t>
            </a:r>
            <a:endParaRPr lang="zh-TW" altLang="en-US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10610F0F-9EDE-5347-8FD0-C60025E966CA}"/>
              </a:ext>
            </a:extLst>
          </p:cNvPr>
          <p:cNvGrpSpPr/>
          <p:nvPr/>
        </p:nvGrpSpPr>
        <p:grpSpPr>
          <a:xfrm>
            <a:off x="1273934" y="4014205"/>
            <a:ext cx="2793839" cy="1759645"/>
            <a:chOff x="1605528" y="3434711"/>
            <a:chExt cx="1503617" cy="751808"/>
          </a:xfrm>
        </p:grpSpPr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05D26228-503C-4B49-A874-34C43B460092}"/>
                </a:ext>
              </a:extLst>
            </p:cNvPr>
            <p:cNvSpPr/>
            <p:nvPr/>
          </p:nvSpPr>
          <p:spPr>
            <a:xfrm>
              <a:off x="1605528" y="3434711"/>
              <a:ext cx="1503617" cy="75180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C6E2CAF-2DA9-3446-864F-AA5E7233841F}"/>
                </a:ext>
              </a:extLst>
            </p:cNvPr>
            <p:cNvSpPr/>
            <p:nvPr/>
          </p:nvSpPr>
          <p:spPr>
            <a:xfrm>
              <a:off x="1858413" y="3638976"/>
              <a:ext cx="987204" cy="3550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400" b="1" dirty="0">
                  <a:ea typeface="Microsoft JhengHei" panose="020B0604030504040204" pitchFamily="34" charset="-120"/>
                </a:rPr>
                <a:t>網路評論文章或留言</a:t>
              </a:r>
            </a:p>
          </p:txBody>
        </p:sp>
      </p:grpSp>
      <p:sp>
        <p:nvSpPr>
          <p:cNvPr id="30" name="CuadroTexto 728">
            <a:extLst>
              <a:ext uri="{FF2B5EF4-FFF2-40B4-BE49-F238E27FC236}">
                <a16:creationId xmlns:a16="http://schemas.microsoft.com/office/drawing/2014/main" id="{F5F60A1E-C799-8F47-8837-AB1A9FB0B781}"/>
              </a:ext>
            </a:extLst>
          </p:cNvPr>
          <p:cNvSpPr txBox="1"/>
          <p:nvPr/>
        </p:nvSpPr>
        <p:spPr>
          <a:xfrm>
            <a:off x="190800" y="180000"/>
            <a:ext cx="55867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2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將問題化成函數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170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B89DA3E-A25E-904B-8C90-2059815ED49F}"/>
              </a:ext>
            </a:extLst>
          </p:cNvPr>
          <p:cNvSpPr/>
          <p:nvPr/>
        </p:nvSpPr>
        <p:spPr>
          <a:xfrm>
            <a:off x="9398115" y="2385955"/>
            <a:ext cx="2141064" cy="4246622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45840717-6A99-654D-98CD-0AA7078158BE}"/>
              </a:ext>
            </a:extLst>
          </p:cNvPr>
          <p:cNvSpPr/>
          <p:nvPr/>
        </p:nvSpPr>
        <p:spPr>
          <a:xfrm>
            <a:off x="113215" y="2382526"/>
            <a:ext cx="8564892" cy="4250051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D26C9C8E-E872-0B4C-B47E-A2C996EE11F7}"/>
              </a:ext>
            </a:extLst>
          </p:cNvPr>
          <p:cNvSpPr/>
          <p:nvPr/>
        </p:nvSpPr>
        <p:spPr>
          <a:xfrm>
            <a:off x="6882977" y="1256919"/>
            <a:ext cx="1555679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商店聲量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F7BCC2C-0B26-8446-B7DD-1193B6868BC4}"/>
              </a:ext>
            </a:extLst>
          </p:cNvPr>
          <p:cNvSpPr txBox="1"/>
          <p:nvPr/>
        </p:nvSpPr>
        <p:spPr>
          <a:xfrm>
            <a:off x="885352" y="2843078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Input(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網路媒體</a:t>
            </a:r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FD65D62F-F27B-FF4D-9490-4D61FCDE2512}"/>
              </a:ext>
            </a:extLst>
          </p:cNvPr>
          <p:cNvSpPr/>
          <p:nvPr/>
        </p:nvSpPr>
        <p:spPr>
          <a:xfrm>
            <a:off x="9690808" y="2842467"/>
            <a:ext cx="1555679" cy="5934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對應商店</a:t>
            </a:r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聲量值</a:t>
            </a:r>
          </a:p>
        </p:txBody>
      </p:sp>
      <p:cxnSp>
        <p:nvCxnSpPr>
          <p:cNvPr id="18" name="直線單箭頭接點 90">
            <a:extLst>
              <a:ext uri="{FF2B5EF4-FFF2-40B4-BE49-F238E27FC236}">
                <a16:creationId xmlns:a16="http://schemas.microsoft.com/office/drawing/2014/main" id="{F9F82595-FF1B-394F-94D8-3FC5C9D463D8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 flipH="1">
            <a:off x="4395661" y="1850323"/>
            <a:ext cx="3265156" cy="53220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91">
            <a:extLst>
              <a:ext uri="{FF2B5EF4-FFF2-40B4-BE49-F238E27FC236}">
                <a16:creationId xmlns:a16="http://schemas.microsoft.com/office/drawing/2014/main" id="{6796002C-D6FB-5C4B-B76F-CB1B6C10BAA8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7660817" y="1850323"/>
            <a:ext cx="2807830" cy="5356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089CBF7-6C9C-2841-A441-DA3E05061D7D}"/>
              </a:ext>
            </a:extLst>
          </p:cNvPr>
          <p:cNvSpPr txBox="1"/>
          <p:nvPr/>
        </p:nvSpPr>
        <p:spPr>
          <a:xfrm>
            <a:off x="752303" y="3410309"/>
            <a:ext cx="2029723" cy="2862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社群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Facebook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Instagram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Dcard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各大論壇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Mobile 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購物網站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PChome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蝦皮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22A0180-A32A-514D-8361-B9AF16C766D8}"/>
              </a:ext>
            </a:extLst>
          </p:cNvPr>
          <p:cNvSpPr/>
          <p:nvPr/>
        </p:nvSpPr>
        <p:spPr>
          <a:xfrm>
            <a:off x="5051400" y="3004530"/>
            <a:ext cx="8103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27ABC6-D513-6943-8E80-3D1EB24710F0}"/>
              </a:ext>
            </a:extLst>
          </p:cNvPr>
          <p:cNvSpPr/>
          <p:nvPr/>
        </p:nvSpPr>
        <p:spPr>
          <a:xfrm>
            <a:off x="5051400" y="4013135"/>
            <a:ext cx="8103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服務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8D5B27-AE6A-7544-A56F-ABED2B208ECE}"/>
              </a:ext>
            </a:extLst>
          </p:cNvPr>
          <p:cNvSpPr/>
          <p:nvPr/>
        </p:nvSpPr>
        <p:spPr>
          <a:xfrm>
            <a:off x="5047325" y="5710105"/>
            <a:ext cx="8103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地點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ACDCF0-CBDF-4043-99DA-7B92A59AC27A}"/>
              </a:ext>
            </a:extLst>
          </p:cNvPr>
          <p:cNvSpPr/>
          <p:nvPr/>
        </p:nvSpPr>
        <p:spPr>
          <a:xfrm>
            <a:off x="5046826" y="4868043"/>
            <a:ext cx="8103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80E2ED36-CAF4-C441-A767-188054B43153}"/>
              </a:ext>
            </a:extLst>
          </p:cNvPr>
          <p:cNvGrpSpPr/>
          <p:nvPr/>
        </p:nvGrpSpPr>
        <p:grpSpPr>
          <a:xfrm>
            <a:off x="6454272" y="2758760"/>
            <a:ext cx="1152827" cy="953206"/>
            <a:chOff x="269573" y="6352992"/>
            <a:chExt cx="1152827" cy="95320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61731FC-EB2F-8440-95B9-6172AAA98E66}"/>
                </a:ext>
              </a:extLst>
            </p:cNvPr>
            <p:cNvSpPr/>
            <p:nvPr/>
          </p:nvSpPr>
          <p:spPr>
            <a:xfrm>
              <a:off x="269573" y="6382868"/>
              <a:ext cx="1152827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品牌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口味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顏色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圓角矩形 28">
              <a:extLst>
                <a:ext uri="{FF2B5EF4-FFF2-40B4-BE49-F238E27FC236}">
                  <a16:creationId xmlns:a16="http://schemas.microsoft.com/office/drawing/2014/main" id="{479B8DF7-0AE8-C14B-BCD3-F1595CB7D6D6}"/>
                </a:ext>
              </a:extLst>
            </p:cNvPr>
            <p:cNvSpPr/>
            <p:nvPr/>
          </p:nvSpPr>
          <p:spPr>
            <a:xfrm>
              <a:off x="269573" y="6352992"/>
              <a:ext cx="1152827" cy="953206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E55B51B1-7279-454F-919D-C9B8DDD3F08E}"/>
              </a:ext>
            </a:extLst>
          </p:cNvPr>
          <p:cNvGrpSpPr/>
          <p:nvPr/>
        </p:nvGrpSpPr>
        <p:grpSpPr>
          <a:xfrm>
            <a:off x="6454272" y="3919122"/>
            <a:ext cx="1564057" cy="646331"/>
            <a:chOff x="9207716" y="3650244"/>
            <a:chExt cx="1564057" cy="646331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8177D9D-0946-E243-895A-147802229536}"/>
                </a:ext>
              </a:extLst>
            </p:cNvPr>
            <p:cNvSpPr/>
            <p:nvPr/>
          </p:nvSpPr>
          <p:spPr>
            <a:xfrm>
              <a:off x="9254671" y="3650244"/>
              <a:ext cx="151710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服務態度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配送型態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圓角矩形 31">
              <a:extLst>
                <a:ext uri="{FF2B5EF4-FFF2-40B4-BE49-F238E27FC236}">
                  <a16:creationId xmlns:a16="http://schemas.microsoft.com/office/drawing/2014/main" id="{4D644E3C-E143-6545-BBBA-5468D9DCFBAA}"/>
                </a:ext>
              </a:extLst>
            </p:cNvPr>
            <p:cNvSpPr/>
            <p:nvPr/>
          </p:nvSpPr>
          <p:spPr>
            <a:xfrm>
              <a:off x="9207716" y="3650244"/>
              <a:ext cx="1517102" cy="64633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3A3B19B-6618-B444-8EBF-0C068C8BE8B7}"/>
              </a:ext>
            </a:extLst>
          </p:cNvPr>
          <p:cNvGrpSpPr/>
          <p:nvPr/>
        </p:nvGrpSpPr>
        <p:grpSpPr>
          <a:xfrm>
            <a:off x="6454272" y="4767355"/>
            <a:ext cx="1564057" cy="663040"/>
            <a:chOff x="9207716" y="5758033"/>
            <a:chExt cx="1564057" cy="66304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7E54AE3-C7FA-0C49-95D4-B15595CD5A90}"/>
                </a:ext>
              </a:extLst>
            </p:cNvPr>
            <p:cNvSpPr/>
            <p:nvPr/>
          </p:nvSpPr>
          <p:spPr>
            <a:xfrm>
              <a:off x="9254671" y="5774742"/>
              <a:ext cx="151710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營業時數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營業時間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5" name="圓角矩形 34">
              <a:extLst>
                <a:ext uri="{FF2B5EF4-FFF2-40B4-BE49-F238E27FC236}">
                  <a16:creationId xmlns:a16="http://schemas.microsoft.com/office/drawing/2014/main" id="{6A982416-F4E8-1A42-A9DB-CF751F1C0ADB}"/>
                </a:ext>
              </a:extLst>
            </p:cNvPr>
            <p:cNvSpPr/>
            <p:nvPr/>
          </p:nvSpPr>
          <p:spPr>
            <a:xfrm>
              <a:off x="9207716" y="5758033"/>
              <a:ext cx="1517102" cy="66304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5E7C3C32-17CF-2346-BBD5-7A46B5000678}"/>
              </a:ext>
            </a:extLst>
          </p:cNvPr>
          <p:cNvGrpSpPr/>
          <p:nvPr/>
        </p:nvGrpSpPr>
        <p:grpSpPr>
          <a:xfrm>
            <a:off x="6457277" y="5580799"/>
            <a:ext cx="1564057" cy="710799"/>
            <a:chOff x="9207716" y="4909955"/>
            <a:chExt cx="1564057" cy="710799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D5DF866-9C13-384A-AFED-AF4A1C4D82B5}"/>
                </a:ext>
              </a:extLst>
            </p:cNvPr>
            <p:cNvSpPr/>
            <p:nvPr/>
          </p:nvSpPr>
          <p:spPr>
            <a:xfrm>
              <a:off x="9254671" y="4952389"/>
              <a:ext cx="151710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據點位置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分店數量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圓角矩形 37">
              <a:extLst>
                <a:ext uri="{FF2B5EF4-FFF2-40B4-BE49-F238E27FC236}">
                  <a16:creationId xmlns:a16="http://schemas.microsoft.com/office/drawing/2014/main" id="{55DD07D4-002F-3045-A829-718914CD2BD0}"/>
                </a:ext>
              </a:extLst>
            </p:cNvPr>
            <p:cNvSpPr/>
            <p:nvPr/>
          </p:nvSpPr>
          <p:spPr>
            <a:xfrm>
              <a:off x="9207716" y="4909955"/>
              <a:ext cx="1517102" cy="71079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39" name="直線單箭頭接點 84">
            <a:extLst>
              <a:ext uri="{FF2B5EF4-FFF2-40B4-BE49-F238E27FC236}">
                <a16:creationId xmlns:a16="http://schemas.microsoft.com/office/drawing/2014/main" id="{8BAC5D08-A244-1849-A6E5-645BE4B38E0D}"/>
              </a:ext>
            </a:extLst>
          </p:cNvPr>
          <p:cNvCxnSpPr>
            <a:stCxn id="22" idx="3"/>
            <a:endCxn id="29" idx="1"/>
          </p:cNvCxnSpPr>
          <p:nvPr/>
        </p:nvCxnSpPr>
        <p:spPr>
          <a:xfrm>
            <a:off x="5861722" y="3235363"/>
            <a:ext cx="5925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直線單箭頭接點 85">
            <a:extLst>
              <a:ext uri="{FF2B5EF4-FFF2-40B4-BE49-F238E27FC236}">
                <a16:creationId xmlns:a16="http://schemas.microsoft.com/office/drawing/2014/main" id="{F56CBE67-3594-B740-9B0E-ED79A39E8A94}"/>
              </a:ext>
            </a:extLst>
          </p:cNvPr>
          <p:cNvCxnSpPr>
            <a:stCxn id="24" idx="3"/>
            <a:endCxn id="38" idx="1"/>
          </p:cNvCxnSpPr>
          <p:nvPr/>
        </p:nvCxnSpPr>
        <p:spPr>
          <a:xfrm flipV="1">
            <a:off x="5857647" y="5936199"/>
            <a:ext cx="599630" cy="4739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直線單箭頭接點 86">
            <a:extLst>
              <a:ext uri="{FF2B5EF4-FFF2-40B4-BE49-F238E27FC236}">
                <a16:creationId xmlns:a16="http://schemas.microsoft.com/office/drawing/2014/main" id="{6E333B6D-2650-6843-9FB6-C76B4E903E35}"/>
              </a:ext>
            </a:extLst>
          </p:cNvPr>
          <p:cNvCxnSpPr>
            <a:stCxn id="25" idx="3"/>
            <a:endCxn id="35" idx="1"/>
          </p:cNvCxnSpPr>
          <p:nvPr/>
        </p:nvCxnSpPr>
        <p:spPr>
          <a:xfrm flipV="1">
            <a:off x="5857148" y="5098875"/>
            <a:ext cx="597124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直線單箭頭接點 87">
            <a:extLst>
              <a:ext uri="{FF2B5EF4-FFF2-40B4-BE49-F238E27FC236}">
                <a16:creationId xmlns:a16="http://schemas.microsoft.com/office/drawing/2014/main" id="{556C2941-40F8-A845-8C6D-A76E0C167F0D}"/>
              </a:ext>
            </a:extLst>
          </p:cNvPr>
          <p:cNvCxnSpPr>
            <a:stCxn id="23" idx="3"/>
            <a:endCxn id="32" idx="1"/>
          </p:cNvCxnSpPr>
          <p:nvPr/>
        </p:nvCxnSpPr>
        <p:spPr>
          <a:xfrm flipV="1">
            <a:off x="5861722" y="4242288"/>
            <a:ext cx="592550" cy="168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A9140CDE-E01C-8B43-93F2-2258D9743DEA}"/>
              </a:ext>
            </a:extLst>
          </p:cNvPr>
          <p:cNvSpPr/>
          <p:nvPr/>
        </p:nvSpPr>
        <p:spPr>
          <a:xfrm>
            <a:off x="3648652" y="441473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萃取</a:t>
            </a:r>
          </a:p>
        </p:txBody>
      </p:sp>
      <p:sp>
        <p:nvSpPr>
          <p:cNvPr id="44" name="向右箭號 43">
            <a:extLst>
              <a:ext uri="{FF2B5EF4-FFF2-40B4-BE49-F238E27FC236}">
                <a16:creationId xmlns:a16="http://schemas.microsoft.com/office/drawing/2014/main" id="{DACA8D55-CD08-BC4C-BA8A-2E8985C3C50B}"/>
              </a:ext>
            </a:extLst>
          </p:cNvPr>
          <p:cNvSpPr/>
          <p:nvPr/>
        </p:nvSpPr>
        <p:spPr>
          <a:xfrm>
            <a:off x="3279099" y="4176160"/>
            <a:ext cx="1266081" cy="813057"/>
          </a:xfrm>
          <a:prstGeom prst="rightArrow">
            <a:avLst/>
          </a:prstGeom>
          <a:noFill/>
          <a:ln w="28575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CuadroTexto 728">
            <a:extLst>
              <a:ext uri="{FF2B5EF4-FFF2-40B4-BE49-F238E27FC236}">
                <a16:creationId xmlns:a16="http://schemas.microsoft.com/office/drawing/2014/main" id="{E6B889A0-3589-9840-9514-C976F594B941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3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）歷史資料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F60732-7452-334C-9C65-FE6F26E09BF0}"/>
              </a:ext>
            </a:extLst>
          </p:cNvPr>
          <p:cNvSpPr/>
          <p:nvPr/>
        </p:nvSpPr>
        <p:spPr>
          <a:xfrm>
            <a:off x="9681039" y="2486333"/>
            <a:ext cx="30464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Output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：</a:t>
            </a:r>
            <a:endParaRPr lang="zh-TW" altLang="en-US" b="1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16694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B9038D1-81C7-C24D-AD31-C232009237B1}"/>
              </a:ext>
            </a:extLst>
          </p:cNvPr>
          <p:cNvSpPr txBox="1"/>
          <p:nvPr/>
        </p:nvSpPr>
        <p:spPr>
          <a:xfrm>
            <a:off x="135472" y="1024170"/>
            <a:ext cx="1786066" cy="224676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社群媒體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Facebook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Instagram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Dcard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各大論壇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Mobile 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購物網站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PChome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蝦皮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3E1A30C-09E1-E64F-B0AB-5DDDBA44FD31}"/>
              </a:ext>
            </a:extLst>
          </p:cNvPr>
          <p:cNvSpPr/>
          <p:nvPr/>
        </p:nvSpPr>
        <p:spPr>
          <a:xfrm>
            <a:off x="3672977" y="1027500"/>
            <a:ext cx="1503617" cy="751808"/>
          </a:xfrm>
          <a:prstGeom prst="ellipse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D44A10-F770-2541-9B2F-C9631E3DD520}"/>
              </a:ext>
            </a:extLst>
          </p:cNvPr>
          <p:cNvSpPr/>
          <p:nvPr/>
        </p:nvSpPr>
        <p:spPr>
          <a:xfrm>
            <a:off x="3909092" y="1221462"/>
            <a:ext cx="1413453" cy="324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網路評論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6AF56D-4DCB-964A-8ED9-678D503F3DFE}"/>
              </a:ext>
            </a:extLst>
          </p:cNvPr>
          <p:cNvSpPr/>
          <p:nvPr/>
        </p:nvSpPr>
        <p:spPr>
          <a:xfrm>
            <a:off x="6234301" y="2714756"/>
            <a:ext cx="2418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模型參數更新與調整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59EC6B05-19ED-2947-89D6-8A187664DA93}"/>
              </a:ext>
            </a:extLst>
          </p:cNvPr>
          <p:cNvGrpSpPr/>
          <p:nvPr/>
        </p:nvGrpSpPr>
        <p:grpSpPr>
          <a:xfrm>
            <a:off x="3437467" y="2295328"/>
            <a:ext cx="2092461" cy="757777"/>
            <a:chOff x="506121" y="3198024"/>
            <a:chExt cx="2092461" cy="757777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7DE3009-F244-C048-BF32-6A44D23BDBEF}"/>
                </a:ext>
              </a:extLst>
            </p:cNvPr>
            <p:cNvSpPr/>
            <p:nvPr/>
          </p:nvSpPr>
          <p:spPr>
            <a:xfrm>
              <a:off x="774388" y="3414704"/>
              <a:ext cx="1824194" cy="3596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建立評價模型</a:t>
              </a:r>
            </a:p>
          </p:txBody>
        </p:sp>
        <p:sp>
          <p:nvSpPr>
            <p:cNvPr id="20" name="圓角矩形 19">
              <a:extLst>
                <a:ext uri="{FF2B5EF4-FFF2-40B4-BE49-F238E27FC236}">
                  <a16:creationId xmlns:a16="http://schemas.microsoft.com/office/drawing/2014/main" id="{2095A69C-D611-CB4A-9104-529E5CA02B63}"/>
                </a:ext>
              </a:extLst>
            </p:cNvPr>
            <p:cNvSpPr/>
            <p:nvPr/>
          </p:nvSpPr>
          <p:spPr>
            <a:xfrm>
              <a:off x="506121" y="3198024"/>
              <a:ext cx="1990868" cy="75777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DA8C6973-9442-8B4D-9F16-18DB16F6D449}"/>
              </a:ext>
            </a:extLst>
          </p:cNvPr>
          <p:cNvSpPr/>
          <p:nvPr/>
        </p:nvSpPr>
        <p:spPr>
          <a:xfrm>
            <a:off x="9076444" y="2601625"/>
            <a:ext cx="2201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評價參考模型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19F58A95-C9D6-EE43-8003-F632D301CB9C}"/>
              </a:ext>
            </a:extLst>
          </p:cNvPr>
          <p:cNvSpPr/>
          <p:nvPr/>
        </p:nvSpPr>
        <p:spPr>
          <a:xfrm>
            <a:off x="8655069" y="2323568"/>
            <a:ext cx="2402356" cy="9144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33">
            <a:extLst>
              <a:ext uri="{FF2B5EF4-FFF2-40B4-BE49-F238E27FC236}">
                <a16:creationId xmlns:a16="http://schemas.microsoft.com/office/drawing/2014/main" id="{BAF4DA05-4F86-AD45-BAB4-63618752038B}"/>
              </a:ext>
            </a:extLst>
          </p:cNvPr>
          <p:cNvCxnSpPr>
            <a:stCxn id="11" idx="4"/>
            <a:endCxn id="20" idx="0"/>
          </p:cNvCxnSpPr>
          <p:nvPr/>
        </p:nvCxnSpPr>
        <p:spPr>
          <a:xfrm>
            <a:off x="4424786" y="1779308"/>
            <a:ext cx="8115" cy="51602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直線單箭頭接點 34">
            <a:extLst>
              <a:ext uri="{FF2B5EF4-FFF2-40B4-BE49-F238E27FC236}">
                <a16:creationId xmlns:a16="http://schemas.microsoft.com/office/drawing/2014/main" id="{A0AA8D2D-221B-AD46-97D0-96C2ADFC0729}"/>
              </a:ext>
            </a:extLst>
          </p:cNvPr>
          <p:cNvCxnSpPr/>
          <p:nvPr/>
        </p:nvCxnSpPr>
        <p:spPr>
          <a:xfrm flipV="1">
            <a:off x="5436054" y="2456302"/>
            <a:ext cx="3211296" cy="1299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肘形接點 24">
            <a:extLst>
              <a:ext uri="{FF2B5EF4-FFF2-40B4-BE49-F238E27FC236}">
                <a16:creationId xmlns:a16="http://schemas.microsoft.com/office/drawing/2014/main" id="{51B39200-A9E0-B648-88B6-8B5C43885562}"/>
              </a:ext>
            </a:extLst>
          </p:cNvPr>
          <p:cNvCxnSpPr/>
          <p:nvPr/>
        </p:nvCxnSpPr>
        <p:spPr>
          <a:xfrm rot="10800000">
            <a:off x="5436054" y="2673799"/>
            <a:ext cx="3224194" cy="411513"/>
          </a:xfrm>
          <a:prstGeom prst="bentConnector3">
            <a:avLst>
              <a:gd name="adj1" fmla="val 79148"/>
            </a:avLst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直線單箭頭接點 36">
            <a:extLst>
              <a:ext uri="{FF2B5EF4-FFF2-40B4-BE49-F238E27FC236}">
                <a16:creationId xmlns:a16="http://schemas.microsoft.com/office/drawing/2014/main" id="{542E5F95-F91C-C545-8899-43AD2883B6B8}"/>
              </a:ext>
            </a:extLst>
          </p:cNvPr>
          <p:cNvCxnSpPr>
            <a:stCxn id="29" idx="2"/>
            <a:endCxn id="22" idx="0"/>
          </p:cNvCxnSpPr>
          <p:nvPr/>
        </p:nvCxnSpPr>
        <p:spPr>
          <a:xfrm flipH="1">
            <a:off x="9856247" y="1545495"/>
            <a:ext cx="1774" cy="778073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BCB94CD1-B8AB-F043-909F-330E05919A2B}"/>
              </a:ext>
            </a:extLst>
          </p:cNvPr>
          <p:cNvSpPr/>
          <p:nvPr/>
        </p:nvSpPr>
        <p:spPr>
          <a:xfrm>
            <a:off x="9551715" y="1062324"/>
            <a:ext cx="810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公司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767685EA-7D26-9945-B5E2-4EA7133078E8}"/>
              </a:ext>
            </a:extLst>
          </p:cNvPr>
          <p:cNvSpPr/>
          <p:nvPr/>
        </p:nvSpPr>
        <p:spPr>
          <a:xfrm>
            <a:off x="9362850" y="966295"/>
            <a:ext cx="990341" cy="5792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3D3B7F-C4EF-7945-95F5-2BEC2F44C4E7}"/>
              </a:ext>
            </a:extLst>
          </p:cNvPr>
          <p:cNvSpPr/>
          <p:nvPr/>
        </p:nvSpPr>
        <p:spPr>
          <a:xfrm>
            <a:off x="9208321" y="4686676"/>
            <a:ext cx="13746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該公司評價</a:t>
            </a: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A15DEB10-CD23-5547-8AFC-CAE761BAABA2}"/>
              </a:ext>
            </a:extLst>
          </p:cNvPr>
          <p:cNvSpPr/>
          <p:nvPr/>
        </p:nvSpPr>
        <p:spPr>
          <a:xfrm>
            <a:off x="8977034" y="4472532"/>
            <a:ext cx="1755240" cy="77937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單箭頭接點 41">
            <a:extLst>
              <a:ext uri="{FF2B5EF4-FFF2-40B4-BE49-F238E27FC236}">
                <a16:creationId xmlns:a16="http://schemas.microsoft.com/office/drawing/2014/main" id="{C6B86205-CC56-224E-BCFD-0A12B546935A}"/>
              </a:ext>
            </a:extLst>
          </p:cNvPr>
          <p:cNvCxnSpPr>
            <a:stCxn id="22" idx="2"/>
            <a:endCxn id="31" idx="0"/>
          </p:cNvCxnSpPr>
          <p:nvPr/>
        </p:nvCxnSpPr>
        <p:spPr>
          <a:xfrm flipH="1">
            <a:off x="9854654" y="3237968"/>
            <a:ext cx="1593" cy="123456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B406CC0-1C73-D249-B357-4D23428E783D}"/>
              </a:ext>
            </a:extLst>
          </p:cNvPr>
          <p:cNvCxnSpPr>
            <a:endCxn id="11" idx="2"/>
          </p:cNvCxnSpPr>
          <p:nvPr/>
        </p:nvCxnSpPr>
        <p:spPr>
          <a:xfrm>
            <a:off x="1921538" y="1030914"/>
            <a:ext cx="1751439" cy="372490"/>
          </a:xfrm>
          <a:prstGeom prst="line">
            <a:avLst/>
          </a:prstGeom>
          <a:noFill/>
          <a:ln>
            <a:solidFill>
              <a:schemeClr val="tx1"/>
            </a:solidFill>
            <a:prstDash val="dash"/>
          </a:ln>
        </p:spPr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9977D597-CE81-B545-A194-C91C9D3A266F}"/>
              </a:ext>
            </a:extLst>
          </p:cNvPr>
          <p:cNvCxnSpPr>
            <a:endCxn id="11" idx="2"/>
          </p:cNvCxnSpPr>
          <p:nvPr/>
        </p:nvCxnSpPr>
        <p:spPr>
          <a:xfrm flipV="1">
            <a:off x="1936227" y="1403404"/>
            <a:ext cx="1736750" cy="1867535"/>
          </a:xfrm>
          <a:prstGeom prst="line">
            <a:avLst/>
          </a:prstGeom>
          <a:noFill/>
          <a:ln>
            <a:solidFill>
              <a:schemeClr val="tx1"/>
            </a:solidFill>
            <a:prstDash val="dash"/>
          </a:ln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8C240BF4-ECFC-614B-ADDD-5D55459C6998}"/>
              </a:ext>
            </a:extLst>
          </p:cNvPr>
          <p:cNvSpPr/>
          <p:nvPr/>
        </p:nvSpPr>
        <p:spPr>
          <a:xfrm>
            <a:off x="3911104" y="1221116"/>
            <a:ext cx="1413453" cy="324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網路評論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1AA9EE1-BA69-C14A-96CD-C0275106B714}"/>
              </a:ext>
            </a:extLst>
          </p:cNvPr>
          <p:cNvSpPr/>
          <p:nvPr/>
        </p:nvSpPr>
        <p:spPr>
          <a:xfrm>
            <a:off x="8916721" y="595280"/>
            <a:ext cx="7573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EBB9B66-5BC1-4940-BEFA-0AF1F8CE04CB}"/>
              </a:ext>
            </a:extLst>
          </p:cNvPr>
          <p:cNvSpPr/>
          <p:nvPr/>
        </p:nvSpPr>
        <p:spPr>
          <a:xfrm>
            <a:off x="8685628" y="3998783"/>
            <a:ext cx="7573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</a:t>
            </a: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3A273CF9-E86D-F741-8802-79EB1B43F40A}"/>
              </a:ext>
            </a:extLst>
          </p:cNvPr>
          <p:cNvGrpSpPr/>
          <p:nvPr/>
        </p:nvGrpSpPr>
        <p:grpSpPr>
          <a:xfrm>
            <a:off x="1122141" y="3535264"/>
            <a:ext cx="6525286" cy="3210310"/>
            <a:chOff x="326709" y="3763071"/>
            <a:chExt cx="6525286" cy="3210310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3772B7B-E76A-AB4D-882D-F3E62BE27C18}"/>
                </a:ext>
              </a:extLst>
            </p:cNvPr>
            <p:cNvSpPr/>
            <p:nvPr/>
          </p:nvSpPr>
          <p:spPr>
            <a:xfrm>
              <a:off x="3184191" y="4037338"/>
              <a:ext cx="81032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公司</a:t>
              </a:r>
            </a:p>
          </p:txBody>
        </p:sp>
        <p:sp>
          <p:nvSpPr>
            <p:cNvPr id="40" name="圓角矩形 39">
              <a:extLst>
                <a:ext uri="{FF2B5EF4-FFF2-40B4-BE49-F238E27FC236}">
                  <a16:creationId xmlns:a16="http://schemas.microsoft.com/office/drawing/2014/main" id="{5FCB3F89-5BC0-F14E-BEA4-775809C11341}"/>
                </a:ext>
              </a:extLst>
            </p:cNvPr>
            <p:cNvSpPr/>
            <p:nvPr/>
          </p:nvSpPr>
          <p:spPr>
            <a:xfrm>
              <a:off x="3184191" y="3894087"/>
              <a:ext cx="698988" cy="65189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48322C7-6424-C648-A992-558AF281B667}"/>
                </a:ext>
              </a:extLst>
            </p:cNvPr>
            <p:cNvSpPr/>
            <p:nvPr/>
          </p:nvSpPr>
          <p:spPr>
            <a:xfrm>
              <a:off x="673977" y="5105050"/>
              <a:ext cx="8103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FAE02B3-940F-DA49-8376-7C1B086FD83F}"/>
                </a:ext>
              </a:extLst>
            </p:cNvPr>
            <p:cNvSpPr/>
            <p:nvPr/>
          </p:nvSpPr>
          <p:spPr>
            <a:xfrm>
              <a:off x="2146558" y="5105051"/>
              <a:ext cx="8103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服務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E17EB5-D11A-2F4B-8EFB-B1925BA9CC05}"/>
                </a:ext>
              </a:extLst>
            </p:cNvPr>
            <p:cNvSpPr/>
            <p:nvPr/>
          </p:nvSpPr>
          <p:spPr>
            <a:xfrm>
              <a:off x="5515537" y="5105049"/>
              <a:ext cx="8103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地點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A83BE25-E4FC-A64F-865D-AEE8232CF509}"/>
                </a:ext>
              </a:extLst>
            </p:cNvPr>
            <p:cNvSpPr/>
            <p:nvPr/>
          </p:nvSpPr>
          <p:spPr>
            <a:xfrm>
              <a:off x="3782507" y="5105051"/>
              <a:ext cx="8103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營業</a:t>
              </a: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CDF413E3-9E36-8747-80C8-C816D73885F8}"/>
                </a:ext>
              </a:extLst>
            </p:cNvPr>
            <p:cNvGrpSpPr/>
            <p:nvPr/>
          </p:nvGrpSpPr>
          <p:grpSpPr>
            <a:xfrm>
              <a:off x="493438" y="5904813"/>
              <a:ext cx="1152827" cy="953206"/>
              <a:chOff x="269573" y="6352992"/>
              <a:chExt cx="1152827" cy="953206"/>
            </a:xfrm>
          </p:grpSpPr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B97E7A84-E2F0-7B4B-817B-7E19E6B28A31}"/>
                  </a:ext>
                </a:extLst>
              </p:cNvPr>
              <p:cNvSpPr/>
              <p:nvPr/>
            </p:nvSpPr>
            <p:spPr>
              <a:xfrm>
                <a:off x="269573" y="6382868"/>
                <a:ext cx="115282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品牌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口味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顏色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903BC71C-E780-374F-A172-510BB7AEAE7F}"/>
                  </a:ext>
                </a:extLst>
              </p:cNvPr>
              <p:cNvSpPr/>
              <p:nvPr/>
            </p:nvSpPr>
            <p:spPr>
              <a:xfrm>
                <a:off x="269573" y="6352992"/>
                <a:ext cx="1152827" cy="95320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004E7C21-3789-9847-AC5D-A3C5AC537B25}"/>
                </a:ext>
              </a:extLst>
            </p:cNvPr>
            <p:cNvGrpSpPr/>
            <p:nvPr/>
          </p:nvGrpSpPr>
          <p:grpSpPr>
            <a:xfrm>
              <a:off x="1786684" y="5900789"/>
              <a:ext cx="1564057" cy="646331"/>
              <a:chOff x="9207716" y="3650244"/>
              <a:chExt cx="1564057" cy="646331"/>
            </a:xfrm>
          </p:grpSpPr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74232671-7A5E-DC43-9242-B84603A7D811}"/>
                  </a:ext>
                </a:extLst>
              </p:cNvPr>
              <p:cNvSpPr/>
              <p:nvPr/>
            </p:nvSpPr>
            <p:spPr>
              <a:xfrm>
                <a:off x="9254671" y="3650244"/>
                <a:ext cx="151710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服務態度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配送型態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F9E0245A-93FA-1E45-BBC8-9C202BE37269}"/>
                  </a:ext>
                </a:extLst>
              </p:cNvPr>
              <p:cNvSpPr/>
              <p:nvPr/>
            </p:nvSpPr>
            <p:spPr>
              <a:xfrm>
                <a:off x="9207716" y="3650244"/>
                <a:ext cx="1517102" cy="646331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744D111C-418F-3642-B286-DE75FC4EEB87}"/>
                </a:ext>
              </a:extLst>
            </p:cNvPr>
            <p:cNvGrpSpPr/>
            <p:nvPr/>
          </p:nvGrpSpPr>
          <p:grpSpPr>
            <a:xfrm>
              <a:off x="3431508" y="5883326"/>
              <a:ext cx="1564057" cy="663040"/>
              <a:chOff x="9207716" y="5758033"/>
              <a:chExt cx="1564057" cy="663040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F8F24128-B67A-1840-99C8-B72671E2CF87}"/>
                  </a:ext>
                </a:extLst>
              </p:cNvPr>
              <p:cNvSpPr/>
              <p:nvPr/>
            </p:nvSpPr>
            <p:spPr>
              <a:xfrm>
                <a:off x="9254671" y="5774742"/>
                <a:ext cx="151710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營業時數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營業時間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1" name="圓角矩形 60">
                <a:extLst>
                  <a:ext uri="{FF2B5EF4-FFF2-40B4-BE49-F238E27FC236}">
                    <a16:creationId xmlns:a16="http://schemas.microsoft.com/office/drawing/2014/main" id="{E9B292FF-782C-744E-85CA-929B373D8AE6}"/>
                  </a:ext>
                </a:extLst>
              </p:cNvPr>
              <p:cNvSpPr/>
              <p:nvPr/>
            </p:nvSpPr>
            <p:spPr>
              <a:xfrm>
                <a:off x="9207716" y="5758033"/>
                <a:ext cx="1517102" cy="663040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A5CC4885-3031-5B42-9991-79B1598BB03F}"/>
                </a:ext>
              </a:extLst>
            </p:cNvPr>
            <p:cNvGrpSpPr/>
            <p:nvPr/>
          </p:nvGrpSpPr>
          <p:grpSpPr>
            <a:xfrm>
              <a:off x="5160415" y="5869253"/>
              <a:ext cx="1564057" cy="710799"/>
              <a:chOff x="9207716" y="4909955"/>
              <a:chExt cx="1564057" cy="710799"/>
            </a:xfrm>
          </p:grpSpPr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432CB413-D71B-B948-9279-88CD240043C9}"/>
                  </a:ext>
                </a:extLst>
              </p:cNvPr>
              <p:cNvSpPr/>
              <p:nvPr/>
            </p:nvSpPr>
            <p:spPr>
              <a:xfrm>
                <a:off x="9254671" y="4952389"/>
                <a:ext cx="151710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據點位置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分店數量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59" name="圓角矩形 58">
                <a:extLst>
                  <a:ext uri="{FF2B5EF4-FFF2-40B4-BE49-F238E27FC236}">
                    <a16:creationId xmlns:a16="http://schemas.microsoft.com/office/drawing/2014/main" id="{1BC9C96F-C782-4C41-8769-350BABBC012A}"/>
                  </a:ext>
                </a:extLst>
              </p:cNvPr>
              <p:cNvSpPr/>
              <p:nvPr/>
            </p:nvSpPr>
            <p:spPr>
              <a:xfrm>
                <a:off x="9207716" y="4909955"/>
                <a:ext cx="1517102" cy="71079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49" name="直線單箭頭接點 58">
              <a:extLst>
                <a:ext uri="{FF2B5EF4-FFF2-40B4-BE49-F238E27FC236}">
                  <a16:creationId xmlns:a16="http://schemas.microsoft.com/office/drawing/2014/main" id="{6776F677-982B-8A43-B960-6B14676949A1}"/>
                </a:ext>
              </a:extLst>
            </p:cNvPr>
            <p:cNvCxnSpPr>
              <a:stCxn id="40" idx="2"/>
              <a:endCxn id="41" idx="0"/>
            </p:cNvCxnSpPr>
            <p:nvPr/>
          </p:nvCxnSpPr>
          <p:spPr>
            <a:xfrm flipH="1">
              <a:off x="1079138" y="4545977"/>
              <a:ext cx="2454547" cy="5590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直線單箭頭接點 59">
              <a:extLst>
                <a:ext uri="{FF2B5EF4-FFF2-40B4-BE49-F238E27FC236}">
                  <a16:creationId xmlns:a16="http://schemas.microsoft.com/office/drawing/2014/main" id="{F9BB506B-EC8A-F744-B763-502848466AC3}"/>
                </a:ext>
              </a:extLst>
            </p:cNvPr>
            <p:cNvCxnSpPr>
              <a:stCxn id="40" idx="2"/>
              <a:endCxn id="42" idx="0"/>
            </p:cNvCxnSpPr>
            <p:nvPr/>
          </p:nvCxnSpPr>
          <p:spPr>
            <a:xfrm flipH="1">
              <a:off x="2551719" y="4545977"/>
              <a:ext cx="981966" cy="55907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直線單箭頭接點 60">
              <a:extLst>
                <a:ext uri="{FF2B5EF4-FFF2-40B4-BE49-F238E27FC236}">
                  <a16:creationId xmlns:a16="http://schemas.microsoft.com/office/drawing/2014/main" id="{0F207D0F-638F-9F4F-BA66-238CF8A1A0F6}"/>
                </a:ext>
              </a:extLst>
            </p:cNvPr>
            <p:cNvCxnSpPr>
              <a:stCxn id="40" idx="2"/>
              <a:endCxn id="44" idx="0"/>
            </p:cNvCxnSpPr>
            <p:nvPr/>
          </p:nvCxnSpPr>
          <p:spPr>
            <a:xfrm>
              <a:off x="3533685" y="4545977"/>
              <a:ext cx="653983" cy="55907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直線單箭頭接點 61">
              <a:extLst>
                <a:ext uri="{FF2B5EF4-FFF2-40B4-BE49-F238E27FC236}">
                  <a16:creationId xmlns:a16="http://schemas.microsoft.com/office/drawing/2014/main" id="{CF561508-C574-6D4C-A193-72B30B600A73}"/>
                </a:ext>
              </a:extLst>
            </p:cNvPr>
            <p:cNvCxnSpPr>
              <a:stCxn id="40" idx="2"/>
              <a:endCxn id="43" idx="0"/>
            </p:cNvCxnSpPr>
            <p:nvPr/>
          </p:nvCxnSpPr>
          <p:spPr>
            <a:xfrm>
              <a:off x="3533685" y="4545977"/>
              <a:ext cx="2387013" cy="5590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3" name="直線單箭頭接點 62">
              <a:extLst>
                <a:ext uri="{FF2B5EF4-FFF2-40B4-BE49-F238E27FC236}">
                  <a16:creationId xmlns:a16="http://schemas.microsoft.com/office/drawing/2014/main" id="{1B4DD979-DCA1-C542-9787-7464BBEB1A3B}"/>
                </a:ext>
              </a:extLst>
            </p:cNvPr>
            <p:cNvCxnSpPr>
              <a:stCxn id="41" idx="2"/>
              <a:endCxn id="65" idx="0"/>
            </p:cNvCxnSpPr>
            <p:nvPr/>
          </p:nvCxnSpPr>
          <p:spPr>
            <a:xfrm flipH="1">
              <a:off x="1069852" y="5566715"/>
              <a:ext cx="9286" cy="33809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" name="直線單箭頭接點 63">
              <a:extLst>
                <a:ext uri="{FF2B5EF4-FFF2-40B4-BE49-F238E27FC236}">
                  <a16:creationId xmlns:a16="http://schemas.microsoft.com/office/drawing/2014/main" id="{81C8AB42-8ACE-8248-BD21-C4E08AF0DE38}"/>
                </a:ext>
              </a:extLst>
            </p:cNvPr>
            <p:cNvCxnSpPr>
              <a:stCxn id="43" idx="2"/>
              <a:endCxn id="59" idx="0"/>
            </p:cNvCxnSpPr>
            <p:nvPr/>
          </p:nvCxnSpPr>
          <p:spPr>
            <a:xfrm flipH="1">
              <a:off x="5918966" y="5566714"/>
              <a:ext cx="1732" cy="3025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5" name="直線單箭頭接點 64">
              <a:extLst>
                <a:ext uri="{FF2B5EF4-FFF2-40B4-BE49-F238E27FC236}">
                  <a16:creationId xmlns:a16="http://schemas.microsoft.com/office/drawing/2014/main" id="{8B61614F-4968-1C41-8D61-4F8C3714ABC6}"/>
                </a:ext>
              </a:extLst>
            </p:cNvPr>
            <p:cNvCxnSpPr>
              <a:stCxn id="44" idx="2"/>
              <a:endCxn id="61" idx="0"/>
            </p:cNvCxnSpPr>
            <p:nvPr/>
          </p:nvCxnSpPr>
          <p:spPr>
            <a:xfrm>
              <a:off x="4187668" y="5566716"/>
              <a:ext cx="2391" cy="31661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直線單箭頭接點 65">
              <a:extLst>
                <a:ext uri="{FF2B5EF4-FFF2-40B4-BE49-F238E27FC236}">
                  <a16:creationId xmlns:a16="http://schemas.microsoft.com/office/drawing/2014/main" id="{05F5C29A-78A3-4C4A-AB88-DF1AE8CD9F5A}"/>
                </a:ext>
              </a:extLst>
            </p:cNvPr>
            <p:cNvCxnSpPr>
              <a:stCxn id="42" idx="2"/>
              <a:endCxn id="63" idx="0"/>
            </p:cNvCxnSpPr>
            <p:nvPr/>
          </p:nvCxnSpPr>
          <p:spPr>
            <a:xfrm flipH="1">
              <a:off x="2545235" y="5566716"/>
              <a:ext cx="6484" cy="3340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F15064ED-19BA-0A41-B0F3-078DFB11D70D}"/>
                </a:ext>
              </a:extLst>
            </p:cNvPr>
            <p:cNvSpPr txBox="1"/>
            <p:nvPr/>
          </p:nvSpPr>
          <p:spPr>
            <a:xfrm>
              <a:off x="326709" y="3763071"/>
              <a:ext cx="6525286" cy="321031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DBF78CE7-9EFA-9240-BB1D-EAB5611426F8}"/>
              </a:ext>
            </a:extLst>
          </p:cNvPr>
          <p:cNvCxnSpPr>
            <a:endCxn id="20" idx="2"/>
          </p:cNvCxnSpPr>
          <p:nvPr/>
        </p:nvCxnSpPr>
        <p:spPr>
          <a:xfrm flipV="1">
            <a:off x="1122937" y="3053105"/>
            <a:ext cx="3309964" cy="482712"/>
          </a:xfrm>
          <a:prstGeom prst="line">
            <a:avLst/>
          </a:prstGeom>
          <a:noFill/>
          <a:ln>
            <a:solidFill>
              <a:schemeClr val="tx1"/>
            </a:solidFill>
            <a:prstDash val="dash"/>
          </a:ln>
        </p:spPr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D47DC734-5797-D248-9C3F-E7AC9BB31D69}"/>
              </a:ext>
            </a:extLst>
          </p:cNvPr>
          <p:cNvCxnSpPr>
            <a:endCxn id="20" idx="2"/>
          </p:cNvCxnSpPr>
          <p:nvPr/>
        </p:nvCxnSpPr>
        <p:spPr>
          <a:xfrm flipH="1" flipV="1">
            <a:off x="4432901" y="3053105"/>
            <a:ext cx="3221825" cy="482712"/>
          </a:xfrm>
          <a:prstGeom prst="line">
            <a:avLst/>
          </a:prstGeom>
          <a:noFill/>
          <a:ln>
            <a:solidFill>
              <a:schemeClr val="tx1"/>
            </a:solidFill>
            <a:prstDash val="dash"/>
          </a:ln>
        </p:spPr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F0ED895A-BF6F-6C47-B171-6BCAD04F1540}"/>
              </a:ext>
            </a:extLst>
          </p:cNvPr>
          <p:cNvSpPr/>
          <p:nvPr/>
        </p:nvSpPr>
        <p:spPr>
          <a:xfrm>
            <a:off x="359636" y="3749020"/>
            <a:ext cx="2418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B4F18AC-71E7-724B-9DD6-3BCE944CCC13}"/>
              </a:ext>
            </a:extLst>
          </p:cNvPr>
          <p:cNvSpPr/>
          <p:nvPr/>
        </p:nvSpPr>
        <p:spPr>
          <a:xfrm>
            <a:off x="359636" y="4931704"/>
            <a:ext cx="2418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構面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E88D080-A93D-6A4C-BF87-5869AA4C6EC7}"/>
              </a:ext>
            </a:extLst>
          </p:cNvPr>
          <p:cNvSpPr/>
          <p:nvPr/>
        </p:nvSpPr>
        <p:spPr>
          <a:xfrm>
            <a:off x="218661" y="5649011"/>
            <a:ext cx="2418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子構面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509F9990-E950-B24A-B84A-A0ACF6BBC5A8}"/>
              </a:ext>
            </a:extLst>
          </p:cNvPr>
          <p:cNvSpPr txBox="1"/>
          <p:nvPr/>
        </p:nvSpPr>
        <p:spPr>
          <a:xfrm>
            <a:off x="1239782" y="355471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評價構面階層</a:t>
            </a:r>
          </a:p>
        </p:txBody>
      </p:sp>
      <p:sp>
        <p:nvSpPr>
          <p:cNvPr id="72" name="CuadroTexto 728">
            <a:extLst>
              <a:ext uri="{FF2B5EF4-FFF2-40B4-BE49-F238E27FC236}">
                <a16:creationId xmlns:a16="http://schemas.microsoft.com/office/drawing/2014/main" id="{31EF825D-1EB8-874B-9BEC-B5B64919FAF5}"/>
              </a:ext>
            </a:extLst>
          </p:cNvPr>
          <p:cNvSpPr txBox="1"/>
          <p:nvPr/>
        </p:nvSpPr>
        <p:spPr>
          <a:xfrm>
            <a:off x="190800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4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）評價模型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73" name="CuadroTexto 728">
            <a:extLst>
              <a:ext uri="{FF2B5EF4-FFF2-40B4-BE49-F238E27FC236}">
                <a16:creationId xmlns:a16="http://schemas.microsoft.com/office/drawing/2014/main" id="{47C7F475-377C-124C-9C3F-85BCFD33BF1D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4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）評價模型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818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28">
            <a:extLst>
              <a:ext uri="{FF2B5EF4-FFF2-40B4-BE49-F238E27FC236}">
                <a16:creationId xmlns:a16="http://schemas.microsoft.com/office/drawing/2014/main" id="{F3417D25-995F-204C-85B2-B97DD8ACF3B8}"/>
              </a:ext>
            </a:extLst>
          </p:cNvPr>
          <p:cNvSpPr txBox="1"/>
          <p:nvPr/>
        </p:nvSpPr>
        <p:spPr>
          <a:xfrm>
            <a:off x="190800" y="180000"/>
            <a:ext cx="50225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4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）評價模型建立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10" name="矩形: 圓角 94">
            <a:extLst>
              <a:ext uri="{FF2B5EF4-FFF2-40B4-BE49-F238E27FC236}">
                <a16:creationId xmlns:a16="http://schemas.microsoft.com/office/drawing/2014/main" id="{FBC20D13-13BB-5948-850A-CC7F05488114}"/>
              </a:ext>
            </a:extLst>
          </p:cNvPr>
          <p:cNvSpPr/>
          <p:nvPr/>
        </p:nvSpPr>
        <p:spPr>
          <a:xfrm>
            <a:off x="6694871" y="3006514"/>
            <a:ext cx="4057432" cy="101334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A56BCC4-C23C-0745-BA07-5252481D614F}"/>
              </a:ext>
            </a:extLst>
          </p:cNvPr>
          <p:cNvSpPr/>
          <p:nvPr/>
        </p:nvSpPr>
        <p:spPr>
          <a:xfrm>
            <a:off x="2449435" y="1323693"/>
            <a:ext cx="1579530" cy="789765"/>
          </a:xfrm>
          <a:prstGeom prst="ellipse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15C8B2-5405-8F45-A305-5964482F47EF}"/>
              </a:ext>
            </a:extLst>
          </p:cNvPr>
          <p:cNvSpPr/>
          <p:nvPr/>
        </p:nvSpPr>
        <p:spPr>
          <a:xfrm>
            <a:off x="2406142" y="1426187"/>
            <a:ext cx="16661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使用爬蟲獲得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網路評論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9CBE81-DB99-D04A-B9D4-FD6E59E45253}"/>
              </a:ext>
            </a:extLst>
          </p:cNvPr>
          <p:cNvSpPr/>
          <p:nvPr/>
        </p:nvSpPr>
        <p:spPr>
          <a:xfrm>
            <a:off x="2646303" y="2467889"/>
            <a:ext cx="1824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評論前處理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1C5E9BD9-863B-4A4C-A40F-77B45FDAFFFC}"/>
              </a:ext>
            </a:extLst>
          </p:cNvPr>
          <p:cNvSpPr/>
          <p:nvPr/>
        </p:nvSpPr>
        <p:spPr>
          <a:xfrm>
            <a:off x="2427788" y="2325340"/>
            <a:ext cx="1622821" cy="617689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716E80D-49B9-2B41-AD44-70AD1BB85930}"/>
              </a:ext>
            </a:extLst>
          </p:cNvPr>
          <p:cNvSpPr txBox="1"/>
          <p:nvPr/>
        </p:nvSpPr>
        <p:spPr>
          <a:xfrm>
            <a:off x="89499" y="3027316"/>
            <a:ext cx="2161661" cy="5847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LDA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分群找出不同主題的關鍵詞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5641E5DB-4992-2B49-8DA9-1C6BA166E52B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>
            <a:off x="2251160" y="3319704"/>
            <a:ext cx="176970" cy="156963"/>
          </a:xfrm>
          <a:prstGeom prst="line">
            <a:avLst/>
          </a:prstGeom>
          <a:noFill/>
          <a:ln>
            <a:solidFill>
              <a:schemeClr val="tx1"/>
            </a:solidFill>
            <a:prstDash val="dash"/>
          </a:ln>
        </p:spPr>
      </p:cxnSp>
      <p:cxnSp>
        <p:nvCxnSpPr>
          <p:cNvPr id="21" name="直線單箭頭接點 24">
            <a:extLst>
              <a:ext uri="{FF2B5EF4-FFF2-40B4-BE49-F238E27FC236}">
                <a16:creationId xmlns:a16="http://schemas.microsoft.com/office/drawing/2014/main" id="{40E1C24F-4CE3-1842-B9F7-85E7DC25FF9C}"/>
              </a:ext>
            </a:extLst>
          </p:cNvPr>
          <p:cNvCxnSpPr>
            <a:stCxn id="11" idx="4"/>
            <a:endCxn id="18" idx="0"/>
          </p:cNvCxnSpPr>
          <p:nvPr/>
        </p:nvCxnSpPr>
        <p:spPr>
          <a:xfrm flipH="1">
            <a:off x="3239199" y="2113458"/>
            <a:ext cx="1" cy="2118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直線單箭頭接點 25">
            <a:extLst>
              <a:ext uri="{FF2B5EF4-FFF2-40B4-BE49-F238E27FC236}">
                <a16:creationId xmlns:a16="http://schemas.microsoft.com/office/drawing/2014/main" id="{38E18438-F1E1-5049-B564-528AD4A773DB}"/>
              </a:ext>
            </a:extLst>
          </p:cNvPr>
          <p:cNvCxnSpPr>
            <a:stCxn id="18" idx="2"/>
            <a:endCxn id="25" idx="0"/>
          </p:cNvCxnSpPr>
          <p:nvPr/>
        </p:nvCxnSpPr>
        <p:spPr>
          <a:xfrm flipH="1">
            <a:off x="3235181" y="2943029"/>
            <a:ext cx="4018" cy="226453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E0C589CB-639B-8D41-943E-B4360ADF0C65}"/>
              </a:ext>
            </a:extLst>
          </p:cNvPr>
          <p:cNvGrpSpPr/>
          <p:nvPr/>
        </p:nvGrpSpPr>
        <p:grpSpPr>
          <a:xfrm>
            <a:off x="2428130" y="3169482"/>
            <a:ext cx="1696469" cy="614370"/>
            <a:chOff x="1557262" y="1568546"/>
            <a:chExt cx="2092461" cy="757777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FC3A518-F827-CA48-BBA7-F2CE98E0C0A6}"/>
                </a:ext>
              </a:extLst>
            </p:cNvPr>
            <p:cNvSpPr/>
            <p:nvPr/>
          </p:nvSpPr>
          <p:spPr>
            <a:xfrm>
              <a:off x="1825529" y="1785226"/>
              <a:ext cx="1824194" cy="4555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5" name="圓角矩形 24">
              <a:extLst>
                <a:ext uri="{FF2B5EF4-FFF2-40B4-BE49-F238E27FC236}">
                  <a16:creationId xmlns:a16="http://schemas.microsoft.com/office/drawing/2014/main" id="{FC4E30A7-32D3-264E-962B-419A24BD7B93}"/>
                </a:ext>
              </a:extLst>
            </p:cNvPr>
            <p:cNvSpPr/>
            <p:nvPr/>
          </p:nvSpPr>
          <p:spPr>
            <a:xfrm>
              <a:off x="1557262" y="1568546"/>
              <a:ext cx="1990868" cy="75777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F18A6B0D-A182-9241-9473-C948D6F41062}"/>
              </a:ext>
            </a:extLst>
          </p:cNvPr>
          <p:cNvSpPr/>
          <p:nvPr/>
        </p:nvSpPr>
        <p:spPr>
          <a:xfrm>
            <a:off x="2449435" y="3298523"/>
            <a:ext cx="19900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主題關鍵詞萃取</a:t>
            </a:r>
          </a:p>
        </p:txBody>
      </p:sp>
      <p:sp>
        <p:nvSpPr>
          <p:cNvPr id="28" name="流程圖: 磁碟 30">
            <a:extLst>
              <a:ext uri="{FF2B5EF4-FFF2-40B4-BE49-F238E27FC236}">
                <a16:creationId xmlns:a16="http://schemas.microsoft.com/office/drawing/2014/main" id="{71FAFD4D-5189-AF42-BBB3-15099945B6EF}"/>
              </a:ext>
            </a:extLst>
          </p:cNvPr>
          <p:cNvSpPr/>
          <p:nvPr/>
        </p:nvSpPr>
        <p:spPr>
          <a:xfrm>
            <a:off x="4753713" y="3105502"/>
            <a:ext cx="1667768" cy="732045"/>
          </a:xfrm>
          <a:prstGeom prst="flowChartMagneticDisk">
            <a:avLst/>
          </a:prstGeom>
          <a:noFill/>
          <a:ln w="19050">
            <a:solidFill>
              <a:schemeClr val="tx1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15C4B7B-3BD7-B045-ABD8-F5A53776E33D}"/>
              </a:ext>
            </a:extLst>
          </p:cNvPr>
          <p:cNvSpPr/>
          <p:nvPr/>
        </p:nvSpPr>
        <p:spPr>
          <a:xfrm>
            <a:off x="9477632" y="782414"/>
            <a:ext cx="14805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ea typeface="Microsoft JhengHei" panose="020B0604030504040204" pitchFamily="34" charset="-120"/>
              </a:rPr>
              <a:t>中文情感辭典</a:t>
            </a:r>
          </a:p>
        </p:txBody>
      </p:sp>
      <p:cxnSp>
        <p:nvCxnSpPr>
          <p:cNvPr id="30" name="直線單箭頭接點 32">
            <a:extLst>
              <a:ext uri="{FF2B5EF4-FFF2-40B4-BE49-F238E27FC236}">
                <a16:creationId xmlns:a16="http://schemas.microsoft.com/office/drawing/2014/main" id="{7C0A8191-931B-D243-8877-CD914CC2BC2A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3234684" y="3783852"/>
            <a:ext cx="497" cy="33778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6AB5FC0-B89C-0B4D-9B6E-6AFB89F34F2F}"/>
              </a:ext>
            </a:extLst>
          </p:cNvPr>
          <p:cNvSpPr txBox="1"/>
          <p:nvPr/>
        </p:nvSpPr>
        <p:spPr>
          <a:xfrm>
            <a:off x="4272181" y="2033680"/>
            <a:ext cx="3066865" cy="83099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斷句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文字清洗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斷句、刪除停用詞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詞性標註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4AAF1B45-1857-A74D-B1AC-8F4197952812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flipH="1">
            <a:off x="4050609" y="2449179"/>
            <a:ext cx="221572" cy="185006"/>
          </a:xfrm>
          <a:prstGeom prst="line">
            <a:avLst/>
          </a:prstGeom>
          <a:noFill/>
          <a:ln>
            <a:solidFill>
              <a:schemeClr val="tx1"/>
            </a:solidFill>
            <a:prstDash val="dash"/>
          </a:ln>
        </p:spPr>
      </p:cxnSp>
      <p:sp>
        <p:nvSpPr>
          <p:cNvPr id="33" name="圓角矩形 36">
            <a:extLst>
              <a:ext uri="{FF2B5EF4-FFF2-40B4-BE49-F238E27FC236}">
                <a16:creationId xmlns:a16="http://schemas.microsoft.com/office/drawing/2014/main" id="{95178F4E-6E36-594A-9E12-761B44EA0B13}"/>
              </a:ext>
            </a:extLst>
          </p:cNvPr>
          <p:cNvSpPr/>
          <p:nvPr/>
        </p:nvSpPr>
        <p:spPr>
          <a:xfrm>
            <a:off x="2427633" y="4121637"/>
            <a:ext cx="1614102" cy="614370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7180232-98F2-3B44-9CAF-2B272AC81807}"/>
              </a:ext>
            </a:extLst>
          </p:cNvPr>
          <p:cNvSpPr/>
          <p:nvPr/>
        </p:nvSpPr>
        <p:spPr>
          <a:xfrm>
            <a:off x="2536742" y="4287682"/>
            <a:ext cx="14922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主題權重計算</a:t>
            </a:r>
          </a:p>
        </p:txBody>
      </p:sp>
      <p:sp>
        <p:nvSpPr>
          <p:cNvPr id="35" name="矩形: 剪去對角角落 22">
            <a:extLst>
              <a:ext uri="{FF2B5EF4-FFF2-40B4-BE49-F238E27FC236}">
                <a16:creationId xmlns:a16="http://schemas.microsoft.com/office/drawing/2014/main" id="{E1992305-E7E5-8C4A-AECE-7B674C6767B8}"/>
              </a:ext>
            </a:extLst>
          </p:cNvPr>
          <p:cNvSpPr/>
          <p:nvPr/>
        </p:nvSpPr>
        <p:spPr>
          <a:xfrm>
            <a:off x="2449435" y="5073792"/>
            <a:ext cx="1549036" cy="753168"/>
          </a:xfrm>
          <a:prstGeom prst="snip2Diag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評價模型</a:t>
            </a:r>
          </a:p>
        </p:txBody>
      </p:sp>
      <p:cxnSp>
        <p:nvCxnSpPr>
          <p:cNvPr id="36" name="直線單箭頭接點 38">
            <a:extLst>
              <a:ext uri="{FF2B5EF4-FFF2-40B4-BE49-F238E27FC236}">
                <a16:creationId xmlns:a16="http://schemas.microsoft.com/office/drawing/2014/main" id="{0D9B63CD-89E5-B94A-B155-9BE5937CC28E}"/>
              </a:ext>
            </a:extLst>
          </p:cNvPr>
          <p:cNvCxnSpPr>
            <a:cxnSpLocks/>
            <a:stCxn id="33" idx="2"/>
            <a:endCxn id="35" idx="3"/>
          </p:cNvCxnSpPr>
          <p:nvPr/>
        </p:nvCxnSpPr>
        <p:spPr>
          <a:xfrm flipH="1">
            <a:off x="3223953" y="4736007"/>
            <a:ext cx="10731" cy="33778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67E26F69-3FAD-7A4C-94DF-AB29D107E1EE}"/>
              </a:ext>
            </a:extLst>
          </p:cNvPr>
          <p:cNvSpPr/>
          <p:nvPr/>
        </p:nvSpPr>
        <p:spPr>
          <a:xfrm>
            <a:off x="7702972" y="1323693"/>
            <a:ext cx="1579530" cy="789765"/>
          </a:xfrm>
          <a:prstGeom prst="ellipse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DB8795-700F-BB43-99FB-8EDF8A97878B}"/>
              </a:ext>
            </a:extLst>
          </p:cNvPr>
          <p:cNvSpPr/>
          <p:nvPr/>
        </p:nvSpPr>
        <p:spPr>
          <a:xfrm>
            <a:off x="7638033" y="1438306"/>
            <a:ext cx="16661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使用爬蟲獲得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網路評論</a:t>
            </a:r>
          </a:p>
        </p:txBody>
      </p:sp>
      <p:sp>
        <p:nvSpPr>
          <p:cNvPr id="39" name="圓角矩形 6">
            <a:extLst>
              <a:ext uri="{FF2B5EF4-FFF2-40B4-BE49-F238E27FC236}">
                <a16:creationId xmlns:a16="http://schemas.microsoft.com/office/drawing/2014/main" id="{078AFDB2-B70D-E64D-B676-71725B293117}"/>
              </a:ext>
            </a:extLst>
          </p:cNvPr>
          <p:cNvSpPr/>
          <p:nvPr/>
        </p:nvSpPr>
        <p:spPr>
          <a:xfrm>
            <a:off x="7681327" y="2336558"/>
            <a:ext cx="1622821" cy="617689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43DB9B1-B12E-0C48-BA45-C7C6E55A46C1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>
            <a:off x="7339046" y="2449179"/>
            <a:ext cx="342281" cy="196224"/>
          </a:xfrm>
          <a:prstGeom prst="line">
            <a:avLst/>
          </a:prstGeom>
          <a:noFill/>
          <a:ln>
            <a:solidFill>
              <a:schemeClr val="tx1"/>
            </a:solidFill>
            <a:prstDash val="dash"/>
          </a:ln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357D9B70-DBD7-4C4D-B2B5-2F937E59196F}"/>
              </a:ext>
            </a:extLst>
          </p:cNvPr>
          <p:cNvSpPr/>
          <p:nvPr/>
        </p:nvSpPr>
        <p:spPr>
          <a:xfrm>
            <a:off x="7915143" y="2513530"/>
            <a:ext cx="1824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評論前處理</a:t>
            </a:r>
          </a:p>
        </p:txBody>
      </p:sp>
      <p:cxnSp>
        <p:nvCxnSpPr>
          <p:cNvPr id="42" name="直線單箭頭接點 44">
            <a:extLst>
              <a:ext uri="{FF2B5EF4-FFF2-40B4-BE49-F238E27FC236}">
                <a16:creationId xmlns:a16="http://schemas.microsoft.com/office/drawing/2014/main" id="{0627DC7C-2C00-0F4C-B78D-951AF8C1DDAD}"/>
              </a:ext>
            </a:extLst>
          </p:cNvPr>
          <p:cNvCxnSpPr>
            <a:cxnSpLocks/>
            <a:stCxn id="37" idx="4"/>
            <a:endCxn id="39" idx="0"/>
          </p:cNvCxnSpPr>
          <p:nvPr/>
        </p:nvCxnSpPr>
        <p:spPr>
          <a:xfrm>
            <a:off x="8492737" y="2113458"/>
            <a:ext cx="1" cy="22310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圓角矩形 6">
            <a:extLst>
              <a:ext uri="{FF2B5EF4-FFF2-40B4-BE49-F238E27FC236}">
                <a16:creationId xmlns:a16="http://schemas.microsoft.com/office/drawing/2014/main" id="{3A04782B-A7CD-8E48-8386-CC1CC493BFE4}"/>
              </a:ext>
            </a:extLst>
          </p:cNvPr>
          <p:cNvSpPr/>
          <p:nvPr/>
        </p:nvSpPr>
        <p:spPr>
          <a:xfrm>
            <a:off x="6968262" y="3197533"/>
            <a:ext cx="1622821" cy="617689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7FF420A-8A3F-E744-B19C-7D8AEA90524B}"/>
              </a:ext>
            </a:extLst>
          </p:cNvPr>
          <p:cNvSpPr/>
          <p:nvPr/>
        </p:nvSpPr>
        <p:spPr>
          <a:xfrm>
            <a:off x="7202078" y="3337101"/>
            <a:ext cx="1824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關鍵詞標註</a:t>
            </a:r>
          </a:p>
        </p:txBody>
      </p:sp>
      <p:cxnSp>
        <p:nvCxnSpPr>
          <p:cNvPr id="45" name="直線單箭頭接點 47">
            <a:extLst>
              <a:ext uri="{FF2B5EF4-FFF2-40B4-BE49-F238E27FC236}">
                <a16:creationId xmlns:a16="http://schemas.microsoft.com/office/drawing/2014/main" id="{24F610F4-7DF0-4846-B271-6A56BD0BB1E5}"/>
              </a:ext>
            </a:extLst>
          </p:cNvPr>
          <p:cNvCxnSpPr>
            <a:stCxn id="25" idx="3"/>
            <a:endCxn id="28" idx="2"/>
          </p:cNvCxnSpPr>
          <p:nvPr/>
        </p:nvCxnSpPr>
        <p:spPr>
          <a:xfrm flipV="1">
            <a:off x="4042232" y="3471525"/>
            <a:ext cx="711481" cy="5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2D3F26E5-5725-7A48-B2E6-0FC96EF1E803}"/>
              </a:ext>
            </a:extLst>
          </p:cNvPr>
          <p:cNvSpPr/>
          <p:nvPr/>
        </p:nvSpPr>
        <p:spPr>
          <a:xfrm>
            <a:off x="5107652" y="3380495"/>
            <a:ext cx="19900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關鍵詞庫</a:t>
            </a:r>
          </a:p>
        </p:txBody>
      </p:sp>
      <p:cxnSp>
        <p:nvCxnSpPr>
          <p:cNvPr id="47" name="直線單箭頭接點 49">
            <a:extLst>
              <a:ext uri="{FF2B5EF4-FFF2-40B4-BE49-F238E27FC236}">
                <a16:creationId xmlns:a16="http://schemas.microsoft.com/office/drawing/2014/main" id="{642FEC77-212A-C04F-BB2D-87CA09994C3A}"/>
              </a:ext>
            </a:extLst>
          </p:cNvPr>
          <p:cNvCxnSpPr>
            <a:cxnSpLocks/>
            <a:stCxn id="28" idx="4"/>
            <a:endCxn id="43" idx="1"/>
          </p:cNvCxnSpPr>
          <p:nvPr/>
        </p:nvCxnSpPr>
        <p:spPr>
          <a:xfrm>
            <a:off x="6421481" y="3471525"/>
            <a:ext cx="546781" cy="34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圓角矩形 36">
            <a:extLst>
              <a:ext uri="{FF2B5EF4-FFF2-40B4-BE49-F238E27FC236}">
                <a16:creationId xmlns:a16="http://schemas.microsoft.com/office/drawing/2014/main" id="{D6B0D31A-B4E4-D546-A65F-39048C2A2C37}"/>
              </a:ext>
            </a:extLst>
          </p:cNvPr>
          <p:cNvSpPr/>
          <p:nvPr/>
        </p:nvSpPr>
        <p:spPr>
          <a:xfrm>
            <a:off x="9026272" y="3177347"/>
            <a:ext cx="1614102" cy="614370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2F692C0-ACAA-5F40-A8B0-B32B523F3696}"/>
              </a:ext>
            </a:extLst>
          </p:cNvPr>
          <p:cNvSpPr/>
          <p:nvPr/>
        </p:nvSpPr>
        <p:spPr>
          <a:xfrm>
            <a:off x="8921226" y="3337101"/>
            <a:ext cx="1824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形容詞與副詞標註</a:t>
            </a:r>
          </a:p>
        </p:txBody>
      </p:sp>
      <p:cxnSp>
        <p:nvCxnSpPr>
          <p:cNvPr id="50" name="直線單箭頭接點 52">
            <a:extLst>
              <a:ext uri="{FF2B5EF4-FFF2-40B4-BE49-F238E27FC236}">
                <a16:creationId xmlns:a16="http://schemas.microsoft.com/office/drawing/2014/main" id="{29DB62F7-D454-BD47-8A40-8F8CE32CE253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flipH="1">
            <a:off x="7779673" y="2954247"/>
            <a:ext cx="713065" cy="24328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直線單箭頭接點 53">
            <a:extLst>
              <a:ext uri="{FF2B5EF4-FFF2-40B4-BE49-F238E27FC236}">
                <a16:creationId xmlns:a16="http://schemas.microsoft.com/office/drawing/2014/main" id="{E6B7A8DA-3B06-854A-8E7F-4A45903912D3}"/>
              </a:ext>
            </a:extLst>
          </p:cNvPr>
          <p:cNvCxnSpPr>
            <a:cxnSpLocks/>
            <a:stCxn id="39" idx="2"/>
            <a:endCxn id="48" idx="0"/>
          </p:cNvCxnSpPr>
          <p:nvPr/>
        </p:nvCxnSpPr>
        <p:spPr>
          <a:xfrm>
            <a:off x="8492738" y="2954247"/>
            <a:ext cx="1340585" cy="22310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流程圖: 磁碟 54">
            <a:extLst>
              <a:ext uri="{FF2B5EF4-FFF2-40B4-BE49-F238E27FC236}">
                <a16:creationId xmlns:a16="http://schemas.microsoft.com/office/drawing/2014/main" id="{A84267C8-F177-A643-91AB-0C4F36E5A094}"/>
              </a:ext>
            </a:extLst>
          </p:cNvPr>
          <p:cNvSpPr/>
          <p:nvPr/>
        </p:nvSpPr>
        <p:spPr>
          <a:xfrm>
            <a:off x="9364831" y="532423"/>
            <a:ext cx="1667768" cy="732045"/>
          </a:xfrm>
          <a:prstGeom prst="flowChartMagneticDisk">
            <a:avLst/>
          </a:prstGeom>
          <a:noFill/>
          <a:ln w="19050">
            <a:solidFill>
              <a:schemeClr val="tx1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ea typeface="Microsoft JhengHei" panose="020B0604030504040204" pitchFamily="34" charset="-120"/>
            </a:endParaRPr>
          </a:p>
        </p:txBody>
      </p:sp>
      <p:cxnSp>
        <p:nvCxnSpPr>
          <p:cNvPr id="53" name="直線單箭頭接點 55">
            <a:extLst>
              <a:ext uri="{FF2B5EF4-FFF2-40B4-BE49-F238E27FC236}">
                <a16:creationId xmlns:a16="http://schemas.microsoft.com/office/drawing/2014/main" id="{727AA81C-E38D-B540-B392-DEB8FD4DD599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9471753" y="1264468"/>
            <a:ext cx="726962" cy="211084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圓角矩形 6">
            <a:extLst>
              <a:ext uri="{FF2B5EF4-FFF2-40B4-BE49-F238E27FC236}">
                <a16:creationId xmlns:a16="http://schemas.microsoft.com/office/drawing/2014/main" id="{ED8B02FD-37D6-4A4C-B32F-9A25E9019B83}"/>
              </a:ext>
            </a:extLst>
          </p:cNvPr>
          <p:cNvSpPr/>
          <p:nvPr/>
        </p:nvSpPr>
        <p:spPr>
          <a:xfrm>
            <a:off x="8070415" y="4210873"/>
            <a:ext cx="1622821" cy="617689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9611ACE-A8B8-444C-B913-83FAFA65FD61}"/>
              </a:ext>
            </a:extLst>
          </p:cNvPr>
          <p:cNvSpPr/>
          <p:nvPr/>
        </p:nvSpPr>
        <p:spPr>
          <a:xfrm>
            <a:off x="8179335" y="4378306"/>
            <a:ext cx="1824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評價分數計算</a:t>
            </a:r>
          </a:p>
        </p:txBody>
      </p:sp>
      <p:cxnSp>
        <p:nvCxnSpPr>
          <p:cNvPr id="56" name="直線單箭頭接點 58">
            <a:extLst>
              <a:ext uri="{FF2B5EF4-FFF2-40B4-BE49-F238E27FC236}">
                <a16:creationId xmlns:a16="http://schemas.microsoft.com/office/drawing/2014/main" id="{3997D1D2-BF0D-4344-A179-201E6C61524C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8877466" y="4017636"/>
            <a:ext cx="4360" cy="193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圓角矩形 6">
            <a:extLst>
              <a:ext uri="{FF2B5EF4-FFF2-40B4-BE49-F238E27FC236}">
                <a16:creationId xmlns:a16="http://schemas.microsoft.com/office/drawing/2014/main" id="{6B2054B5-64D5-D142-8F62-02E2C81DEA78}"/>
              </a:ext>
            </a:extLst>
          </p:cNvPr>
          <p:cNvSpPr/>
          <p:nvPr/>
        </p:nvSpPr>
        <p:spPr>
          <a:xfrm>
            <a:off x="8070415" y="5026524"/>
            <a:ext cx="1622821" cy="617689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F04B873-A3FE-C142-9233-DB7B2C07FFAB}"/>
              </a:ext>
            </a:extLst>
          </p:cNvPr>
          <p:cNvSpPr txBox="1"/>
          <p:nvPr/>
        </p:nvSpPr>
        <p:spPr>
          <a:xfrm>
            <a:off x="8114175" y="5156100"/>
            <a:ext cx="1947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評價分數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累積</a:t>
            </a:r>
            <a:endParaRPr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9" name="圓角矩形 6">
            <a:extLst>
              <a:ext uri="{FF2B5EF4-FFF2-40B4-BE49-F238E27FC236}">
                <a16:creationId xmlns:a16="http://schemas.microsoft.com/office/drawing/2014/main" id="{F3DA4391-430C-EA46-9260-01C772EE8F65}"/>
              </a:ext>
            </a:extLst>
          </p:cNvPr>
          <p:cNvSpPr/>
          <p:nvPr/>
        </p:nvSpPr>
        <p:spPr>
          <a:xfrm>
            <a:off x="8066055" y="5753569"/>
            <a:ext cx="1622821" cy="617689"/>
          </a:xfrm>
          <a:prstGeom prst="roundRect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C5689769-ABF8-1B43-B966-9BBFFEE25B57}"/>
              </a:ext>
            </a:extLst>
          </p:cNvPr>
          <p:cNvSpPr txBox="1"/>
          <p:nvPr/>
        </p:nvSpPr>
        <p:spPr>
          <a:xfrm>
            <a:off x="8554754" y="5877747"/>
            <a:ext cx="1216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聲量</a:t>
            </a:r>
            <a:endParaRPr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1" name="直線單箭頭接點 63">
            <a:extLst>
              <a:ext uri="{FF2B5EF4-FFF2-40B4-BE49-F238E27FC236}">
                <a16:creationId xmlns:a16="http://schemas.microsoft.com/office/drawing/2014/main" id="{2781CCF7-B452-5848-B0B1-F1AF5C789007}"/>
              </a:ext>
            </a:extLst>
          </p:cNvPr>
          <p:cNvCxnSpPr>
            <a:cxnSpLocks/>
            <a:stCxn id="54" idx="2"/>
            <a:endCxn id="57" idx="0"/>
          </p:cNvCxnSpPr>
          <p:nvPr/>
        </p:nvCxnSpPr>
        <p:spPr>
          <a:xfrm>
            <a:off x="8881826" y="4828562"/>
            <a:ext cx="0" cy="197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4">
            <a:extLst>
              <a:ext uri="{FF2B5EF4-FFF2-40B4-BE49-F238E27FC236}">
                <a16:creationId xmlns:a16="http://schemas.microsoft.com/office/drawing/2014/main" id="{C4A4BFE4-CD0C-0C46-B681-7C0768236F39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flipH="1">
            <a:off x="8877466" y="5644213"/>
            <a:ext cx="4360" cy="109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B3D3282E-7B48-AD4F-A3C5-B0554299F6EA}"/>
              </a:ext>
            </a:extLst>
          </p:cNvPr>
          <p:cNvSpPr/>
          <p:nvPr/>
        </p:nvSpPr>
        <p:spPr>
          <a:xfrm>
            <a:off x="10175409" y="2143362"/>
            <a:ext cx="16965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副詞分數對照表</a:t>
            </a:r>
          </a:p>
        </p:txBody>
      </p:sp>
      <p:sp>
        <p:nvSpPr>
          <p:cNvPr id="64" name="流程圖: 磁碟 66">
            <a:extLst>
              <a:ext uri="{FF2B5EF4-FFF2-40B4-BE49-F238E27FC236}">
                <a16:creationId xmlns:a16="http://schemas.microsoft.com/office/drawing/2014/main" id="{4A96CC89-3639-5149-8085-F50BFEF810BE}"/>
              </a:ext>
            </a:extLst>
          </p:cNvPr>
          <p:cNvSpPr/>
          <p:nvPr/>
        </p:nvSpPr>
        <p:spPr>
          <a:xfrm>
            <a:off x="10135877" y="1896806"/>
            <a:ext cx="1667768" cy="732045"/>
          </a:xfrm>
          <a:prstGeom prst="flowChartMagneticDisk">
            <a:avLst/>
          </a:prstGeom>
          <a:noFill/>
          <a:ln w="19050">
            <a:solidFill>
              <a:schemeClr val="tx1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D843C59C-6F50-2A4E-ADC4-7DC7B341414F}"/>
              </a:ext>
            </a:extLst>
          </p:cNvPr>
          <p:cNvSpPr txBox="1"/>
          <p:nvPr/>
        </p:nvSpPr>
        <p:spPr>
          <a:xfrm>
            <a:off x="11070997" y="606057"/>
            <a:ext cx="883575" cy="5847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Microsoft JhengHei" panose="020B0604030504040204" pitchFamily="34" charset="-120"/>
              </a:rPr>
              <a:t>正面</a:t>
            </a:r>
            <a:endParaRPr lang="en-US" altLang="zh-TW" sz="1600" dirty="0"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Microsoft JhengHei" panose="020B0604030504040204" pitchFamily="34" charset="-120"/>
              </a:rPr>
              <a:t>負面</a:t>
            </a:r>
            <a:endParaRPr lang="en-US" altLang="zh-TW" sz="1600" dirty="0">
              <a:ea typeface="Microsoft JhengHei" panose="020B0604030504040204" pitchFamily="34" charset="-120"/>
            </a:endParaRPr>
          </a:p>
        </p:txBody>
      </p:sp>
      <p:cxnSp>
        <p:nvCxnSpPr>
          <p:cNvPr id="66" name="直線單箭頭接點 68">
            <a:extLst>
              <a:ext uri="{FF2B5EF4-FFF2-40B4-BE49-F238E27FC236}">
                <a16:creationId xmlns:a16="http://schemas.microsoft.com/office/drawing/2014/main" id="{CA435778-14FF-0D4B-9C62-370563F5179B}"/>
              </a:ext>
            </a:extLst>
          </p:cNvPr>
          <p:cNvCxnSpPr>
            <a:cxnSpLocks/>
            <a:stCxn id="64" idx="3"/>
          </p:cNvCxnSpPr>
          <p:nvPr/>
        </p:nvCxnSpPr>
        <p:spPr>
          <a:xfrm flipH="1">
            <a:off x="10051324" y="2628851"/>
            <a:ext cx="918437" cy="72529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9C5E2DF4-D9DD-7E4F-8E09-96D755E95219}"/>
              </a:ext>
            </a:extLst>
          </p:cNvPr>
          <p:cNvSpPr txBox="1"/>
          <p:nvPr/>
        </p:nvSpPr>
        <p:spPr>
          <a:xfrm>
            <a:off x="11107544" y="2645402"/>
            <a:ext cx="883575" cy="33855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力度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1BEFAFB5-EC3B-7A40-A8C7-4C68FA691EC7}"/>
              </a:ext>
            </a:extLst>
          </p:cNvPr>
          <p:cNvCxnSpPr>
            <a:stCxn id="35" idx="1"/>
            <a:endCxn id="54" idx="1"/>
          </p:cNvCxnSpPr>
          <p:nvPr/>
        </p:nvCxnSpPr>
        <p:spPr>
          <a:xfrm rot="5400000" flipH="1" flipV="1">
            <a:off x="4993563" y="2750108"/>
            <a:ext cx="1307242" cy="4846462"/>
          </a:xfrm>
          <a:prstGeom prst="bentConnector4">
            <a:avLst>
              <a:gd name="adj1" fmla="val -17487"/>
              <a:gd name="adj2" fmla="val 579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566F8BE8-C232-49D1-B2BF-D334B1D54FEB}"/>
              </a:ext>
            </a:extLst>
          </p:cNvPr>
          <p:cNvSpPr txBox="1"/>
          <p:nvPr/>
        </p:nvSpPr>
        <p:spPr>
          <a:xfrm>
            <a:off x="81237" y="4136434"/>
            <a:ext cx="2161661" cy="5847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利用不同主題出現的次數來計算權重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6534F585-5237-426A-8CE0-59ED8DD77042}"/>
              </a:ext>
            </a:extLst>
          </p:cNvPr>
          <p:cNvSpPr txBox="1"/>
          <p:nvPr/>
        </p:nvSpPr>
        <p:spPr>
          <a:xfrm>
            <a:off x="9900822" y="5770025"/>
            <a:ext cx="2161661" cy="83099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透過正規化的方式來控制分數在</a:t>
            </a:r>
            <a:r>
              <a:rPr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-10~+10</a:t>
            </a: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之間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8010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C4E0B80-612A-DE42-A0F4-892B61C57A79}"/>
              </a:ext>
            </a:extLst>
          </p:cNvPr>
          <p:cNvSpPr txBox="1"/>
          <p:nvPr/>
        </p:nvSpPr>
        <p:spPr>
          <a:xfrm>
            <a:off x="509244" y="2351166"/>
            <a:ext cx="98855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請問目標商店的評價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口碑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086" indent="-45708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請問目標商店的評價是上升或下降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CuadroTexto 728">
            <a:extLst>
              <a:ext uri="{FF2B5EF4-FFF2-40B4-BE49-F238E27FC236}">
                <a16:creationId xmlns:a16="http://schemas.microsoft.com/office/drawing/2014/main" id="{6056B370-DBD8-7C4F-9C8C-2F37279119F0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5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）回答問題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5C710C2-2F55-1749-9930-8F8A628FBA79}"/>
              </a:ext>
            </a:extLst>
          </p:cNvPr>
          <p:cNvSpPr txBox="1"/>
          <p:nvPr/>
        </p:nvSpPr>
        <p:spPr>
          <a:xfrm>
            <a:off x="10677602" y="2351166"/>
            <a:ext cx="1514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1436C0E-1D4E-5B42-80C0-F6306D4E09C5}"/>
              </a:ext>
            </a:extLst>
          </p:cNvPr>
          <p:cNvSpPr txBox="1"/>
          <p:nvPr/>
        </p:nvSpPr>
        <p:spPr>
          <a:xfrm>
            <a:off x="10677603" y="3320662"/>
            <a:ext cx="1514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</a:p>
        </p:txBody>
      </p:sp>
    </p:spTree>
    <p:extLst>
      <p:ext uri="{BB962C8B-B14F-4D97-AF65-F5344CB8AC3E}">
        <p14:creationId xmlns:p14="http://schemas.microsoft.com/office/powerpoint/2010/main" val="1557682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543E85-9D5E-7C4E-955F-3C3276EE5E1C}"/>
              </a:ext>
            </a:extLst>
          </p:cNvPr>
          <p:cNvSpPr txBox="1"/>
          <p:nvPr/>
        </p:nvSpPr>
        <p:spPr>
          <a:xfrm>
            <a:off x="791504" y="2264865"/>
            <a:ext cx="103407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影響銷售量的重要因素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競爭者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評價</a:t>
            </a:r>
            <a:r>
              <a:rPr lang="en-US" altLang="zh-TW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48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口碑</a:t>
            </a:r>
            <a:endParaRPr lang="en-US" altLang="zh-TW" sz="48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914400" indent="-914400">
              <a:buFont typeface="+mj-lt"/>
              <a:buAutoNum type="arabicPeriod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銷售預測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CuadroTexto 728">
            <a:extLst>
              <a:ext uri="{FF2B5EF4-FFF2-40B4-BE49-F238E27FC236}">
                <a16:creationId xmlns:a16="http://schemas.microsoft.com/office/drawing/2014/main" id="{97A12CCF-00B8-364D-A4C4-EB3CB5471905}"/>
              </a:ext>
            </a:extLst>
          </p:cNvPr>
          <p:cNvSpPr txBox="1"/>
          <p:nvPr/>
        </p:nvSpPr>
        <p:spPr>
          <a:xfrm>
            <a:off x="190800" y="180000"/>
            <a:ext cx="1983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203920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F6751FA-E58B-AF43-BE24-C9FC87D3C987}"/>
              </a:ext>
            </a:extLst>
          </p:cNvPr>
          <p:cNvSpPr txBox="1"/>
          <p:nvPr/>
        </p:nvSpPr>
        <p:spPr>
          <a:xfrm>
            <a:off x="509244" y="2351166"/>
            <a:ext cx="98855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請問明天的銷售量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請問明天的銷售量會增加或減少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086" indent="-457086">
              <a:buFont typeface="Arial" panose="020B0604020202020204" pitchFamily="34" charset="0"/>
              <a:buChar char="•"/>
            </a:pP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CuadroTexto 728">
            <a:extLst>
              <a:ext uri="{FF2B5EF4-FFF2-40B4-BE49-F238E27FC236}">
                <a16:creationId xmlns:a16="http://schemas.microsoft.com/office/drawing/2014/main" id="{6F5A76DB-852D-8B4A-8CC9-D0614E419873}"/>
              </a:ext>
            </a:extLst>
          </p:cNvPr>
          <p:cNvSpPr txBox="1"/>
          <p:nvPr/>
        </p:nvSpPr>
        <p:spPr>
          <a:xfrm>
            <a:off x="186467" y="224881"/>
            <a:ext cx="33297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1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問問題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2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49E428-9F6A-8440-91FA-67CED796D4B0}"/>
              </a:ext>
            </a:extLst>
          </p:cNvPr>
          <p:cNvSpPr/>
          <p:nvPr/>
        </p:nvSpPr>
        <p:spPr bwMode="auto">
          <a:xfrm>
            <a:off x="5496547" y="4187829"/>
            <a:ext cx="1877380" cy="115182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D528C847-6056-7041-8B3B-F953159F8785}"/>
              </a:ext>
            </a:extLst>
          </p:cNvPr>
          <p:cNvSpPr/>
          <p:nvPr/>
        </p:nvSpPr>
        <p:spPr bwMode="auto">
          <a:xfrm>
            <a:off x="4368191" y="4601154"/>
            <a:ext cx="804588" cy="45870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1" name="向右箭號 10">
            <a:extLst>
              <a:ext uri="{FF2B5EF4-FFF2-40B4-BE49-F238E27FC236}">
                <a16:creationId xmlns:a16="http://schemas.microsoft.com/office/drawing/2014/main" id="{4CBCF769-49BA-8D4A-8B5E-989A67DD3512}"/>
              </a:ext>
            </a:extLst>
          </p:cNvPr>
          <p:cNvSpPr/>
          <p:nvPr/>
        </p:nvSpPr>
        <p:spPr bwMode="auto">
          <a:xfrm>
            <a:off x="7645231" y="4551584"/>
            <a:ext cx="777397" cy="50827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46EADD-2FFA-E743-9E1F-04D284EBE86F}"/>
              </a:ext>
            </a:extLst>
          </p:cNvPr>
          <p:cNvSpPr/>
          <p:nvPr/>
        </p:nvSpPr>
        <p:spPr>
          <a:xfrm>
            <a:off x="6244071" y="4333167"/>
            <a:ext cx="378630" cy="8308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799" b="1" dirty="0">
                <a:solidFill>
                  <a:schemeClr val="bg1"/>
                </a:solidFill>
                <a:ea typeface="Microsoft JhengHei" panose="020B0604030504040204" pitchFamily="34" charset="-120"/>
              </a:rPr>
              <a:t>f</a:t>
            </a:r>
            <a:endParaRPr lang="zh-TW" altLang="en-US" sz="4799" b="1" dirty="0">
              <a:solidFill>
                <a:schemeClr val="bg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10908898-D648-C54F-AE20-9A3214C21004}"/>
              </a:ext>
            </a:extLst>
          </p:cNvPr>
          <p:cNvSpPr/>
          <p:nvPr/>
        </p:nvSpPr>
        <p:spPr bwMode="auto">
          <a:xfrm>
            <a:off x="2058410" y="1592276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ea typeface="Microsoft JhengHei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F93C8D-E9DC-554E-A155-B43E9B8C83A9}"/>
              </a:ext>
            </a:extLst>
          </p:cNvPr>
          <p:cNvSpPr/>
          <p:nvPr/>
        </p:nvSpPr>
        <p:spPr>
          <a:xfrm>
            <a:off x="2306308" y="163465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輸入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CD222EB9-0AA0-5B43-8F85-5D532E608B1B}"/>
              </a:ext>
            </a:extLst>
          </p:cNvPr>
          <p:cNvSpPr/>
          <p:nvPr/>
        </p:nvSpPr>
        <p:spPr bwMode="auto">
          <a:xfrm>
            <a:off x="9047905" y="1676842"/>
            <a:ext cx="1295807" cy="503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solidFill>
                <a:schemeClr val="lt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52CFF1-DEC4-EE45-A91E-6DC5F3C2BBCD}"/>
              </a:ext>
            </a:extLst>
          </p:cNvPr>
          <p:cNvSpPr/>
          <p:nvPr/>
        </p:nvSpPr>
        <p:spPr>
          <a:xfrm>
            <a:off x="9295803" y="171922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ea typeface="Microsoft JhengHei" panose="020B0604030504040204" pitchFamily="34" charset="-120"/>
                <a:cs typeface="Calibri" panose="020F0502020204030204" pitchFamily="34" charset="0"/>
              </a:rPr>
              <a:t>輸出</a:t>
            </a:r>
            <a:endParaRPr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ADBD57-D1CB-0E40-BBD7-2DD119EA6852}"/>
              </a:ext>
            </a:extLst>
          </p:cNvPr>
          <p:cNvSpPr/>
          <p:nvPr/>
        </p:nvSpPr>
        <p:spPr>
          <a:xfrm>
            <a:off x="925986" y="2324371"/>
            <a:ext cx="43610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內外部重要影響因素與銷售量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5C1AB4-F4EF-E649-852D-28FEB0D62DD0}"/>
              </a:ext>
            </a:extLst>
          </p:cNvPr>
          <p:cNvSpPr/>
          <p:nvPr/>
        </p:nvSpPr>
        <p:spPr>
          <a:xfrm>
            <a:off x="8659201" y="2324371"/>
            <a:ext cx="2398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銷售量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45C0E6-BA67-8849-A161-3AD16FD5CFA3}"/>
              </a:ext>
            </a:extLst>
          </p:cNvPr>
          <p:cNvSpPr/>
          <p:nvPr/>
        </p:nvSpPr>
        <p:spPr>
          <a:xfrm>
            <a:off x="8659201" y="4532910"/>
            <a:ext cx="2557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ea typeface="Microsoft JhengHei" panose="020B0604030504040204" pitchFamily="34" charset="-120"/>
              </a:rPr>
              <a:t>明天的銷售量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4C8E5B1-E903-BC42-9E15-F6C775D14546}"/>
              </a:ext>
            </a:extLst>
          </p:cNvPr>
          <p:cNvSpPr/>
          <p:nvPr/>
        </p:nvSpPr>
        <p:spPr>
          <a:xfrm>
            <a:off x="567982" y="3609581"/>
            <a:ext cx="35936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商品價格 </a:t>
            </a:r>
            <a:endParaRPr lang="zh-TW" altLang="en-US" sz="1600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節慶 </a:t>
            </a:r>
            <a:endParaRPr lang="zh-TW" altLang="en-US" sz="1600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促銷方案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新品上市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商圈特性</a:t>
            </a: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競爭者口碑</a:t>
            </a:r>
            <a:r>
              <a:rPr lang="en-US" altLang="zh-TW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聲量值</a:t>
            </a:r>
            <a:r>
              <a:rPr lang="en-US" altLang="zh-TW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endParaRPr lang="zh-TW" altLang="en-US" sz="1600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消費者口碑</a:t>
            </a:r>
            <a:r>
              <a:rPr lang="en-US" altLang="zh-TW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聲量值</a:t>
            </a:r>
            <a:r>
              <a:rPr lang="en-US" altLang="zh-TW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endParaRPr lang="zh-TW" altLang="en-US" sz="1600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天氣溫度 </a:t>
            </a:r>
            <a:endParaRPr lang="zh-TW" altLang="en-US" sz="1600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事件 </a:t>
            </a:r>
            <a:endParaRPr lang="en-US" altLang="zh-TW" sz="1600" b="1" dirty="0">
              <a:solidFill>
                <a:srgbClr val="FF0000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FEF2BB4C-06D7-0F45-821F-2FBB9B2C608A}"/>
              </a:ext>
            </a:extLst>
          </p:cNvPr>
          <p:cNvSpPr/>
          <p:nvPr/>
        </p:nvSpPr>
        <p:spPr>
          <a:xfrm>
            <a:off x="92859" y="6062782"/>
            <a:ext cx="6035226" cy="633786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A63D9145-9718-934A-947F-E9B4E0AE2624}"/>
              </a:ext>
            </a:extLst>
          </p:cNvPr>
          <p:cNvSpPr/>
          <p:nvPr/>
        </p:nvSpPr>
        <p:spPr>
          <a:xfrm>
            <a:off x="284748" y="6203272"/>
            <a:ext cx="1130968" cy="3769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第一天</a:t>
            </a:r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714DE7E3-2920-AB40-9164-7553A974AD23}"/>
              </a:ext>
            </a:extLst>
          </p:cNvPr>
          <p:cNvSpPr/>
          <p:nvPr/>
        </p:nvSpPr>
        <p:spPr>
          <a:xfrm>
            <a:off x="4841094" y="6203271"/>
            <a:ext cx="1130968" cy="3769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第</a:t>
            </a:r>
            <a:r>
              <a:rPr lang="en-US" altLang="zh-TW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n</a:t>
            </a:r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天</a:t>
            </a: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8F848FF4-5A9A-ED49-8F30-866910078F95}"/>
              </a:ext>
            </a:extLst>
          </p:cNvPr>
          <p:cNvSpPr/>
          <p:nvPr/>
        </p:nvSpPr>
        <p:spPr>
          <a:xfrm>
            <a:off x="1843334" y="6207282"/>
            <a:ext cx="1130968" cy="3769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第二天</a:t>
            </a: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7A92B92B-7A9E-9543-9925-26EEB60F7352}"/>
              </a:ext>
            </a:extLst>
          </p:cNvPr>
          <p:cNvSpPr/>
          <p:nvPr/>
        </p:nvSpPr>
        <p:spPr>
          <a:xfrm>
            <a:off x="9263087" y="6191179"/>
            <a:ext cx="1130968" cy="3769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第</a:t>
            </a:r>
            <a:r>
              <a:rPr lang="en-US" altLang="zh-TW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n+1</a:t>
            </a:r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天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E92445B-68D3-A449-8C93-3998C1796041}"/>
              </a:ext>
            </a:extLst>
          </p:cNvPr>
          <p:cNvSpPr txBox="1"/>
          <p:nvPr/>
        </p:nvSpPr>
        <p:spPr>
          <a:xfrm>
            <a:off x="224590" y="570112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ea typeface="Microsoft JhengHei" panose="020B0604030504040204" pitchFamily="34" charset="-120"/>
              </a:rPr>
              <a:t>依序輸入</a:t>
            </a:r>
          </a:p>
        </p:txBody>
      </p:sp>
      <p:sp>
        <p:nvSpPr>
          <p:cNvPr id="37" name="向右箭號 36">
            <a:extLst>
              <a:ext uri="{FF2B5EF4-FFF2-40B4-BE49-F238E27FC236}">
                <a16:creationId xmlns:a16="http://schemas.microsoft.com/office/drawing/2014/main" id="{60955BB3-DD47-2B42-9B05-F28DB41FC7B0}"/>
              </a:ext>
            </a:extLst>
          </p:cNvPr>
          <p:cNvSpPr/>
          <p:nvPr/>
        </p:nvSpPr>
        <p:spPr bwMode="auto">
          <a:xfrm>
            <a:off x="6431043" y="6126799"/>
            <a:ext cx="2536381" cy="37698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16" tIns="45708" rIns="91416" bIns="45708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3199">
              <a:solidFill>
                <a:schemeClr val="lt1"/>
              </a:solidFill>
              <a:ea typeface="Microsoft JhengHei" panose="020B0604030504040204" pitchFamily="34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0C4BFCE1-1B8F-1B4F-9C45-60938F3E2A2A}"/>
              </a:ext>
            </a:extLst>
          </p:cNvPr>
          <p:cNvCxnSpPr/>
          <p:nvPr/>
        </p:nvCxnSpPr>
        <p:spPr>
          <a:xfrm>
            <a:off x="3110472" y="6395776"/>
            <a:ext cx="1550339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CuadroTexto 728">
            <a:extLst>
              <a:ext uri="{FF2B5EF4-FFF2-40B4-BE49-F238E27FC236}">
                <a16:creationId xmlns:a16="http://schemas.microsoft.com/office/drawing/2014/main" id="{8C2E61D4-F61C-E545-B8DF-82E3037E4282}"/>
              </a:ext>
            </a:extLst>
          </p:cNvPr>
          <p:cNvSpPr txBox="1"/>
          <p:nvPr/>
        </p:nvSpPr>
        <p:spPr>
          <a:xfrm>
            <a:off x="190800" y="180000"/>
            <a:ext cx="55867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2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</a:t>
            </a:r>
            <a:r>
              <a:rPr lang="en-US" sz="4400" b="1" dirty="0" err="1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將問題化成函數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086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F41709A6-0DD9-224A-8C20-60CD6519A969}"/>
              </a:ext>
            </a:extLst>
          </p:cNvPr>
          <p:cNvSpPr/>
          <p:nvPr/>
        </p:nvSpPr>
        <p:spPr>
          <a:xfrm>
            <a:off x="8886162" y="1953959"/>
            <a:ext cx="3158148" cy="1548603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EBF6B3E9-983A-5F4B-A32C-31126A84A2A0}"/>
              </a:ext>
            </a:extLst>
          </p:cNvPr>
          <p:cNvSpPr/>
          <p:nvPr/>
        </p:nvSpPr>
        <p:spPr>
          <a:xfrm>
            <a:off x="124244" y="1883658"/>
            <a:ext cx="8687770" cy="4884297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EBE4BDE-6B5B-2246-BE80-F65B3D0477E0}"/>
              </a:ext>
            </a:extLst>
          </p:cNvPr>
          <p:cNvSpPr txBox="1"/>
          <p:nvPr/>
        </p:nvSpPr>
        <p:spPr>
          <a:xfrm>
            <a:off x="578525" y="1883658"/>
            <a:ext cx="4461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Input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：所有影響因素和銷售量之間的關係</a:t>
            </a:r>
          </a:p>
        </p:txBody>
      </p:sp>
      <p:graphicFrame>
        <p:nvGraphicFramePr>
          <p:cNvPr id="50" name="表格 9">
            <a:extLst>
              <a:ext uri="{FF2B5EF4-FFF2-40B4-BE49-F238E27FC236}">
                <a16:creationId xmlns:a16="http://schemas.microsoft.com/office/drawing/2014/main" id="{F9218E99-D6C3-5D4C-832C-7B8EFCB19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621609"/>
              </p:ext>
            </p:extLst>
          </p:nvPr>
        </p:nvGraphicFramePr>
        <p:xfrm>
          <a:off x="578525" y="2432850"/>
          <a:ext cx="4207434" cy="425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330">
                  <a:extLst>
                    <a:ext uri="{9D8B030D-6E8A-4147-A177-3AD203B41FA5}">
                      <a16:colId xmlns:a16="http://schemas.microsoft.com/office/drawing/2014/main" val="1793532398"/>
                    </a:ext>
                  </a:extLst>
                </a:gridCol>
                <a:gridCol w="2969104">
                  <a:extLst>
                    <a:ext uri="{9D8B030D-6E8A-4147-A177-3AD203B41FA5}">
                      <a16:colId xmlns:a16="http://schemas.microsoft.com/office/drawing/2014/main" val="3699370075"/>
                    </a:ext>
                  </a:extLst>
                </a:gridCol>
              </a:tblGrid>
              <a:tr h="352296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外部影響因素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資料處理方式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392912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天氣、氣候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氣溫：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℃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晴、陰、雨：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213905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口碑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（聲量值）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競爭者口碑</a:t>
                      </a: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(-10 ~ +10)</a:t>
                      </a:r>
                      <a:endParaRPr lang="en-US" altLang="zh-TW" sz="1200" b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消費者口碑</a:t>
                      </a: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(-10 ~ +10)</a:t>
                      </a:r>
                      <a:endParaRPr lang="en-US" altLang="zh-TW" sz="1200" b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590173"/>
                  </a:ext>
                </a:extLst>
              </a:tr>
              <a:tr h="2633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替代性商品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種類數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284215"/>
                  </a:ext>
                </a:extLst>
              </a:tr>
              <a:tr h="352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供應商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廠商編碼：（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廠商為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，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廠商為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）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91898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競爭者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聲量大小</a:t>
                      </a: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  <a:sym typeface="Wingdings" pitchFamily="2" charset="2"/>
                        </a:rPr>
                        <a:t>(-10 ~ +10)</a:t>
                      </a:r>
                      <a:endParaRPr lang="en-US" altLang="zh-TW" sz="1200" b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市占率</a:t>
                      </a:r>
                      <a:endParaRPr lang="en-US" altLang="zh-TW" sz="1200" b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827001"/>
                  </a:ext>
                </a:extLst>
              </a:tr>
              <a:tr h="614419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事件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（政經社會情勢）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影響程度：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(0-10)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906993"/>
                  </a:ext>
                </a:extLst>
              </a:tr>
              <a:tr h="352296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商圈特性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住宅區、住商混合、商業區：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787491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消費者特性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依照目前所得稅課稅級距共五級：</a:t>
                      </a:r>
                      <a:endParaRPr lang="en-US" altLang="zh-TW" sz="1200" b="0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(0,1,2,3,4)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08593"/>
                  </a:ext>
                </a:extLst>
              </a:tr>
              <a:tr h="438871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商家特性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食、衣、住、行、育、樂、複合式：</a:t>
                      </a:r>
                      <a:r>
                        <a:rPr lang="en-US" altLang="zh-TW" sz="1200" b="0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(0,1,2,3,4,5,6)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215841"/>
                  </a:ext>
                </a:extLst>
              </a:tr>
            </a:tbl>
          </a:graphicData>
        </a:graphic>
      </p:graphicFrame>
      <p:graphicFrame>
        <p:nvGraphicFramePr>
          <p:cNvPr id="51" name="表格 4">
            <a:extLst>
              <a:ext uri="{FF2B5EF4-FFF2-40B4-BE49-F238E27FC236}">
                <a16:creationId xmlns:a16="http://schemas.microsoft.com/office/drawing/2014/main" id="{E3B752A3-1CB4-4246-8CFD-1A935A487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78612"/>
              </p:ext>
            </p:extLst>
          </p:nvPr>
        </p:nvGraphicFramePr>
        <p:xfrm>
          <a:off x="4860107" y="2714754"/>
          <a:ext cx="3777799" cy="2932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879">
                  <a:extLst>
                    <a:ext uri="{9D8B030D-6E8A-4147-A177-3AD203B41FA5}">
                      <a16:colId xmlns:a16="http://schemas.microsoft.com/office/drawing/2014/main" val="185999602"/>
                    </a:ext>
                  </a:extLst>
                </a:gridCol>
                <a:gridCol w="2665920">
                  <a:extLst>
                    <a:ext uri="{9D8B030D-6E8A-4147-A177-3AD203B41FA5}">
                      <a16:colId xmlns:a16="http://schemas.microsoft.com/office/drawing/2014/main" val="3404029661"/>
                    </a:ext>
                  </a:extLst>
                </a:gridCol>
              </a:tblGrid>
              <a:tr h="357172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內部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影響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因素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資料處理方式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23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新品上市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有新品上市：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，沒新品：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0</a:t>
                      </a:r>
                      <a:endParaRPr lang="zh-TW" altLang="en-US" sz="1200" b="0" dirty="0">
                        <a:solidFill>
                          <a:srgbClr val="FF0000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971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商品擺放位置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門口、中間、末端：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(0,1,2)</a:t>
                      </a:r>
                      <a:endParaRPr lang="zh-TW" altLang="en-US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22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節慶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有節慶：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，沒節慶：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309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商品特性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商品價格：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TWD</a:t>
                      </a: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商品壽命：幾天</a:t>
                      </a:r>
                      <a:endParaRPr lang="en-US" altLang="zh-TW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樣式類型：</a:t>
                      </a:r>
                      <a:endParaRPr lang="en-US" altLang="zh-TW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食、衣、住、行、育、樂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(0,1,2,3,4,5)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969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行銷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促銷方案：方案 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、方案 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2……</a:t>
                      </a: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廣告：種類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、種類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2</a:t>
                      </a:r>
                    </a:p>
                    <a:p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行銷方法：方法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 、方法 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0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1200" b="0" dirty="0">
                          <a:latin typeface="+mn-lt"/>
                          <a:ea typeface="Microsoft JhengHei" panose="020B0604030504040204" pitchFamily="34" charset="-120"/>
                        </a:rPr>
                        <a:t>……</a:t>
                      </a:r>
                      <a:endParaRPr lang="zh-TW" altLang="en-US" sz="1200" b="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267616"/>
                  </a:ext>
                </a:extLst>
              </a:tr>
            </a:tbl>
          </a:graphicData>
        </a:graphic>
      </p:graphicFrame>
      <p:sp>
        <p:nvSpPr>
          <p:cNvPr id="52" name="圓角矩形 51">
            <a:extLst>
              <a:ext uri="{FF2B5EF4-FFF2-40B4-BE49-F238E27FC236}">
                <a16:creationId xmlns:a16="http://schemas.microsoft.com/office/drawing/2014/main" id="{49779841-C962-4C4C-8C95-5FE4F64A2E5C}"/>
              </a:ext>
            </a:extLst>
          </p:cNvPr>
          <p:cNvSpPr/>
          <p:nvPr/>
        </p:nvSpPr>
        <p:spPr>
          <a:xfrm>
            <a:off x="4983007" y="5891703"/>
            <a:ext cx="2202540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商品的銷售量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A0F252D-1FB2-3C49-8BB2-CCDA4644BDEE}"/>
              </a:ext>
            </a:extLst>
          </p:cNvPr>
          <p:cNvSpPr/>
          <p:nvPr/>
        </p:nvSpPr>
        <p:spPr>
          <a:xfrm>
            <a:off x="8886162" y="1983591"/>
            <a:ext cx="30464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Output</a:t>
            </a:r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：</a:t>
            </a:r>
            <a:r>
              <a:rPr lang="zh-TW" altLang="en-US" b="1" dirty="0">
                <a:ea typeface="Microsoft JhengHei" panose="020B0604030504040204" pitchFamily="34" charset="-120"/>
              </a:rPr>
              <a:t>商品銷售量</a:t>
            </a: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DFD357AF-6A12-8546-A16A-27C1C59E1889}"/>
              </a:ext>
            </a:extLst>
          </p:cNvPr>
          <p:cNvSpPr/>
          <p:nvPr/>
        </p:nvSpPr>
        <p:spPr>
          <a:xfrm>
            <a:off x="9631352" y="2847127"/>
            <a:ext cx="155608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每天目標商品銷售量</a:t>
            </a:r>
            <a:endParaRPr lang="en-US" altLang="zh-TW" b="1" dirty="0">
              <a:ea typeface="Microsoft JhengHei" panose="020B0604030504040204" pitchFamily="34" charset="-120"/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DF453FCD-9421-2048-A578-804460530838}"/>
              </a:ext>
            </a:extLst>
          </p:cNvPr>
          <p:cNvSpPr/>
          <p:nvPr/>
        </p:nvSpPr>
        <p:spPr>
          <a:xfrm>
            <a:off x="7925499" y="978505"/>
            <a:ext cx="2202540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目標商店</a:t>
            </a:r>
          </a:p>
        </p:txBody>
      </p: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41510B00-415A-5544-949E-25E900E43262}"/>
              </a:ext>
            </a:extLst>
          </p:cNvPr>
          <p:cNvCxnSpPr>
            <a:stCxn id="55" idx="2"/>
          </p:cNvCxnSpPr>
          <p:nvPr/>
        </p:nvCxnSpPr>
        <p:spPr>
          <a:xfrm flipH="1">
            <a:off x="8088923" y="1572063"/>
            <a:ext cx="937846" cy="31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5723DB11-BFB0-E446-A163-759F4220F15C}"/>
              </a:ext>
            </a:extLst>
          </p:cNvPr>
          <p:cNvCxnSpPr>
            <a:stCxn id="55" idx="2"/>
          </p:cNvCxnSpPr>
          <p:nvPr/>
        </p:nvCxnSpPr>
        <p:spPr>
          <a:xfrm>
            <a:off x="9026769" y="1572063"/>
            <a:ext cx="1055077" cy="349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728">
            <a:extLst>
              <a:ext uri="{FF2B5EF4-FFF2-40B4-BE49-F238E27FC236}">
                <a16:creationId xmlns:a16="http://schemas.microsoft.com/office/drawing/2014/main" id="{D3D6EFDB-0516-8244-B055-7D5A02A72FF0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3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）歷史資料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486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728">
            <a:extLst>
              <a:ext uri="{FF2B5EF4-FFF2-40B4-BE49-F238E27FC236}">
                <a16:creationId xmlns:a16="http://schemas.microsoft.com/office/drawing/2014/main" id="{907B0527-E4AB-284F-9EF6-B7D26054F1A9}"/>
              </a:ext>
            </a:extLst>
          </p:cNvPr>
          <p:cNvSpPr txBox="1"/>
          <p:nvPr/>
        </p:nvSpPr>
        <p:spPr>
          <a:xfrm>
            <a:off x="190800" y="180000"/>
            <a:ext cx="35573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3</a:t>
            </a:r>
            <a:r>
              <a:rPr lang="zh-TW" altLang="en-US" sz="4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）歷史資料</a:t>
            </a:r>
            <a:endParaRPr lang="en-US" sz="40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C5712E1A-9203-4546-947E-1878D98A5EA0}"/>
              </a:ext>
            </a:extLst>
          </p:cNvPr>
          <p:cNvSpPr/>
          <p:nvPr/>
        </p:nvSpPr>
        <p:spPr>
          <a:xfrm>
            <a:off x="9398975" y="2385683"/>
            <a:ext cx="2141621" cy="2410907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ea typeface="Microsoft JhengHei" panose="020B0604030504040204" pitchFamily="34" charset="-120"/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7036CD22-967D-CF4A-8782-CA2727CE6C93}"/>
              </a:ext>
            </a:extLst>
          </p:cNvPr>
          <p:cNvSpPr/>
          <p:nvPr/>
        </p:nvSpPr>
        <p:spPr>
          <a:xfrm>
            <a:off x="111656" y="2382253"/>
            <a:ext cx="8567123" cy="4251158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ea typeface="Microsoft JhengHei" panose="020B0604030504040204" pitchFamily="34" charset="-120"/>
            </a:endParaRP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9BFF0708-9618-ED46-9C9B-1E4727C6F48F}"/>
              </a:ext>
            </a:extLst>
          </p:cNvPr>
          <p:cNvSpPr/>
          <p:nvPr/>
        </p:nvSpPr>
        <p:spPr>
          <a:xfrm>
            <a:off x="7993022" y="1285520"/>
            <a:ext cx="155608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目標商品</a:t>
            </a:r>
          </a:p>
        </p:txBody>
      </p: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F70DC39A-EF84-DC49-8251-612BC80CC60A}"/>
              </a:ext>
            </a:extLst>
          </p:cNvPr>
          <p:cNvSpPr/>
          <p:nvPr/>
        </p:nvSpPr>
        <p:spPr>
          <a:xfrm>
            <a:off x="368631" y="2999874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商品售價</a:t>
            </a: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7649574E-7A9A-F34F-B2AA-DE4B702A29E4}"/>
              </a:ext>
            </a:extLst>
          </p:cNvPr>
          <p:cNvSpPr/>
          <p:nvPr/>
        </p:nvSpPr>
        <p:spPr>
          <a:xfrm>
            <a:off x="368631" y="3858120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商品擺放位置</a:t>
            </a:r>
          </a:p>
        </p:txBody>
      </p: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EA5C5C8B-D64B-3142-98E5-D9971C4DE1FD}"/>
              </a:ext>
            </a:extLst>
          </p:cNvPr>
          <p:cNvSpPr/>
          <p:nvPr/>
        </p:nvSpPr>
        <p:spPr>
          <a:xfrm>
            <a:off x="368631" y="4700329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節慶</a:t>
            </a:r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6A77D75B-FA6D-F447-A605-CB6BBD040E18}"/>
              </a:ext>
            </a:extLst>
          </p:cNvPr>
          <p:cNvSpPr/>
          <p:nvPr/>
        </p:nvSpPr>
        <p:spPr>
          <a:xfrm>
            <a:off x="368631" y="5574626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促銷方案</a:t>
            </a:r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6AD9E957-505A-5C4C-8B33-9C84423C8F10}"/>
              </a:ext>
            </a:extLst>
          </p:cNvPr>
          <p:cNvSpPr/>
          <p:nvPr/>
        </p:nvSpPr>
        <p:spPr>
          <a:xfrm>
            <a:off x="4403221" y="4720375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口碑</a:t>
            </a:r>
            <a:r>
              <a:rPr lang="en-US" altLang="zh-TW" b="1" dirty="0">
                <a:ea typeface="Microsoft JhengHei" panose="020B0604030504040204" pitchFamily="34" charset="-120"/>
              </a:rPr>
              <a:t>(</a:t>
            </a:r>
            <a:r>
              <a:rPr lang="zh-TW" altLang="en-US" b="1" dirty="0">
                <a:ea typeface="Microsoft JhengHei" panose="020B0604030504040204" pitchFamily="34" charset="-120"/>
              </a:rPr>
              <a:t>自己與消費者</a:t>
            </a:r>
            <a:r>
              <a:rPr lang="en-US" altLang="zh-TW" b="1" dirty="0">
                <a:ea typeface="Microsoft JhengHei" panose="020B0604030504040204" pitchFamily="34" charset="-120"/>
              </a:rPr>
              <a:t>)</a:t>
            </a:r>
            <a:endParaRPr lang="zh-TW" altLang="en-US" b="1" dirty="0">
              <a:ea typeface="Microsoft JhengHei" panose="020B0604030504040204" pitchFamily="34" charset="-120"/>
            </a:endParaRPr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14D5A7EB-845A-F84C-A00E-25B52D872200}"/>
              </a:ext>
            </a:extLst>
          </p:cNvPr>
          <p:cNvSpPr/>
          <p:nvPr/>
        </p:nvSpPr>
        <p:spPr>
          <a:xfrm>
            <a:off x="4403221" y="2999883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天氣溫度</a:t>
            </a: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59DA175D-2222-4146-89F9-2FC3A96944E8}"/>
              </a:ext>
            </a:extLst>
          </p:cNvPr>
          <p:cNvSpPr/>
          <p:nvPr/>
        </p:nvSpPr>
        <p:spPr>
          <a:xfrm>
            <a:off x="4403221" y="3826033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替代商品</a:t>
            </a: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64577338-0598-D548-AB71-C8E5CF9C8974}"/>
              </a:ext>
            </a:extLst>
          </p:cNvPr>
          <p:cNvSpPr/>
          <p:nvPr/>
        </p:nvSpPr>
        <p:spPr>
          <a:xfrm>
            <a:off x="2323374" y="3007895"/>
            <a:ext cx="1705068" cy="5694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每天目標</a:t>
            </a:r>
            <a:endParaRPr lang="en-US" altLang="zh-TW" sz="1400" b="1" dirty="0">
              <a:solidFill>
                <a:schemeClr val="tx1"/>
              </a:solidFill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商品的售價</a:t>
            </a:r>
          </a:p>
        </p:txBody>
      </p:sp>
      <p:cxnSp>
        <p:nvCxnSpPr>
          <p:cNvPr id="56" name="直線單箭頭接點 25">
            <a:extLst>
              <a:ext uri="{FF2B5EF4-FFF2-40B4-BE49-F238E27FC236}">
                <a16:creationId xmlns:a16="http://schemas.microsoft.com/office/drawing/2014/main" id="{A5146576-5769-EA4E-B15F-D693886A1CEE}"/>
              </a:ext>
            </a:extLst>
          </p:cNvPr>
          <p:cNvCxnSpPr>
            <a:stCxn id="48" idx="3"/>
            <a:endCxn id="55" idx="1"/>
          </p:cNvCxnSpPr>
          <p:nvPr/>
        </p:nvCxnSpPr>
        <p:spPr>
          <a:xfrm flipV="1">
            <a:off x="1892985" y="3292642"/>
            <a:ext cx="430389" cy="40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99590BF8-7F79-914F-B3A7-27B5369D679D}"/>
              </a:ext>
            </a:extLst>
          </p:cNvPr>
          <p:cNvSpPr/>
          <p:nvPr/>
        </p:nvSpPr>
        <p:spPr>
          <a:xfrm>
            <a:off x="2323374" y="3739810"/>
            <a:ext cx="1705068" cy="8301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每天目標商品擺放最多的位置</a:t>
            </a:r>
            <a:r>
              <a:rPr lang="en-US" altLang="zh-TW" sz="1400" b="1" dirty="0">
                <a:ea typeface="Microsoft JhengHei" panose="020B0604030504040204" pitchFamily="34" charset="-120"/>
              </a:rPr>
              <a:t>(</a:t>
            </a:r>
            <a:r>
              <a:rPr lang="zh-TW" altLang="en-US" sz="1400" b="1" dirty="0">
                <a:ea typeface="Microsoft JhengHei" panose="020B0604030504040204" pitchFamily="34" charset="-120"/>
              </a:rPr>
              <a:t>每個位置給予相對應的編號</a:t>
            </a:r>
            <a:r>
              <a:rPr lang="en-US" altLang="zh-TW" sz="1400" b="1" dirty="0">
                <a:ea typeface="Microsoft JhengHei" panose="020B0604030504040204" pitchFamily="34" charset="-120"/>
              </a:rPr>
              <a:t>)</a:t>
            </a:r>
            <a:endParaRPr lang="zh-TW" altLang="en-US" sz="1400" b="1" dirty="0">
              <a:ea typeface="Microsoft JhengHei" panose="020B0604030504040204" pitchFamily="34" charset="-120"/>
            </a:endParaRPr>
          </a:p>
        </p:txBody>
      </p:sp>
      <p:cxnSp>
        <p:nvCxnSpPr>
          <p:cNvPr id="58" name="直線單箭頭接點 29">
            <a:extLst>
              <a:ext uri="{FF2B5EF4-FFF2-40B4-BE49-F238E27FC236}">
                <a16:creationId xmlns:a16="http://schemas.microsoft.com/office/drawing/2014/main" id="{2E70116D-8C09-9C4D-944A-5B03CCD1D5B0}"/>
              </a:ext>
            </a:extLst>
          </p:cNvPr>
          <p:cNvCxnSpPr>
            <a:stCxn id="49" idx="3"/>
            <a:endCxn id="57" idx="1"/>
          </p:cNvCxnSpPr>
          <p:nvPr/>
        </p:nvCxnSpPr>
        <p:spPr>
          <a:xfrm>
            <a:off x="1892985" y="4154899"/>
            <a:ext cx="43038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圓角矩形 58">
            <a:extLst>
              <a:ext uri="{FF2B5EF4-FFF2-40B4-BE49-F238E27FC236}">
                <a16:creationId xmlns:a16="http://schemas.microsoft.com/office/drawing/2014/main" id="{6FF89E1A-F0E6-9348-811D-EC3971D68252}"/>
              </a:ext>
            </a:extLst>
          </p:cNvPr>
          <p:cNvSpPr/>
          <p:nvPr/>
        </p:nvSpPr>
        <p:spPr>
          <a:xfrm>
            <a:off x="2323374" y="4632148"/>
            <a:ext cx="1705068" cy="7299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每天統計是否為節慶</a:t>
            </a:r>
            <a:r>
              <a:rPr lang="en-US" altLang="zh-TW" sz="1400" b="1" dirty="0">
                <a:ea typeface="Microsoft JhengHei" panose="020B0604030504040204" pitchFamily="34" charset="-120"/>
              </a:rPr>
              <a:t>(1:</a:t>
            </a:r>
            <a:r>
              <a:rPr lang="zh-TW" altLang="en-US" sz="1400" b="1" dirty="0">
                <a:ea typeface="Microsoft JhengHei" panose="020B0604030504040204" pitchFamily="34" charset="-120"/>
              </a:rPr>
              <a:t>節慶日</a:t>
            </a:r>
            <a:r>
              <a:rPr lang="en-US" altLang="zh-TW" sz="1400" b="1" dirty="0">
                <a:ea typeface="Microsoft JhengHei" panose="020B0604030504040204" pitchFamily="34" charset="-120"/>
              </a:rPr>
              <a:t>;0:</a:t>
            </a:r>
            <a:r>
              <a:rPr lang="zh-TW" altLang="en-US" sz="1400" b="1" dirty="0">
                <a:ea typeface="Microsoft JhengHei" panose="020B0604030504040204" pitchFamily="34" charset="-120"/>
              </a:rPr>
              <a:t>非節慶日</a:t>
            </a:r>
            <a:r>
              <a:rPr lang="en-US" altLang="zh-TW" sz="1400" b="1" dirty="0">
                <a:ea typeface="Microsoft JhengHei" panose="020B0604030504040204" pitchFamily="34" charset="-120"/>
              </a:rPr>
              <a:t>)</a:t>
            </a:r>
            <a:endParaRPr lang="zh-TW" altLang="en-US" sz="1400" b="1" dirty="0">
              <a:ea typeface="Microsoft JhengHei" panose="020B0604030504040204" pitchFamily="34" charset="-120"/>
            </a:endParaRPr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5FF96749-B230-ED41-A014-3C989CD966AA}"/>
              </a:ext>
            </a:extLst>
          </p:cNvPr>
          <p:cNvSpPr/>
          <p:nvPr/>
        </p:nvSpPr>
        <p:spPr>
          <a:xfrm>
            <a:off x="2323374" y="5458319"/>
            <a:ext cx="1705068" cy="8141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這天實施的促銷方案</a:t>
            </a:r>
            <a:r>
              <a:rPr lang="en-US" altLang="zh-TW" sz="1400" b="1" dirty="0">
                <a:ea typeface="Microsoft JhengHei" panose="020B0604030504040204" pitchFamily="34" charset="-120"/>
              </a:rPr>
              <a:t>(</a:t>
            </a:r>
            <a:r>
              <a:rPr lang="zh-TW" altLang="en-US" sz="1400" b="1" dirty="0">
                <a:ea typeface="Microsoft JhengHei" panose="020B0604030504040204" pitchFamily="34" charset="-120"/>
              </a:rPr>
              <a:t>每個方案給予相對應的編號</a:t>
            </a:r>
            <a:r>
              <a:rPr lang="en-US" altLang="zh-TW" sz="1400" b="1" dirty="0">
                <a:ea typeface="Microsoft JhengHei" panose="020B0604030504040204" pitchFamily="34" charset="-120"/>
              </a:rPr>
              <a:t>)(0,1,2…)</a:t>
            </a:r>
          </a:p>
        </p:txBody>
      </p:sp>
      <p:cxnSp>
        <p:nvCxnSpPr>
          <p:cNvPr id="61" name="直線單箭頭接點 39">
            <a:extLst>
              <a:ext uri="{FF2B5EF4-FFF2-40B4-BE49-F238E27FC236}">
                <a16:creationId xmlns:a16="http://schemas.microsoft.com/office/drawing/2014/main" id="{E6D705CE-2905-9845-B781-88DD49C0E365}"/>
              </a:ext>
            </a:extLst>
          </p:cNvPr>
          <p:cNvCxnSpPr>
            <a:stCxn id="50" idx="3"/>
            <a:endCxn id="59" idx="1"/>
          </p:cNvCxnSpPr>
          <p:nvPr/>
        </p:nvCxnSpPr>
        <p:spPr>
          <a:xfrm>
            <a:off x="1892985" y="4997108"/>
            <a:ext cx="43038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43">
            <a:extLst>
              <a:ext uri="{FF2B5EF4-FFF2-40B4-BE49-F238E27FC236}">
                <a16:creationId xmlns:a16="http://schemas.microsoft.com/office/drawing/2014/main" id="{22333851-A1D5-2742-AEBC-C940CA6DA789}"/>
              </a:ext>
            </a:extLst>
          </p:cNvPr>
          <p:cNvCxnSpPr>
            <a:stCxn id="51" idx="3"/>
            <a:endCxn id="60" idx="1"/>
          </p:cNvCxnSpPr>
          <p:nvPr/>
        </p:nvCxnSpPr>
        <p:spPr>
          <a:xfrm flipV="1">
            <a:off x="1892985" y="5865391"/>
            <a:ext cx="430389" cy="60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BFF0F008-5550-EC4F-905B-FA8C31CDDF9B}"/>
              </a:ext>
            </a:extLst>
          </p:cNvPr>
          <p:cNvSpPr/>
          <p:nvPr/>
        </p:nvSpPr>
        <p:spPr>
          <a:xfrm>
            <a:off x="6412286" y="3011915"/>
            <a:ext cx="1705068" cy="5694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每天的氣溫</a:t>
            </a:r>
            <a:r>
              <a:rPr lang="en-US" altLang="zh-TW" sz="1400" b="1" dirty="0">
                <a:ea typeface="Microsoft JhengHei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schemeClr val="tx1"/>
                </a:solidFill>
                <a:ea typeface="Microsoft JhengHei" panose="020B0604030504040204" pitchFamily="34" charset="-120"/>
              </a:rPr>
              <a:t>℃</a:t>
            </a:r>
            <a:r>
              <a:rPr lang="en-US" altLang="zh-TW" sz="1400" b="1" dirty="0">
                <a:ea typeface="Microsoft JhengHei" panose="020B0604030504040204" pitchFamily="34" charset="-120"/>
              </a:rPr>
              <a:t>)</a:t>
            </a:r>
            <a:endParaRPr lang="zh-TW" altLang="en-US" sz="1400" b="1" dirty="0">
              <a:ea typeface="Microsoft JhengHei" panose="020B0604030504040204" pitchFamily="34" charset="-120"/>
            </a:endParaRPr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CFAED205-D37D-2546-B691-1456268ABBA5}"/>
              </a:ext>
            </a:extLst>
          </p:cNvPr>
          <p:cNvSpPr/>
          <p:nvPr/>
        </p:nvSpPr>
        <p:spPr>
          <a:xfrm>
            <a:off x="6412286" y="3809990"/>
            <a:ext cx="1705068" cy="6256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每天偵測是否出現替代商品</a:t>
            </a:r>
            <a:r>
              <a:rPr lang="en-US" altLang="zh-TW" sz="1400" b="1" dirty="0">
                <a:ea typeface="Microsoft JhengHei" panose="020B0604030504040204" pitchFamily="34" charset="-120"/>
              </a:rPr>
              <a:t>(1:</a:t>
            </a:r>
            <a:r>
              <a:rPr lang="zh-TW" altLang="en-US" sz="1400" b="1" dirty="0">
                <a:ea typeface="Microsoft JhengHei" panose="020B0604030504040204" pitchFamily="34" charset="-120"/>
              </a:rPr>
              <a:t>出現</a:t>
            </a:r>
            <a:r>
              <a:rPr lang="en-US" altLang="zh-TW" sz="1400" b="1" dirty="0">
                <a:ea typeface="Microsoft JhengHei" panose="020B0604030504040204" pitchFamily="34" charset="-120"/>
              </a:rPr>
              <a:t>;0:</a:t>
            </a:r>
            <a:r>
              <a:rPr lang="zh-TW" altLang="en-US" sz="1400" b="1" dirty="0">
                <a:ea typeface="Microsoft JhengHei" panose="020B0604030504040204" pitchFamily="34" charset="-120"/>
              </a:rPr>
              <a:t>沒出現</a:t>
            </a:r>
            <a:r>
              <a:rPr lang="en-US" altLang="zh-TW" sz="1400" b="1" dirty="0">
                <a:ea typeface="Microsoft JhengHei" panose="020B0604030504040204" pitchFamily="34" charset="-120"/>
              </a:rPr>
              <a:t>)</a:t>
            </a:r>
          </a:p>
        </p:txBody>
      </p:sp>
      <p:cxnSp>
        <p:nvCxnSpPr>
          <p:cNvPr id="65" name="直線單箭頭接點 52">
            <a:extLst>
              <a:ext uri="{FF2B5EF4-FFF2-40B4-BE49-F238E27FC236}">
                <a16:creationId xmlns:a16="http://schemas.microsoft.com/office/drawing/2014/main" id="{9E36AF2A-F6A2-9B47-BC45-42B17ADA9AA3}"/>
              </a:ext>
            </a:extLst>
          </p:cNvPr>
          <p:cNvCxnSpPr>
            <a:stCxn id="53" idx="3"/>
            <a:endCxn id="63" idx="1"/>
          </p:cNvCxnSpPr>
          <p:nvPr/>
        </p:nvCxnSpPr>
        <p:spPr>
          <a:xfrm>
            <a:off x="5927575" y="3296662"/>
            <a:ext cx="48471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55">
            <a:extLst>
              <a:ext uri="{FF2B5EF4-FFF2-40B4-BE49-F238E27FC236}">
                <a16:creationId xmlns:a16="http://schemas.microsoft.com/office/drawing/2014/main" id="{BA3C27A8-559C-5F46-8E87-27B62ABA9965}"/>
              </a:ext>
            </a:extLst>
          </p:cNvPr>
          <p:cNvCxnSpPr>
            <a:stCxn id="54" idx="3"/>
            <a:endCxn id="64" idx="1"/>
          </p:cNvCxnSpPr>
          <p:nvPr/>
        </p:nvCxnSpPr>
        <p:spPr>
          <a:xfrm>
            <a:off x="5927575" y="4122812"/>
            <a:ext cx="48471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1A4A0178-CCCB-5F46-85C8-2728A6FA0CB2}"/>
              </a:ext>
            </a:extLst>
          </p:cNvPr>
          <p:cNvSpPr/>
          <p:nvPr/>
        </p:nvSpPr>
        <p:spPr>
          <a:xfrm>
            <a:off x="6484475" y="4632140"/>
            <a:ext cx="1705068" cy="8743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社群媒體擷取評論，透過口碑分析的評價模型得出每日口碑的評分</a:t>
            </a:r>
            <a:r>
              <a:rPr lang="en-US" altLang="zh-TW" sz="1400" b="1" dirty="0">
                <a:ea typeface="Microsoft JhengHei" panose="020B0604030504040204" pitchFamily="34" charset="-120"/>
              </a:rPr>
              <a:t>(-10~+10)</a:t>
            </a:r>
          </a:p>
        </p:txBody>
      </p:sp>
      <p:cxnSp>
        <p:nvCxnSpPr>
          <p:cNvPr id="68" name="直線單箭頭接點 65">
            <a:extLst>
              <a:ext uri="{FF2B5EF4-FFF2-40B4-BE49-F238E27FC236}">
                <a16:creationId xmlns:a16="http://schemas.microsoft.com/office/drawing/2014/main" id="{1CFA67E0-2DB3-7942-A8E5-A657273B08D5}"/>
              </a:ext>
            </a:extLst>
          </p:cNvPr>
          <p:cNvCxnSpPr>
            <a:endCxn id="67" idx="1"/>
          </p:cNvCxnSpPr>
          <p:nvPr/>
        </p:nvCxnSpPr>
        <p:spPr>
          <a:xfrm>
            <a:off x="5927575" y="5069293"/>
            <a:ext cx="556900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圓角矩形 68">
            <a:extLst>
              <a:ext uri="{FF2B5EF4-FFF2-40B4-BE49-F238E27FC236}">
                <a16:creationId xmlns:a16="http://schemas.microsoft.com/office/drawing/2014/main" id="{23B17EC1-64E0-1344-BE48-55D00B8EB3E2}"/>
              </a:ext>
            </a:extLst>
          </p:cNvPr>
          <p:cNvSpPr/>
          <p:nvPr/>
        </p:nvSpPr>
        <p:spPr>
          <a:xfrm>
            <a:off x="4403221" y="5566599"/>
            <a:ext cx="152435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事件</a:t>
            </a:r>
          </a:p>
        </p:txBody>
      </p:sp>
      <p:sp>
        <p:nvSpPr>
          <p:cNvPr id="70" name="圓角矩形 69">
            <a:extLst>
              <a:ext uri="{FF2B5EF4-FFF2-40B4-BE49-F238E27FC236}">
                <a16:creationId xmlns:a16="http://schemas.microsoft.com/office/drawing/2014/main" id="{02137458-DD98-3744-8D11-F4A77D76F213}"/>
              </a:ext>
            </a:extLst>
          </p:cNvPr>
          <p:cNvSpPr/>
          <p:nvPr/>
        </p:nvSpPr>
        <p:spPr>
          <a:xfrm>
            <a:off x="6484475" y="5532506"/>
            <a:ext cx="1705068" cy="66174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每日偵測事件發生，並分析影響程度</a:t>
            </a:r>
            <a:r>
              <a:rPr lang="en-US" altLang="zh-TW" sz="1400" b="1" dirty="0">
                <a:ea typeface="Microsoft JhengHei" panose="020B0604030504040204" pitchFamily="34" charset="-120"/>
              </a:rPr>
              <a:t>(0-10)</a:t>
            </a:r>
          </a:p>
        </p:txBody>
      </p:sp>
      <p:cxnSp>
        <p:nvCxnSpPr>
          <p:cNvPr id="71" name="直線單箭頭接點 71">
            <a:extLst>
              <a:ext uri="{FF2B5EF4-FFF2-40B4-BE49-F238E27FC236}">
                <a16:creationId xmlns:a16="http://schemas.microsoft.com/office/drawing/2014/main" id="{F3112C38-31AF-7F4A-8B6C-0A07FBDB696A}"/>
              </a:ext>
            </a:extLst>
          </p:cNvPr>
          <p:cNvCxnSpPr>
            <a:stCxn id="69" idx="3"/>
            <a:endCxn id="70" idx="1"/>
          </p:cNvCxnSpPr>
          <p:nvPr/>
        </p:nvCxnSpPr>
        <p:spPr>
          <a:xfrm>
            <a:off x="5927575" y="5863378"/>
            <a:ext cx="5569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9D9F95E-CBCA-E846-A5D1-CC3B4226DDDB}"/>
              </a:ext>
            </a:extLst>
          </p:cNvPr>
          <p:cNvSpPr txBox="1"/>
          <p:nvPr/>
        </p:nvSpPr>
        <p:spPr>
          <a:xfrm>
            <a:off x="545432" y="2409037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ea typeface="Microsoft JhengHei" panose="020B0604030504040204" pitchFamily="34" charset="-120"/>
              </a:rPr>
              <a:t>Input(</a:t>
            </a:r>
            <a:r>
              <a:rPr lang="zh-TW" altLang="en-US" b="1" dirty="0">
                <a:ea typeface="Microsoft JhengHei" panose="020B0604030504040204" pitchFamily="34" charset="-120"/>
              </a:rPr>
              <a:t>影響因素</a:t>
            </a:r>
            <a:r>
              <a:rPr lang="en-US" altLang="zh-TW" b="1" dirty="0">
                <a:ea typeface="Microsoft JhengHei" panose="020B0604030504040204" pitchFamily="34" charset="-120"/>
              </a:rPr>
              <a:t>)</a:t>
            </a:r>
            <a:endParaRPr lang="zh-TW" altLang="en-US" b="1" dirty="0">
              <a:ea typeface="Microsoft JhengHei" panose="020B0604030504040204" pitchFamily="34" charset="-120"/>
            </a:endParaRPr>
          </a:p>
        </p:txBody>
      </p:sp>
      <p:sp>
        <p:nvSpPr>
          <p:cNvPr id="73" name="圓角矩形 72">
            <a:extLst>
              <a:ext uri="{FF2B5EF4-FFF2-40B4-BE49-F238E27FC236}">
                <a16:creationId xmlns:a16="http://schemas.microsoft.com/office/drawing/2014/main" id="{1F1A8AFE-D095-F645-B325-596711387C73}"/>
              </a:ext>
            </a:extLst>
          </p:cNvPr>
          <p:cNvSpPr/>
          <p:nvPr/>
        </p:nvSpPr>
        <p:spPr>
          <a:xfrm>
            <a:off x="9691744" y="2842314"/>
            <a:ext cx="1556084" cy="5935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ea typeface="Microsoft JhengHei" panose="020B0604030504040204" pitchFamily="34" charset="-120"/>
              </a:rPr>
              <a:t>商品銷售量</a:t>
            </a:r>
          </a:p>
        </p:txBody>
      </p:sp>
      <p:sp>
        <p:nvSpPr>
          <p:cNvPr id="74" name="圓角矩形 73">
            <a:extLst>
              <a:ext uri="{FF2B5EF4-FFF2-40B4-BE49-F238E27FC236}">
                <a16:creationId xmlns:a16="http://schemas.microsoft.com/office/drawing/2014/main" id="{345BCA43-CA72-3149-93B7-8E397E7CFDD7}"/>
              </a:ext>
            </a:extLst>
          </p:cNvPr>
          <p:cNvSpPr/>
          <p:nvPr/>
        </p:nvSpPr>
        <p:spPr>
          <a:xfrm>
            <a:off x="9617252" y="3900232"/>
            <a:ext cx="1705068" cy="5694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ea typeface="Microsoft JhengHei" panose="020B0604030504040204" pitchFamily="34" charset="-120"/>
              </a:rPr>
              <a:t>每天目標商品銷售量</a:t>
            </a:r>
            <a:endParaRPr lang="en-US" altLang="zh-TW" sz="1400" b="1" dirty="0">
              <a:ea typeface="Microsoft JhengHei" panose="020B0604030504040204" pitchFamily="34" charset="-120"/>
            </a:endParaRPr>
          </a:p>
        </p:txBody>
      </p:sp>
      <p:cxnSp>
        <p:nvCxnSpPr>
          <p:cNvPr id="75" name="直線單箭頭接點 84">
            <a:extLst>
              <a:ext uri="{FF2B5EF4-FFF2-40B4-BE49-F238E27FC236}">
                <a16:creationId xmlns:a16="http://schemas.microsoft.com/office/drawing/2014/main" id="{A41A0300-9EA6-FE44-A139-D45A317807A1}"/>
              </a:ext>
            </a:extLst>
          </p:cNvPr>
          <p:cNvCxnSpPr>
            <a:stCxn id="73" idx="2"/>
            <a:endCxn id="74" idx="0"/>
          </p:cNvCxnSpPr>
          <p:nvPr/>
        </p:nvCxnSpPr>
        <p:spPr>
          <a:xfrm>
            <a:off x="10469786" y="3435872"/>
            <a:ext cx="0" cy="464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90">
            <a:extLst>
              <a:ext uri="{FF2B5EF4-FFF2-40B4-BE49-F238E27FC236}">
                <a16:creationId xmlns:a16="http://schemas.microsoft.com/office/drawing/2014/main" id="{9DD75C4E-3CAA-7A45-B769-0C88A9D89D1B}"/>
              </a:ext>
            </a:extLst>
          </p:cNvPr>
          <p:cNvCxnSpPr>
            <a:stCxn id="47" idx="2"/>
          </p:cNvCxnSpPr>
          <p:nvPr/>
        </p:nvCxnSpPr>
        <p:spPr>
          <a:xfrm flipH="1">
            <a:off x="6296526" y="1879078"/>
            <a:ext cx="2474538" cy="5031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91">
            <a:extLst>
              <a:ext uri="{FF2B5EF4-FFF2-40B4-BE49-F238E27FC236}">
                <a16:creationId xmlns:a16="http://schemas.microsoft.com/office/drawing/2014/main" id="{0805FB6E-A1B4-9248-8BF4-78B7C6036D25}"/>
              </a:ext>
            </a:extLst>
          </p:cNvPr>
          <p:cNvCxnSpPr>
            <a:stCxn id="47" idx="2"/>
            <a:endCxn id="45" idx="0"/>
          </p:cNvCxnSpPr>
          <p:nvPr/>
        </p:nvCxnSpPr>
        <p:spPr>
          <a:xfrm>
            <a:off x="8771064" y="1879078"/>
            <a:ext cx="1698722" cy="50660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5852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28">
            <a:extLst>
              <a:ext uri="{FF2B5EF4-FFF2-40B4-BE49-F238E27FC236}">
                <a16:creationId xmlns:a16="http://schemas.microsoft.com/office/drawing/2014/main" id="{F3417D25-995F-204C-85B2-B97DD8ACF3B8}"/>
              </a:ext>
            </a:extLst>
          </p:cNvPr>
          <p:cNvSpPr txBox="1"/>
          <p:nvPr/>
        </p:nvSpPr>
        <p:spPr>
          <a:xfrm>
            <a:off x="190800" y="180000"/>
            <a:ext cx="50225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4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）評價模型建立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pic>
        <p:nvPicPr>
          <p:cNvPr id="68" name="圖片 67">
            <a:extLst>
              <a:ext uri="{FF2B5EF4-FFF2-40B4-BE49-F238E27FC236}">
                <a16:creationId xmlns:a16="http://schemas.microsoft.com/office/drawing/2014/main" id="{857B3AC1-8D61-9040-B028-C2BA32B19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142" y="2524465"/>
            <a:ext cx="5861123" cy="2495652"/>
          </a:xfrm>
          <a:prstGeom prst="rect">
            <a:avLst/>
          </a:prstGeom>
        </p:spPr>
      </p:pic>
      <p:sp>
        <p:nvSpPr>
          <p:cNvPr id="69" name="文字方塊 68">
            <a:extLst>
              <a:ext uri="{FF2B5EF4-FFF2-40B4-BE49-F238E27FC236}">
                <a16:creationId xmlns:a16="http://schemas.microsoft.com/office/drawing/2014/main" id="{B2455E50-DCD2-0249-8B93-C7FC4D04AAFD}"/>
              </a:ext>
            </a:extLst>
          </p:cNvPr>
          <p:cNvSpPr txBox="1"/>
          <p:nvPr/>
        </p:nvSpPr>
        <p:spPr>
          <a:xfrm>
            <a:off x="519227" y="1481175"/>
            <a:ext cx="8175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i="0" dirty="0">
                <a:effectLst/>
                <a:ea typeface="Microsoft JhengHei" panose="020B0604030504040204" pitchFamily="34" charset="-120"/>
              </a:rPr>
              <a:t>屬於多種變量的預測問題，商品銷售量在每天都會受到各個影響因素的影響</a:t>
            </a:r>
            <a:endParaRPr lang="en-US" altLang="zh-TW" b="1" i="0" dirty="0">
              <a:effectLst/>
              <a:ea typeface="Microsoft JhengHei" panose="020B0604030504040204" pitchFamily="34" charset="-120"/>
            </a:endParaRPr>
          </a:p>
          <a:p>
            <a:r>
              <a:rPr lang="zh-TW" altLang="en-US" b="1" dirty="0">
                <a:ea typeface="Microsoft JhengHei" panose="020B0604030504040204" pitchFamily="34" charset="-120"/>
              </a:rPr>
              <a:t>選擇 </a:t>
            </a:r>
            <a:r>
              <a:rPr lang="en-US" altLang="zh-TW" b="1" dirty="0">
                <a:ea typeface="Microsoft JhengHei" panose="020B0604030504040204" pitchFamily="34" charset="-120"/>
              </a:rPr>
              <a:t>: </a:t>
            </a:r>
            <a:r>
              <a:rPr lang="zh-TW" altLang="en-US" b="1" i="0" dirty="0">
                <a:effectLst/>
                <a:ea typeface="Microsoft JhengHei" panose="020B0604030504040204" pitchFamily="34" charset="-120"/>
              </a:rPr>
              <a:t>長短期記憶模型</a:t>
            </a:r>
            <a:r>
              <a:rPr lang="zh-TW" altLang="en-US" b="0" i="0" dirty="0">
                <a:effectLst/>
                <a:ea typeface="Microsoft JhengHei" panose="020B0604030504040204" pitchFamily="34" charset="-120"/>
              </a:rPr>
              <a:t>（</a:t>
            </a:r>
            <a:r>
              <a:rPr lang="en-US" altLang="zh-TW" b="0" i="0" dirty="0">
                <a:effectLst/>
                <a:ea typeface="Microsoft JhengHei" panose="020B0604030504040204" pitchFamily="34" charset="-120"/>
              </a:rPr>
              <a:t>long short-term memory</a:t>
            </a:r>
            <a:r>
              <a:rPr lang="zh-TW" altLang="en-US" b="0" i="0" dirty="0">
                <a:effectLst/>
                <a:ea typeface="Microsoft JhengHei" panose="020B0604030504040204" pitchFamily="34" charset="-120"/>
              </a:rPr>
              <a:t>，</a:t>
            </a:r>
            <a:r>
              <a:rPr lang="en-US" altLang="zh-TW" b="0" i="0" dirty="0">
                <a:effectLst/>
                <a:ea typeface="Microsoft JhengHei" panose="020B0604030504040204" pitchFamily="34" charset="-120"/>
              </a:rPr>
              <a:t>LSTM</a:t>
            </a:r>
            <a:r>
              <a:rPr lang="zh-TW" altLang="en-US" b="0" i="0" dirty="0">
                <a:effectLst/>
                <a:ea typeface="Microsoft JhengHei" panose="020B0604030504040204" pitchFamily="34" charset="-120"/>
              </a:rPr>
              <a:t>）</a:t>
            </a:r>
            <a:endParaRPr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F0321BE-EF74-1E47-BFD9-230D78A09BD9}"/>
              </a:ext>
            </a:extLst>
          </p:cNvPr>
          <p:cNvSpPr txBox="1"/>
          <p:nvPr/>
        </p:nvSpPr>
        <p:spPr>
          <a:xfrm>
            <a:off x="3262514" y="6514650"/>
            <a:ext cx="68771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0" i="1" dirty="0">
                <a:solidFill>
                  <a:srgbClr val="555555"/>
                </a:solidFill>
                <a:effectLst/>
                <a:ea typeface="Microsoft JhengHei" panose="020B0604030504040204" pitchFamily="34" charset="-120"/>
              </a:rPr>
              <a:t>(2018)Applying Time Series Analysis in Sales Forecasting - Taking Motors Sales as an Example</a:t>
            </a:r>
            <a:endParaRPr lang="zh-TW" altLang="en-US" sz="1000" i="1" dirty="0">
              <a:ea typeface="Microsoft JhengHei" panose="020B0604030504040204" pitchFamily="34" charset="-12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710D68F4-81F6-FC42-9218-DAB8562549EC}"/>
              </a:ext>
            </a:extLst>
          </p:cNvPr>
          <p:cNvSpPr txBox="1"/>
          <p:nvPr/>
        </p:nvSpPr>
        <p:spPr>
          <a:xfrm>
            <a:off x="306476" y="4919800"/>
            <a:ext cx="49690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ea typeface="Microsoft JhengHei" panose="020B0604030504040204" pitchFamily="34" charset="-120"/>
              </a:rPr>
              <a:t>Input : </a:t>
            </a:r>
          </a:p>
          <a:p>
            <a:r>
              <a:rPr lang="en-US" altLang="zh-TW" dirty="0">
                <a:ea typeface="Microsoft JhengHei" panose="020B0604030504040204" pitchFamily="34" charset="-120"/>
              </a:rPr>
              <a:t>             </a:t>
            </a:r>
            <a:r>
              <a:rPr lang="en-US" altLang="zh-TW" dirty="0" err="1">
                <a:ea typeface="Microsoft JhengHei" panose="020B0604030504040204" pitchFamily="34" charset="-120"/>
              </a:rPr>
              <a:t>X_train</a:t>
            </a:r>
            <a:r>
              <a:rPr lang="en-US" altLang="zh-TW" dirty="0">
                <a:ea typeface="Microsoft JhengHei" panose="020B0604030504040204" pitchFamily="34" charset="-120"/>
              </a:rPr>
              <a:t> : </a:t>
            </a:r>
            <a:r>
              <a:rPr lang="zh-TW" altLang="en-US" dirty="0">
                <a:ea typeface="Microsoft JhengHei" panose="020B0604030504040204" pitchFamily="34" charset="-120"/>
              </a:rPr>
              <a:t>影響因素資料</a:t>
            </a:r>
            <a:r>
              <a:rPr lang="en-US" altLang="zh-TW" dirty="0"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ea typeface="Microsoft JhengHei" panose="020B0604030504040204" pitchFamily="34" charset="-120"/>
              </a:rPr>
              <a:t>例如三個變量</a:t>
            </a:r>
            <a:endParaRPr lang="en-US" altLang="zh-TW" dirty="0">
              <a:ea typeface="Microsoft JhengHei" panose="020B0604030504040204" pitchFamily="34" charset="-120"/>
            </a:endParaRPr>
          </a:p>
          <a:p>
            <a:r>
              <a:rPr lang="en-US" altLang="zh-TW" dirty="0">
                <a:ea typeface="Microsoft JhengHei" panose="020B0604030504040204" pitchFamily="34" charset="-120"/>
              </a:rPr>
              <a:t>             </a:t>
            </a:r>
            <a:r>
              <a:rPr lang="zh-TW" altLang="en-US" dirty="0">
                <a:ea typeface="Microsoft JhengHei" panose="020B0604030504040204" pitchFamily="34" charset="-120"/>
              </a:rPr>
              <a:t>就會有</a:t>
            </a:r>
            <a:r>
              <a:rPr lang="en-US" altLang="zh-TW" dirty="0">
                <a:ea typeface="Microsoft JhengHei" panose="020B0604030504040204" pitchFamily="34" charset="-120"/>
              </a:rPr>
              <a:t>X1,X2,X3)  </a:t>
            </a:r>
          </a:p>
          <a:p>
            <a:r>
              <a:rPr lang="en-US" altLang="zh-TW" dirty="0">
                <a:ea typeface="Microsoft JhengHei" panose="020B0604030504040204" pitchFamily="34" charset="-120"/>
              </a:rPr>
              <a:t>              </a:t>
            </a:r>
            <a:r>
              <a:rPr lang="en-US" altLang="zh-TW" dirty="0" err="1">
                <a:ea typeface="Microsoft JhengHei" panose="020B0604030504040204" pitchFamily="34" charset="-120"/>
              </a:rPr>
              <a:t>Y_train</a:t>
            </a:r>
            <a:r>
              <a:rPr lang="en-US" altLang="zh-TW" dirty="0">
                <a:ea typeface="Microsoft JhengHei" panose="020B0604030504040204" pitchFamily="34" charset="-120"/>
              </a:rPr>
              <a:t> : </a:t>
            </a:r>
            <a:r>
              <a:rPr lang="zh-TW" altLang="en-US" dirty="0">
                <a:ea typeface="Microsoft JhengHei" panose="020B0604030504040204" pitchFamily="34" charset="-120"/>
              </a:rPr>
              <a:t>每天的銷售量</a:t>
            </a:r>
            <a:r>
              <a:rPr lang="en-US" altLang="zh-TW" dirty="0"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ea typeface="Microsoft JhengHei" panose="020B0604030504040204" pitchFamily="34" charset="-120"/>
              </a:rPr>
              <a:t>採用</a:t>
            </a:r>
            <a:r>
              <a:rPr lang="en-US" altLang="zh-TW" dirty="0"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ea typeface="Microsoft JhengHei" panose="020B0604030504040204" pitchFamily="34" charset="-120"/>
              </a:rPr>
              <a:t>天為    </a:t>
            </a:r>
            <a:endParaRPr lang="en-US" altLang="zh-TW" dirty="0">
              <a:ea typeface="Microsoft JhengHei" panose="020B0604030504040204" pitchFamily="34" charset="-120"/>
            </a:endParaRPr>
          </a:p>
          <a:p>
            <a:r>
              <a:rPr lang="zh-TW" altLang="en-US" dirty="0">
                <a:ea typeface="Microsoft JhengHei" panose="020B0604030504040204" pitchFamily="34" charset="-120"/>
              </a:rPr>
              <a:t>              一組</a:t>
            </a:r>
            <a:r>
              <a:rPr lang="en-US" altLang="zh-TW" dirty="0"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79BAD77-A88C-CD49-AD54-F6661CFAD7B3}"/>
              </a:ext>
            </a:extLst>
          </p:cNvPr>
          <p:cNvSpPr/>
          <p:nvPr/>
        </p:nvSpPr>
        <p:spPr>
          <a:xfrm>
            <a:off x="4163142" y="225346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000" b="1" dirty="0">
                <a:ea typeface="Microsoft JhengHei" panose="020B0604030504040204" pitchFamily="34" charset="-120"/>
              </a:rPr>
              <a:t>Output</a:t>
            </a:r>
            <a:r>
              <a:rPr lang="en-US" altLang="zh-TW" dirty="0">
                <a:ea typeface="Microsoft JhengHei" panose="020B0604030504040204" pitchFamily="34" charset="-120"/>
              </a:rPr>
              <a:t> :</a:t>
            </a:r>
            <a:r>
              <a:rPr lang="zh-TW" altLang="en-US" dirty="0">
                <a:ea typeface="Microsoft JhengHei" panose="020B0604030504040204" pitchFamily="34" charset="-120"/>
              </a:rPr>
              <a:t> 明天的銷售量</a:t>
            </a:r>
            <a:r>
              <a:rPr lang="en-US" altLang="zh-TW" dirty="0"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ea typeface="Microsoft JhengHei" panose="020B0604030504040204" pitchFamily="34" charset="-120"/>
              </a:rPr>
              <a:t>歷史資料最後一筆的下一天</a:t>
            </a:r>
            <a:r>
              <a:rPr lang="en-US" altLang="zh-TW" dirty="0">
                <a:ea typeface="Microsoft JhengHei" panose="020B0604030504040204" pitchFamily="34" charset="-120"/>
              </a:rPr>
              <a:t>)</a:t>
            </a:r>
          </a:p>
        </p:txBody>
      </p:sp>
      <p:cxnSp>
        <p:nvCxnSpPr>
          <p:cNvPr id="73" name="直線單箭頭接點 9">
            <a:extLst>
              <a:ext uri="{FF2B5EF4-FFF2-40B4-BE49-F238E27FC236}">
                <a16:creationId xmlns:a16="http://schemas.microsoft.com/office/drawing/2014/main" id="{1B215BE0-71B7-8C46-91D5-ADEB408AE4FF}"/>
              </a:ext>
            </a:extLst>
          </p:cNvPr>
          <p:cNvCxnSpPr/>
          <p:nvPr/>
        </p:nvCxnSpPr>
        <p:spPr>
          <a:xfrm flipH="1">
            <a:off x="7467600" y="2622794"/>
            <a:ext cx="224589" cy="963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線單箭頭接點 10">
            <a:extLst>
              <a:ext uri="{FF2B5EF4-FFF2-40B4-BE49-F238E27FC236}">
                <a16:creationId xmlns:a16="http://schemas.microsoft.com/office/drawing/2014/main" id="{49A3C6BD-9366-2E40-885F-4FB70262E8F3}"/>
              </a:ext>
            </a:extLst>
          </p:cNvPr>
          <p:cNvCxnSpPr/>
          <p:nvPr/>
        </p:nvCxnSpPr>
        <p:spPr>
          <a:xfrm flipV="1">
            <a:off x="4652211" y="5020117"/>
            <a:ext cx="360947" cy="16148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024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C4E0B80-612A-DE42-A0F4-892B61C57A79}"/>
              </a:ext>
            </a:extLst>
          </p:cNvPr>
          <p:cNvSpPr txBox="1"/>
          <p:nvPr/>
        </p:nvSpPr>
        <p:spPr>
          <a:xfrm>
            <a:off x="509244" y="2351166"/>
            <a:ext cx="9885549" cy="1803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86" indent="-457086"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請問明天的銷售量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086" indent="-45708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請問明天的銷售量會增加或減少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5C710C2-2F55-1749-9930-8F8A628FBA79}"/>
              </a:ext>
            </a:extLst>
          </p:cNvPr>
          <p:cNvSpPr txBox="1"/>
          <p:nvPr/>
        </p:nvSpPr>
        <p:spPr>
          <a:xfrm>
            <a:off x="7054727" y="2351166"/>
            <a:ext cx="1514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1436C0E-1D4E-5B42-80C0-F6306D4E09C5}"/>
              </a:ext>
            </a:extLst>
          </p:cNvPr>
          <p:cNvSpPr txBox="1"/>
          <p:nvPr/>
        </p:nvSpPr>
        <p:spPr>
          <a:xfrm>
            <a:off x="10073990" y="3323420"/>
            <a:ext cx="1514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</a:p>
        </p:txBody>
      </p:sp>
      <p:sp>
        <p:nvSpPr>
          <p:cNvPr id="16" name="CuadroTexto 728">
            <a:extLst>
              <a:ext uri="{FF2B5EF4-FFF2-40B4-BE49-F238E27FC236}">
                <a16:creationId xmlns:a16="http://schemas.microsoft.com/office/drawing/2014/main" id="{737C3E6D-B744-914B-AE98-E4BDFD3ABF96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</a:t>
            </a:r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5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）回答問題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210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45E5B37C-BFF5-C049-A25B-161A25313C57}"/>
              </a:ext>
            </a:extLst>
          </p:cNvPr>
          <p:cNvSpPr/>
          <p:nvPr/>
        </p:nvSpPr>
        <p:spPr>
          <a:xfrm>
            <a:off x="5886995" y="2703284"/>
            <a:ext cx="1523957" cy="593404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模型建立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FDEC9DFE-4FF1-D44B-A3E8-7F94BBD479B4}"/>
              </a:ext>
            </a:extLst>
          </p:cNvPr>
          <p:cNvSpPr/>
          <p:nvPr/>
        </p:nvSpPr>
        <p:spPr>
          <a:xfrm>
            <a:off x="3809907" y="2703283"/>
            <a:ext cx="1523957" cy="593404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資料前處理</a:t>
            </a:r>
          </a:p>
        </p:txBody>
      </p:sp>
      <p:sp>
        <p:nvSpPr>
          <p:cNvPr id="14" name="雲朵形 1">
            <a:extLst>
              <a:ext uri="{FF2B5EF4-FFF2-40B4-BE49-F238E27FC236}">
                <a16:creationId xmlns:a16="http://schemas.microsoft.com/office/drawing/2014/main" id="{D82BC21F-7DA8-3A4F-AB6B-9097E3D3799A}"/>
              </a:ext>
            </a:extLst>
          </p:cNvPr>
          <p:cNvSpPr/>
          <p:nvPr/>
        </p:nvSpPr>
        <p:spPr>
          <a:xfrm>
            <a:off x="1043540" y="2494791"/>
            <a:ext cx="1700535" cy="1010390"/>
          </a:xfrm>
          <a:prstGeom prst="cloud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歷史資料</a:t>
            </a:r>
          </a:p>
        </p:txBody>
      </p:sp>
      <p:cxnSp>
        <p:nvCxnSpPr>
          <p:cNvPr id="16" name="直線單箭頭接點 9">
            <a:extLst>
              <a:ext uri="{FF2B5EF4-FFF2-40B4-BE49-F238E27FC236}">
                <a16:creationId xmlns:a16="http://schemas.microsoft.com/office/drawing/2014/main" id="{D5942CAA-386D-EA41-A48F-5BCD81286949}"/>
              </a:ext>
            </a:extLst>
          </p:cNvPr>
          <p:cNvCxnSpPr>
            <a:stCxn id="14" idx="0"/>
            <a:endCxn id="11" idx="1"/>
          </p:cNvCxnSpPr>
          <p:nvPr/>
        </p:nvCxnSpPr>
        <p:spPr>
          <a:xfrm flipV="1">
            <a:off x="2742659" y="2999986"/>
            <a:ext cx="1067248" cy="1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8" name="直線單箭頭接點 10">
            <a:extLst>
              <a:ext uri="{FF2B5EF4-FFF2-40B4-BE49-F238E27FC236}">
                <a16:creationId xmlns:a16="http://schemas.microsoft.com/office/drawing/2014/main" id="{3EBADDE7-2E9C-894A-9655-80498C16C365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5333864" y="2999986"/>
            <a:ext cx="553131" cy="1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C4A9B650-CB9D-D949-9BFF-470DA9E27144}"/>
              </a:ext>
            </a:extLst>
          </p:cNvPr>
          <p:cNvSpPr/>
          <p:nvPr/>
        </p:nvSpPr>
        <p:spPr>
          <a:xfrm>
            <a:off x="8004002" y="2703284"/>
            <a:ext cx="1523957" cy="593404"/>
          </a:xfrm>
          <a:prstGeom prst="round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模型訓練</a:t>
            </a:r>
          </a:p>
        </p:txBody>
      </p:sp>
      <p:cxnSp>
        <p:nvCxnSpPr>
          <p:cNvPr id="20" name="直線單箭頭接點 14">
            <a:extLst>
              <a:ext uri="{FF2B5EF4-FFF2-40B4-BE49-F238E27FC236}">
                <a16:creationId xmlns:a16="http://schemas.microsoft.com/office/drawing/2014/main" id="{C8536DDF-D84B-4A4B-857C-3D41F03EDA76}"/>
              </a:ext>
            </a:extLst>
          </p:cNvPr>
          <p:cNvCxnSpPr>
            <a:stCxn id="10" idx="3"/>
            <a:endCxn id="19" idx="1"/>
          </p:cNvCxnSpPr>
          <p:nvPr/>
        </p:nvCxnSpPr>
        <p:spPr>
          <a:xfrm>
            <a:off x="7410952" y="2999986"/>
            <a:ext cx="593051" cy="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id="{0EBA4AD7-72E8-5F4E-9E96-5C7A4242B546}"/>
              </a:ext>
            </a:extLst>
          </p:cNvPr>
          <p:cNvSpPr/>
          <p:nvPr/>
        </p:nvSpPr>
        <p:spPr>
          <a:xfrm>
            <a:off x="410002" y="3841977"/>
            <a:ext cx="1323386" cy="593404"/>
          </a:xfrm>
          <a:prstGeom prst="ellips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內外部影響因素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06F1ADD4-B065-754A-B70F-B726965FEA43}"/>
              </a:ext>
            </a:extLst>
          </p:cNvPr>
          <p:cNvCxnSpPr>
            <a:stCxn id="14" idx="1"/>
            <a:endCxn id="21" idx="0"/>
          </p:cNvCxnSpPr>
          <p:nvPr/>
        </p:nvCxnSpPr>
        <p:spPr>
          <a:xfrm flipH="1">
            <a:off x="1071695" y="3504105"/>
            <a:ext cx="822113" cy="337872"/>
          </a:xfrm>
          <a:prstGeom prst="lin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A9DBFDA-9847-6646-8CD8-F4ED8D1BBA46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1893808" y="3504105"/>
            <a:ext cx="596987" cy="345891"/>
          </a:xfrm>
          <a:prstGeom prst="lin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43395CD5-DF2C-4447-B006-0B840F79534C}"/>
              </a:ext>
            </a:extLst>
          </p:cNvPr>
          <p:cNvSpPr/>
          <p:nvPr/>
        </p:nvSpPr>
        <p:spPr>
          <a:xfrm>
            <a:off x="3252814" y="3882071"/>
            <a:ext cx="1323386" cy="593404"/>
          </a:xfrm>
          <a:prstGeom prst="ellips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數據正規化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790F153C-F2A3-7D4E-B6B4-CC5610FFEF4E}"/>
              </a:ext>
            </a:extLst>
          </p:cNvPr>
          <p:cNvSpPr/>
          <p:nvPr/>
        </p:nvSpPr>
        <p:spPr>
          <a:xfrm>
            <a:off x="4672171" y="3882071"/>
            <a:ext cx="1323386" cy="593404"/>
          </a:xfrm>
          <a:prstGeom prst="ellips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補漏數據缺失</a:t>
            </a:r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值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906F2D5-B401-3045-B012-6727ADAF576D}"/>
              </a:ext>
            </a:extLst>
          </p:cNvPr>
          <p:cNvCxnSpPr>
            <a:stCxn id="11" idx="2"/>
            <a:endCxn id="25" idx="0"/>
          </p:cNvCxnSpPr>
          <p:nvPr/>
        </p:nvCxnSpPr>
        <p:spPr>
          <a:xfrm flipH="1">
            <a:off x="3914506" y="3296687"/>
            <a:ext cx="657379" cy="585385"/>
          </a:xfrm>
          <a:prstGeom prst="lin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F54CA0D8-5226-8044-9229-E13B83E3818F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4571886" y="3296687"/>
            <a:ext cx="761979" cy="585385"/>
          </a:xfrm>
          <a:prstGeom prst="lin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30" name="肘形接點 29">
            <a:extLst>
              <a:ext uri="{FF2B5EF4-FFF2-40B4-BE49-F238E27FC236}">
                <a16:creationId xmlns:a16="http://schemas.microsoft.com/office/drawing/2014/main" id="{12158A29-A66D-A042-8A3D-DF85EC9D035F}"/>
              </a:ext>
            </a:extLst>
          </p:cNvPr>
          <p:cNvCxnSpPr>
            <a:stCxn id="19" idx="2"/>
            <a:endCxn id="10" idx="2"/>
          </p:cNvCxnSpPr>
          <p:nvPr/>
        </p:nvCxnSpPr>
        <p:spPr>
          <a:xfrm rot="5400000">
            <a:off x="7707478" y="2238185"/>
            <a:ext cx="12697" cy="2117008"/>
          </a:xfrm>
          <a:prstGeom prst="bentConnector3">
            <a:avLst>
              <a:gd name="adj1" fmla="val 3568402"/>
            </a:avLst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D3894FC-AC49-C545-ACB7-221453CA14BA}"/>
              </a:ext>
            </a:extLst>
          </p:cNvPr>
          <p:cNvSpPr/>
          <p:nvPr/>
        </p:nvSpPr>
        <p:spPr>
          <a:xfrm>
            <a:off x="6557688" y="3828659"/>
            <a:ext cx="2262159" cy="369332"/>
          </a:xfrm>
          <a:prstGeom prst="rec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參數調整與模型優化</a:t>
            </a:r>
          </a:p>
        </p:txBody>
      </p:sp>
      <p:sp>
        <p:nvSpPr>
          <p:cNvPr id="32" name="流程圖: 資料 53">
            <a:extLst>
              <a:ext uri="{FF2B5EF4-FFF2-40B4-BE49-F238E27FC236}">
                <a16:creationId xmlns:a16="http://schemas.microsoft.com/office/drawing/2014/main" id="{F664CAF8-D50C-2C4D-AB22-CE88BC7244FC}"/>
              </a:ext>
            </a:extLst>
          </p:cNvPr>
          <p:cNvSpPr/>
          <p:nvPr/>
        </p:nvSpPr>
        <p:spPr>
          <a:xfrm>
            <a:off x="10177319" y="2619085"/>
            <a:ext cx="1628185" cy="761802"/>
          </a:xfrm>
          <a:prstGeom prst="flowChartInputOutput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預測</a:t>
            </a:r>
            <a:endParaRPr lang="en-US" altLang="zh-TW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</a:t>
            </a:r>
          </a:p>
        </p:txBody>
      </p:sp>
      <p:cxnSp>
        <p:nvCxnSpPr>
          <p:cNvPr id="33" name="直線單箭頭接點 54">
            <a:extLst>
              <a:ext uri="{FF2B5EF4-FFF2-40B4-BE49-F238E27FC236}">
                <a16:creationId xmlns:a16="http://schemas.microsoft.com/office/drawing/2014/main" id="{1AFBB2BE-EDE2-AD49-BAB9-FBCF1FA6DC6D}"/>
              </a:ext>
            </a:extLst>
          </p:cNvPr>
          <p:cNvCxnSpPr>
            <a:stCxn id="19" idx="3"/>
            <a:endCxn id="32" idx="2"/>
          </p:cNvCxnSpPr>
          <p:nvPr/>
        </p:nvCxnSpPr>
        <p:spPr>
          <a:xfrm>
            <a:off x="9527960" y="2999986"/>
            <a:ext cx="812178" cy="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35" name="CuadroTexto 728">
            <a:extLst>
              <a:ext uri="{FF2B5EF4-FFF2-40B4-BE49-F238E27FC236}">
                <a16:creationId xmlns:a16="http://schemas.microsoft.com/office/drawing/2014/main" id="{E6153725-13A8-8F44-9034-3388C943601C}"/>
              </a:ext>
            </a:extLst>
          </p:cNvPr>
          <p:cNvSpPr txBox="1"/>
          <p:nvPr/>
        </p:nvSpPr>
        <p:spPr>
          <a:xfrm>
            <a:off x="190800" y="180000"/>
            <a:ext cx="38940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（6</a:t>
            </a:r>
            <a:r>
              <a:rPr lang="zh-TW" altLang="en-US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）建構模型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1D7F3EE3-9321-4BE3-BE99-905AAE180996}"/>
              </a:ext>
            </a:extLst>
          </p:cNvPr>
          <p:cNvSpPr/>
          <p:nvPr/>
        </p:nvSpPr>
        <p:spPr>
          <a:xfrm>
            <a:off x="1877128" y="3865777"/>
            <a:ext cx="1323386" cy="593404"/>
          </a:xfrm>
          <a:prstGeom prst="ellipse">
            <a:avLst/>
          </a:prstGeom>
          <a:ln w="3492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社群媒體評論</a:t>
            </a:r>
          </a:p>
        </p:txBody>
      </p:sp>
    </p:spTree>
    <p:extLst>
      <p:ext uri="{BB962C8B-B14F-4D97-AF65-F5344CB8AC3E}">
        <p14:creationId xmlns:p14="http://schemas.microsoft.com/office/powerpoint/2010/main" val="12925757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3D701216-93F0-2A42-A34B-A372D895F7B0}"/>
              </a:ext>
            </a:extLst>
          </p:cNvPr>
          <p:cNvSpPr txBox="1">
            <a:spLocks/>
          </p:cNvSpPr>
          <p:nvPr/>
        </p:nvSpPr>
        <p:spPr>
          <a:xfrm>
            <a:off x="531665" y="1355980"/>
            <a:ext cx="10573229" cy="50954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272" algn="l"/>
            <a:r>
              <a:rPr kumimoji="1" lang="zh-TW" altLang="en-US" sz="3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利用數據分析及機器學習的技巧，能使我們做到以下事情：</a:t>
            </a:r>
            <a:endParaRPr kumimoji="1" lang="en-US" altLang="zh-TW" sz="32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預測銷售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增進潛在客戶開發</a:t>
            </a:r>
            <a:endParaRPr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分析消費者的心理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制定正確的銷售額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增進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客戶生命週期價值（即每個用戶在未來可能帶來的收益總和）</a:t>
            </a:r>
            <a:endParaRPr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最佳化向上銷售</a:t>
            </a:r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交叉銷售的能力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防止客戶的流失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找出競爭者及優勢項目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店家口碑</a:t>
            </a:r>
            <a:r>
              <a:rPr kumimoji="1" lang="en-US" altLang="zh-TW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kumimoji="1"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聲量與銷售關係</a:t>
            </a:r>
            <a:endParaRPr kumimoji="1"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CuadroTexto 664">
            <a:extLst>
              <a:ext uri="{FF2B5EF4-FFF2-40B4-BE49-F238E27FC236}">
                <a16:creationId xmlns:a16="http://schemas.microsoft.com/office/drawing/2014/main" id="{EA95BAF7-CAD6-C041-8146-FCFD8E0451E1}"/>
              </a:ext>
            </a:extLst>
          </p:cNvPr>
          <p:cNvSpPr txBox="1"/>
          <p:nvPr/>
        </p:nvSpPr>
        <p:spPr>
          <a:xfrm>
            <a:off x="190800" y="180000"/>
            <a:ext cx="513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DS/AI in Sales</a:t>
            </a:r>
            <a:endParaRPr lang="en-US" sz="4400" b="1" dirty="0">
              <a:solidFill>
                <a:schemeClr val="tx2"/>
              </a:solidFill>
              <a:latin typeface="Lato Heavy" charset="0"/>
              <a:ea typeface="Lato Heavy" charset="0"/>
              <a:cs typeface="Lato Heav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556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uadroTexto 728">
            <a:extLst>
              <a:ext uri="{FF2B5EF4-FFF2-40B4-BE49-F238E27FC236}">
                <a16:creationId xmlns:a16="http://schemas.microsoft.com/office/drawing/2014/main" id="{73F999DD-96D0-7140-865D-DF9054F63064}"/>
              </a:ext>
            </a:extLst>
          </p:cNvPr>
          <p:cNvSpPr txBox="1"/>
          <p:nvPr/>
        </p:nvSpPr>
        <p:spPr>
          <a:xfrm>
            <a:off x="5114001" y="2587293"/>
            <a:ext cx="19640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592696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uadroTexto 728">
            <a:extLst>
              <a:ext uri="{FF2B5EF4-FFF2-40B4-BE49-F238E27FC236}">
                <a16:creationId xmlns:a16="http://schemas.microsoft.com/office/drawing/2014/main" id="{73F999DD-96D0-7140-865D-DF9054F63064}"/>
              </a:ext>
            </a:extLst>
          </p:cNvPr>
          <p:cNvSpPr txBox="1"/>
          <p:nvPr/>
        </p:nvSpPr>
        <p:spPr>
          <a:xfrm>
            <a:off x="3528599" y="2587293"/>
            <a:ext cx="51348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Lato Heavy" charset="0"/>
                <a:ea typeface="Lato Heavy" charset="0"/>
                <a:cs typeface="Lato Heavy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0807463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矩形: 圓角 98">
            <a:extLst>
              <a:ext uri="{FF2B5EF4-FFF2-40B4-BE49-F238E27FC236}">
                <a16:creationId xmlns:a16="http://schemas.microsoft.com/office/drawing/2014/main" id="{55322E8D-5E46-7548-A13D-6EBBE77AF923}"/>
              </a:ext>
            </a:extLst>
          </p:cNvPr>
          <p:cNvSpPr/>
          <p:nvPr/>
        </p:nvSpPr>
        <p:spPr>
          <a:xfrm>
            <a:off x="2649435" y="1137962"/>
            <a:ext cx="2414974" cy="345881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8" name="矩形: 圓角 98">
            <a:extLst>
              <a:ext uri="{FF2B5EF4-FFF2-40B4-BE49-F238E27FC236}">
                <a16:creationId xmlns:a16="http://schemas.microsoft.com/office/drawing/2014/main" id="{9E27C488-23BE-AF40-9C6A-A22F61B5632F}"/>
              </a:ext>
            </a:extLst>
          </p:cNvPr>
          <p:cNvSpPr/>
          <p:nvPr/>
        </p:nvSpPr>
        <p:spPr>
          <a:xfrm>
            <a:off x="6945842" y="768307"/>
            <a:ext cx="1639954" cy="1963686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7" name="矩形: 圓角 98">
            <a:extLst>
              <a:ext uri="{FF2B5EF4-FFF2-40B4-BE49-F238E27FC236}">
                <a16:creationId xmlns:a16="http://schemas.microsoft.com/office/drawing/2014/main" id="{EB1C80BB-309C-5247-B34D-AA9B1B71CCA2}"/>
              </a:ext>
            </a:extLst>
          </p:cNvPr>
          <p:cNvSpPr/>
          <p:nvPr/>
        </p:nvSpPr>
        <p:spPr>
          <a:xfrm>
            <a:off x="6941745" y="3320306"/>
            <a:ext cx="1794908" cy="3125951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E53C536-4030-ED40-B326-EA12B7301788}"/>
              </a:ext>
            </a:extLst>
          </p:cNvPr>
          <p:cNvGrpSpPr/>
          <p:nvPr/>
        </p:nvGrpSpPr>
        <p:grpSpPr>
          <a:xfrm>
            <a:off x="2948778" y="109883"/>
            <a:ext cx="8571648" cy="6340995"/>
            <a:chOff x="2901646" y="214470"/>
            <a:chExt cx="16296035" cy="12676521"/>
          </a:xfrm>
        </p:grpSpPr>
        <p:sp>
          <p:nvSpPr>
            <p:cNvPr id="24" name="矩形: 圓角 109">
              <a:extLst>
                <a:ext uri="{FF2B5EF4-FFF2-40B4-BE49-F238E27FC236}">
                  <a16:creationId xmlns:a16="http://schemas.microsoft.com/office/drawing/2014/main" id="{49F6EED1-BBD3-CF4D-B9B1-A95870D68E7E}"/>
                </a:ext>
              </a:extLst>
            </p:cNvPr>
            <p:cNvSpPr/>
            <p:nvPr/>
          </p:nvSpPr>
          <p:spPr>
            <a:xfrm>
              <a:off x="2901646" y="214470"/>
              <a:ext cx="3415038" cy="1122242"/>
            </a:xfrm>
            <a:prstGeom prst="roundRect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rgbClr val="FF0000"/>
                  </a:solidFill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Project KPI</a:t>
              </a:r>
              <a:endParaRPr lang="zh-TW" altLang="en-US" b="1" dirty="0">
                <a:solidFill>
                  <a:srgbClr val="FF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7" name="矩形: 圓角 110">
              <a:extLst>
                <a:ext uri="{FF2B5EF4-FFF2-40B4-BE49-F238E27FC236}">
                  <a16:creationId xmlns:a16="http://schemas.microsoft.com/office/drawing/2014/main" id="{BB3DDB5C-8DCF-124F-A367-B5BC873FFF6B}"/>
                </a:ext>
              </a:extLst>
            </p:cNvPr>
            <p:cNvSpPr/>
            <p:nvPr/>
          </p:nvSpPr>
          <p:spPr>
            <a:xfrm>
              <a:off x="15691758" y="493825"/>
              <a:ext cx="3412399" cy="7011001"/>
            </a:xfrm>
            <a:prstGeom prst="roundRect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28" name="矩形: 圓角 112">
              <a:extLst>
                <a:ext uri="{FF2B5EF4-FFF2-40B4-BE49-F238E27FC236}">
                  <a16:creationId xmlns:a16="http://schemas.microsoft.com/office/drawing/2014/main" id="{74B7190D-EDBD-644B-AC90-90E42C051210}"/>
                </a:ext>
              </a:extLst>
            </p:cNvPr>
            <p:cNvSpPr/>
            <p:nvPr/>
          </p:nvSpPr>
          <p:spPr>
            <a:xfrm>
              <a:off x="16067636" y="1167193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Descriptive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描述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29" name="矩形: 圓角 113">
              <a:extLst>
                <a:ext uri="{FF2B5EF4-FFF2-40B4-BE49-F238E27FC236}">
                  <a16:creationId xmlns:a16="http://schemas.microsoft.com/office/drawing/2014/main" id="{B637FB4B-B8F4-EC4B-B93D-2206B9F6DCA0}"/>
                </a:ext>
              </a:extLst>
            </p:cNvPr>
            <p:cNvSpPr/>
            <p:nvPr/>
          </p:nvSpPr>
          <p:spPr>
            <a:xfrm>
              <a:off x="16067636" y="2434330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Predictive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預測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0" name="矩形: 圓角 115">
              <a:extLst>
                <a:ext uri="{FF2B5EF4-FFF2-40B4-BE49-F238E27FC236}">
                  <a16:creationId xmlns:a16="http://schemas.microsoft.com/office/drawing/2014/main" id="{4CDA28A0-7EFF-9F42-9528-88CBE78E46F5}"/>
                </a:ext>
              </a:extLst>
            </p:cNvPr>
            <p:cNvSpPr/>
            <p:nvPr/>
          </p:nvSpPr>
          <p:spPr>
            <a:xfrm>
              <a:off x="16067636" y="3734603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Diagnostic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診斷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1" name="矩形: 圓角 116">
              <a:extLst>
                <a:ext uri="{FF2B5EF4-FFF2-40B4-BE49-F238E27FC236}">
                  <a16:creationId xmlns:a16="http://schemas.microsoft.com/office/drawing/2014/main" id="{E97066FA-56B9-8741-942E-E6E548EA1918}"/>
                </a:ext>
              </a:extLst>
            </p:cNvPr>
            <p:cNvSpPr/>
            <p:nvPr/>
          </p:nvSpPr>
          <p:spPr>
            <a:xfrm>
              <a:off x="16067636" y="4995807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Preventive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預防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2" name="矩形: 圓角 117">
              <a:extLst>
                <a:ext uri="{FF2B5EF4-FFF2-40B4-BE49-F238E27FC236}">
                  <a16:creationId xmlns:a16="http://schemas.microsoft.com/office/drawing/2014/main" id="{DE4D254A-2D80-2A43-882A-1D6692C240F9}"/>
                </a:ext>
              </a:extLst>
            </p:cNvPr>
            <p:cNvSpPr/>
            <p:nvPr/>
          </p:nvSpPr>
          <p:spPr>
            <a:xfrm>
              <a:off x="16067634" y="6332077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Prescriptive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處方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3FACD8EB-A648-8047-AAEC-61CF35279E9D}"/>
                </a:ext>
              </a:extLst>
            </p:cNvPr>
            <p:cNvSpPr txBox="1"/>
            <p:nvPr/>
          </p:nvSpPr>
          <p:spPr>
            <a:xfrm>
              <a:off x="15602682" y="467037"/>
              <a:ext cx="35014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6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Data Science</a:t>
              </a:r>
            </a:p>
          </p:txBody>
        </p:sp>
        <p:sp>
          <p:nvSpPr>
            <p:cNvPr id="34" name="矩形: 圓角 119">
              <a:extLst>
                <a:ext uri="{FF2B5EF4-FFF2-40B4-BE49-F238E27FC236}">
                  <a16:creationId xmlns:a16="http://schemas.microsoft.com/office/drawing/2014/main" id="{42180C09-CFB5-F847-BD3B-505F3E3B7FC8}"/>
                </a:ext>
              </a:extLst>
            </p:cNvPr>
            <p:cNvSpPr/>
            <p:nvPr/>
          </p:nvSpPr>
          <p:spPr>
            <a:xfrm>
              <a:off x="15691758" y="7668346"/>
              <a:ext cx="3412399" cy="5222645"/>
            </a:xfrm>
            <a:prstGeom prst="roundRect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5" name="矩形: 圓角 120">
              <a:extLst>
                <a:ext uri="{FF2B5EF4-FFF2-40B4-BE49-F238E27FC236}">
                  <a16:creationId xmlns:a16="http://schemas.microsoft.com/office/drawing/2014/main" id="{52601151-0EA1-9040-9E3F-F093477420AD}"/>
                </a:ext>
              </a:extLst>
            </p:cNvPr>
            <p:cNvSpPr/>
            <p:nvPr/>
          </p:nvSpPr>
          <p:spPr>
            <a:xfrm>
              <a:off x="16067634" y="8142056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err="1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Preception</a:t>
              </a:r>
              <a:endParaRPr lang="en-US" altLang="zh-TW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36" name="矩形: 圓角 121">
              <a:extLst>
                <a:ext uri="{FF2B5EF4-FFF2-40B4-BE49-F238E27FC236}">
                  <a16:creationId xmlns:a16="http://schemas.microsoft.com/office/drawing/2014/main" id="{8B35A65D-5C85-DD4B-A776-0F53108E6EEE}"/>
                </a:ext>
              </a:extLst>
            </p:cNvPr>
            <p:cNvSpPr/>
            <p:nvPr/>
          </p:nvSpPr>
          <p:spPr>
            <a:xfrm>
              <a:off x="16067636" y="9365022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Decision making(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決策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7" name="矩形: 圓角 122">
              <a:extLst>
                <a:ext uri="{FF2B5EF4-FFF2-40B4-BE49-F238E27FC236}">
                  <a16:creationId xmlns:a16="http://schemas.microsoft.com/office/drawing/2014/main" id="{5A7FE9A5-A7B6-984E-AEB7-8E8F839432F0}"/>
                </a:ext>
              </a:extLst>
            </p:cNvPr>
            <p:cNvSpPr/>
            <p:nvPr/>
          </p:nvSpPr>
          <p:spPr>
            <a:xfrm>
              <a:off x="16067636" y="10587988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Learning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學習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8" name="矩形: 圓角 123">
              <a:extLst>
                <a:ext uri="{FF2B5EF4-FFF2-40B4-BE49-F238E27FC236}">
                  <a16:creationId xmlns:a16="http://schemas.microsoft.com/office/drawing/2014/main" id="{15623432-EC7F-6C41-958C-F5C31AEC404F}"/>
                </a:ext>
              </a:extLst>
            </p:cNvPr>
            <p:cNvSpPr/>
            <p:nvPr/>
          </p:nvSpPr>
          <p:spPr>
            <a:xfrm>
              <a:off x="16067636" y="11810957"/>
              <a:ext cx="2660640" cy="911579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Optimization</a:t>
              </a:r>
            </a:p>
            <a:p>
              <a:pPr algn="ctr"/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(</a:t>
              </a:r>
              <a:r>
                <a:rPr lang="zh-TW" altLang="en-US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優化</a:t>
              </a:r>
              <a:r>
                <a:rPr lang="en-US" altLang="zh-TW" sz="14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38F4098-78AB-F845-8096-FDBD24033196}"/>
                </a:ext>
              </a:extLst>
            </p:cNvPr>
            <p:cNvSpPr txBox="1"/>
            <p:nvPr/>
          </p:nvSpPr>
          <p:spPr>
            <a:xfrm>
              <a:off x="15696205" y="7570922"/>
              <a:ext cx="35014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6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AI</a:t>
              </a:r>
            </a:p>
          </p:txBody>
        </p:sp>
        <p:sp>
          <p:nvSpPr>
            <p:cNvPr id="40" name="矩形: 圓角 50">
              <a:extLst>
                <a:ext uri="{FF2B5EF4-FFF2-40B4-BE49-F238E27FC236}">
                  <a16:creationId xmlns:a16="http://schemas.microsoft.com/office/drawing/2014/main" id="{2EC78A5E-507D-B347-9DB0-14885E5006B4}"/>
                </a:ext>
              </a:extLst>
            </p:cNvPr>
            <p:cNvSpPr/>
            <p:nvPr/>
          </p:nvSpPr>
          <p:spPr>
            <a:xfrm>
              <a:off x="11050150" y="7819369"/>
              <a:ext cx="2032423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現階段情況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49" name="矩形: 圓角 89">
              <a:extLst>
                <a:ext uri="{FF2B5EF4-FFF2-40B4-BE49-F238E27FC236}">
                  <a16:creationId xmlns:a16="http://schemas.microsoft.com/office/drawing/2014/main" id="{563D2DC1-A569-5E4A-B434-AA47723CBD33}"/>
                </a:ext>
              </a:extLst>
            </p:cNvPr>
            <p:cNvSpPr/>
            <p:nvPr/>
          </p:nvSpPr>
          <p:spPr>
            <a:xfrm>
              <a:off x="11043378" y="8870791"/>
              <a:ext cx="2032423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異常偵測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62" name="矩形: 圓角 147">
              <a:extLst>
                <a:ext uri="{FF2B5EF4-FFF2-40B4-BE49-F238E27FC236}">
                  <a16:creationId xmlns:a16="http://schemas.microsoft.com/office/drawing/2014/main" id="{AF8B4B1D-E2C5-D74C-801E-1C69D57C3332}"/>
                </a:ext>
              </a:extLst>
            </p:cNvPr>
            <p:cNvSpPr/>
            <p:nvPr/>
          </p:nvSpPr>
          <p:spPr>
            <a:xfrm>
              <a:off x="11058743" y="9880279"/>
              <a:ext cx="2056818" cy="746224"/>
            </a:xfrm>
            <a:prstGeom prst="round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趨勢預測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FEC02E21-19D8-5A4D-A522-280E92850E4B}"/>
                </a:ext>
              </a:extLst>
            </p:cNvPr>
            <p:cNvCxnSpPr>
              <a:cxnSpLocks/>
              <a:stCxn id="76" idx="3"/>
              <a:endCxn id="35" idx="1"/>
            </p:cNvCxnSpPr>
            <p:nvPr/>
          </p:nvCxnSpPr>
          <p:spPr>
            <a:xfrm>
              <a:off x="13082537" y="3116472"/>
              <a:ext cx="2985097" cy="548137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矩形: 圓角 189">
              <a:extLst>
                <a:ext uri="{FF2B5EF4-FFF2-40B4-BE49-F238E27FC236}">
                  <a16:creationId xmlns:a16="http://schemas.microsoft.com/office/drawing/2014/main" id="{28DC0864-3C02-FB48-9A9C-50D6968BC415}"/>
                </a:ext>
              </a:extLst>
            </p:cNvPr>
            <p:cNvSpPr/>
            <p:nvPr/>
          </p:nvSpPr>
          <p:spPr>
            <a:xfrm>
              <a:off x="10981178" y="2645599"/>
              <a:ext cx="2101358" cy="941744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b="1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rPr>
                <a:t>內在影響因素分析</a:t>
              </a:r>
              <a:endParaRPr lang="en-US" altLang="zh-TW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endParaRPr>
            </a:p>
          </p:txBody>
        </p:sp>
      </p:grpSp>
      <p:sp>
        <p:nvSpPr>
          <p:cNvPr id="91" name="矩形: 圓角 189">
            <a:extLst>
              <a:ext uri="{FF2B5EF4-FFF2-40B4-BE49-F238E27FC236}">
                <a16:creationId xmlns:a16="http://schemas.microsoft.com/office/drawing/2014/main" id="{21EF06EE-0684-C145-8952-D451C161062C}"/>
              </a:ext>
            </a:extLst>
          </p:cNvPr>
          <p:cNvSpPr/>
          <p:nvPr/>
        </p:nvSpPr>
        <p:spPr>
          <a:xfrm>
            <a:off x="7213166" y="2006370"/>
            <a:ext cx="1105306" cy="471075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外在影響因素分析</a:t>
            </a:r>
            <a:endParaRPr lang="en-US" altLang="zh-TW" sz="12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1" name="矩形: 圓角 147">
            <a:extLst>
              <a:ext uri="{FF2B5EF4-FFF2-40B4-BE49-F238E27FC236}">
                <a16:creationId xmlns:a16="http://schemas.microsoft.com/office/drawing/2014/main" id="{56A2D1C7-9F92-7D45-BA08-0798491AE14E}"/>
              </a:ext>
            </a:extLst>
          </p:cNvPr>
          <p:cNvSpPr/>
          <p:nvPr/>
        </p:nvSpPr>
        <p:spPr>
          <a:xfrm>
            <a:off x="7229683" y="5939712"/>
            <a:ext cx="1081878" cy="373273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因應策略</a:t>
            </a:r>
            <a:endParaRPr lang="en-US" altLang="zh-TW" sz="12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2" name="矩形: 圓角 147">
            <a:extLst>
              <a:ext uri="{FF2B5EF4-FFF2-40B4-BE49-F238E27FC236}">
                <a16:creationId xmlns:a16="http://schemas.microsoft.com/office/drawing/2014/main" id="{B3C68C48-AC4B-654E-B4E6-96C268F16E54}"/>
              </a:ext>
            </a:extLst>
          </p:cNvPr>
          <p:cNvSpPr/>
          <p:nvPr/>
        </p:nvSpPr>
        <p:spPr>
          <a:xfrm>
            <a:off x="7212691" y="5451456"/>
            <a:ext cx="1081879" cy="373273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變因分析</a:t>
            </a:r>
            <a:endParaRPr lang="en-US" altLang="zh-TW" sz="12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6607286A-1AC3-6945-A73D-C524D85D2CB6}"/>
              </a:ext>
            </a:extLst>
          </p:cNvPr>
          <p:cNvCxnSpPr>
            <a:cxnSpLocks/>
            <a:stCxn id="91" idx="3"/>
            <a:endCxn id="35" idx="1"/>
          </p:cNvCxnSpPr>
          <p:nvPr/>
        </p:nvCxnSpPr>
        <p:spPr>
          <a:xfrm>
            <a:off x="8318472" y="2241908"/>
            <a:ext cx="1555562" cy="206147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線接點 108">
            <a:extLst>
              <a:ext uri="{FF2B5EF4-FFF2-40B4-BE49-F238E27FC236}">
                <a16:creationId xmlns:a16="http://schemas.microsoft.com/office/drawing/2014/main" id="{6640EBD7-9D11-F645-89F9-532AB26C1292}"/>
              </a:ext>
            </a:extLst>
          </p:cNvPr>
          <p:cNvCxnSpPr>
            <a:cxnSpLocks/>
            <a:stCxn id="91" idx="3"/>
            <a:endCxn id="28" idx="1"/>
          </p:cNvCxnSpPr>
          <p:nvPr/>
        </p:nvCxnSpPr>
        <p:spPr>
          <a:xfrm flipV="1">
            <a:off x="8318472" y="814443"/>
            <a:ext cx="1555563" cy="1427465"/>
          </a:xfrm>
          <a:prstGeom prst="line">
            <a:avLst/>
          </a:prstGeom>
          <a:ln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線接點 111">
            <a:extLst>
              <a:ext uri="{FF2B5EF4-FFF2-40B4-BE49-F238E27FC236}">
                <a16:creationId xmlns:a16="http://schemas.microsoft.com/office/drawing/2014/main" id="{1E437CDC-A624-8F47-9252-58C301F5914E}"/>
              </a:ext>
            </a:extLst>
          </p:cNvPr>
          <p:cNvCxnSpPr>
            <a:cxnSpLocks/>
            <a:stCxn id="76" idx="3"/>
            <a:endCxn id="28" idx="1"/>
          </p:cNvCxnSpPr>
          <p:nvPr/>
        </p:nvCxnSpPr>
        <p:spPr>
          <a:xfrm flipV="1">
            <a:off x="8303886" y="814443"/>
            <a:ext cx="1570149" cy="747067"/>
          </a:xfrm>
          <a:prstGeom prst="line">
            <a:avLst/>
          </a:prstGeom>
          <a:ln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B1CBA086-8192-4446-A00F-831E64D00C68}"/>
              </a:ext>
            </a:extLst>
          </p:cNvPr>
          <p:cNvCxnSpPr>
            <a:cxnSpLocks/>
            <a:stCxn id="40" idx="3"/>
            <a:endCxn id="28" idx="1"/>
          </p:cNvCxnSpPr>
          <p:nvPr/>
        </p:nvCxnSpPr>
        <p:spPr>
          <a:xfrm flipV="1">
            <a:off x="8303904" y="814443"/>
            <a:ext cx="1570131" cy="3286167"/>
          </a:xfrm>
          <a:prstGeom prst="line">
            <a:avLst/>
          </a:prstGeom>
          <a:ln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線接點 117">
            <a:extLst>
              <a:ext uri="{FF2B5EF4-FFF2-40B4-BE49-F238E27FC236}">
                <a16:creationId xmlns:a16="http://schemas.microsoft.com/office/drawing/2014/main" id="{BF67E7AE-7C4A-E446-A189-C6C8174B7228}"/>
              </a:ext>
            </a:extLst>
          </p:cNvPr>
          <p:cNvCxnSpPr>
            <a:cxnSpLocks/>
            <a:stCxn id="49" idx="3"/>
            <a:endCxn id="28" idx="1"/>
          </p:cNvCxnSpPr>
          <p:nvPr/>
        </p:nvCxnSpPr>
        <p:spPr>
          <a:xfrm flipV="1">
            <a:off x="8300342" y="814443"/>
            <a:ext cx="1573693" cy="3812105"/>
          </a:xfrm>
          <a:prstGeom prst="line">
            <a:avLst/>
          </a:prstGeom>
          <a:ln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9761A18E-9C79-2743-BB75-EED6C876CB3B}"/>
              </a:ext>
            </a:extLst>
          </p:cNvPr>
          <p:cNvCxnSpPr>
            <a:cxnSpLocks/>
            <a:stCxn id="62" idx="3"/>
            <a:endCxn id="29" idx="1"/>
          </p:cNvCxnSpPr>
          <p:nvPr/>
        </p:nvCxnSpPr>
        <p:spPr>
          <a:xfrm flipV="1">
            <a:off x="8321256" y="1448285"/>
            <a:ext cx="1552779" cy="3683225"/>
          </a:xfrm>
          <a:prstGeom prst="line">
            <a:avLst/>
          </a:prstGeom>
          <a:ln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1F571AE3-B207-C245-B6C8-62D4A80B2525}"/>
              </a:ext>
            </a:extLst>
          </p:cNvPr>
          <p:cNvCxnSpPr>
            <a:cxnSpLocks/>
            <a:stCxn id="102" idx="3"/>
            <a:endCxn id="30" idx="1"/>
          </p:cNvCxnSpPr>
          <p:nvPr/>
        </p:nvCxnSpPr>
        <p:spPr>
          <a:xfrm flipV="1">
            <a:off x="8294570" y="2098702"/>
            <a:ext cx="1579465" cy="3539391"/>
          </a:xfrm>
          <a:prstGeom prst="line">
            <a:avLst/>
          </a:prstGeom>
          <a:ln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CA009BA2-0FE5-C54A-B2C6-A5DCDC49270B}"/>
              </a:ext>
            </a:extLst>
          </p:cNvPr>
          <p:cNvCxnSpPr>
            <a:cxnSpLocks/>
            <a:stCxn id="101" idx="3"/>
            <a:endCxn id="32" idx="1"/>
          </p:cNvCxnSpPr>
          <p:nvPr/>
        </p:nvCxnSpPr>
        <p:spPr>
          <a:xfrm flipV="1">
            <a:off x="8311561" y="3397999"/>
            <a:ext cx="1562473" cy="2728350"/>
          </a:xfrm>
          <a:prstGeom prst="line">
            <a:avLst/>
          </a:prstGeom>
          <a:ln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矩形: 圓角 116">
            <a:extLst>
              <a:ext uri="{FF2B5EF4-FFF2-40B4-BE49-F238E27FC236}">
                <a16:creationId xmlns:a16="http://schemas.microsoft.com/office/drawing/2014/main" id="{75B05561-FBE5-8248-AC08-6D51068D7D63}"/>
              </a:ext>
            </a:extLst>
          </p:cNvPr>
          <p:cNvSpPr/>
          <p:nvPr/>
        </p:nvSpPr>
        <p:spPr>
          <a:xfrm>
            <a:off x="6415475" y="2631364"/>
            <a:ext cx="540073" cy="8840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產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品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40ABDB74-AC87-014D-8210-5BD2CEF6D442}"/>
              </a:ext>
            </a:extLst>
          </p:cNvPr>
          <p:cNvSpPr txBox="1"/>
          <p:nvPr/>
        </p:nvSpPr>
        <p:spPr>
          <a:xfrm>
            <a:off x="6829080" y="875950"/>
            <a:ext cx="1841762" cy="33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影響因素監控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142FAA01-9A83-D949-BEC9-BD8C0A390930}"/>
              </a:ext>
            </a:extLst>
          </p:cNvPr>
          <p:cNvSpPr txBox="1"/>
          <p:nvPr/>
        </p:nvSpPr>
        <p:spPr>
          <a:xfrm>
            <a:off x="6918318" y="3436093"/>
            <a:ext cx="1841762" cy="33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專案執行監控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52CD2B83-ED80-764E-BE8D-2DEF615FE65C}"/>
              </a:ext>
            </a:extLst>
          </p:cNvPr>
          <p:cNvSpPr txBox="1"/>
          <p:nvPr/>
        </p:nvSpPr>
        <p:spPr>
          <a:xfrm>
            <a:off x="2014573" y="1126662"/>
            <a:ext cx="1841762" cy="33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質量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7798234A-7BD5-7A41-9633-061236C3AEF4}"/>
              </a:ext>
            </a:extLst>
          </p:cNvPr>
          <p:cNvSpPr txBox="1"/>
          <p:nvPr/>
        </p:nvSpPr>
        <p:spPr>
          <a:xfrm>
            <a:off x="2926790" y="1158564"/>
            <a:ext cx="1841762" cy="33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精實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D6610564-AF3A-694E-A890-0F7472D542E0}"/>
              </a:ext>
            </a:extLst>
          </p:cNvPr>
          <p:cNvSpPr txBox="1"/>
          <p:nvPr/>
        </p:nvSpPr>
        <p:spPr>
          <a:xfrm>
            <a:off x="3725389" y="1155587"/>
            <a:ext cx="1841762" cy="33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效率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81" name="直線箭頭接點 180">
            <a:extLst>
              <a:ext uri="{FF2B5EF4-FFF2-40B4-BE49-F238E27FC236}">
                <a16:creationId xmlns:a16="http://schemas.microsoft.com/office/drawing/2014/main" id="{F8246BB4-C605-3944-B8EB-7FAAE5162B0C}"/>
              </a:ext>
            </a:extLst>
          </p:cNvPr>
          <p:cNvCxnSpPr>
            <a:cxnSpLocks/>
            <a:stCxn id="24" idx="2"/>
            <a:endCxn id="175" idx="0"/>
          </p:cNvCxnSpPr>
          <p:nvPr/>
        </p:nvCxnSpPr>
        <p:spPr>
          <a:xfrm flipH="1">
            <a:off x="2935454" y="671246"/>
            <a:ext cx="911472" cy="455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箭頭接點 183">
            <a:extLst>
              <a:ext uri="{FF2B5EF4-FFF2-40B4-BE49-F238E27FC236}">
                <a16:creationId xmlns:a16="http://schemas.microsoft.com/office/drawing/2014/main" id="{678D5070-568F-AC4D-BFD0-FA9FB01737E3}"/>
              </a:ext>
            </a:extLst>
          </p:cNvPr>
          <p:cNvCxnSpPr>
            <a:cxnSpLocks/>
            <a:stCxn id="24" idx="2"/>
            <a:endCxn id="176" idx="0"/>
          </p:cNvCxnSpPr>
          <p:nvPr/>
        </p:nvCxnSpPr>
        <p:spPr>
          <a:xfrm>
            <a:off x="3846926" y="671246"/>
            <a:ext cx="745" cy="487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箭頭接點 187">
            <a:extLst>
              <a:ext uri="{FF2B5EF4-FFF2-40B4-BE49-F238E27FC236}">
                <a16:creationId xmlns:a16="http://schemas.microsoft.com/office/drawing/2014/main" id="{C0741284-59C2-B042-B7EA-55D798591C66}"/>
              </a:ext>
            </a:extLst>
          </p:cNvPr>
          <p:cNvCxnSpPr>
            <a:cxnSpLocks/>
            <a:stCxn id="24" idx="2"/>
            <a:endCxn id="177" idx="0"/>
          </p:cNvCxnSpPr>
          <p:nvPr/>
        </p:nvCxnSpPr>
        <p:spPr>
          <a:xfrm>
            <a:off x="3846926" y="671246"/>
            <a:ext cx="799344" cy="4843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矩形: 圓角 98">
            <a:extLst>
              <a:ext uri="{FF2B5EF4-FFF2-40B4-BE49-F238E27FC236}">
                <a16:creationId xmlns:a16="http://schemas.microsoft.com/office/drawing/2014/main" id="{38EB3492-1501-5042-8FDA-96D903C8D79C}"/>
              </a:ext>
            </a:extLst>
          </p:cNvPr>
          <p:cNvSpPr/>
          <p:nvPr/>
        </p:nvSpPr>
        <p:spPr>
          <a:xfrm>
            <a:off x="1867112" y="1785824"/>
            <a:ext cx="3972779" cy="4097318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x</a:t>
            </a:r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99343DE5-6B1D-7146-9B99-14AA08D5BB40}"/>
              </a:ext>
            </a:extLst>
          </p:cNvPr>
          <p:cNvSpPr txBox="1"/>
          <p:nvPr/>
        </p:nvSpPr>
        <p:spPr>
          <a:xfrm>
            <a:off x="2044453" y="1861280"/>
            <a:ext cx="26625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Data Collection and Analysis</a:t>
            </a:r>
          </a:p>
        </p:txBody>
      </p:sp>
      <p:cxnSp>
        <p:nvCxnSpPr>
          <p:cNvPr id="198" name="直線箭頭接點 197">
            <a:extLst>
              <a:ext uri="{FF2B5EF4-FFF2-40B4-BE49-F238E27FC236}">
                <a16:creationId xmlns:a16="http://schemas.microsoft.com/office/drawing/2014/main" id="{A2382B8B-EC06-374B-A21B-8C21F309486A}"/>
              </a:ext>
            </a:extLst>
          </p:cNvPr>
          <p:cNvCxnSpPr>
            <a:cxnSpLocks/>
            <a:stCxn id="196" idx="0"/>
            <a:endCxn id="309" idx="2"/>
          </p:cNvCxnSpPr>
          <p:nvPr/>
        </p:nvCxnSpPr>
        <p:spPr>
          <a:xfrm flipV="1">
            <a:off x="3853502" y="1483843"/>
            <a:ext cx="3420" cy="301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文字方塊 208">
            <a:extLst>
              <a:ext uri="{FF2B5EF4-FFF2-40B4-BE49-F238E27FC236}">
                <a16:creationId xmlns:a16="http://schemas.microsoft.com/office/drawing/2014/main" id="{387E859E-D05B-5F42-BFAD-866AE3F6549D}"/>
              </a:ext>
            </a:extLst>
          </p:cNvPr>
          <p:cNvSpPr txBox="1"/>
          <p:nvPr/>
        </p:nvSpPr>
        <p:spPr>
          <a:xfrm>
            <a:off x="3371797" y="2152234"/>
            <a:ext cx="9316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工廠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0" name="矩形: 圓角 116">
            <a:extLst>
              <a:ext uri="{FF2B5EF4-FFF2-40B4-BE49-F238E27FC236}">
                <a16:creationId xmlns:a16="http://schemas.microsoft.com/office/drawing/2014/main" id="{A0B8CC2D-C07A-5D40-871F-AEF651E5078A}"/>
              </a:ext>
            </a:extLst>
          </p:cNvPr>
          <p:cNvSpPr>
            <a:spLocks/>
          </p:cNvSpPr>
          <p:nvPr/>
        </p:nvSpPr>
        <p:spPr>
          <a:xfrm>
            <a:off x="3142641" y="4684424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人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4" name="甜甜圈 213">
            <a:extLst>
              <a:ext uri="{FF2B5EF4-FFF2-40B4-BE49-F238E27FC236}">
                <a16:creationId xmlns:a16="http://schemas.microsoft.com/office/drawing/2014/main" id="{A2413B83-23E3-D648-BAA4-E4F0B280B7BD}"/>
              </a:ext>
            </a:extLst>
          </p:cNvPr>
          <p:cNvSpPr/>
          <p:nvPr/>
        </p:nvSpPr>
        <p:spPr>
          <a:xfrm>
            <a:off x="2307355" y="2470534"/>
            <a:ext cx="3240000" cy="3240000"/>
          </a:xfrm>
          <a:prstGeom prst="donut">
            <a:avLst>
              <a:gd name="adj" fmla="val 1302"/>
            </a:avLst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17" name="矩形: 圓角 116">
            <a:extLst>
              <a:ext uri="{FF2B5EF4-FFF2-40B4-BE49-F238E27FC236}">
                <a16:creationId xmlns:a16="http://schemas.microsoft.com/office/drawing/2014/main" id="{4D0B2A80-0ACF-3948-900B-891368AA2FC9}"/>
              </a:ext>
            </a:extLst>
          </p:cNvPr>
          <p:cNvSpPr>
            <a:spLocks/>
          </p:cNvSpPr>
          <p:nvPr/>
        </p:nvSpPr>
        <p:spPr>
          <a:xfrm>
            <a:off x="3773957" y="5246219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環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8" name="矩形: 圓角 116">
            <a:extLst>
              <a:ext uri="{FF2B5EF4-FFF2-40B4-BE49-F238E27FC236}">
                <a16:creationId xmlns:a16="http://schemas.microsoft.com/office/drawing/2014/main" id="{C78C0AC8-59F8-4044-9C6A-2E980A7AC158}"/>
              </a:ext>
            </a:extLst>
          </p:cNvPr>
          <p:cNvSpPr>
            <a:spLocks/>
          </p:cNvSpPr>
          <p:nvPr/>
        </p:nvSpPr>
        <p:spPr>
          <a:xfrm>
            <a:off x="2802685" y="4246084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機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19" name="矩形: 圓角 116">
            <a:extLst>
              <a:ext uri="{FF2B5EF4-FFF2-40B4-BE49-F238E27FC236}">
                <a16:creationId xmlns:a16="http://schemas.microsoft.com/office/drawing/2014/main" id="{FC4214AE-3512-044B-A3C4-2602D26F0AF5}"/>
              </a:ext>
            </a:extLst>
          </p:cNvPr>
          <p:cNvSpPr>
            <a:spLocks/>
          </p:cNvSpPr>
          <p:nvPr/>
        </p:nvSpPr>
        <p:spPr>
          <a:xfrm>
            <a:off x="3480402" y="4258823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機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5" name="矩形: 圓角 98">
            <a:extLst>
              <a:ext uri="{FF2B5EF4-FFF2-40B4-BE49-F238E27FC236}">
                <a16:creationId xmlns:a16="http://schemas.microsoft.com/office/drawing/2014/main" id="{DC183DCA-E466-AD4D-BD7E-2AE8A6414956}"/>
              </a:ext>
            </a:extLst>
          </p:cNvPr>
          <p:cNvSpPr/>
          <p:nvPr/>
        </p:nvSpPr>
        <p:spPr>
          <a:xfrm>
            <a:off x="2706690" y="3254333"/>
            <a:ext cx="1231901" cy="601544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3" name="甜甜圈 222">
            <a:extLst>
              <a:ext uri="{FF2B5EF4-FFF2-40B4-BE49-F238E27FC236}">
                <a16:creationId xmlns:a16="http://schemas.microsoft.com/office/drawing/2014/main" id="{487E419B-BEFD-8549-97B6-4A0E1A6D6D23}"/>
              </a:ext>
            </a:extLst>
          </p:cNvPr>
          <p:cNvSpPr>
            <a:spLocks noChangeAspect="1"/>
          </p:cNvSpPr>
          <p:nvPr/>
        </p:nvSpPr>
        <p:spPr>
          <a:xfrm>
            <a:off x="2854641" y="3410925"/>
            <a:ext cx="288000" cy="288000"/>
          </a:xfrm>
          <a:prstGeom prst="donut">
            <a:avLst>
              <a:gd name="adj" fmla="val 13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24" name="甜甜圈 223">
            <a:extLst>
              <a:ext uri="{FF2B5EF4-FFF2-40B4-BE49-F238E27FC236}">
                <a16:creationId xmlns:a16="http://schemas.microsoft.com/office/drawing/2014/main" id="{15F431EF-1A60-B243-98BA-022DC74A0CA8}"/>
              </a:ext>
            </a:extLst>
          </p:cNvPr>
          <p:cNvSpPr>
            <a:spLocks noChangeAspect="1"/>
          </p:cNvSpPr>
          <p:nvPr/>
        </p:nvSpPr>
        <p:spPr>
          <a:xfrm>
            <a:off x="3419847" y="3416881"/>
            <a:ext cx="288000" cy="288000"/>
          </a:xfrm>
          <a:prstGeom prst="donut">
            <a:avLst>
              <a:gd name="adj" fmla="val 13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6" name="矩形: 圓角 98">
            <a:extLst>
              <a:ext uri="{FF2B5EF4-FFF2-40B4-BE49-F238E27FC236}">
                <a16:creationId xmlns:a16="http://schemas.microsoft.com/office/drawing/2014/main" id="{A671252D-A9FE-C749-B8A9-30D9651A9B68}"/>
              </a:ext>
            </a:extLst>
          </p:cNvPr>
          <p:cNvSpPr/>
          <p:nvPr/>
        </p:nvSpPr>
        <p:spPr>
          <a:xfrm>
            <a:off x="4045810" y="3264723"/>
            <a:ext cx="1231901" cy="601544"/>
          </a:xfrm>
          <a:prstGeom prst="roundRect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27" name="甜甜圈 226">
            <a:extLst>
              <a:ext uri="{FF2B5EF4-FFF2-40B4-BE49-F238E27FC236}">
                <a16:creationId xmlns:a16="http://schemas.microsoft.com/office/drawing/2014/main" id="{3E351205-8660-8A43-9AE5-3D1750B7D5F5}"/>
              </a:ext>
            </a:extLst>
          </p:cNvPr>
          <p:cNvSpPr>
            <a:spLocks noChangeAspect="1"/>
          </p:cNvSpPr>
          <p:nvPr/>
        </p:nvSpPr>
        <p:spPr>
          <a:xfrm>
            <a:off x="4146282" y="3415759"/>
            <a:ext cx="288000" cy="288000"/>
          </a:xfrm>
          <a:prstGeom prst="donut">
            <a:avLst>
              <a:gd name="adj" fmla="val 13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29" name="甜甜圈 228">
            <a:extLst>
              <a:ext uri="{FF2B5EF4-FFF2-40B4-BE49-F238E27FC236}">
                <a16:creationId xmlns:a16="http://schemas.microsoft.com/office/drawing/2014/main" id="{FDD9DE1E-7C90-E44E-B140-2DBFC4829767}"/>
              </a:ext>
            </a:extLst>
          </p:cNvPr>
          <p:cNvSpPr>
            <a:spLocks noChangeAspect="1"/>
          </p:cNvSpPr>
          <p:nvPr/>
        </p:nvSpPr>
        <p:spPr>
          <a:xfrm>
            <a:off x="4885116" y="3410305"/>
            <a:ext cx="288000" cy="288000"/>
          </a:xfrm>
          <a:prstGeom prst="donut">
            <a:avLst>
              <a:gd name="adj" fmla="val 13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30" name="矩形: 圓角 116">
            <a:extLst>
              <a:ext uri="{FF2B5EF4-FFF2-40B4-BE49-F238E27FC236}">
                <a16:creationId xmlns:a16="http://schemas.microsoft.com/office/drawing/2014/main" id="{D393436F-EEA3-6941-985E-2DE7124FFFF6}"/>
              </a:ext>
            </a:extLst>
          </p:cNvPr>
          <p:cNvSpPr>
            <a:spLocks/>
          </p:cNvSpPr>
          <p:nvPr/>
        </p:nvSpPr>
        <p:spPr>
          <a:xfrm>
            <a:off x="4424403" y="4725407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人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1" name="矩形: 圓角 116">
            <a:extLst>
              <a:ext uri="{FF2B5EF4-FFF2-40B4-BE49-F238E27FC236}">
                <a16:creationId xmlns:a16="http://schemas.microsoft.com/office/drawing/2014/main" id="{16CC5652-12F9-9840-AE4C-1C7D6EC8339F}"/>
              </a:ext>
            </a:extLst>
          </p:cNvPr>
          <p:cNvSpPr>
            <a:spLocks/>
          </p:cNvSpPr>
          <p:nvPr/>
        </p:nvSpPr>
        <p:spPr>
          <a:xfrm>
            <a:off x="4084447" y="4287067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機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32" name="矩形: 圓角 116">
            <a:extLst>
              <a:ext uri="{FF2B5EF4-FFF2-40B4-BE49-F238E27FC236}">
                <a16:creationId xmlns:a16="http://schemas.microsoft.com/office/drawing/2014/main" id="{B4E3C478-3FF7-CB48-BBC6-7C22D6D7EB07}"/>
              </a:ext>
            </a:extLst>
          </p:cNvPr>
          <p:cNvSpPr>
            <a:spLocks/>
          </p:cNvSpPr>
          <p:nvPr/>
        </p:nvSpPr>
        <p:spPr>
          <a:xfrm>
            <a:off x="4762164" y="4299806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機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33" name="直線箭頭接點 232">
            <a:extLst>
              <a:ext uri="{FF2B5EF4-FFF2-40B4-BE49-F238E27FC236}">
                <a16:creationId xmlns:a16="http://schemas.microsoft.com/office/drawing/2014/main" id="{01E8C19E-2EC5-6246-A052-0A2D83B5CB84}"/>
              </a:ext>
            </a:extLst>
          </p:cNvPr>
          <p:cNvCxnSpPr>
            <a:cxnSpLocks/>
            <a:stCxn id="229" idx="6"/>
            <a:endCxn id="152" idx="1"/>
          </p:cNvCxnSpPr>
          <p:nvPr/>
        </p:nvCxnSpPr>
        <p:spPr>
          <a:xfrm flipV="1">
            <a:off x="5173116" y="3073393"/>
            <a:ext cx="1242359" cy="48091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線箭頭接點 235">
            <a:extLst>
              <a:ext uri="{FF2B5EF4-FFF2-40B4-BE49-F238E27FC236}">
                <a16:creationId xmlns:a16="http://schemas.microsoft.com/office/drawing/2014/main" id="{1D4D659B-00F7-E140-B363-DDFF3F68DD99}"/>
              </a:ext>
            </a:extLst>
          </p:cNvPr>
          <p:cNvCxnSpPr>
            <a:cxnSpLocks/>
            <a:stCxn id="223" idx="6"/>
            <a:endCxn id="224" idx="2"/>
          </p:cNvCxnSpPr>
          <p:nvPr/>
        </p:nvCxnSpPr>
        <p:spPr>
          <a:xfrm>
            <a:off x="3142641" y="3554925"/>
            <a:ext cx="277206" cy="59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線箭頭接點 241">
            <a:extLst>
              <a:ext uri="{FF2B5EF4-FFF2-40B4-BE49-F238E27FC236}">
                <a16:creationId xmlns:a16="http://schemas.microsoft.com/office/drawing/2014/main" id="{DCF4527F-609D-8A4F-B3A8-0701CB7D2A13}"/>
              </a:ext>
            </a:extLst>
          </p:cNvPr>
          <p:cNvCxnSpPr>
            <a:cxnSpLocks/>
            <a:stCxn id="224" idx="6"/>
          </p:cNvCxnSpPr>
          <p:nvPr/>
        </p:nvCxnSpPr>
        <p:spPr>
          <a:xfrm>
            <a:off x="3707847" y="3560881"/>
            <a:ext cx="4623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箭頭接點 244">
            <a:extLst>
              <a:ext uri="{FF2B5EF4-FFF2-40B4-BE49-F238E27FC236}">
                <a16:creationId xmlns:a16="http://schemas.microsoft.com/office/drawing/2014/main" id="{A3C3A9C2-F924-1541-95E3-59B183478F4B}"/>
              </a:ext>
            </a:extLst>
          </p:cNvPr>
          <p:cNvCxnSpPr>
            <a:cxnSpLocks/>
            <a:stCxn id="227" idx="6"/>
            <a:endCxn id="229" idx="2"/>
          </p:cNvCxnSpPr>
          <p:nvPr/>
        </p:nvCxnSpPr>
        <p:spPr>
          <a:xfrm flipV="1">
            <a:off x="4434282" y="3554305"/>
            <a:ext cx="450834" cy="5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箭頭接點 248">
            <a:extLst>
              <a:ext uri="{FF2B5EF4-FFF2-40B4-BE49-F238E27FC236}">
                <a16:creationId xmlns:a16="http://schemas.microsoft.com/office/drawing/2014/main" id="{3C0B50A8-028B-6847-AA30-39607EC8AB96}"/>
              </a:ext>
            </a:extLst>
          </p:cNvPr>
          <p:cNvCxnSpPr>
            <a:cxnSpLocks/>
            <a:stCxn id="253" idx="3"/>
            <a:endCxn id="223" idx="2"/>
          </p:cNvCxnSpPr>
          <p:nvPr/>
        </p:nvCxnSpPr>
        <p:spPr>
          <a:xfrm>
            <a:off x="2306636" y="3546923"/>
            <a:ext cx="548005" cy="80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矩形: 圓角 116">
            <a:extLst>
              <a:ext uri="{FF2B5EF4-FFF2-40B4-BE49-F238E27FC236}">
                <a16:creationId xmlns:a16="http://schemas.microsoft.com/office/drawing/2014/main" id="{332FD920-3D40-C64A-8B95-5F066540EF53}"/>
              </a:ext>
            </a:extLst>
          </p:cNvPr>
          <p:cNvSpPr>
            <a:spLocks/>
          </p:cNvSpPr>
          <p:nvPr/>
        </p:nvSpPr>
        <p:spPr>
          <a:xfrm>
            <a:off x="1946636" y="3366371"/>
            <a:ext cx="360000" cy="361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料</a:t>
            </a:r>
            <a:endParaRPr lang="en-US" altLang="zh-TW" sz="14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57" name="直線箭頭接點 256">
            <a:extLst>
              <a:ext uri="{FF2B5EF4-FFF2-40B4-BE49-F238E27FC236}">
                <a16:creationId xmlns:a16="http://schemas.microsoft.com/office/drawing/2014/main" id="{A4B131F0-0B1A-B342-852A-D70F621D6E9C}"/>
              </a:ext>
            </a:extLst>
          </p:cNvPr>
          <p:cNvCxnSpPr>
            <a:cxnSpLocks/>
            <a:stCxn id="218" idx="0"/>
            <a:endCxn id="223" idx="4"/>
          </p:cNvCxnSpPr>
          <p:nvPr/>
        </p:nvCxnSpPr>
        <p:spPr>
          <a:xfrm flipV="1">
            <a:off x="2982685" y="3698925"/>
            <a:ext cx="15956" cy="547159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線箭頭接點 259">
            <a:extLst>
              <a:ext uri="{FF2B5EF4-FFF2-40B4-BE49-F238E27FC236}">
                <a16:creationId xmlns:a16="http://schemas.microsoft.com/office/drawing/2014/main" id="{5D45C984-8685-284A-9CF1-558689EEB46B}"/>
              </a:ext>
            </a:extLst>
          </p:cNvPr>
          <p:cNvCxnSpPr>
            <a:cxnSpLocks/>
            <a:stCxn id="219" idx="0"/>
            <a:endCxn id="224" idx="4"/>
          </p:cNvCxnSpPr>
          <p:nvPr/>
        </p:nvCxnSpPr>
        <p:spPr>
          <a:xfrm flipH="1" flipV="1">
            <a:off x="3563847" y="3704881"/>
            <a:ext cx="96555" cy="553942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線箭頭接點 262">
            <a:extLst>
              <a:ext uri="{FF2B5EF4-FFF2-40B4-BE49-F238E27FC236}">
                <a16:creationId xmlns:a16="http://schemas.microsoft.com/office/drawing/2014/main" id="{11B9488E-A974-D148-A6D6-7E967BE465DC}"/>
              </a:ext>
            </a:extLst>
          </p:cNvPr>
          <p:cNvCxnSpPr>
            <a:cxnSpLocks/>
            <a:stCxn id="231" idx="0"/>
            <a:endCxn id="227" idx="4"/>
          </p:cNvCxnSpPr>
          <p:nvPr/>
        </p:nvCxnSpPr>
        <p:spPr>
          <a:xfrm flipV="1">
            <a:off x="4264447" y="3703759"/>
            <a:ext cx="25835" cy="583308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線箭頭接點 265">
            <a:extLst>
              <a:ext uri="{FF2B5EF4-FFF2-40B4-BE49-F238E27FC236}">
                <a16:creationId xmlns:a16="http://schemas.microsoft.com/office/drawing/2014/main" id="{54F0FCDA-2159-CD41-ABCC-0C149DF82D9F}"/>
              </a:ext>
            </a:extLst>
          </p:cNvPr>
          <p:cNvCxnSpPr>
            <a:cxnSpLocks/>
            <a:stCxn id="232" idx="0"/>
            <a:endCxn id="229" idx="4"/>
          </p:cNvCxnSpPr>
          <p:nvPr/>
        </p:nvCxnSpPr>
        <p:spPr>
          <a:xfrm flipV="1">
            <a:off x="4942164" y="3698305"/>
            <a:ext cx="86952" cy="601501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6AED5225-1ECA-E044-AAD4-C10AB98904D9}"/>
              </a:ext>
            </a:extLst>
          </p:cNvPr>
          <p:cNvSpPr txBox="1"/>
          <p:nvPr/>
        </p:nvSpPr>
        <p:spPr>
          <a:xfrm>
            <a:off x="1586321" y="4512892"/>
            <a:ext cx="9316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天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algn="ctr"/>
            <a:r>
              <a:rPr lang="zh-TW" altLang="en-US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氣</a:t>
            </a:r>
            <a:endParaRPr lang="en-US" altLang="zh-TW" sz="16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270" name="直線箭頭接點 269">
            <a:extLst>
              <a:ext uri="{FF2B5EF4-FFF2-40B4-BE49-F238E27FC236}">
                <a16:creationId xmlns:a16="http://schemas.microsoft.com/office/drawing/2014/main" id="{0E737101-E9CF-2C45-B755-3C6018643399}"/>
              </a:ext>
            </a:extLst>
          </p:cNvPr>
          <p:cNvCxnSpPr>
            <a:cxnSpLocks/>
          </p:cNvCxnSpPr>
          <p:nvPr/>
        </p:nvCxnSpPr>
        <p:spPr>
          <a:xfrm flipV="1">
            <a:off x="2149466" y="4648172"/>
            <a:ext cx="229082" cy="1556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線接點 274">
            <a:extLst>
              <a:ext uri="{FF2B5EF4-FFF2-40B4-BE49-F238E27FC236}">
                <a16:creationId xmlns:a16="http://schemas.microsoft.com/office/drawing/2014/main" id="{84D8B9FC-CC80-2C49-AD8A-64FD7D0B83A3}"/>
              </a:ext>
            </a:extLst>
          </p:cNvPr>
          <p:cNvCxnSpPr>
            <a:cxnSpLocks/>
            <a:stCxn id="219" idx="3"/>
            <a:endCxn id="40" idx="1"/>
          </p:cNvCxnSpPr>
          <p:nvPr/>
        </p:nvCxnSpPr>
        <p:spPr>
          <a:xfrm flipV="1">
            <a:off x="3840402" y="4100610"/>
            <a:ext cx="3394456" cy="338765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8" name="直線接點 277">
            <a:extLst>
              <a:ext uri="{FF2B5EF4-FFF2-40B4-BE49-F238E27FC236}">
                <a16:creationId xmlns:a16="http://schemas.microsoft.com/office/drawing/2014/main" id="{B1A7DA6F-C78C-7042-9929-159C75866175}"/>
              </a:ext>
            </a:extLst>
          </p:cNvPr>
          <p:cNvCxnSpPr>
            <a:cxnSpLocks/>
            <a:stCxn id="230" idx="3"/>
            <a:endCxn id="49" idx="1"/>
          </p:cNvCxnSpPr>
          <p:nvPr/>
        </p:nvCxnSpPr>
        <p:spPr>
          <a:xfrm flipV="1">
            <a:off x="4784403" y="4626548"/>
            <a:ext cx="2446893" cy="279411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直線接點 280">
            <a:extLst>
              <a:ext uri="{FF2B5EF4-FFF2-40B4-BE49-F238E27FC236}">
                <a16:creationId xmlns:a16="http://schemas.microsoft.com/office/drawing/2014/main" id="{00CBDF4C-939C-424A-B206-8BC26CE9148C}"/>
              </a:ext>
            </a:extLst>
          </p:cNvPr>
          <p:cNvCxnSpPr>
            <a:cxnSpLocks/>
            <a:stCxn id="230" idx="3"/>
            <a:endCxn id="62" idx="1"/>
          </p:cNvCxnSpPr>
          <p:nvPr/>
        </p:nvCxnSpPr>
        <p:spPr>
          <a:xfrm>
            <a:off x="4784403" y="4905959"/>
            <a:ext cx="2454975" cy="225551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4" name="直線接點 283">
            <a:extLst>
              <a:ext uri="{FF2B5EF4-FFF2-40B4-BE49-F238E27FC236}">
                <a16:creationId xmlns:a16="http://schemas.microsoft.com/office/drawing/2014/main" id="{20E0666B-807A-044C-8C2E-D3A39F0A5CBF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4801394" y="4903026"/>
            <a:ext cx="2411297" cy="735067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7" name="直線接點 286">
            <a:extLst>
              <a:ext uri="{FF2B5EF4-FFF2-40B4-BE49-F238E27FC236}">
                <a16:creationId xmlns:a16="http://schemas.microsoft.com/office/drawing/2014/main" id="{4A7D630E-686F-0446-844A-453708E3EF6E}"/>
              </a:ext>
            </a:extLst>
          </p:cNvPr>
          <p:cNvCxnSpPr>
            <a:cxnSpLocks/>
            <a:stCxn id="230" idx="3"/>
            <a:endCxn id="101" idx="1"/>
          </p:cNvCxnSpPr>
          <p:nvPr/>
        </p:nvCxnSpPr>
        <p:spPr>
          <a:xfrm>
            <a:off x="4784403" y="4905959"/>
            <a:ext cx="2445280" cy="122039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1" name="直線接點 290">
            <a:extLst>
              <a:ext uri="{FF2B5EF4-FFF2-40B4-BE49-F238E27FC236}">
                <a16:creationId xmlns:a16="http://schemas.microsoft.com/office/drawing/2014/main" id="{0F428DAB-6EE3-B142-B339-2B45144DE913}"/>
              </a:ext>
            </a:extLst>
          </p:cNvPr>
          <p:cNvCxnSpPr>
            <a:cxnSpLocks/>
            <a:stCxn id="177" idx="2"/>
            <a:endCxn id="40" idx="1"/>
          </p:cNvCxnSpPr>
          <p:nvPr/>
        </p:nvCxnSpPr>
        <p:spPr>
          <a:xfrm>
            <a:off x="4646270" y="1494287"/>
            <a:ext cx="2588588" cy="26063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2" name="直線接點 291">
            <a:extLst>
              <a:ext uri="{FF2B5EF4-FFF2-40B4-BE49-F238E27FC236}">
                <a16:creationId xmlns:a16="http://schemas.microsoft.com/office/drawing/2014/main" id="{CB1A04A5-2F3A-0E40-94B6-229F17016FB3}"/>
              </a:ext>
            </a:extLst>
          </p:cNvPr>
          <p:cNvCxnSpPr>
            <a:cxnSpLocks/>
            <a:stCxn id="219" idx="3"/>
            <a:endCxn id="76" idx="1"/>
          </p:cNvCxnSpPr>
          <p:nvPr/>
        </p:nvCxnSpPr>
        <p:spPr>
          <a:xfrm flipV="1">
            <a:off x="3840402" y="1561510"/>
            <a:ext cx="3358178" cy="2877865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5" name="直線接點 294">
            <a:extLst>
              <a:ext uri="{FF2B5EF4-FFF2-40B4-BE49-F238E27FC236}">
                <a16:creationId xmlns:a16="http://schemas.microsoft.com/office/drawing/2014/main" id="{EE65D316-0C59-0848-8083-58B2EF7B23BF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2126636" y="2241908"/>
            <a:ext cx="5086530" cy="2669545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0" name="直線接點 299">
            <a:extLst>
              <a:ext uri="{FF2B5EF4-FFF2-40B4-BE49-F238E27FC236}">
                <a16:creationId xmlns:a16="http://schemas.microsoft.com/office/drawing/2014/main" id="{45D2F42C-61AD-E34E-836A-248C33F63F9E}"/>
              </a:ext>
            </a:extLst>
          </p:cNvPr>
          <p:cNvCxnSpPr>
            <a:cxnSpLocks/>
            <a:stCxn id="253" idx="0"/>
            <a:endCxn id="91" idx="1"/>
          </p:cNvCxnSpPr>
          <p:nvPr/>
        </p:nvCxnSpPr>
        <p:spPr>
          <a:xfrm flipV="1">
            <a:off x="2126636" y="2241908"/>
            <a:ext cx="5086530" cy="1124463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6" name="文字方塊 305">
            <a:extLst>
              <a:ext uri="{FF2B5EF4-FFF2-40B4-BE49-F238E27FC236}">
                <a16:creationId xmlns:a16="http://schemas.microsoft.com/office/drawing/2014/main" id="{08FEA49B-29E6-6142-90CE-F65C333C74B4}"/>
              </a:ext>
            </a:extLst>
          </p:cNvPr>
          <p:cNvSpPr txBox="1"/>
          <p:nvPr/>
        </p:nvSpPr>
        <p:spPr>
          <a:xfrm>
            <a:off x="4317566" y="3249325"/>
            <a:ext cx="51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9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在製品</a:t>
            </a:r>
            <a:endParaRPr lang="en-US" altLang="zh-TW" sz="900" b="1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15" name="直線接點 314">
            <a:extLst>
              <a:ext uri="{FF2B5EF4-FFF2-40B4-BE49-F238E27FC236}">
                <a16:creationId xmlns:a16="http://schemas.microsoft.com/office/drawing/2014/main" id="{B340FD07-97B5-844E-8B7A-16B4F01BC0AB}"/>
              </a:ext>
            </a:extLst>
          </p:cNvPr>
          <p:cNvCxnSpPr>
            <a:cxnSpLocks/>
            <a:stCxn id="177" idx="2"/>
            <a:endCxn id="49" idx="1"/>
          </p:cNvCxnSpPr>
          <p:nvPr/>
        </p:nvCxnSpPr>
        <p:spPr>
          <a:xfrm>
            <a:off x="4646270" y="1494287"/>
            <a:ext cx="2585026" cy="3132261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8" name="直線接點 317">
            <a:extLst>
              <a:ext uri="{FF2B5EF4-FFF2-40B4-BE49-F238E27FC236}">
                <a16:creationId xmlns:a16="http://schemas.microsoft.com/office/drawing/2014/main" id="{82478C58-411F-A34E-B51F-41A635A33E58}"/>
              </a:ext>
            </a:extLst>
          </p:cNvPr>
          <p:cNvCxnSpPr>
            <a:cxnSpLocks/>
            <a:stCxn id="177" idx="2"/>
            <a:endCxn id="62" idx="1"/>
          </p:cNvCxnSpPr>
          <p:nvPr/>
        </p:nvCxnSpPr>
        <p:spPr>
          <a:xfrm>
            <a:off x="4646270" y="1494287"/>
            <a:ext cx="2593108" cy="3637223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0" name="直線接點 319">
            <a:extLst>
              <a:ext uri="{FF2B5EF4-FFF2-40B4-BE49-F238E27FC236}">
                <a16:creationId xmlns:a16="http://schemas.microsoft.com/office/drawing/2014/main" id="{4C876481-0713-C847-A9A2-D214EEF39AA2}"/>
              </a:ext>
            </a:extLst>
          </p:cNvPr>
          <p:cNvCxnSpPr>
            <a:cxnSpLocks/>
            <a:stCxn id="177" idx="2"/>
            <a:endCxn id="102" idx="1"/>
          </p:cNvCxnSpPr>
          <p:nvPr/>
        </p:nvCxnSpPr>
        <p:spPr>
          <a:xfrm>
            <a:off x="4646270" y="1494287"/>
            <a:ext cx="2566421" cy="4143806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3" name="直線接點 322">
            <a:extLst>
              <a:ext uri="{FF2B5EF4-FFF2-40B4-BE49-F238E27FC236}">
                <a16:creationId xmlns:a16="http://schemas.microsoft.com/office/drawing/2014/main" id="{36716129-4C36-6A44-9012-CB6F2AEAF322}"/>
              </a:ext>
            </a:extLst>
          </p:cNvPr>
          <p:cNvCxnSpPr>
            <a:cxnSpLocks/>
            <a:stCxn id="177" idx="2"/>
            <a:endCxn id="101" idx="1"/>
          </p:cNvCxnSpPr>
          <p:nvPr/>
        </p:nvCxnSpPr>
        <p:spPr>
          <a:xfrm>
            <a:off x="4646270" y="1494287"/>
            <a:ext cx="2583413" cy="4632062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4" name="矩形: 圓角 109">
            <a:extLst>
              <a:ext uri="{FF2B5EF4-FFF2-40B4-BE49-F238E27FC236}">
                <a16:creationId xmlns:a16="http://schemas.microsoft.com/office/drawing/2014/main" id="{2EDDEAAA-CEF5-6C45-A700-2569E5530F4D}"/>
              </a:ext>
            </a:extLst>
          </p:cNvPr>
          <p:cNvSpPr/>
          <p:nvPr/>
        </p:nvSpPr>
        <p:spPr>
          <a:xfrm>
            <a:off x="317632" y="1815700"/>
            <a:ext cx="1077429" cy="1030525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Smart- Project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Management</a:t>
            </a:r>
            <a:endParaRPr lang="zh-TW" altLang="en-US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36" name="直線箭頭接點 335">
            <a:extLst>
              <a:ext uri="{FF2B5EF4-FFF2-40B4-BE49-F238E27FC236}">
                <a16:creationId xmlns:a16="http://schemas.microsoft.com/office/drawing/2014/main" id="{B279A88D-2D83-D14F-B47F-EE56C5BD95A6}"/>
              </a:ext>
            </a:extLst>
          </p:cNvPr>
          <p:cNvCxnSpPr>
            <a:cxnSpLocks/>
            <a:stCxn id="334" idx="3"/>
          </p:cNvCxnSpPr>
          <p:nvPr/>
        </p:nvCxnSpPr>
        <p:spPr>
          <a:xfrm flipV="1">
            <a:off x="1395061" y="2055555"/>
            <a:ext cx="759763" cy="275408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甜甜圈 341">
            <a:extLst>
              <a:ext uri="{FF2B5EF4-FFF2-40B4-BE49-F238E27FC236}">
                <a16:creationId xmlns:a16="http://schemas.microsoft.com/office/drawing/2014/main" id="{A2C7EC91-A1BA-B44C-9471-445790C3E577}"/>
              </a:ext>
            </a:extLst>
          </p:cNvPr>
          <p:cNvSpPr/>
          <p:nvPr/>
        </p:nvSpPr>
        <p:spPr>
          <a:xfrm>
            <a:off x="269913" y="3756634"/>
            <a:ext cx="1517726" cy="1561512"/>
          </a:xfrm>
          <a:prstGeom prst="donut">
            <a:avLst>
              <a:gd name="adj" fmla="val 1302"/>
            </a:avLst>
          </a:prstGeom>
          <a:solidFill>
            <a:schemeClr val="tx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43" name="文字方塊 342">
            <a:extLst>
              <a:ext uri="{FF2B5EF4-FFF2-40B4-BE49-F238E27FC236}">
                <a16:creationId xmlns:a16="http://schemas.microsoft.com/office/drawing/2014/main" id="{55EF9D22-15A7-1349-8290-1A20B3DD7ABA}"/>
              </a:ext>
            </a:extLst>
          </p:cNvPr>
          <p:cNvSpPr txBox="1"/>
          <p:nvPr/>
        </p:nvSpPr>
        <p:spPr>
          <a:xfrm>
            <a:off x="523434" y="3797766"/>
            <a:ext cx="9316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PDM</a:t>
            </a:r>
          </a:p>
        </p:txBody>
      </p:sp>
      <p:grpSp>
        <p:nvGrpSpPr>
          <p:cNvPr id="347" name="群組 346">
            <a:extLst>
              <a:ext uri="{FF2B5EF4-FFF2-40B4-BE49-F238E27FC236}">
                <a16:creationId xmlns:a16="http://schemas.microsoft.com/office/drawing/2014/main" id="{D2386022-3FE9-9744-A945-ECCAB09A8897}"/>
              </a:ext>
            </a:extLst>
          </p:cNvPr>
          <p:cNvGrpSpPr/>
          <p:nvPr/>
        </p:nvGrpSpPr>
        <p:grpSpPr>
          <a:xfrm>
            <a:off x="296242" y="4275310"/>
            <a:ext cx="492443" cy="384618"/>
            <a:chOff x="542464" y="4254533"/>
            <a:chExt cx="492443" cy="384618"/>
          </a:xfrm>
        </p:grpSpPr>
        <p:sp>
          <p:nvSpPr>
            <p:cNvPr id="345" name="甜甜圈 344">
              <a:extLst>
                <a:ext uri="{FF2B5EF4-FFF2-40B4-BE49-F238E27FC236}">
                  <a16:creationId xmlns:a16="http://schemas.microsoft.com/office/drawing/2014/main" id="{BD947498-5916-CE42-AC28-B47557CDAC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941" y="4254533"/>
              <a:ext cx="390210" cy="384618"/>
            </a:xfrm>
            <a:prstGeom prst="donut">
              <a:avLst>
                <a:gd name="adj" fmla="val 130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46" name="文字方塊 345">
              <a:extLst>
                <a:ext uri="{FF2B5EF4-FFF2-40B4-BE49-F238E27FC236}">
                  <a16:creationId xmlns:a16="http://schemas.microsoft.com/office/drawing/2014/main" id="{F63EBAF3-AB0D-104D-8D84-7632FD66B886}"/>
                </a:ext>
              </a:extLst>
            </p:cNvPr>
            <p:cNvSpPr txBox="1"/>
            <p:nvPr/>
          </p:nvSpPr>
          <p:spPr>
            <a:xfrm>
              <a:off x="542464" y="431626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sz="1200" dirty="0"/>
                <a:t>客戶</a:t>
              </a:r>
            </a:p>
          </p:txBody>
        </p:sp>
      </p:grpSp>
      <p:grpSp>
        <p:nvGrpSpPr>
          <p:cNvPr id="350" name="群組 349">
            <a:extLst>
              <a:ext uri="{FF2B5EF4-FFF2-40B4-BE49-F238E27FC236}">
                <a16:creationId xmlns:a16="http://schemas.microsoft.com/office/drawing/2014/main" id="{8723A499-12DF-DE45-AF4A-AC913CBBBDAD}"/>
              </a:ext>
            </a:extLst>
          </p:cNvPr>
          <p:cNvGrpSpPr/>
          <p:nvPr/>
        </p:nvGrpSpPr>
        <p:grpSpPr>
          <a:xfrm>
            <a:off x="952548" y="4145889"/>
            <a:ext cx="492443" cy="384618"/>
            <a:chOff x="587776" y="4247446"/>
            <a:chExt cx="492443" cy="384618"/>
          </a:xfrm>
        </p:grpSpPr>
        <p:sp>
          <p:nvSpPr>
            <p:cNvPr id="351" name="甜甜圈 350">
              <a:extLst>
                <a:ext uri="{FF2B5EF4-FFF2-40B4-BE49-F238E27FC236}">
                  <a16:creationId xmlns:a16="http://schemas.microsoft.com/office/drawing/2014/main" id="{45414201-D1D7-7D43-B5EB-3DC12F4263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762" y="4247446"/>
              <a:ext cx="390210" cy="384618"/>
            </a:xfrm>
            <a:prstGeom prst="donut">
              <a:avLst>
                <a:gd name="adj" fmla="val 130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52" name="文字方塊 351">
              <a:extLst>
                <a:ext uri="{FF2B5EF4-FFF2-40B4-BE49-F238E27FC236}">
                  <a16:creationId xmlns:a16="http://schemas.microsoft.com/office/drawing/2014/main" id="{AC1A6DA2-DF19-924B-8310-6FE428D8CB3D}"/>
                </a:ext>
              </a:extLst>
            </p:cNvPr>
            <p:cNvSpPr txBox="1"/>
            <p:nvPr/>
          </p:nvSpPr>
          <p:spPr>
            <a:xfrm>
              <a:off x="587776" y="4301680"/>
              <a:ext cx="492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200" dirty="0"/>
                <a:t>產品</a:t>
              </a:r>
            </a:p>
          </p:txBody>
        </p:sp>
      </p:grpSp>
      <p:grpSp>
        <p:nvGrpSpPr>
          <p:cNvPr id="353" name="群組 352">
            <a:extLst>
              <a:ext uri="{FF2B5EF4-FFF2-40B4-BE49-F238E27FC236}">
                <a16:creationId xmlns:a16="http://schemas.microsoft.com/office/drawing/2014/main" id="{F35A8B84-0BFC-BC48-9F46-D5E368C5BA03}"/>
              </a:ext>
            </a:extLst>
          </p:cNvPr>
          <p:cNvGrpSpPr/>
          <p:nvPr/>
        </p:nvGrpSpPr>
        <p:grpSpPr>
          <a:xfrm>
            <a:off x="549629" y="4805279"/>
            <a:ext cx="492443" cy="384618"/>
            <a:chOff x="472130" y="4249368"/>
            <a:chExt cx="492443" cy="384618"/>
          </a:xfrm>
        </p:grpSpPr>
        <p:sp>
          <p:nvSpPr>
            <p:cNvPr id="354" name="甜甜圈 353">
              <a:extLst>
                <a:ext uri="{FF2B5EF4-FFF2-40B4-BE49-F238E27FC236}">
                  <a16:creationId xmlns:a16="http://schemas.microsoft.com/office/drawing/2014/main" id="{8CE39693-F7B0-CB45-96E7-46CEC09006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676" y="4249368"/>
              <a:ext cx="390210" cy="384618"/>
            </a:xfrm>
            <a:prstGeom prst="donut">
              <a:avLst>
                <a:gd name="adj" fmla="val 130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55" name="文字方塊 354">
              <a:extLst>
                <a:ext uri="{FF2B5EF4-FFF2-40B4-BE49-F238E27FC236}">
                  <a16:creationId xmlns:a16="http://schemas.microsoft.com/office/drawing/2014/main" id="{ECA37FBA-1E8B-7147-ACB4-6088CBA18BF2}"/>
                </a:ext>
              </a:extLst>
            </p:cNvPr>
            <p:cNvSpPr txBox="1"/>
            <p:nvPr/>
          </p:nvSpPr>
          <p:spPr>
            <a:xfrm>
              <a:off x="472130" y="431225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sz="1200" dirty="0"/>
                <a:t>團隊</a:t>
              </a:r>
            </a:p>
          </p:txBody>
        </p:sp>
      </p:grpSp>
      <p:grpSp>
        <p:nvGrpSpPr>
          <p:cNvPr id="356" name="群組 355">
            <a:extLst>
              <a:ext uri="{FF2B5EF4-FFF2-40B4-BE49-F238E27FC236}">
                <a16:creationId xmlns:a16="http://schemas.microsoft.com/office/drawing/2014/main" id="{63C0B1B1-170D-DF42-86FB-8374E7BD6B22}"/>
              </a:ext>
            </a:extLst>
          </p:cNvPr>
          <p:cNvGrpSpPr/>
          <p:nvPr/>
        </p:nvGrpSpPr>
        <p:grpSpPr>
          <a:xfrm>
            <a:off x="1181808" y="4619927"/>
            <a:ext cx="492443" cy="384618"/>
            <a:chOff x="379412" y="4299806"/>
            <a:chExt cx="492443" cy="384618"/>
          </a:xfrm>
        </p:grpSpPr>
        <p:sp>
          <p:nvSpPr>
            <p:cNvPr id="357" name="甜甜圈 356">
              <a:extLst>
                <a:ext uri="{FF2B5EF4-FFF2-40B4-BE49-F238E27FC236}">
                  <a16:creationId xmlns:a16="http://schemas.microsoft.com/office/drawing/2014/main" id="{C3C69B56-E94E-4041-8609-4E3DC58CF5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494" y="4299806"/>
              <a:ext cx="390210" cy="384618"/>
            </a:xfrm>
            <a:prstGeom prst="donut">
              <a:avLst>
                <a:gd name="adj" fmla="val 130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58" name="文字方塊 357">
              <a:extLst>
                <a:ext uri="{FF2B5EF4-FFF2-40B4-BE49-F238E27FC236}">
                  <a16:creationId xmlns:a16="http://schemas.microsoft.com/office/drawing/2014/main" id="{C50DACE9-7AE4-AD4C-ADC4-10209986FF53}"/>
                </a:ext>
              </a:extLst>
            </p:cNvPr>
            <p:cNvSpPr txBox="1"/>
            <p:nvPr/>
          </p:nvSpPr>
          <p:spPr>
            <a:xfrm>
              <a:off x="379412" y="434688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sz="1200" dirty="0"/>
                <a:t>資源</a:t>
              </a:r>
            </a:p>
          </p:txBody>
        </p:sp>
      </p:grpSp>
      <p:cxnSp>
        <p:nvCxnSpPr>
          <p:cNvPr id="359" name="直線箭頭接點 358">
            <a:extLst>
              <a:ext uri="{FF2B5EF4-FFF2-40B4-BE49-F238E27FC236}">
                <a16:creationId xmlns:a16="http://schemas.microsoft.com/office/drawing/2014/main" id="{361B13E8-3E90-934D-B2B3-2F7994AD05E1}"/>
              </a:ext>
            </a:extLst>
          </p:cNvPr>
          <p:cNvCxnSpPr>
            <a:cxnSpLocks/>
            <a:stCxn id="345" idx="6"/>
            <a:endCxn id="351" idx="2"/>
          </p:cNvCxnSpPr>
          <p:nvPr/>
        </p:nvCxnSpPr>
        <p:spPr>
          <a:xfrm flipV="1">
            <a:off x="725929" y="4338198"/>
            <a:ext cx="257605" cy="129421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直線箭頭接點 370">
            <a:extLst>
              <a:ext uri="{FF2B5EF4-FFF2-40B4-BE49-F238E27FC236}">
                <a16:creationId xmlns:a16="http://schemas.microsoft.com/office/drawing/2014/main" id="{88C651AD-58E8-0844-9538-A687BFA19B40}"/>
              </a:ext>
            </a:extLst>
          </p:cNvPr>
          <p:cNvCxnSpPr>
            <a:cxnSpLocks/>
            <a:stCxn id="345" idx="6"/>
            <a:endCxn id="354" idx="0"/>
          </p:cNvCxnSpPr>
          <p:nvPr/>
        </p:nvCxnSpPr>
        <p:spPr>
          <a:xfrm>
            <a:off x="725929" y="4467619"/>
            <a:ext cx="60351" cy="33766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直線箭頭接點 373">
            <a:extLst>
              <a:ext uri="{FF2B5EF4-FFF2-40B4-BE49-F238E27FC236}">
                <a16:creationId xmlns:a16="http://schemas.microsoft.com/office/drawing/2014/main" id="{510E6ABE-81D5-4D4C-AC6E-3782C3DD394D}"/>
              </a:ext>
            </a:extLst>
          </p:cNvPr>
          <p:cNvCxnSpPr>
            <a:cxnSpLocks/>
            <a:stCxn id="354" idx="0"/>
            <a:endCxn id="351" idx="4"/>
          </p:cNvCxnSpPr>
          <p:nvPr/>
        </p:nvCxnSpPr>
        <p:spPr>
          <a:xfrm flipV="1">
            <a:off x="786280" y="4530507"/>
            <a:ext cx="392359" cy="274772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直線箭頭接點 376">
            <a:extLst>
              <a:ext uri="{FF2B5EF4-FFF2-40B4-BE49-F238E27FC236}">
                <a16:creationId xmlns:a16="http://schemas.microsoft.com/office/drawing/2014/main" id="{09961C59-A2C4-4F43-9E6E-4F44C7DFB62C}"/>
              </a:ext>
            </a:extLst>
          </p:cNvPr>
          <p:cNvCxnSpPr>
            <a:cxnSpLocks/>
            <a:stCxn id="357" idx="0"/>
            <a:endCxn id="351" idx="5"/>
          </p:cNvCxnSpPr>
          <p:nvPr/>
        </p:nvCxnSpPr>
        <p:spPr>
          <a:xfrm flipH="1" flipV="1">
            <a:off x="1316599" y="4474181"/>
            <a:ext cx="120396" cy="14574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肘形接點 399">
            <a:extLst>
              <a:ext uri="{FF2B5EF4-FFF2-40B4-BE49-F238E27FC236}">
                <a16:creationId xmlns:a16="http://schemas.microsoft.com/office/drawing/2014/main" id="{8C4F6547-83CB-C542-B573-3E9EF1DAF5C3}"/>
              </a:ext>
            </a:extLst>
          </p:cNvPr>
          <p:cNvCxnSpPr>
            <a:cxnSpLocks/>
            <a:stCxn id="33" idx="3"/>
            <a:endCxn id="406" idx="0"/>
          </p:cNvCxnSpPr>
          <p:nvPr/>
        </p:nvCxnSpPr>
        <p:spPr>
          <a:xfrm>
            <a:off x="11471233" y="405571"/>
            <a:ext cx="494026" cy="2477228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肘形接點 400">
            <a:extLst>
              <a:ext uri="{FF2B5EF4-FFF2-40B4-BE49-F238E27FC236}">
                <a16:creationId xmlns:a16="http://schemas.microsoft.com/office/drawing/2014/main" id="{41D1C611-98AE-9A4E-B666-E90741C45475}"/>
              </a:ext>
            </a:extLst>
          </p:cNvPr>
          <p:cNvCxnSpPr>
            <a:cxnSpLocks/>
            <a:stCxn id="39" idx="3"/>
            <a:endCxn id="406" idx="0"/>
          </p:cNvCxnSpPr>
          <p:nvPr/>
        </p:nvCxnSpPr>
        <p:spPr>
          <a:xfrm flipV="1">
            <a:off x="11520426" y="2882799"/>
            <a:ext cx="444833" cy="1076247"/>
          </a:xfrm>
          <a:prstGeom prst="bentConnector4">
            <a:avLst>
              <a:gd name="adj1" fmla="val 33100"/>
              <a:gd name="adj2" fmla="val 12124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矩形: 圓角 109">
            <a:extLst>
              <a:ext uri="{FF2B5EF4-FFF2-40B4-BE49-F238E27FC236}">
                <a16:creationId xmlns:a16="http://schemas.microsoft.com/office/drawing/2014/main" id="{0EB81E09-9A4A-BA4C-A424-0ADF4320E6DF}"/>
              </a:ext>
            </a:extLst>
          </p:cNvPr>
          <p:cNvSpPr/>
          <p:nvPr/>
        </p:nvSpPr>
        <p:spPr>
          <a:xfrm>
            <a:off x="11814906" y="2882799"/>
            <a:ext cx="300706" cy="253393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Learning</a:t>
            </a:r>
            <a:endParaRPr lang="zh-TW" altLang="en-US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11" name="矩形: 圓角 109">
            <a:extLst>
              <a:ext uri="{FF2B5EF4-FFF2-40B4-BE49-F238E27FC236}">
                <a16:creationId xmlns:a16="http://schemas.microsoft.com/office/drawing/2014/main" id="{FB76816B-AC70-3E4F-B8EE-8263EE913735}"/>
              </a:ext>
            </a:extLst>
          </p:cNvPr>
          <p:cNvSpPr/>
          <p:nvPr/>
        </p:nvSpPr>
        <p:spPr>
          <a:xfrm>
            <a:off x="3824406" y="5972568"/>
            <a:ext cx="1794908" cy="644214"/>
          </a:xfrm>
          <a:prstGeom prst="roundRect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Knowledge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New Standard</a:t>
            </a:r>
            <a:endParaRPr lang="zh-TW" altLang="en-US" b="1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412" name="肘形接點 411">
            <a:extLst>
              <a:ext uri="{FF2B5EF4-FFF2-40B4-BE49-F238E27FC236}">
                <a16:creationId xmlns:a16="http://schemas.microsoft.com/office/drawing/2014/main" id="{718680B4-FF6F-B84E-96B4-E246DEA2DBA1}"/>
              </a:ext>
            </a:extLst>
          </p:cNvPr>
          <p:cNvCxnSpPr>
            <a:cxnSpLocks/>
            <a:stCxn id="406" idx="2"/>
            <a:endCxn id="411" idx="2"/>
          </p:cNvCxnSpPr>
          <p:nvPr/>
        </p:nvCxnSpPr>
        <p:spPr>
          <a:xfrm rot="5400000">
            <a:off x="7743534" y="2395056"/>
            <a:ext cx="1200053" cy="7243399"/>
          </a:xfrm>
          <a:prstGeom prst="bentConnector3">
            <a:avLst>
              <a:gd name="adj1" fmla="val 112829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曲線接點 430">
            <a:extLst>
              <a:ext uri="{FF2B5EF4-FFF2-40B4-BE49-F238E27FC236}">
                <a16:creationId xmlns:a16="http://schemas.microsoft.com/office/drawing/2014/main" id="{29B5E765-C7A1-B040-A573-19741BB9C8AC}"/>
              </a:ext>
            </a:extLst>
          </p:cNvPr>
          <p:cNvCxnSpPr>
            <a:cxnSpLocks/>
            <a:stCxn id="411" idx="1"/>
            <a:endCxn id="351" idx="4"/>
          </p:cNvCxnSpPr>
          <p:nvPr/>
        </p:nvCxnSpPr>
        <p:spPr>
          <a:xfrm rot="10800000">
            <a:off x="1178640" y="4530507"/>
            <a:ext cx="2645767" cy="1764168"/>
          </a:xfrm>
          <a:prstGeom prst="curved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肘形接點 444">
            <a:extLst>
              <a:ext uri="{FF2B5EF4-FFF2-40B4-BE49-F238E27FC236}">
                <a16:creationId xmlns:a16="http://schemas.microsoft.com/office/drawing/2014/main" id="{CBA5330A-2C42-D346-AAF9-97E9143B22EB}"/>
              </a:ext>
            </a:extLst>
          </p:cNvPr>
          <p:cNvCxnSpPr>
            <a:cxnSpLocks/>
          </p:cNvCxnSpPr>
          <p:nvPr/>
        </p:nvCxnSpPr>
        <p:spPr>
          <a:xfrm>
            <a:off x="11489181" y="644351"/>
            <a:ext cx="476078" cy="2238448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曲線接點 445">
            <a:extLst>
              <a:ext uri="{FF2B5EF4-FFF2-40B4-BE49-F238E27FC236}">
                <a16:creationId xmlns:a16="http://schemas.microsoft.com/office/drawing/2014/main" id="{036C145B-83B5-8B4D-AE1D-C60390A86E9D}"/>
              </a:ext>
            </a:extLst>
          </p:cNvPr>
          <p:cNvCxnSpPr>
            <a:cxnSpLocks/>
            <a:stCxn id="411" idx="1"/>
            <a:endCxn id="334" idx="1"/>
          </p:cNvCxnSpPr>
          <p:nvPr/>
        </p:nvCxnSpPr>
        <p:spPr>
          <a:xfrm rot="10800000">
            <a:off x="317632" y="2330963"/>
            <a:ext cx="3506774" cy="3963712"/>
          </a:xfrm>
          <a:prstGeom prst="curvedConnector3">
            <a:avLst>
              <a:gd name="adj1" fmla="val 107905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63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3038</Words>
  <Application>Microsoft Macintosh PowerPoint</Application>
  <PresentationFormat>寬螢幕</PresentationFormat>
  <Paragraphs>751</Paragraphs>
  <Slides>47</Slides>
  <Notes>9</Notes>
  <HiddenSlides>1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7" baseType="lpstr">
      <vt:lpstr>微軟正黑體</vt:lpstr>
      <vt:lpstr>微軟正黑體</vt:lpstr>
      <vt:lpstr>標楷體</vt:lpstr>
      <vt:lpstr>Lato</vt:lpstr>
      <vt:lpstr>Lato Heavy</vt:lpstr>
      <vt:lpstr>Lato Light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吳虹誼</dc:creator>
  <cp:lastModifiedBy>方稚榕 FANG CHIH JUNG</cp:lastModifiedBy>
  <cp:revision>130</cp:revision>
  <dcterms:created xsi:type="dcterms:W3CDTF">2021-06-12T13:48:09Z</dcterms:created>
  <dcterms:modified xsi:type="dcterms:W3CDTF">2021-06-21T09:10:25Z</dcterms:modified>
</cp:coreProperties>
</file>